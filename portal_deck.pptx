
<file path=[Content_Types].xml><?xml version="1.0" encoding="utf-8"?>
<Types xmlns="http://schemas.openxmlformats.org/package/2006/content-types">
  <Default Extension="bin" ContentType="image/png"/>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media/image2.bin" ContentType="image/jpeg"/>
  <Override PartName="/ppt/media/image4.bin" ContentType="image/jpeg"/>
  <Override PartName="/ppt/media/image5.bin" ContentType="image/jpeg"/>
  <Override PartName="/ppt/media/image11.bin" ContentType="image/jpeg"/>
  <Override PartName="/ppt/media/image13.bin" ContentType="image/jpeg"/>
  <Override PartName="/ppt/media/image15.bin" ContentType="image/jpeg"/>
  <Override PartName="/ppt/media/image17.bin" ContentType="image/jpeg"/>
  <Override PartName="/ppt/media/image19.bin" ContentType="image/jpeg"/>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media/image64.bin" ContentType="image/jpeg"/>
  <Override PartName="/ppt/media/image68.bin" ContentType="image/jpeg"/>
  <Override PartName="/ppt/media/image71.bin" ContentType="image/jpeg"/>
  <Override PartName="/ppt/media/image74.bin" ContentType="image/jpeg"/>
  <Override PartName="/ppt/media/image77.bin" ContentType="image/jpeg"/>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media/image100.bin" ContentType="image/jpeg"/>
  <Override PartName="/ppt/media/image106.bin" ContentType="image/jpeg"/>
  <Override PartName="/ppt/media/image110.bin" ContentType="image/jpeg"/>
  <Override PartName="/ppt/media/image115.bin" ContentType="image/jpeg"/>
  <Override PartName="/ppt/media/image119.bin" ContentType="image/jpeg"/>
  <Override PartName="/ppt/theme/themeOverride1.xml" ContentType="application/vnd.openxmlformats-officedocument.themeOverride+xml"/>
  <Override PartName="/ppt/media/image157.bin" ContentType="image/jpeg"/>
  <Override PartName="/ppt/media/image166.bin" ContentType="image/jpeg"/>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72" r:id="rId1"/>
  </p:sldMasterIdLst>
  <p:sldIdLst>
    <p:sldId id="301" r:id="rId2"/>
    <p:sldId id="310" r:id="rId3"/>
    <p:sldId id="342" r:id="rId4"/>
    <p:sldId id="352" r:id="rId5"/>
    <p:sldId id="377" r:id="rId6"/>
    <p:sldId id="1381" r:id="rId7"/>
    <p:sldId id="1380" r:id="rId8"/>
    <p:sldId id="1383" r:id="rId9"/>
    <p:sldId id="409" r:id="rId10"/>
    <p:sldId id="429" r:id="rId11"/>
    <p:sldId id="449" r:id="rId12"/>
    <p:sldId id="489" r:id="rId13"/>
    <p:sldId id="509" r:id="rId14"/>
    <p:sldId id="535" r:id="rId15"/>
    <p:sldId id="575" r:id="rId16"/>
    <p:sldId id="594" r:id="rId17"/>
    <p:sldId id="617" r:id="rId18"/>
    <p:sldId id="642" r:id="rId19"/>
    <p:sldId id="667" r:id="rId20"/>
    <p:sldId id="688" r:id="rId21"/>
    <p:sldId id="705" r:id="rId22"/>
    <p:sldId id="751" r:id="rId23"/>
    <p:sldId id="789" r:id="rId24"/>
    <p:sldId id="813" r:id="rId25"/>
    <p:sldId id="837" r:id="rId26"/>
    <p:sldId id="941" r:id="rId27"/>
    <p:sldId id="977" r:id="rId28"/>
    <p:sldId id="1033" r:id="rId29"/>
    <p:sldId id="1053" r:id="rId30"/>
    <p:sldId id="1109" r:id="rId31"/>
    <p:sldId id="1385" r:id="rId32"/>
    <p:sldId id="1384" r:id="rId33"/>
    <p:sldId id="1163" r:id="rId34"/>
    <p:sldId id="1184" r:id="rId35"/>
    <p:sldId id="1268" r:id="rId36"/>
    <p:sldId id="1285" r:id="rId37"/>
    <p:sldId id="1378" r:id="rId38"/>
  </p:sldIdLst>
  <p:sldSz cx="18288000" cy="10287000"/>
  <p:notesSz cx="18288000" cy="10287000"/>
  <p:embeddedFontLst>
    <p:embeddedFont>
      <p:font typeface="Montserrat" panose="00000500000000000000" pitchFamily="2" charset="0"/>
      <p:regular r:id="rId39"/>
      <p:bold r:id="rId40"/>
      <p:italic r:id="rId41"/>
      <p:boldItalic r:id="rId42"/>
    </p:embeddedFont>
    <p:embeddedFont>
      <p:font typeface="Montserrat Light" panose="00000400000000000000" pitchFamily="2" charset="0"/>
      <p:regular r:id="rId43"/>
      <p:italic r:id="rId44"/>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0234"/>
    <a:srgbClr val="2E0C54"/>
    <a:srgbClr val="43117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55" d="100"/>
          <a:sy n="55" d="100"/>
        </p:scale>
        <p:origin x="643"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4.fntdata"/><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2.fntdata"/><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5.fntdata"/><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font" Target="fonts/font3.fntdata"/></Relationships>
</file>

<file path=ppt/charts/_rels/chart1.xml.rels><?xml version="1.0" encoding="UTF-8" standalone="yes"?>
<Relationships xmlns="http://schemas.openxmlformats.org/package/2006/relationships"><Relationship Id="rId3" Type="http://schemas.openxmlformats.org/officeDocument/2006/relationships/oleObject" Target="https://d.docs.live.net/bd15a8c33672c014/Documents/PRODUCT%20%20%20%20VALUE%20AND%20%20EXPENSE.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d.docs.live.net/bd15a8c33672c014/Documents/PRODUCT%20%20%20%20VALUE%20AND%20%20EXPENSE.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https://d.docs.live.net/bd15a8c33672c014/Documents/PRODUCT%20%20%20%20VALUE%20AND%20%20EXPENSE.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https://d.docs.live.net/bd15a8c33672c014/Documents/PRODUCT%20%20%20%20VALUE%20AND%20%20EXPENSE.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https://d.docs.live.net/bd15a8c33672c014/Documents/PRODUCT%20%20%20%20VALUE%20AND%20%20EXPENSE.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https://d.docs.live.net/bd15a8c33672c014/Desktop/Presentation%20Data.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https://d.docs.live.net/bd15a8c33672c014/Desktop/Presentation%20Data.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https://d.docs.live.net/bd15a8c33672c014/Desktop/Presentation%20Data.xlsx" TargetMode="External"/><Relationship Id="rId2" Type="http://schemas.microsoft.com/office/2011/relationships/chartColorStyle" Target="colors8.xml"/><Relationship Id="rId1" Type="http://schemas.microsoft.com/office/2011/relationships/chartStyle" Target="style8.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ctr" rtl="0">
              <a:defRPr lang="en-IN" sz="1600" b="1" i="0" u="none" strike="noStrike" kern="1200" cap="all" spc="120" normalizeH="0" baseline="0">
                <a:solidFill>
                  <a:schemeClr val="bg1"/>
                </a:solidFill>
                <a:latin typeface="+mn-lt"/>
                <a:ea typeface="+mn-ea"/>
                <a:cs typeface="+mn-cs"/>
              </a:defRPr>
            </a:pPr>
            <a:r>
              <a:rPr lang="en-IN" sz="1600" b="1" i="0" u="none" strike="noStrike" kern="1200" cap="all" spc="120" normalizeH="0" baseline="0">
                <a:solidFill>
                  <a:schemeClr val="bg1"/>
                </a:solidFill>
                <a:latin typeface="+mn-lt"/>
                <a:ea typeface="+mn-ea"/>
                <a:cs typeface="+mn-cs"/>
              </a:rPr>
              <a:t>Historic Data</a:t>
            </a:r>
          </a:p>
        </c:rich>
      </c:tx>
      <c:overlay val="0"/>
      <c:spPr>
        <a:noFill/>
        <a:ln>
          <a:noFill/>
        </a:ln>
        <a:effectLst/>
      </c:spPr>
      <c:txPr>
        <a:bodyPr rot="0" spcFirstLastPara="1" vertOverflow="ellipsis" vert="horz" wrap="square" anchor="ctr" anchorCtr="1"/>
        <a:lstStyle/>
        <a:p>
          <a:pPr algn="ctr" rtl="0">
            <a:defRPr lang="en-IN" sz="1600" b="1" i="0" u="none" strike="noStrike" kern="1200" cap="all" spc="120" normalizeH="0" baseline="0">
              <a:solidFill>
                <a:schemeClr val="bg1"/>
              </a:solidFill>
              <a:latin typeface="+mn-lt"/>
              <a:ea typeface="+mn-ea"/>
              <a:cs typeface="+mn-cs"/>
            </a:defRPr>
          </a:pPr>
          <a:endParaRPr lang="en-US"/>
        </a:p>
      </c:txPr>
    </c:title>
    <c:autoTitleDeleted val="0"/>
    <c:plotArea>
      <c:layout/>
      <c:barChart>
        <c:barDir val="col"/>
        <c:grouping val="clustered"/>
        <c:varyColors val="0"/>
        <c:ser>
          <c:idx val="0"/>
          <c:order val="0"/>
          <c:tx>
            <c:strRef>
              <c:f>'Projections-Without Funding (2)'!$A$3</c:f>
              <c:strCache>
                <c:ptCount val="1"/>
                <c:pt idx="0">
                  <c:v>FY 2021-2022</c:v>
                </c:pt>
              </c:strCache>
            </c:strRef>
          </c:tx>
          <c:spPr>
            <a:solidFill>
              <a:schemeClr val="accent1"/>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200" b="0"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('Projections-Without Funding (2)'!$C$2,'Projections-Without Funding (2)'!$E$2,'Projections-Without Funding (2)'!$G$2)</c:f>
              <c:strCache>
                <c:ptCount val="3"/>
                <c:pt idx="0">
                  <c:v>Vertical Auto Door</c:v>
                </c:pt>
                <c:pt idx="1">
                  <c:v>Hydraulics</c:v>
                </c:pt>
                <c:pt idx="2">
                  <c:v>Car Parking</c:v>
                </c:pt>
              </c:strCache>
              <c:extLst/>
            </c:strRef>
          </c:cat>
          <c:val>
            <c:numRef>
              <c:f>('Projections-Without Funding (2)'!$C$3,'Projections-Without Funding (2)'!$E$3,'Projections-Without Funding (2)'!$G$3)</c:f>
              <c:numCache>
                <c:formatCode>0%</c:formatCode>
                <c:ptCount val="3"/>
                <c:pt idx="0">
                  <c:v>0.33979015334947538</c:v>
                </c:pt>
                <c:pt idx="1">
                  <c:v>0.26795803066989504</c:v>
                </c:pt>
                <c:pt idx="2">
                  <c:v>0.28410008071025017</c:v>
                </c:pt>
              </c:numCache>
              <c:extLst/>
            </c:numRef>
          </c:val>
          <c:extLst>
            <c:ext xmlns:c16="http://schemas.microsoft.com/office/drawing/2014/chart" uri="{C3380CC4-5D6E-409C-BE32-E72D297353CC}">
              <c16:uniqueId val="{00000000-5437-4EDD-AC3B-5965E83C8FD6}"/>
            </c:ext>
          </c:extLst>
        </c:ser>
        <c:ser>
          <c:idx val="1"/>
          <c:order val="1"/>
          <c:tx>
            <c:strRef>
              <c:f>'Projections-Without Funding (2)'!$A$4</c:f>
              <c:strCache>
                <c:ptCount val="1"/>
                <c:pt idx="0">
                  <c:v>FY 2022-2023</c:v>
                </c:pt>
              </c:strCache>
            </c:strRef>
          </c:tx>
          <c:spPr>
            <a:solidFill>
              <a:schemeClr val="accent2"/>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200" b="0"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('Projections-Without Funding (2)'!$C$2,'Projections-Without Funding (2)'!$E$2,'Projections-Without Funding (2)'!$G$2)</c:f>
              <c:strCache>
                <c:ptCount val="3"/>
                <c:pt idx="0">
                  <c:v>Vertical Auto Door</c:v>
                </c:pt>
                <c:pt idx="1">
                  <c:v>Hydraulics</c:v>
                </c:pt>
                <c:pt idx="2">
                  <c:v>Car Parking</c:v>
                </c:pt>
              </c:strCache>
              <c:extLst/>
            </c:strRef>
          </c:cat>
          <c:val>
            <c:numRef>
              <c:f>('Projections-Without Funding (2)'!$C$4,'Projections-Without Funding (2)'!$E$4,'Projections-Without Funding (2)'!$G$4)</c:f>
              <c:numCache>
                <c:formatCode>0%</c:formatCode>
                <c:ptCount val="3"/>
                <c:pt idx="0">
                  <c:v>0.32173913043478264</c:v>
                </c:pt>
                <c:pt idx="1">
                  <c:v>0.29402173913043483</c:v>
                </c:pt>
                <c:pt idx="2">
                  <c:v>0.32391304347826089</c:v>
                </c:pt>
              </c:numCache>
              <c:extLst/>
            </c:numRef>
          </c:val>
          <c:extLst>
            <c:ext xmlns:c16="http://schemas.microsoft.com/office/drawing/2014/chart" uri="{C3380CC4-5D6E-409C-BE32-E72D297353CC}">
              <c16:uniqueId val="{00000001-5437-4EDD-AC3B-5965E83C8FD6}"/>
            </c:ext>
          </c:extLst>
        </c:ser>
        <c:ser>
          <c:idx val="2"/>
          <c:order val="2"/>
          <c:tx>
            <c:strRef>
              <c:f>'Projections-Without Funding (2)'!$A$5</c:f>
              <c:strCache>
                <c:ptCount val="1"/>
                <c:pt idx="0">
                  <c:v>FY 2023-2024</c:v>
                </c:pt>
              </c:strCache>
            </c:strRef>
          </c:tx>
          <c:spPr>
            <a:solidFill>
              <a:schemeClr val="accent3"/>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200" b="0"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('Projections-Without Funding (2)'!$C$2,'Projections-Without Funding (2)'!$E$2,'Projections-Without Funding (2)'!$G$2)</c:f>
              <c:strCache>
                <c:ptCount val="3"/>
                <c:pt idx="0">
                  <c:v>Vertical Auto Door</c:v>
                </c:pt>
                <c:pt idx="1">
                  <c:v>Hydraulics</c:v>
                </c:pt>
                <c:pt idx="2">
                  <c:v>Car Parking</c:v>
                </c:pt>
              </c:strCache>
              <c:extLst/>
            </c:strRef>
          </c:cat>
          <c:val>
            <c:numRef>
              <c:f>('Projections-Without Funding (2)'!$C$5,'Projections-Without Funding (2)'!$E$5,'Projections-Without Funding (2)'!$G$5)</c:f>
              <c:numCache>
                <c:formatCode>0%</c:formatCode>
                <c:ptCount val="3"/>
                <c:pt idx="0">
                  <c:v>0.40069686411149824</c:v>
                </c:pt>
                <c:pt idx="1">
                  <c:v>0.44425087108013939</c:v>
                </c:pt>
                <c:pt idx="2">
                  <c:v>5.4006968641114983E-2</c:v>
                </c:pt>
              </c:numCache>
              <c:extLst/>
            </c:numRef>
          </c:val>
          <c:extLst>
            <c:ext xmlns:c16="http://schemas.microsoft.com/office/drawing/2014/chart" uri="{C3380CC4-5D6E-409C-BE32-E72D297353CC}">
              <c16:uniqueId val="{00000002-5437-4EDD-AC3B-5965E83C8FD6}"/>
            </c:ext>
          </c:extLst>
        </c:ser>
        <c:dLbls>
          <c:dLblPos val="outEnd"/>
          <c:showLegendKey val="0"/>
          <c:showVal val="1"/>
          <c:showCatName val="0"/>
          <c:showSerName val="0"/>
          <c:showPercent val="0"/>
          <c:showBubbleSize val="0"/>
        </c:dLbls>
        <c:gapWidth val="444"/>
        <c:overlap val="-90"/>
        <c:axId val="965578864"/>
        <c:axId val="965580304"/>
      </c:barChart>
      <c:catAx>
        <c:axId val="965578864"/>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en-US" sz="1200" b="0" i="0" u="none" strike="noStrike" kern="1200" cap="all" spc="120" normalizeH="0" baseline="0">
                <a:solidFill>
                  <a:schemeClr val="bg1"/>
                </a:solidFill>
                <a:latin typeface="+mn-lt"/>
                <a:ea typeface="+mn-ea"/>
                <a:cs typeface="+mn-cs"/>
              </a:defRPr>
            </a:pPr>
            <a:endParaRPr lang="en-US"/>
          </a:p>
        </c:txPr>
        <c:crossAx val="965580304"/>
        <c:crosses val="autoZero"/>
        <c:auto val="1"/>
        <c:lblAlgn val="ctr"/>
        <c:lblOffset val="100"/>
        <c:noMultiLvlLbl val="0"/>
      </c:catAx>
      <c:valAx>
        <c:axId val="965580304"/>
        <c:scaling>
          <c:orientation val="minMax"/>
        </c:scaling>
        <c:delete val="1"/>
        <c:axPos val="l"/>
        <c:numFmt formatCode="0%" sourceLinked="1"/>
        <c:majorTickMark val="none"/>
        <c:minorTickMark val="none"/>
        <c:tickLblPos val="nextTo"/>
        <c:crossAx val="965578864"/>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lang="en-US" sz="1200" b="0" i="0" u="none" strike="noStrike" kern="1200" baseline="0">
              <a:solidFill>
                <a:schemeClr val="bg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cap="all" spc="120" normalizeH="0" baseline="0">
                <a:solidFill>
                  <a:schemeClr val="bg1"/>
                </a:solidFill>
                <a:latin typeface="+mn-lt"/>
                <a:ea typeface="+mn-ea"/>
                <a:cs typeface="+mn-cs"/>
              </a:defRPr>
            </a:pPr>
            <a:r>
              <a:rPr lang="en-IN">
                <a:solidFill>
                  <a:schemeClr val="bg1"/>
                </a:solidFill>
              </a:rPr>
              <a:t>Historic</a:t>
            </a:r>
            <a:r>
              <a:rPr lang="en-IN" baseline="0">
                <a:solidFill>
                  <a:schemeClr val="bg1"/>
                </a:solidFill>
              </a:rPr>
              <a:t> Data</a:t>
            </a:r>
            <a:endParaRPr lang="en-IN">
              <a:solidFill>
                <a:schemeClr val="bg1"/>
              </a:solidFill>
            </a:endParaRPr>
          </a:p>
        </c:rich>
      </c:tx>
      <c:overlay val="0"/>
      <c:spPr>
        <a:noFill/>
        <a:ln>
          <a:noFill/>
        </a:ln>
        <a:effectLst/>
      </c:spPr>
      <c:txPr>
        <a:bodyPr rot="0" spcFirstLastPara="1" vertOverflow="ellipsis" vert="horz" wrap="square" anchor="ctr" anchorCtr="1"/>
        <a:lstStyle/>
        <a:p>
          <a:pPr>
            <a:defRPr sz="1600" b="1" i="0" u="none" strike="noStrike" kern="1200" cap="all" spc="120" normalizeH="0" baseline="0">
              <a:solidFill>
                <a:schemeClr val="bg1"/>
              </a:solidFill>
              <a:latin typeface="+mn-lt"/>
              <a:ea typeface="+mn-ea"/>
              <a:cs typeface="+mn-cs"/>
            </a:defRPr>
          </a:pPr>
          <a:endParaRPr lang="en-IN"/>
        </a:p>
      </c:txPr>
    </c:title>
    <c:autoTitleDeleted val="0"/>
    <c:plotArea>
      <c:layout/>
      <c:barChart>
        <c:barDir val="col"/>
        <c:grouping val="clustered"/>
        <c:varyColors val="0"/>
        <c:ser>
          <c:idx val="0"/>
          <c:order val="0"/>
          <c:tx>
            <c:strRef>
              <c:f>'[PRODUCT    VALUE AND  EXPENSE.xlsx]Projections-Without Funding (2)'!$A$3</c:f>
              <c:strCache>
                <c:ptCount val="1"/>
                <c:pt idx="0">
                  <c:v>FY 2021-2022</c:v>
                </c:pt>
              </c:strCache>
            </c:strRef>
          </c:tx>
          <c:spPr>
            <a:solidFill>
              <a:schemeClr val="accent1"/>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200" b="0"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'[PRODUCT    VALUE AND  EXPENSE.xlsx]Projections-Without Funding (2)'!$B$2,'[PRODUCT    VALUE AND  EXPENSE.xlsx]Projections-Without Funding (2)'!$D$2,'[PRODUCT    VALUE AND  EXPENSE.xlsx]Projections-Without Funding (2)'!$F$2,'[PRODUCT    VALUE AND  EXPENSE.xlsx]Projections-Without Funding (2)'!$Q$2</c:f>
              <c:strCache>
                <c:ptCount val="4"/>
                <c:pt idx="0">
                  <c:v>Vertical Auto Door</c:v>
                </c:pt>
                <c:pt idx="1">
                  <c:v>Hydraulics</c:v>
                </c:pt>
                <c:pt idx="2">
                  <c:v>Car Parking</c:v>
                </c:pt>
                <c:pt idx="3">
                  <c:v>Cylinders</c:v>
                </c:pt>
              </c:strCache>
            </c:strRef>
          </c:cat>
          <c:val>
            <c:numRef>
              <c:f>'[PRODUCT    VALUE AND  EXPENSE.xlsx]Projections-Without Funding (2)'!$B$3,'[PRODUCT    VALUE AND  EXPENSE.xlsx]Projections-Without Funding (2)'!$D$3,'[PRODUCT    VALUE AND  EXPENSE.xlsx]Projections-Without Funding (2)'!$F$3,'[PRODUCT    VALUE AND  EXPENSE.xlsx]Projections-Without Funding (2)'!$Q$3</c:f>
              <c:numCache>
                <c:formatCode>"₹"\ #,##0.00</c:formatCode>
                <c:ptCount val="4"/>
                <c:pt idx="0">
                  <c:v>4.21</c:v>
                </c:pt>
                <c:pt idx="1">
                  <c:v>3.32</c:v>
                </c:pt>
                <c:pt idx="2">
                  <c:v>3.52</c:v>
                </c:pt>
              </c:numCache>
            </c:numRef>
          </c:val>
          <c:extLst>
            <c:ext xmlns:c16="http://schemas.microsoft.com/office/drawing/2014/chart" uri="{C3380CC4-5D6E-409C-BE32-E72D297353CC}">
              <c16:uniqueId val="{00000000-8D0C-480D-9DC0-EB47148D91FD}"/>
            </c:ext>
          </c:extLst>
        </c:ser>
        <c:ser>
          <c:idx val="1"/>
          <c:order val="1"/>
          <c:tx>
            <c:strRef>
              <c:f>'[PRODUCT    VALUE AND  EXPENSE.xlsx]Projections-Without Funding (2)'!$A$4</c:f>
              <c:strCache>
                <c:ptCount val="1"/>
                <c:pt idx="0">
                  <c:v>FY 2022-2023</c:v>
                </c:pt>
              </c:strCache>
            </c:strRef>
          </c:tx>
          <c:spPr>
            <a:solidFill>
              <a:schemeClr val="accent2"/>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200" b="0"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'[PRODUCT    VALUE AND  EXPENSE.xlsx]Projections-Without Funding (2)'!$B$2,'[PRODUCT    VALUE AND  EXPENSE.xlsx]Projections-Without Funding (2)'!$D$2,'[PRODUCT    VALUE AND  EXPENSE.xlsx]Projections-Without Funding (2)'!$F$2,'[PRODUCT    VALUE AND  EXPENSE.xlsx]Projections-Without Funding (2)'!$Q$2</c:f>
              <c:strCache>
                <c:ptCount val="4"/>
                <c:pt idx="0">
                  <c:v>Vertical Auto Door</c:v>
                </c:pt>
                <c:pt idx="1">
                  <c:v>Hydraulics</c:v>
                </c:pt>
                <c:pt idx="2">
                  <c:v>Car Parking</c:v>
                </c:pt>
                <c:pt idx="3">
                  <c:v>Cylinders</c:v>
                </c:pt>
              </c:strCache>
            </c:strRef>
          </c:cat>
          <c:val>
            <c:numRef>
              <c:f>'[PRODUCT    VALUE AND  EXPENSE.xlsx]Projections-Without Funding (2)'!$B$4,'[PRODUCT    VALUE AND  EXPENSE.xlsx]Projections-Without Funding (2)'!$D$4,'[PRODUCT    VALUE AND  EXPENSE.xlsx]Projections-Without Funding (2)'!$F$4,'[PRODUCT    VALUE AND  EXPENSE.xlsx]Projections-Without Funding (2)'!$Q$4</c:f>
              <c:numCache>
                <c:formatCode>"₹"\ #,##0.00</c:formatCode>
                <c:ptCount val="4"/>
                <c:pt idx="0">
                  <c:v>5.92</c:v>
                </c:pt>
                <c:pt idx="1">
                  <c:v>5.41</c:v>
                </c:pt>
                <c:pt idx="2">
                  <c:v>5.96</c:v>
                </c:pt>
              </c:numCache>
            </c:numRef>
          </c:val>
          <c:extLst>
            <c:ext xmlns:c16="http://schemas.microsoft.com/office/drawing/2014/chart" uri="{C3380CC4-5D6E-409C-BE32-E72D297353CC}">
              <c16:uniqueId val="{00000001-8D0C-480D-9DC0-EB47148D91FD}"/>
            </c:ext>
          </c:extLst>
        </c:ser>
        <c:ser>
          <c:idx val="2"/>
          <c:order val="2"/>
          <c:tx>
            <c:strRef>
              <c:f>'[PRODUCT    VALUE AND  EXPENSE.xlsx]Projections-Without Funding (2)'!$A$5</c:f>
              <c:strCache>
                <c:ptCount val="1"/>
                <c:pt idx="0">
                  <c:v>FY 2023-2024</c:v>
                </c:pt>
              </c:strCache>
            </c:strRef>
          </c:tx>
          <c:spPr>
            <a:solidFill>
              <a:schemeClr val="accent3"/>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200" b="0"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'[PRODUCT    VALUE AND  EXPENSE.xlsx]Projections-Without Funding (2)'!$B$2,'[PRODUCT    VALUE AND  EXPENSE.xlsx]Projections-Without Funding (2)'!$D$2,'[PRODUCT    VALUE AND  EXPENSE.xlsx]Projections-Without Funding (2)'!$F$2,'[PRODUCT    VALUE AND  EXPENSE.xlsx]Projections-Without Funding (2)'!$Q$2</c:f>
              <c:strCache>
                <c:ptCount val="4"/>
                <c:pt idx="0">
                  <c:v>Vertical Auto Door</c:v>
                </c:pt>
                <c:pt idx="1">
                  <c:v>Hydraulics</c:v>
                </c:pt>
                <c:pt idx="2">
                  <c:v>Car Parking</c:v>
                </c:pt>
                <c:pt idx="3">
                  <c:v>Cylinders</c:v>
                </c:pt>
              </c:strCache>
            </c:strRef>
          </c:cat>
          <c:val>
            <c:numRef>
              <c:f>'[PRODUCT    VALUE AND  EXPENSE.xlsx]Projections-Without Funding (2)'!$B$5,'[PRODUCT    VALUE AND  EXPENSE.xlsx]Projections-Without Funding (2)'!$D$5,'[PRODUCT    VALUE AND  EXPENSE.xlsx]Projections-Without Funding (2)'!$F$5,'[PRODUCT    VALUE AND  EXPENSE.xlsx]Projections-Without Funding (2)'!$Q$5</c:f>
              <c:numCache>
                <c:formatCode>"₹"\ #,##0.00</c:formatCode>
                <c:ptCount val="4"/>
                <c:pt idx="0">
                  <c:v>11.5</c:v>
                </c:pt>
                <c:pt idx="1">
                  <c:v>12.75</c:v>
                </c:pt>
                <c:pt idx="2">
                  <c:v>1.55</c:v>
                </c:pt>
                <c:pt idx="3">
                  <c:v>1.65</c:v>
                </c:pt>
              </c:numCache>
            </c:numRef>
          </c:val>
          <c:extLst>
            <c:ext xmlns:c16="http://schemas.microsoft.com/office/drawing/2014/chart" uri="{C3380CC4-5D6E-409C-BE32-E72D297353CC}">
              <c16:uniqueId val="{00000002-8D0C-480D-9DC0-EB47148D91FD}"/>
            </c:ext>
          </c:extLst>
        </c:ser>
        <c:dLbls>
          <c:dLblPos val="outEnd"/>
          <c:showLegendKey val="0"/>
          <c:showVal val="1"/>
          <c:showCatName val="0"/>
          <c:showSerName val="0"/>
          <c:showPercent val="0"/>
          <c:showBubbleSize val="0"/>
        </c:dLbls>
        <c:gapWidth val="444"/>
        <c:overlap val="-90"/>
        <c:axId val="965578864"/>
        <c:axId val="965580304"/>
      </c:barChart>
      <c:catAx>
        <c:axId val="965578864"/>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cap="all" spc="120" normalizeH="0" baseline="0">
                <a:solidFill>
                  <a:schemeClr val="bg1"/>
                </a:solidFill>
                <a:latin typeface="+mn-lt"/>
                <a:ea typeface="+mn-ea"/>
                <a:cs typeface="+mn-cs"/>
              </a:defRPr>
            </a:pPr>
            <a:endParaRPr lang="en-US"/>
          </a:p>
        </c:txPr>
        <c:crossAx val="965580304"/>
        <c:crosses val="autoZero"/>
        <c:auto val="1"/>
        <c:lblAlgn val="ctr"/>
        <c:lblOffset val="100"/>
        <c:noMultiLvlLbl val="0"/>
      </c:catAx>
      <c:valAx>
        <c:axId val="965580304"/>
        <c:scaling>
          <c:orientation val="minMax"/>
        </c:scaling>
        <c:delete val="1"/>
        <c:axPos val="l"/>
        <c:numFmt formatCode="&quot;₹&quot;\ #,##0.00" sourceLinked="1"/>
        <c:majorTickMark val="none"/>
        <c:minorTickMark val="none"/>
        <c:tickLblPos val="nextTo"/>
        <c:crossAx val="965578864"/>
        <c:crosses val="autoZero"/>
        <c:crossBetween val="between"/>
      </c:valAx>
      <c:spPr>
        <a:noFill/>
        <a:ln>
          <a:noFill/>
        </a:ln>
        <a:effectLst/>
      </c:spPr>
    </c:plotArea>
    <c:legend>
      <c:legendPos val="t"/>
      <c:layout>
        <c:manualLayout>
          <c:xMode val="edge"/>
          <c:yMode val="edge"/>
          <c:x val="0.25076175304291221"/>
          <c:y val="3.7233157721597292E-2"/>
          <c:w val="0.61002814911203973"/>
          <c:h val="9.1886320508390129E-2"/>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bg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cap="all" spc="120" normalizeH="0" baseline="0">
                <a:solidFill>
                  <a:schemeClr val="bg1"/>
                </a:solidFill>
                <a:latin typeface="+mn-lt"/>
                <a:ea typeface="+mn-ea"/>
                <a:cs typeface="+mn-cs"/>
              </a:defRPr>
            </a:pPr>
            <a:r>
              <a:rPr lang="en-IN" sz="1600" dirty="0">
                <a:solidFill>
                  <a:schemeClr val="bg1"/>
                </a:solidFill>
              </a:rPr>
              <a:t>revenue</a:t>
            </a:r>
            <a:r>
              <a:rPr lang="en-IN" sz="1600" baseline="0" dirty="0">
                <a:solidFill>
                  <a:schemeClr val="bg1"/>
                </a:solidFill>
              </a:rPr>
              <a:t> break-up – projected (in crores)</a:t>
            </a:r>
            <a:endParaRPr lang="en-IN" sz="1600" dirty="0">
              <a:solidFill>
                <a:schemeClr val="bg1"/>
              </a:solidFill>
            </a:endParaRPr>
          </a:p>
        </c:rich>
      </c:tx>
      <c:overlay val="0"/>
      <c:spPr>
        <a:noFill/>
        <a:ln>
          <a:noFill/>
        </a:ln>
        <a:effectLst/>
      </c:spPr>
      <c:txPr>
        <a:bodyPr rot="0" spcFirstLastPara="1" vertOverflow="ellipsis" vert="horz" wrap="square" anchor="ctr" anchorCtr="1"/>
        <a:lstStyle/>
        <a:p>
          <a:pPr>
            <a:defRPr sz="1600" b="1" i="0" u="none" strike="noStrike" kern="1200" cap="all" spc="120" normalizeH="0" baseline="0">
              <a:solidFill>
                <a:schemeClr val="bg1"/>
              </a:solidFill>
              <a:latin typeface="+mn-lt"/>
              <a:ea typeface="+mn-ea"/>
              <a:cs typeface="+mn-cs"/>
            </a:defRPr>
          </a:pPr>
          <a:endParaRPr lang="en-IN"/>
        </a:p>
      </c:txPr>
    </c:title>
    <c:autoTitleDeleted val="0"/>
    <c:plotArea>
      <c:layout/>
      <c:barChart>
        <c:barDir val="col"/>
        <c:grouping val="clustered"/>
        <c:varyColors val="0"/>
        <c:dLbls>
          <c:dLblPos val="outEnd"/>
          <c:showLegendKey val="0"/>
          <c:showVal val="1"/>
          <c:showCatName val="0"/>
          <c:showSerName val="0"/>
          <c:showPercent val="0"/>
          <c:showBubbleSize val="0"/>
        </c:dLbls>
        <c:gapWidth val="444"/>
        <c:overlap val="-90"/>
        <c:axId val="965622560"/>
        <c:axId val="965624960"/>
      </c:barChart>
      <c:catAx>
        <c:axId val="965622560"/>
        <c:scaling>
          <c:orientation val="minMax"/>
        </c:scaling>
        <c:delete val="1"/>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crossAx val="965624960"/>
        <c:crosses val="autoZero"/>
        <c:auto val="1"/>
        <c:lblAlgn val="ctr"/>
        <c:lblOffset val="100"/>
        <c:noMultiLvlLbl val="0"/>
      </c:catAx>
      <c:valAx>
        <c:axId val="965624960"/>
        <c:scaling>
          <c:orientation val="minMax"/>
        </c:scaling>
        <c:delete val="1"/>
        <c:axPos val="l"/>
        <c:numFmt formatCode="&quot;₹&quot;\ #,##0.00" sourceLinked="1"/>
        <c:majorTickMark val="none"/>
        <c:minorTickMark val="none"/>
        <c:tickLblPos val="nextTo"/>
        <c:crossAx val="965622560"/>
        <c:crosses val="autoZero"/>
        <c:crossBetween val="between"/>
      </c:valAx>
      <c:spPr>
        <a:noFill/>
        <a:ln w="25400">
          <a:noFill/>
        </a:ln>
        <a:effectLst/>
      </c:spPr>
    </c:plotArea>
    <c:legend>
      <c:legendPos val="t"/>
      <c:overlay val="0"/>
      <c:spPr>
        <a:noFill/>
        <a:ln>
          <a:noFill/>
        </a:ln>
        <a:effectLst/>
      </c:spPr>
      <c:txPr>
        <a:bodyPr rot="0" spcFirstLastPara="1" vertOverflow="ellipsis" vert="horz" wrap="square" anchor="ctr" anchorCtr="1"/>
        <a:lstStyle/>
        <a:p>
          <a:pPr>
            <a:defRPr sz="1200" b="0" i="0" u="none" strike="noStrike" kern="1200" baseline="0">
              <a:solidFill>
                <a:schemeClr val="bg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cap="all" spc="120" normalizeH="0" baseline="0">
                <a:solidFill>
                  <a:schemeClr val="bg1"/>
                </a:solidFill>
                <a:latin typeface="+mn-lt"/>
                <a:ea typeface="+mn-ea"/>
                <a:cs typeface="+mn-cs"/>
              </a:defRPr>
            </a:pPr>
            <a:r>
              <a:rPr lang="en-IN" sz="1600" dirty="0">
                <a:solidFill>
                  <a:schemeClr val="bg1"/>
                </a:solidFill>
              </a:rPr>
              <a:t>product</a:t>
            </a:r>
            <a:r>
              <a:rPr lang="en-IN" sz="1600" baseline="0" dirty="0">
                <a:solidFill>
                  <a:schemeClr val="bg1"/>
                </a:solidFill>
              </a:rPr>
              <a:t> weightage-projected</a:t>
            </a:r>
            <a:endParaRPr lang="en-IN" sz="1600" dirty="0">
              <a:solidFill>
                <a:schemeClr val="bg1"/>
              </a:solidFill>
            </a:endParaRPr>
          </a:p>
        </c:rich>
      </c:tx>
      <c:overlay val="0"/>
      <c:spPr>
        <a:noFill/>
        <a:ln>
          <a:noFill/>
        </a:ln>
        <a:effectLst/>
      </c:spPr>
      <c:txPr>
        <a:bodyPr rot="0" spcFirstLastPara="1" vertOverflow="ellipsis" vert="horz" wrap="square" anchor="ctr" anchorCtr="1"/>
        <a:lstStyle/>
        <a:p>
          <a:pPr>
            <a:defRPr sz="1600" b="1" i="0" u="none" strike="noStrike" kern="1200" cap="all" spc="120" normalizeH="0" baseline="0">
              <a:solidFill>
                <a:schemeClr val="bg1"/>
              </a:solidFill>
              <a:latin typeface="+mn-lt"/>
              <a:ea typeface="+mn-ea"/>
              <a:cs typeface="+mn-cs"/>
            </a:defRPr>
          </a:pPr>
          <a:endParaRPr lang="en-IN"/>
        </a:p>
      </c:txPr>
    </c:title>
    <c:autoTitleDeleted val="0"/>
    <c:plotArea>
      <c:layout/>
      <c:barChart>
        <c:barDir val="col"/>
        <c:grouping val="clustered"/>
        <c:varyColors val="0"/>
        <c:ser>
          <c:idx val="0"/>
          <c:order val="0"/>
          <c:tx>
            <c:strRef>
              <c:f>'Projections-Without Funding (3)'!$A$3</c:f>
              <c:strCache>
                <c:ptCount val="1"/>
                <c:pt idx="0">
                  <c:v>FY 2026-2027</c:v>
                </c:pt>
              </c:strCache>
            </c:strRef>
          </c:tx>
          <c:spPr>
            <a:solidFill>
              <a:schemeClr val="accent1"/>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50" b="0"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('Projections-Without Funding (3)'!$C$2,'Projections-Without Funding (3)'!$E$2,'Projections-Without Funding (3)'!$G$2,'Projections-Without Funding (3)'!$I$2,'Projections-Without Funding (3)'!$Q$2,'Projections-Without Funding (3)'!$S$2)</c:f>
              <c:strCache>
                <c:ptCount val="6"/>
                <c:pt idx="0">
                  <c:v>Vertical Door</c:v>
                </c:pt>
                <c:pt idx="1">
                  <c:v>Hydraulics</c:v>
                </c:pt>
                <c:pt idx="2">
                  <c:v>Car Parking</c:v>
                </c:pt>
                <c:pt idx="3">
                  <c:v>Auto Doors</c:v>
                </c:pt>
                <c:pt idx="4">
                  <c:v>Dumb-Waiters</c:v>
                </c:pt>
                <c:pt idx="5">
                  <c:v>Gear Less- Kit</c:v>
                </c:pt>
              </c:strCache>
            </c:strRef>
          </c:cat>
          <c:val>
            <c:numRef>
              <c:f>('Projections-Without Funding (3)'!$C$3,'Projections-Without Funding (3)'!$E$3,'Projections-Without Funding (3)'!$G$3,'Projections-Without Funding (3)'!$I$3,'Projections-Without Funding (3)'!$Q$3,'Projections-Without Funding (3)'!$S$3)</c:f>
              <c:numCache>
                <c:formatCode>0.00%</c:formatCode>
                <c:ptCount val="6"/>
                <c:pt idx="0">
                  <c:v>0.15620641562064158</c:v>
                </c:pt>
                <c:pt idx="1">
                  <c:v>0.43328684332868433</c:v>
                </c:pt>
                <c:pt idx="2">
                  <c:v>7.252440725244072E-2</c:v>
                </c:pt>
                <c:pt idx="3">
                  <c:v>2.9381682938168296E-2</c:v>
                </c:pt>
                <c:pt idx="4">
                  <c:v>1.1622501162250116E-2</c:v>
                </c:pt>
                <c:pt idx="5">
                  <c:v>0.13389121338912136</c:v>
                </c:pt>
              </c:numCache>
            </c:numRef>
          </c:val>
          <c:extLst>
            <c:ext xmlns:c16="http://schemas.microsoft.com/office/drawing/2014/chart" uri="{C3380CC4-5D6E-409C-BE32-E72D297353CC}">
              <c16:uniqueId val="{00000000-22F1-42EB-BAC8-4EC6A907D339}"/>
            </c:ext>
          </c:extLst>
        </c:ser>
        <c:ser>
          <c:idx val="1"/>
          <c:order val="1"/>
          <c:tx>
            <c:strRef>
              <c:f>'Projections-Without Funding (3)'!$A$4</c:f>
              <c:strCache>
                <c:ptCount val="1"/>
                <c:pt idx="0">
                  <c:v>FY 2027-2028</c:v>
                </c:pt>
              </c:strCache>
            </c:strRef>
          </c:tx>
          <c:spPr>
            <a:solidFill>
              <a:schemeClr val="accent2"/>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50" b="0"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('Projections-Without Funding (3)'!$C$2,'Projections-Without Funding (3)'!$E$2,'Projections-Without Funding (3)'!$G$2,'Projections-Without Funding (3)'!$I$2,'Projections-Without Funding (3)'!$Q$2,'Projections-Without Funding (3)'!$S$2)</c:f>
              <c:strCache>
                <c:ptCount val="6"/>
                <c:pt idx="0">
                  <c:v>Vertical Door</c:v>
                </c:pt>
                <c:pt idx="1">
                  <c:v>Hydraulics</c:v>
                </c:pt>
                <c:pt idx="2">
                  <c:v>Car Parking</c:v>
                </c:pt>
                <c:pt idx="3">
                  <c:v>Auto Doors</c:v>
                </c:pt>
                <c:pt idx="4">
                  <c:v>Dumb-Waiters</c:v>
                </c:pt>
                <c:pt idx="5">
                  <c:v>Gear Less- Kit</c:v>
                </c:pt>
              </c:strCache>
            </c:strRef>
          </c:cat>
          <c:val>
            <c:numRef>
              <c:f>('Projections-Without Funding (3)'!$C$4,'Projections-Without Funding (3)'!$E$4,'Projections-Without Funding (3)'!$G$4,'Projections-Without Funding (3)'!$I$4,'Projections-Without Funding (3)'!$Q$4,'Projections-Without Funding (3)'!$S$4)</c:f>
              <c:numCache>
                <c:formatCode>0.00%</c:formatCode>
                <c:ptCount val="6"/>
                <c:pt idx="0">
                  <c:v>0.15673981191222572</c:v>
                </c:pt>
                <c:pt idx="1">
                  <c:v>0.332512315270936</c:v>
                </c:pt>
                <c:pt idx="2">
                  <c:v>7.2772055530676227E-2</c:v>
                </c:pt>
                <c:pt idx="3">
                  <c:v>6.1576354679802964E-2</c:v>
                </c:pt>
                <c:pt idx="4">
                  <c:v>2.3245002324500233E-2</c:v>
                </c:pt>
                <c:pt idx="5">
                  <c:v>0.16793551276309898</c:v>
                </c:pt>
              </c:numCache>
            </c:numRef>
          </c:val>
          <c:extLst>
            <c:ext xmlns:c16="http://schemas.microsoft.com/office/drawing/2014/chart" uri="{C3380CC4-5D6E-409C-BE32-E72D297353CC}">
              <c16:uniqueId val="{00000001-22F1-42EB-BAC8-4EC6A907D339}"/>
            </c:ext>
          </c:extLst>
        </c:ser>
        <c:ser>
          <c:idx val="2"/>
          <c:order val="2"/>
          <c:tx>
            <c:strRef>
              <c:f>'Projections-Without Funding (3)'!$A$5</c:f>
              <c:strCache>
                <c:ptCount val="1"/>
                <c:pt idx="0">
                  <c:v>FY 2028-2029</c:v>
                </c:pt>
              </c:strCache>
            </c:strRef>
          </c:tx>
          <c:spPr>
            <a:solidFill>
              <a:schemeClr val="accent3"/>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50" b="0"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('Projections-Without Funding (3)'!$C$2,'Projections-Without Funding (3)'!$E$2,'Projections-Without Funding (3)'!$G$2,'Projections-Without Funding (3)'!$I$2,'Projections-Without Funding (3)'!$Q$2,'Projections-Without Funding (3)'!$S$2)</c:f>
              <c:strCache>
                <c:ptCount val="6"/>
                <c:pt idx="0">
                  <c:v>Vertical Door</c:v>
                </c:pt>
                <c:pt idx="1">
                  <c:v>Hydraulics</c:v>
                </c:pt>
                <c:pt idx="2">
                  <c:v>Car Parking</c:v>
                </c:pt>
                <c:pt idx="3">
                  <c:v>Auto Doors</c:v>
                </c:pt>
                <c:pt idx="4">
                  <c:v>Dumb-Waiters</c:v>
                </c:pt>
                <c:pt idx="5">
                  <c:v>Gear Less- Kit</c:v>
                </c:pt>
              </c:strCache>
            </c:strRef>
          </c:cat>
          <c:val>
            <c:numRef>
              <c:f>('Projections-Without Funding (3)'!$C$5,'Projections-Without Funding (3)'!$E$5,'Projections-Without Funding (3)'!$G$5,'Projections-Without Funding (3)'!$I$5,'Projections-Without Funding (3)'!$Q$5,'Projections-Without Funding (3)'!$S$5)</c:f>
              <c:numCache>
                <c:formatCode>0.00%</c:formatCode>
                <c:ptCount val="6"/>
                <c:pt idx="0">
                  <c:v>0.1309880239520958</c:v>
                </c:pt>
                <c:pt idx="1">
                  <c:v>0.2572979041916168</c:v>
                </c:pt>
                <c:pt idx="2">
                  <c:v>8.1087824351297411E-2</c:v>
                </c:pt>
                <c:pt idx="3">
                  <c:v>0.12443862275449102</c:v>
                </c:pt>
                <c:pt idx="4">
                  <c:v>4.6490004649000466E-2</c:v>
                </c:pt>
                <c:pt idx="5">
                  <c:v>0.18712574850299402</c:v>
                </c:pt>
              </c:numCache>
            </c:numRef>
          </c:val>
          <c:extLst>
            <c:ext xmlns:c16="http://schemas.microsoft.com/office/drawing/2014/chart" uri="{C3380CC4-5D6E-409C-BE32-E72D297353CC}">
              <c16:uniqueId val="{00000002-22F1-42EB-BAC8-4EC6A907D339}"/>
            </c:ext>
          </c:extLst>
        </c:ser>
        <c:dLbls>
          <c:dLblPos val="outEnd"/>
          <c:showLegendKey val="0"/>
          <c:showVal val="1"/>
          <c:showCatName val="0"/>
          <c:showSerName val="0"/>
          <c:showPercent val="0"/>
          <c:showBubbleSize val="0"/>
        </c:dLbls>
        <c:gapWidth val="444"/>
        <c:overlap val="-90"/>
        <c:axId val="1108044272"/>
        <c:axId val="1108044752"/>
      </c:barChart>
      <c:catAx>
        <c:axId val="110804427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cap="all" spc="120" normalizeH="0" baseline="0">
                <a:solidFill>
                  <a:schemeClr val="bg1"/>
                </a:solidFill>
                <a:latin typeface="+mn-lt"/>
                <a:ea typeface="+mn-ea"/>
                <a:cs typeface="+mn-cs"/>
              </a:defRPr>
            </a:pPr>
            <a:endParaRPr lang="en-US"/>
          </a:p>
        </c:txPr>
        <c:crossAx val="1108044752"/>
        <c:crosses val="autoZero"/>
        <c:auto val="1"/>
        <c:lblAlgn val="ctr"/>
        <c:lblOffset val="100"/>
        <c:noMultiLvlLbl val="0"/>
      </c:catAx>
      <c:valAx>
        <c:axId val="1108044752"/>
        <c:scaling>
          <c:orientation val="minMax"/>
        </c:scaling>
        <c:delete val="1"/>
        <c:axPos val="l"/>
        <c:numFmt formatCode="0.00%" sourceLinked="1"/>
        <c:majorTickMark val="none"/>
        <c:minorTickMark val="none"/>
        <c:tickLblPos val="nextTo"/>
        <c:crossAx val="1108044272"/>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200" b="0" i="0" u="none" strike="noStrike" kern="1200" baseline="0">
              <a:solidFill>
                <a:schemeClr val="bg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en-IN" sz="1600" b="1" i="0" u="none" strike="noStrike" kern="1200" cap="all" spc="120" normalizeH="0" baseline="0">
                <a:solidFill>
                  <a:schemeClr val="bg1"/>
                </a:solidFill>
                <a:latin typeface="+mn-lt"/>
                <a:ea typeface="+mn-ea"/>
                <a:cs typeface="+mn-cs"/>
              </a:defRPr>
            </a:pPr>
            <a:r>
              <a:rPr lang="en-IN" sz="1600" b="1" i="0" u="none" strike="noStrike" kern="1200" cap="all" spc="120" normalizeH="0" baseline="0">
                <a:solidFill>
                  <a:schemeClr val="bg1"/>
                </a:solidFill>
                <a:latin typeface="+mn-lt"/>
                <a:ea typeface="+mn-ea"/>
                <a:cs typeface="+mn-cs"/>
              </a:rPr>
              <a:t>product weightage-projected</a:t>
            </a:r>
          </a:p>
        </c:rich>
      </c:tx>
      <c:overlay val="0"/>
      <c:spPr>
        <a:noFill/>
        <a:ln>
          <a:noFill/>
        </a:ln>
        <a:effectLst/>
      </c:spPr>
      <c:txPr>
        <a:bodyPr rot="0" spcFirstLastPara="1" vertOverflow="ellipsis" vert="horz" wrap="square" anchor="ctr" anchorCtr="1"/>
        <a:lstStyle/>
        <a:p>
          <a:pPr>
            <a:defRPr lang="en-IN" sz="1600" b="1" i="0" u="none" strike="noStrike" kern="1200" cap="all" spc="120" normalizeH="0" baseline="0">
              <a:solidFill>
                <a:schemeClr val="bg1"/>
              </a:solidFill>
              <a:latin typeface="+mn-lt"/>
              <a:ea typeface="+mn-ea"/>
              <a:cs typeface="+mn-cs"/>
            </a:defRPr>
          </a:pPr>
          <a:endParaRPr lang="en-IN"/>
        </a:p>
      </c:txPr>
    </c:title>
    <c:autoTitleDeleted val="0"/>
    <c:plotArea>
      <c:layout/>
      <c:barChart>
        <c:barDir val="col"/>
        <c:grouping val="clustered"/>
        <c:varyColors val="0"/>
        <c:ser>
          <c:idx val="0"/>
          <c:order val="0"/>
          <c:tx>
            <c:strRef>
              <c:f>'[PRODUCT    VALUE AND  EXPENSE.xlsx]Projections-Without Funding (3)'!$A$3</c:f>
              <c:strCache>
                <c:ptCount val="1"/>
                <c:pt idx="0">
                  <c:v>FY 2026-2027</c:v>
                </c:pt>
              </c:strCache>
            </c:strRef>
          </c:tx>
          <c:spPr>
            <a:solidFill>
              <a:schemeClr val="accent1"/>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50" b="0"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'[PRODUCT    VALUE AND  EXPENSE.xlsx]Projections-Without Funding (3)'!$C$2,'[PRODUCT    VALUE AND  EXPENSE.xlsx]Projections-Without Funding (3)'!$E$2,'[PRODUCT    VALUE AND  EXPENSE.xlsx]Projections-Without Funding (3)'!$G$2,'[PRODUCT    VALUE AND  EXPENSE.xlsx]Projections-Without Funding (3)'!$I$2,'[PRODUCT    VALUE AND  EXPENSE.xlsx]Projections-Without Funding (3)'!$Q$2,'[PRODUCT    VALUE AND  EXPENSE.xlsx]Projections-Without Funding (3)'!$S$2,'[PRODUCT    VALUE AND  EXPENSE.xlsx]Projections-Without Funding (3)'!$K$2,'[PRODUCT    VALUE AND  EXPENSE.xlsx]Projections-Without Funding (3)'!$O$2,'[PRODUCT    VALUE AND  EXPENSE.xlsx]Projections-Without Funding (3)'!$M$2</c:f>
              <c:strCache>
                <c:ptCount val="9"/>
                <c:pt idx="0">
                  <c:v>Vertical Door</c:v>
                </c:pt>
                <c:pt idx="1">
                  <c:v>Hydraulics</c:v>
                </c:pt>
                <c:pt idx="2">
                  <c:v>Car Parking</c:v>
                </c:pt>
                <c:pt idx="3">
                  <c:v>Auto Doors</c:v>
                </c:pt>
                <c:pt idx="4">
                  <c:v>Dumb-Waiters</c:v>
                </c:pt>
                <c:pt idx="5">
                  <c:v>Gear Less- Kit</c:v>
                </c:pt>
                <c:pt idx="6">
                  <c:v>Car Frames</c:v>
                </c:pt>
                <c:pt idx="7">
                  <c:v>Cabins</c:v>
                </c:pt>
                <c:pt idx="8">
                  <c:v>Misc.</c:v>
                </c:pt>
              </c:strCache>
            </c:strRef>
          </c:cat>
          <c:val>
            <c:numRef>
              <c:f>'[PRODUCT    VALUE AND  EXPENSE.xlsx]Projections-Without Funding (3)'!$C$3,'[PRODUCT    VALUE AND  EXPENSE.xlsx]Projections-Without Funding (3)'!$E$3,'[PRODUCT    VALUE AND  EXPENSE.xlsx]Projections-Without Funding (3)'!$G$3,'[PRODUCT    VALUE AND  EXPENSE.xlsx]Projections-Without Funding (3)'!$I$3,'[PRODUCT    VALUE AND  EXPENSE.xlsx]Projections-Without Funding (3)'!$Q$3,'[PRODUCT    VALUE AND  EXPENSE.xlsx]Projections-Without Funding (3)'!$S$3,'[PRODUCT    VALUE AND  EXPENSE.xlsx]Projections-Without Funding (3)'!$K$3,'[PRODUCT    VALUE AND  EXPENSE.xlsx]Projections-Without Funding (3)'!$O$3,'[PRODUCT    VALUE AND  EXPENSE.xlsx]Projections-Without Funding (3)'!$M$3</c:f>
              <c:numCache>
                <c:formatCode>0.00%</c:formatCode>
                <c:ptCount val="9"/>
                <c:pt idx="0">
                  <c:v>0.15620641562064158</c:v>
                </c:pt>
                <c:pt idx="1">
                  <c:v>0.43328684332868433</c:v>
                </c:pt>
                <c:pt idx="2">
                  <c:v>7.252440725244072E-2</c:v>
                </c:pt>
                <c:pt idx="3">
                  <c:v>2.9381682938168296E-2</c:v>
                </c:pt>
                <c:pt idx="4">
                  <c:v>1.1622501162250116E-2</c:v>
                </c:pt>
                <c:pt idx="5">
                  <c:v>0.13389121338912136</c:v>
                </c:pt>
                <c:pt idx="6">
                  <c:v>6.1924686192468624E-2</c:v>
                </c:pt>
                <c:pt idx="7">
                  <c:v>5.1139005113900515E-2</c:v>
                </c:pt>
                <c:pt idx="8">
                  <c:v>5.0023245002324503E-2</c:v>
                </c:pt>
              </c:numCache>
            </c:numRef>
          </c:val>
          <c:extLst>
            <c:ext xmlns:c16="http://schemas.microsoft.com/office/drawing/2014/chart" uri="{C3380CC4-5D6E-409C-BE32-E72D297353CC}">
              <c16:uniqueId val="{00000000-59F3-4389-A1A9-3015730209A4}"/>
            </c:ext>
          </c:extLst>
        </c:ser>
        <c:ser>
          <c:idx val="1"/>
          <c:order val="1"/>
          <c:tx>
            <c:strRef>
              <c:f>'[PRODUCT    VALUE AND  EXPENSE.xlsx]Projections-Without Funding (3)'!$A$4</c:f>
              <c:strCache>
                <c:ptCount val="1"/>
                <c:pt idx="0">
                  <c:v>FY 2027-2028</c:v>
                </c:pt>
              </c:strCache>
            </c:strRef>
          </c:tx>
          <c:spPr>
            <a:solidFill>
              <a:schemeClr val="accent2"/>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50" b="0"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'[PRODUCT    VALUE AND  EXPENSE.xlsx]Projections-Without Funding (3)'!$C$2,'[PRODUCT    VALUE AND  EXPENSE.xlsx]Projections-Without Funding (3)'!$E$2,'[PRODUCT    VALUE AND  EXPENSE.xlsx]Projections-Without Funding (3)'!$G$2,'[PRODUCT    VALUE AND  EXPENSE.xlsx]Projections-Without Funding (3)'!$I$2,'[PRODUCT    VALUE AND  EXPENSE.xlsx]Projections-Without Funding (3)'!$Q$2,'[PRODUCT    VALUE AND  EXPENSE.xlsx]Projections-Without Funding (3)'!$S$2,'[PRODUCT    VALUE AND  EXPENSE.xlsx]Projections-Without Funding (3)'!$K$2,'[PRODUCT    VALUE AND  EXPENSE.xlsx]Projections-Without Funding (3)'!$O$2,'[PRODUCT    VALUE AND  EXPENSE.xlsx]Projections-Without Funding (3)'!$M$2</c:f>
              <c:strCache>
                <c:ptCount val="9"/>
                <c:pt idx="0">
                  <c:v>Vertical Door</c:v>
                </c:pt>
                <c:pt idx="1">
                  <c:v>Hydraulics</c:v>
                </c:pt>
                <c:pt idx="2">
                  <c:v>Car Parking</c:v>
                </c:pt>
                <c:pt idx="3">
                  <c:v>Auto Doors</c:v>
                </c:pt>
                <c:pt idx="4">
                  <c:v>Dumb-Waiters</c:v>
                </c:pt>
                <c:pt idx="5">
                  <c:v>Gear Less- Kit</c:v>
                </c:pt>
                <c:pt idx="6">
                  <c:v>Car Frames</c:v>
                </c:pt>
                <c:pt idx="7">
                  <c:v>Cabins</c:v>
                </c:pt>
                <c:pt idx="8">
                  <c:v>Misc.</c:v>
                </c:pt>
              </c:strCache>
            </c:strRef>
          </c:cat>
          <c:val>
            <c:numRef>
              <c:f>'[PRODUCT    VALUE AND  EXPENSE.xlsx]Projections-Without Funding (3)'!$C$4,'[PRODUCT    VALUE AND  EXPENSE.xlsx]Projections-Without Funding (3)'!$E$4,'[PRODUCT    VALUE AND  EXPENSE.xlsx]Projections-Without Funding (3)'!$G$4,'[PRODUCT    VALUE AND  EXPENSE.xlsx]Projections-Without Funding (3)'!$I$4,'[PRODUCT    VALUE AND  EXPENSE.xlsx]Projections-Without Funding (3)'!$Q$4,'[PRODUCT    VALUE AND  EXPENSE.xlsx]Projections-Without Funding (3)'!$S$4,'[PRODUCT    VALUE AND  EXPENSE.xlsx]Projections-Without Funding (3)'!$K$4,'[PRODUCT    VALUE AND  EXPENSE.xlsx]Projections-Without Funding (3)'!$O$4,'[PRODUCT    VALUE AND  EXPENSE.xlsx]Projections-Without Funding (3)'!$M$4</c:f>
              <c:numCache>
                <c:formatCode>0.00%</c:formatCode>
                <c:ptCount val="9"/>
                <c:pt idx="0">
                  <c:v>0.15673981191222572</c:v>
                </c:pt>
                <c:pt idx="1">
                  <c:v>0.332512315270936</c:v>
                </c:pt>
                <c:pt idx="2">
                  <c:v>7.2772055530676227E-2</c:v>
                </c:pt>
                <c:pt idx="3">
                  <c:v>6.1576354679802964E-2</c:v>
                </c:pt>
                <c:pt idx="4">
                  <c:v>2.3245002324500233E-2</c:v>
                </c:pt>
                <c:pt idx="5">
                  <c:v>0.16793551276309898</c:v>
                </c:pt>
                <c:pt idx="6">
                  <c:v>6.1800268696820419E-2</c:v>
                </c:pt>
                <c:pt idx="7">
                  <c:v>9.2980009298000932E-2</c:v>
                </c:pt>
                <c:pt idx="8">
                  <c:v>7.6690550828481863E-2</c:v>
                </c:pt>
              </c:numCache>
            </c:numRef>
          </c:val>
          <c:extLst>
            <c:ext xmlns:c16="http://schemas.microsoft.com/office/drawing/2014/chart" uri="{C3380CC4-5D6E-409C-BE32-E72D297353CC}">
              <c16:uniqueId val="{00000001-59F3-4389-A1A9-3015730209A4}"/>
            </c:ext>
          </c:extLst>
        </c:ser>
        <c:ser>
          <c:idx val="2"/>
          <c:order val="2"/>
          <c:tx>
            <c:strRef>
              <c:f>'[PRODUCT    VALUE AND  EXPENSE.xlsx]Projections-Without Funding (3)'!$A$5</c:f>
              <c:strCache>
                <c:ptCount val="1"/>
                <c:pt idx="0">
                  <c:v>FY 2028-2029</c:v>
                </c:pt>
              </c:strCache>
            </c:strRef>
          </c:tx>
          <c:spPr>
            <a:solidFill>
              <a:schemeClr val="accent3"/>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50" b="0"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'[PRODUCT    VALUE AND  EXPENSE.xlsx]Projections-Without Funding (3)'!$C$2,'[PRODUCT    VALUE AND  EXPENSE.xlsx]Projections-Without Funding (3)'!$E$2,'[PRODUCT    VALUE AND  EXPENSE.xlsx]Projections-Without Funding (3)'!$G$2,'[PRODUCT    VALUE AND  EXPENSE.xlsx]Projections-Without Funding (3)'!$I$2,'[PRODUCT    VALUE AND  EXPENSE.xlsx]Projections-Without Funding (3)'!$Q$2,'[PRODUCT    VALUE AND  EXPENSE.xlsx]Projections-Without Funding (3)'!$S$2,'[PRODUCT    VALUE AND  EXPENSE.xlsx]Projections-Without Funding (3)'!$K$2,'[PRODUCT    VALUE AND  EXPENSE.xlsx]Projections-Without Funding (3)'!$O$2,'[PRODUCT    VALUE AND  EXPENSE.xlsx]Projections-Without Funding (3)'!$M$2</c:f>
              <c:strCache>
                <c:ptCount val="9"/>
                <c:pt idx="0">
                  <c:v>Vertical Door</c:v>
                </c:pt>
                <c:pt idx="1">
                  <c:v>Hydraulics</c:v>
                </c:pt>
                <c:pt idx="2">
                  <c:v>Car Parking</c:v>
                </c:pt>
                <c:pt idx="3">
                  <c:v>Auto Doors</c:v>
                </c:pt>
                <c:pt idx="4">
                  <c:v>Dumb-Waiters</c:v>
                </c:pt>
                <c:pt idx="5">
                  <c:v>Gear Less- Kit</c:v>
                </c:pt>
                <c:pt idx="6">
                  <c:v>Car Frames</c:v>
                </c:pt>
                <c:pt idx="7">
                  <c:v>Cabins</c:v>
                </c:pt>
                <c:pt idx="8">
                  <c:v>Misc.</c:v>
                </c:pt>
              </c:strCache>
            </c:strRef>
          </c:cat>
          <c:val>
            <c:numRef>
              <c:f>'[PRODUCT    VALUE AND  EXPENSE.xlsx]Projections-Without Funding (3)'!$C$5,'[PRODUCT    VALUE AND  EXPENSE.xlsx]Projections-Without Funding (3)'!$E$5,'[PRODUCT    VALUE AND  EXPENSE.xlsx]Projections-Without Funding (3)'!$G$5,'[PRODUCT    VALUE AND  EXPENSE.xlsx]Projections-Without Funding (3)'!$I$5,'[PRODUCT    VALUE AND  EXPENSE.xlsx]Projections-Without Funding (3)'!$Q$5,'[PRODUCT    VALUE AND  EXPENSE.xlsx]Projections-Without Funding (3)'!$S$5,'[PRODUCT    VALUE AND  EXPENSE.xlsx]Projections-Without Funding (3)'!$K$5,'[PRODUCT    VALUE AND  EXPENSE.xlsx]Projections-Without Funding (3)'!$O$5,'[PRODUCT    VALUE AND  EXPENSE.xlsx]Projections-Without Funding (3)'!$M$5</c:f>
              <c:numCache>
                <c:formatCode>0.00%</c:formatCode>
                <c:ptCount val="9"/>
                <c:pt idx="0">
                  <c:v>0.1309880239520958</c:v>
                </c:pt>
                <c:pt idx="1">
                  <c:v>0.2572979041916168</c:v>
                </c:pt>
                <c:pt idx="2">
                  <c:v>8.1087824351297411E-2</c:v>
                </c:pt>
                <c:pt idx="3">
                  <c:v>0.12443862275449102</c:v>
                </c:pt>
                <c:pt idx="4">
                  <c:v>4.6490004649000466E-2</c:v>
                </c:pt>
                <c:pt idx="5">
                  <c:v>0.18712574850299402</c:v>
                </c:pt>
                <c:pt idx="6">
                  <c:v>5.6324850299401194E-2</c:v>
                </c:pt>
                <c:pt idx="7">
                  <c:v>0.16271501627150164</c:v>
                </c:pt>
                <c:pt idx="8">
                  <c:v>9.2564870259481041E-2</c:v>
                </c:pt>
              </c:numCache>
            </c:numRef>
          </c:val>
          <c:extLst>
            <c:ext xmlns:c16="http://schemas.microsoft.com/office/drawing/2014/chart" uri="{C3380CC4-5D6E-409C-BE32-E72D297353CC}">
              <c16:uniqueId val="{00000002-59F3-4389-A1A9-3015730209A4}"/>
            </c:ext>
          </c:extLst>
        </c:ser>
        <c:dLbls>
          <c:dLblPos val="outEnd"/>
          <c:showLegendKey val="0"/>
          <c:showVal val="1"/>
          <c:showCatName val="0"/>
          <c:showSerName val="0"/>
          <c:showPercent val="0"/>
          <c:showBubbleSize val="0"/>
        </c:dLbls>
        <c:gapWidth val="444"/>
        <c:overlap val="-90"/>
        <c:axId val="1108044272"/>
        <c:axId val="1108044752"/>
      </c:barChart>
      <c:catAx>
        <c:axId val="110804427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cap="all" spc="120" normalizeH="0" baseline="0">
                <a:solidFill>
                  <a:schemeClr val="bg1">
                    <a:lumMod val="95000"/>
                  </a:schemeClr>
                </a:solidFill>
                <a:latin typeface="+mn-lt"/>
                <a:ea typeface="+mn-ea"/>
                <a:cs typeface="+mn-cs"/>
              </a:defRPr>
            </a:pPr>
            <a:endParaRPr lang="en-US"/>
          </a:p>
        </c:txPr>
        <c:crossAx val="1108044752"/>
        <c:crosses val="autoZero"/>
        <c:auto val="1"/>
        <c:lblAlgn val="ctr"/>
        <c:lblOffset val="100"/>
        <c:noMultiLvlLbl val="0"/>
      </c:catAx>
      <c:valAx>
        <c:axId val="1108044752"/>
        <c:scaling>
          <c:orientation val="minMax"/>
        </c:scaling>
        <c:delete val="1"/>
        <c:axPos val="l"/>
        <c:numFmt formatCode="0.00%" sourceLinked="1"/>
        <c:majorTickMark val="none"/>
        <c:minorTickMark val="none"/>
        <c:tickLblPos val="nextTo"/>
        <c:crossAx val="1108044272"/>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200" b="0" i="0" u="none" strike="noStrike" kern="1200" baseline="0">
              <a:solidFill>
                <a:schemeClr val="bg1">
                  <a:lumMod val="9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0" baseline="0">
                <a:solidFill>
                  <a:schemeClr val="bg1"/>
                </a:solidFill>
                <a:latin typeface="+mn-lt"/>
                <a:ea typeface="+mn-ea"/>
                <a:cs typeface="+mn-cs"/>
              </a:defRPr>
            </a:pPr>
            <a:r>
              <a:rPr lang="en-IN" sz="1600" dirty="0">
                <a:solidFill>
                  <a:schemeClr val="bg1"/>
                </a:solidFill>
              </a:rPr>
              <a:t>Sales</a:t>
            </a:r>
          </a:p>
        </c:rich>
      </c:tx>
      <c:overlay val="0"/>
      <c:spPr>
        <a:noFill/>
        <a:ln>
          <a:noFill/>
        </a:ln>
        <a:effectLst/>
      </c:spPr>
      <c:txPr>
        <a:bodyPr rot="0" spcFirstLastPara="1" vertOverflow="ellipsis" vert="horz" wrap="square" anchor="ctr" anchorCtr="1"/>
        <a:lstStyle/>
        <a:p>
          <a:pPr>
            <a:defRPr sz="1600" b="0" i="0" u="none" strike="noStrike" kern="1200" spc="0" baseline="0">
              <a:solidFill>
                <a:schemeClr val="bg1"/>
              </a:solidFill>
              <a:latin typeface="+mn-lt"/>
              <a:ea typeface="+mn-ea"/>
              <a:cs typeface="+mn-cs"/>
            </a:defRPr>
          </a:pPr>
          <a:endParaRPr lang="en-US"/>
        </a:p>
      </c:txPr>
    </c:title>
    <c:autoTitleDeleted val="0"/>
    <c:plotArea>
      <c:layout/>
      <c:barChart>
        <c:barDir val="col"/>
        <c:grouping val="clustered"/>
        <c:varyColors val="0"/>
        <c:ser>
          <c:idx val="0"/>
          <c:order val="0"/>
          <c:tx>
            <c:strRef>
              <c:f>'For Presentation'!$B$1</c:f>
              <c:strCache>
                <c:ptCount val="1"/>
                <c:pt idx="0">
                  <c:v>Sales</c:v>
                </c:pt>
              </c:strCache>
            </c:strRef>
          </c:tx>
          <c:spPr>
            <a:solidFill>
              <a:schemeClr val="accent1"/>
            </a:solidFill>
            <a:ln>
              <a:noFill/>
            </a:ln>
            <a:effectLst/>
          </c:spPr>
          <c:invertIfNegative val="0"/>
          <c:cat>
            <c:strRef>
              <c:f>'For Presentation'!$A$2:$A$4</c:f>
              <c:strCache>
                <c:ptCount val="3"/>
                <c:pt idx="0">
                  <c:v>2021-2022</c:v>
                </c:pt>
                <c:pt idx="1">
                  <c:v>2022-2023</c:v>
                </c:pt>
                <c:pt idx="2">
                  <c:v>2023-2024</c:v>
                </c:pt>
              </c:strCache>
            </c:strRef>
          </c:cat>
          <c:val>
            <c:numRef>
              <c:f>'For Presentation'!$B$2:$B$4</c:f>
              <c:numCache>
                <c:formatCode>"₹"\ #,##0.00</c:formatCode>
                <c:ptCount val="3"/>
                <c:pt idx="0">
                  <c:v>12.39</c:v>
                </c:pt>
                <c:pt idx="1">
                  <c:v>18.399999999999999</c:v>
                </c:pt>
                <c:pt idx="2">
                  <c:v>28.7</c:v>
                </c:pt>
              </c:numCache>
            </c:numRef>
          </c:val>
          <c:extLst>
            <c:ext xmlns:c16="http://schemas.microsoft.com/office/drawing/2014/chart" uri="{C3380CC4-5D6E-409C-BE32-E72D297353CC}">
              <c16:uniqueId val="{00000000-2D80-4009-9338-A29D65998DB4}"/>
            </c:ext>
          </c:extLst>
        </c:ser>
        <c:dLbls>
          <c:showLegendKey val="0"/>
          <c:showVal val="0"/>
          <c:showCatName val="0"/>
          <c:showSerName val="0"/>
          <c:showPercent val="0"/>
          <c:showBubbleSize val="0"/>
        </c:dLbls>
        <c:gapWidth val="219"/>
        <c:overlap val="-27"/>
        <c:axId val="1041183567"/>
        <c:axId val="1041186447"/>
      </c:barChart>
      <c:catAx>
        <c:axId val="104118356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bg1"/>
                </a:solidFill>
                <a:latin typeface="+mn-lt"/>
                <a:ea typeface="+mn-ea"/>
                <a:cs typeface="+mn-cs"/>
              </a:defRPr>
            </a:pPr>
            <a:endParaRPr lang="en-US"/>
          </a:p>
        </c:txPr>
        <c:crossAx val="1041186447"/>
        <c:crosses val="autoZero"/>
        <c:auto val="1"/>
        <c:lblAlgn val="ctr"/>
        <c:lblOffset val="100"/>
        <c:noMultiLvlLbl val="0"/>
      </c:catAx>
      <c:valAx>
        <c:axId val="1041186447"/>
        <c:scaling>
          <c:orientation val="minMax"/>
        </c:scaling>
        <c:delete val="0"/>
        <c:axPos val="l"/>
        <c:majorGridlines>
          <c:spPr>
            <a:ln w="9525" cap="flat" cmpd="sng" algn="ctr">
              <a:solidFill>
                <a:schemeClr val="tx1">
                  <a:lumMod val="15000"/>
                  <a:lumOff val="85000"/>
                </a:schemeClr>
              </a:solidFill>
              <a:round/>
            </a:ln>
            <a:effectLst/>
          </c:spPr>
        </c:majorGridlines>
        <c:numFmt formatCode="&quot;₹&quot;\ #,##0.00"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bg1"/>
                </a:solidFill>
                <a:latin typeface="+mn-lt"/>
                <a:ea typeface="+mn-ea"/>
                <a:cs typeface="+mn-cs"/>
              </a:defRPr>
            </a:pPr>
            <a:endParaRPr lang="en-US"/>
          </a:p>
        </c:txPr>
        <c:crossAx val="1041183567"/>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600" b="0" i="0" u="none" strike="noStrike" kern="1200" spc="0" baseline="0">
              <a:solidFill>
                <a:schemeClr val="bg1"/>
              </a:solidFill>
              <a:latin typeface="+mn-lt"/>
              <a:ea typeface="+mn-ea"/>
              <a:cs typeface="+mn-cs"/>
            </a:defRPr>
          </a:pPr>
          <a:endParaRPr lang="en-US"/>
        </a:p>
      </c:txPr>
    </c:title>
    <c:autoTitleDeleted val="0"/>
    <c:plotArea>
      <c:layout/>
      <c:barChart>
        <c:barDir val="col"/>
        <c:grouping val="stacked"/>
        <c:varyColors val="0"/>
        <c:ser>
          <c:idx val="0"/>
          <c:order val="0"/>
          <c:tx>
            <c:strRef>
              <c:f>'For Presentation'!$D$1</c:f>
              <c:strCache>
                <c:ptCount val="1"/>
                <c:pt idx="0">
                  <c:v>PAT</c:v>
                </c:pt>
              </c:strCache>
            </c:strRef>
          </c:tx>
          <c:spPr>
            <a:solidFill>
              <a:schemeClr val="accent1"/>
            </a:solidFill>
            <a:ln>
              <a:noFill/>
            </a:ln>
            <a:effectLst/>
          </c:spPr>
          <c:invertIfNegative val="0"/>
          <c:cat>
            <c:strRef>
              <c:f>'For Presentation'!$A$2:$A$4</c:f>
              <c:strCache>
                <c:ptCount val="3"/>
                <c:pt idx="0">
                  <c:v>2021-2022</c:v>
                </c:pt>
                <c:pt idx="1">
                  <c:v>2022-2023</c:v>
                </c:pt>
                <c:pt idx="2">
                  <c:v>2023-2024</c:v>
                </c:pt>
              </c:strCache>
            </c:strRef>
          </c:cat>
          <c:val>
            <c:numRef>
              <c:f>'For Presentation'!$D$2:$D$4</c:f>
              <c:numCache>
                <c:formatCode>"₹"\ #,##0.00</c:formatCode>
                <c:ptCount val="3"/>
                <c:pt idx="0">
                  <c:v>0.43</c:v>
                </c:pt>
                <c:pt idx="1">
                  <c:v>0.92</c:v>
                </c:pt>
                <c:pt idx="2">
                  <c:v>2.12</c:v>
                </c:pt>
              </c:numCache>
            </c:numRef>
          </c:val>
          <c:extLst>
            <c:ext xmlns:c16="http://schemas.microsoft.com/office/drawing/2014/chart" uri="{C3380CC4-5D6E-409C-BE32-E72D297353CC}">
              <c16:uniqueId val="{00000000-3B8C-492C-8CAF-09BC04DD0CD1}"/>
            </c:ext>
          </c:extLst>
        </c:ser>
        <c:dLbls>
          <c:showLegendKey val="0"/>
          <c:showVal val="0"/>
          <c:showCatName val="0"/>
          <c:showSerName val="0"/>
          <c:showPercent val="0"/>
          <c:showBubbleSize val="0"/>
        </c:dLbls>
        <c:gapWidth val="150"/>
        <c:overlap val="100"/>
        <c:axId val="1011336191"/>
        <c:axId val="1011333791"/>
      </c:barChart>
      <c:catAx>
        <c:axId val="101133619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bg1"/>
                </a:solidFill>
                <a:latin typeface="+mn-lt"/>
                <a:ea typeface="+mn-ea"/>
                <a:cs typeface="+mn-cs"/>
              </a:defRPr>
            </a:pPr>
            <a:endParaRPr lang="en-US"/>
          </a:p>
        </c:txPr>
        <c:crossAx val="1011333791"/>
        <c:crosses val="autoZero"/>
        <c:auto val="1"/>
        <c:lblAlgn val="ctr"/>
        <c:lblOffset val="100"/>
        <c:noMultiLvlLbl val="0"/>
      </c:catAx>
      <c:valAx>
        <c:axId val="1011333791"/>
        <c:scaling>
          <c:orientation val="minMax"/>
        </c:scaling>
        <c:delete val="0"/>
        <c:axPos val="l"/>
        <c:majorGridlines>
          <c:spPr>
            <a:ln w="9525" cap="flat" cmpd="sng" algn="ctr">
              <a:solidFill>
                <a:schemeClr val="tx1">
                  <a:lumMod val="15000"/>
                  <a:lumOff val="85000"/>
                </a:schemeClr>
              </a:solidFill>
              <a:round/>
            </a:ln>
            <a:effectLst/>
          </c:spPr>
        </c:majorGridlines>
        <c:numFmt formatCode="&quot;₹&quot;\ #,##0.00"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bg1"/>
                </a:solidFill>
                <a:latin typeface="+mn-lt"/>
                <a:ea typeface="+mn-ea"/>
                <a:cs typeface="+mn-cs"/>
              </a:defRPr>
            </a:pPr>
            <a:endParaRPr lang="en-US"/>
          </a:p>
        </c:txPr>
        <c:crossAx val="1011336191"/>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600" b="1" i="0" u="none" strike="noStrike" kern="1200" cap="all" spc="120" normalizeH="0" baseline="0">
              <a:solidFill>
                <a:schemeClr val="bg1"/>
              </a:solidFill>
              <a:latin typeface="+mn-lt"/>
              <a:ea typeface="+mn-ea"/>
              <a:cs typeface="+mn-cs"/>
            </a:defRPr>
          </a:pPr>
          <a:endParaRPr lang="en-US"/>
        </a:p>
      </c:txPr>
    </c:title>
    <c:autoTitleDeleted val="0"/>
    <c:plotArea>
      <c:layout/>
      <c:lineChart>
        <c:grouping val="standard"/>
        <c:varyColors val="0"/>
        <c:ser>
          <c:idx val="0"/>
          <c:order val="0"/>
          <c:tx>
            <c:strRef>
              <c:f>'For Presentation'!$E$1</c:f>
              <c:strCache>
                <c:ptCount val="1"/>
                <c:pt idx="0">
                  <c:v>NPM</c:v>
                </c:pt>
              </c:strCache>
            </c:strRef>
          </c:tx>
          <c:spPr>
            <a:ln w="22225" cap="rnd">
              <a:solidFill>
                <a:schemeClr val="accent1"/>
              </a:solidFill>
              <a:round/>
            </a:ln>
            <a:effectLst/>
          </c:spPr>
          <c:marker>
            <c:symbol val="diamond"/>
            <c:size val="6"/>
            <c:spPr>
              <a:solidFill>
                <a:schemeClr val="accent1"/>
              </a:solidFill>
              <a:ln w="9525">
                <a:solidFill>
                  <a:schemeClr val="accent1"/>
                </a:solidFill>
                <a:round/>
              </a:ln>
              <a:effectLst/>
            </c:spPr>
          </c:marker>
          <c:cat>
            <c:strRef>
              <c:f>'For Presentation'!$A$2:$A$4</c:f>
              <c:strCache>
                <c:ptCount val="3"/>
                <c:pt idx="0">
                  <c:v>2021-2022</c:v>
                </c:pt>
                <c:pt idx="1">
                  <c:v>2022-2023</c:v>
                </c:pt>
                <c:pt idx="2">
                  <c:v>2023-2024</c:v>
                </c:pt>
              </c:strCache>
            </c:strRef>
          </c:cat>
          <c:val>
            <c:numRef>
              <c:f>'For Presentation'!$E$2:$E$4</c:f>
              <c:numCache>
                <c:formatCode>0.0%</c:formatCode>
                <c:ptCount val="3"/>
                <c:pt idx="0">
                  <c:v>3.4927740517326743E-2</c:v>
                </c:pt>
                <c:pt idx="1">
                  <c:v>5.0287540745802217E-2</c:v>
                </c:pt>
                <c:pt idx="2">
                  <c:v>7.2188505222817015E-2</c:v>
                </c:pt>
              </c:numCache>
            </c:numRef>
          </c:val>
          <c:smooth val="0"/>
          <c:extLst>
            <c:ext xmlns:c16="http://schemas.microsoft.com/office/drawing/2014/chart" uri="{C3380CC4-5D6E-409C-BE32-E72D297353CC}">
              <c16:uniqueId val="{00000000-B3A4-4D76-B3D9-E6060FC0E72E}"/>
            </c:ext>
          </c:extLst>
        </c:ser>
        <c:dLbls>
          <c:showLegendKey val="0"/>
          <c:showVal val="0"/>
          <c:showCatName val="0"/>
          <c:showSerName val="0"/>
          <c:showPercent val="0"/>
          <c:showBubbleSize val="0"/>
        </c:dLbls>
        <c:marker val="1"/>
        <c:smooth val="0"/>
        <c:axId val="1345839039"/>
        <c:axId val="1345858239"/>
      </c:lineChart>
      <c:catAx>
        <c:axId val="1345839039"/>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64" b="0" i="0" u="none" strike="noStrike" kern="1200" cap="all" spc="120" normalizeH="0" baseline="0">
                <a:solidFill>
                  <a:schemeClr val="bg1"/>
                </a:solidFill>
                <a:latin typeface="+mn-lt"/>
                <a:ea typeface="+mn-ea"/>
                <a:cs typeface="+mn-cs"/>
              </a:defRPr>
            </a:pPr>
            <a:endParaRPr lang="en-US"/>
          </a:p>
        </c:txPr>
        <c:crossAx val="1345858239"/>
        <c:crosses val="autoZero"/>
        <c:auto val="1"/>
        <c:lblAlgn val="ctr"/>
        <c:lblOffset val="100"/>
        <c:noMultiLvlLbl val="0"/>
      </c:catAx>
      <c:valAx>
        <c:axId val="1345858239"/>
        <c:scaling>
          <c:orientation val="minMax"/>
        </c:scaling>
        <c:delete val="0"/>
        <c:axPos val="l"/>
        <c:numFmt formatCode="0.0%"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crossAx val="134583903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2">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800"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800" b="0" i="0" u="none" strike="noStrike" kern="1200" baseline="0"/>
    <cs:bodyPr rot="-5400000" spcFirstLastPara="1" vertOverflow="clip" horzOverflow="clip" vert="horz" wrap="square" lIns="38100" tIns="19050" rIns="38100" bIns="19050" anchor="ctr" anchorCtr="1">
      <a:spAutoFit/>
    </cs:bodyPr>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8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900"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02">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800"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800" b="0" i="0" u="none" strike="noStrike" kern="1200" baseline="0"/>
    <cs:bodyPr rot="-5400000" spcFirstLastPara="1" vertOverflow="clip" horzOverflow="clip" vert="horz" wrap="square" lIns="38100" tIns="19050" rIns="38100" bIns="19050" anchor="ctr" anchorCtr="1">
      <a:spAutoFit/>
    </cs:bodyPr>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8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900"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02">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800"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800" b="0" i="0" u="none" strike="noStrike" kern="1200" baseline="0"/>
    <cs:bodyPr rot="-5400000" spcFirstLastPara="1" vertOverflow="clip" horzOverflow="clip" vert="horz" wrap="square" lIns="38100" tIns="19050" rIns="38100" bIns="19050" anchor="ctr" anchorCtr="1">
      <a:spAutoFit/>
    </cs:bodyPr>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8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900" kern="120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202">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800"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800" b="0" i="0" u="none" strike="noStrike" kern="1200" baseline="0"/>
    <cs:bodyPr rot="-5400000" spcFirstLastPara="1" vertOverflow="clip" horzOverflow="clip" vert="horz" wrap="square" lIns="38100" tIns="19050" rIns="38100" bIns="19050" anchor="ctr" anchorCtr="1">
      <a:spAutoFit/>
    </cs:bodyPr>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8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900" kern="1200"/>
  </cs:valueAxis>
  <cs:wall>
    <cs:lnRef idx="0"/>
    <cs:fillRef idx="0"/>
    <cs:effectRef idx="0"/>
    <cs:fontRef idx="minor">
      <a:schemeClr val="dk1"/>
    </cs:fontRef>
  </cs:wall>
</cs:chartStyle>
</file>

<file path=ppt/charts/style5.xml><?xml version="1.0" encoding="utf-8"?>
<cs:chartStyle xmlns:cs="http://schemas.microsoft.com/office/drawing/2012/chartStyle" xmlns:a="http://schemas.openxmlformats.org/drawingml/2006/main" id="202">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800"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800" b="0" i="0" u="none" strike="noStrike" kern="1200" baseline="0"/>
    <cs:bodyPr rot="-5400000" spcFirstLastPara="1" vertOverflow="clip" horzOverflow="clip" vert="horz" wrap="square" lIns="38100" tIns="19050" rIns="38100" bIns="19050" anchor="ctr" anchorCtr="1">
      <a:spAutoFit/>
    </cs:bodyPr>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8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900" kern="1200"/>
  </cs:valueAxis>
  <cs:wall>
    <cs:lnRef idx="0"/>
    <cs:fillRef idx="0"/>
    <cs:effectRef idx="0"/>
    <cs:fontRef idx="minor">
      <a:schemeClr val="dk1"/>
    </cs:fontRef>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39">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50000"/>
        <a:lumOff val="50000"/>
      </a:schemeClr>
    </cs:fontRef>
    <cs:defRPr sz="1197" b="0" i="0" u="none" strike="noStrike" kern="1200" baseline="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EB8CEAE-9ACF-4870-96B2-2FDD755B4008}" type="datetimeFigureOut">
              <a:rPr lang="en-IN" smtClean="0"/>
              <a:t>20-04-2026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14AC96-115D-4CF4-9B0B-0F2A89887B52}" type="slidenum">
              <a:rPr lang="en-IN" smtClean="0"/>
              <a:t>‹#›</a:t>
            </a:fld>
            <a:endParaRPr lang="en-IN"/>
          </a:p>
        </p:txBody>
      </p:sp>
    </p:spTree>
    <p:extLst>
      <p:ext uri="{BB962C8B-B14F-4D97-AF65-F5344CB8AC3E}">
        <p14:creationId xmlns:p14="http://schemas.microsoft.com/office/powerpoint/2010/main" val="35347574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EB8CEAE-9ACF-4870-96B2-2FDD755B4008}" type="datetimeFigureOut">
              <a:rPr lang="en-IN" smtClean="0"/>
              <a:t>20-04-2026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14AC96-115D-4CF4-9B0B-0F2A89887B52}" type="slidenum">
              <a:rPr lang="en-IN" smtClean="0"/>
              <a:t>‹#›</a:t>
            </a:fld>
            <a:endParaRPr lang="en-IN"/>
          </a:p>
        </p:txBody>
      </p:sp>
    </p:spTree>
    <p:extLst>
      <p:ext uri="{BB962C8B-B14F-4D97-AF65-F5344CB8AC3E}">
        <p14:creationId xmlns:p14="http://schemas.microsoft.com/office/powerpoint/2010/main" val="31385957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EB8CEAE-9ACF-4870-96B2-2FDD755B4008}" type="datetimeFigureOut">
              <a:rPr lang="en-IN" smtClean="0"/>
              <a:t>20-04-2026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14AC96-115D-4CF4-9B0B-0F2A89887B52}" type="slidenum">
              <a:rPr lang="en-IN" smtClean="0"/>
              <a:t>‹#›</a:t>
            </a:fld>
            <a:endParaRPr lang="en-IN"/>
          </a:p>
        </p:txBody>
      </p:sp>
    </p:spTree>
    <p:extLst>
      <p:ext uri="{BB962C8B-B14F-4D97-AF65-F5344CB8AC3E}">
        <p14:creationId xmlns:p14="http://schemas.microsoft.com/office/powerpoint/2010/main" val="8895592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EB8CEAE-9ACF-4870-96B2-2FDD755B4008}" type="datetimeFigureOut">
              <a:rPr lang="en-IN" smtClean="0"/>
              <a:t>20-04-2026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414AC96-115D-4CF4-9B0B-0F2A89887B52}" type="slidenum">
              <a:rPr lang="en-IN" smtClean="0"/>
              <a:t>‹#›</a:t>
            </a:fld>
            <a:endParaRPr lang="en-IN"/>
          </a:p>
        </p:txBody>
      </p:sp>
    </p:spTree>
    <p:extLst>
      <p:ext uri="{BB962C8B-B14F-4D97-AF65-F5344CB8AC3E}">
        <p14:creationId xmlns:p14="http://schemas.microsoft.com/office/powerpoint/2010/main" val="3639658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EB8CEAE-9ACF-4870-96B2-2FDD755B4008}" type="datetimeFigureOut">
              <a:rPr lang="en-IN" smtClean="0"/>
              <a:t>20-04-2026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414AC96-115D-4CF4-9B0B-0F2A89887B52}" type="slidenum">
              <a:rPr lang="en-IN" smtClean="0"/>
              <a:t>‹#›</a:t>
            </a:fld>
            <a:endParaRPr lang="en-IN"/>
          </a:p>
        </p:txBody>
      </p:sp>
    </p:spTree>
    <p:extLst>
      <p:ext uri="{BB962C8B-B14F-4D97-AF65-F5344CB8AC3E}">
        <p14:creationId xmlns:p14="http://schemas.microsoft.com/office/powerpoint/2010/main" val="27813911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EB8CEAE-9ACF-4870-96B2-2FDD755B4008}" type="datetimeFigureOut">
              <a:rPr lang="en-IN" smtClean="0"/>
              <a:t>20-04-2026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414AC96-115D-4CF4-9B0B-0F2A89887B52}" type="slidenum">
              <a:rPr lang="en-IN" smtClean="0"/>
              <a:t>‹#›</a:t>
            </a:fld>
            <a:endParaRPr lang="en-IN"/>
          </a:p>
        </p:txBody>
      </p:sp>
    </p:spTree>
    <p:extLst>
      <p:ext uri="{BB962C8B-B14F-4D97-AF65-F5344CB8AC3E}">
        <p14:creationId xmlns:p14="http://schemas.microsoft.com/office/powerpoint/2010/main" val="13208176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EB8CEAE-9ACF-4870-96B2-2FDD755B4008}" type="datetimeFigureOut">
              <a:rPr lang="en-IN" smtClean="0"/>
              <a:t>20-04-2026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414AC96-115D-4CF4-9B0B-0F2A89887B52}" type="slidenum">
              <a:rPr lang="en-IN" smtClean="0"/>
              <a:t>‹#›</a:t>
            </a:fld>
            <a:endParaRPr lang="en-IN"/>
          </a:p>
        </p:txBody>
      </p:sp>
    </p:spTree>
    <p:extLst>
      <p:ext uri="{BB962C8B-B14F-4D97-AF65-F5344CB8AC3E}">
        <p14:creationId xmlns:p14="http://schemas.microsoft.com/office/powerpoint/2010/main" val="27067548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EB8CEAE-9ACF-4870-96B2-2FDD755B4008}" type="datetimeFigureOut">
              <a:rPr lang="en-IN" smtClean="0"/>
              <a:t>20-04-2026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414AC96-115D-4CF4-9B0B-0F2A89887B52}" type="slidenum">
              <a:rPr lang="en-IN" smtClean="0"/>
              <a:t>‹#›</a:t>
            </a:fld>
            <a:endParaRPr lang="en-IN"/>
          </a:p>
        </p:txBody>
      </p:sp>
    </p:spTree>
    <p:extLst>
      <p:ext uri="{BB962C8B-B14F-4D97-AF65-F5344CB8AC3E}">
        <p14:creationId xmlns:p14="http://schemas.microsoft.com/office/powerpoint/2010/main" val="24709414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EB8CEAE-9ACF-4870-96B2-2FDD755B4008}" type="datetimeFigureOut">
              <a:rPr lang="en-IN" smtClean="0"/>
              <a:t>20-04-2026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414AC96-115D-4CF4-9B0B-0F2A89887B52}" type="slidenum">
              <a:rPr lang="en-IN" smtClean="0"/>
              <a:t>‹#›</a:t>
            </a:fld>
            <a:endParaRPr lang="en-IN"/>
          </a:p>
        </p:txBody>
      </p:sp>
    </p:spTree>
    <p:extLst>
      <p:ext uri="{BB962C8B-B14F-4D97-AF65-F5344CB8AC3E}">
        <p14:creationId xmlns:p14="http://schemas.microsoft.com/office/powerpoint/2010/main" val="2688802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EB8CEAE-9ACF-4870-96B2-2FDD755B4008}" type="datetimeFigureOut">
              <a:rPr lang="en-IN" smtClean="0"/>
              <a:t>20-04-2026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14AC96-115D-4CF4-9B0B-0F2A89887B52}" type="slidenum">
              <a:rPr lang="en-IN" smtClean="0"/>
              <a:t>‹#›</a:t>
            </a:fld>
            <a:endParaRPr lang="en-IN"/>
          </a:p>
        </p:txBody>
      </p:sp>
    </p:spTree>
    <p:extLst>
      <p:ext uri="{BB962C8B-B14F-4D97-AF65-F5344CB8AC3E}">
        <p14:creationId xmlns:p14="http://schemas.microsoft.com/office/powerpoint/2010/main" val="33331504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EB8CEAE-9ACF-4870-96B2-2FDD755B4008}" type="datetimeFigureOut">
              <a:rPr lang="en-IN" smtClean="0"/>
              <a:t>20-04-2026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14AC96-115D-4CF4-9B0B-0F2A89887B52}" type="slidenum">
              <a:rPr lang="en-IN" smtClean="0"/>
              <a:t>‹#›</a:t>
            </a:fld>
            <a:endParaRPr lang="en-IN"/>
          </a:p>
        </p:txBody>
      </p:sp>
    </p:spTree>
    <p:extLst>
      <p:ext uri="{BB962C8B-B14F-4D97-AF65-F5344CB8AC3E}">
        <p14:creationId xmlns:p14="http://schemas.microsoft.com/office/powerpoint/2010/main" val="4276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EB8CEAE-9ACF-4870-96B2-2FDD755B4008}" type="datetimeFigureOut">
              <a:rPr lang="en-IN" smtClean="0"/>
              <a:t>20-04-2026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414AC96-115D-4CF4-9B0B-0F2A89887B52}" type="slidenum">
              <a:rPr lang="en-IN" smtClean="0"/>
              <a:t>‹#›</a:t>
            </a:fld>
            <a:endParaRPr lang="en-IN"/>
          </a:p>
        </p:txBody>
      </p:sp>
    </p:spTree>
    <p:extLst>
      <p:ext uri="{BB962C8B-B14F-4D97-AF65-F5344CB8AC3E}">
        <p14:creationId xmlns:p14="http://schemas.microsoft.com/office/powerpoint/2010/main" val="377808428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bin"/><Relationship Id="rId2" Type="http://schemas.openxmlformats.org/officeDocument/2006/relationships/image" Target="../media/image1.bin"/><Relationship Id="rId1" Type="http://schemas.openxmlformats.org/officeDocument/2006/relationships/slideLayout" Target="../slideLayouts/slideLayout7.xml"/><Relationship Id="rId5" Type="http://schemas.openxmlformats.org/officeDocument/2006/relationships/image" Target="../media/image4.bin"/><Relationship Id="rId4" Type="http://schemas.openxmlformats.org/officeDocument/2006/relationships/image" Target="../media/image3.bin"/></Relationships>
</file>

<file path=ppt/slides/_rels/slide2.xml.rels><?xml version="1.0" encoding="UTF-8" standalone="yes"?>
<Relationships xmlns="http://schemas.openxmlformats.org/package/2006/relationships"><Relationship Id="rId8" Type="http://schemas.openxmlformats.org/officeDocument/2006/relationships/image" Target="../media/image10.bin"/><Relationship Id="rId3" Type="http://schemas.openxmlformats.org/officeDocument/2006/relationships/image" Target="../media/image5.bin"/><Relationship Id="rId7" Type="http://schemas.openxmlformats.org/officeDocument/2006/relationships/image" Target="../media/image9.bin"/><Relationship Id="rId2" Type="http://schemas.openxmlformats.org/officeDocument/2006/relationships/image" Target="../media/image1.bin"/><Relationship Id="rId1" Type="http://schemas.openxmlformats.org/officeDocument/2006/relationships/slideLayout" Target="../slideLayouts/slideLayout7.xml"/><Relationship Id="rId6" Type="http://schemas.openxmlformats.org/officeDocument/2006/relationships/image" Target="../media/image8.bin"/><Relationship Id="rId5" Type="http://schemas.openxmlformats.org/officeDocument/2006/relationships/image" Target="../media/image7.bin"/><Relationship Id="rId4" Type="http://schemas.openxmlformats.org/officeDocument/2006/relationships/image" Target="../media/image6.bin"/></Relationships>
</file>

<file path=ppt/slides/_rels/slide3.xml.rels><?xml version="1.0" encoding="UTF-8" standalone="yes"?>
<Relationships xmlns="http://schemas.openxmlformats.org/package/2006/relationships"><Relationship Id="rId3" Type="http://schemas.openxmlformats.org/officeDocument/2006/relationships/image" Target="../media/image11.bin"/><Relationship Id="rId2" Type="http://schemas.openxmlformats.org/officeDocument/2006/relationships/image" Target="../media/image1.bin"/><Relationship Id="rId1" Type="http://schemas.openxmlformats.org/officeDocument/2006/relationships/slideLayout" Target="../slideLayouts/slideLayout7.xml"/><Relationship Id="rId4" Type="http://schemas.openxmlformats.org/officeDocument/2006/relationships/image" Target="../media/image12.bin"/></Relationships>
</file>

<file path=ppt/slides/_rels/slide4.xml.rels><?xml version="1.0" encoding="UTF-8" standalone="yes"?>
<Relationships xmlns="http://schemas.openxmlformats.org/package/2006/relationships"><Relationship Id="rId8" Type="http://schemas.openxmlformats.org/officeDocument/2006/relationships/image" Target="../media/image18.bin"/><Relationship Id="rId3" Type="http://schemas.openxmlformats.org/officeDocument/2006/relationships/image" Target="../media/image13.bin"/><Relationship Id="rId7" Type="http://schemas.openxmlformats.org/officeDocument/2006/relationships/image" Target="../media/image17.bin"/><Relationship Id="rId2" Type="http://schemas.openxmlformats.org/officeDocument/2006/relationships/image" Target="../media/image1.bin"/><Relationship Id="rId1" Type="http://schemas.openxmlformats.org/officeDocument/2006/relationships/slideLayout" Target="../slideLayouts/slideLayout7.xml"/><Relationship Id="rId6" Type="http://schemas.openxmlformats.org/officeDocument/2006/relationships/image" Target="../media/image16.bin"/><Relationship Id="rId5" Type="http://schemas.openxmlformats.org/officeDocument/2006/relationships/image" Target="../media/image15.bin"/><Relationship Id="rId10" Type="http://schemas.openxmlformats.org/officeDocument/2006/relationships/image" Target="../media/image20.bin"/><Relationship Id="rId4" Type="http://schemas.openxmlformats.org/officeDocument/2006/relationships/image" Target="../media/image14.bin"/><Relationship Id="rId9" Type="http://schemas.openxmlformats.org/officeDocument/2006/relationships/image" Target="../media/image19.bin"/></Relationships>
</file>

<file path=ppt/slides/_rels/slide5.xml.rels><?xml version="1.0" encoding="UTF-8" standalone="yes"?>
<Relationships xmlns="http://schemas.openxmlformats.org/package/2006/relationships"><Relationship Id="rId8" Type="http://schemas.openxmlformats.org/officeDocument/2006/relationships/image" Target="../media/image25.bin"/><Relationship Id="rId13" Type="http://schemas.openxmlformats.org/officeDocument/2006/relationships/image" Target="../media/image30.bin"/><Relationship Id="rId3" Type="http://schemas.openxmlformats.org/officeDocument/2006/relationships/image" Target="../media/image5.bin"/><Relationship Id="rId7" Type="http://schemas.openxmlformats.org/officeDocument/2006/relationships/image" Target="../media/image24.bin"/><Relationship Id="rId12" Type="http://schemas.openxmlformats.org/officeDocument/2006/relationships/image" Target="../media/image29.bin"/><Relationship Id="rId2" Type="http://schemas.openxmlformats.org/officeDocument/2006/relationships/image" Target="../media/image1.bin"/><Relationship Id="rId16" Type="http://schemas.openxmlformats.org/officeDocument/2006/relationships/image" Target="../media/image10.bin"/><Relationship Id="rId1" Type="http://schemas.openxmlformats.org/officeDocument/2006/relationships/slideLayout" Target="../slideLayouts/slideLayout7.xml"/><Relationship Id="rId6" Type="http://schemas.openxmlformats.org/officeDocument/2006/relationships/image" Target="../media/image23.bin"/><Relationship Id="rId11" Type="http://schemas.openxmlformats.org/officeDocument/2006/relationships/image" Target="../media/image28.bin"/><Relationship Id="rId5" Type="http://schemas.openxmlformats.org/officeDocument/2006/relationships/image" Target="../media/image22.bin"/><Relationship Id="rId15" Type="http://schemas.openxmlformats.org/officeDocument/2006/relationships/image" Target="../media/image32.bin"/><Relationship Id="rId10" Type="http://schemas.openxmlformats.org/officeDocument/2006/relationships/image" Target="../media/image27.bin"/><Relationship Id="rId4" Type="http://schemas.openxmlformats.org/officeDocument/2006/relationships/image" Target="../media/image21.bin"/><Relationship Id="rId9" Type="http://schemas.openxmlformats.org/officeDocument/2006/relationships/image" Target="../media/image26.bin"/><Relationship Id="rId14" Type="http://schemas.openxmlformats.org/officeDocument/2006/relationships/image" Target="../media/image31.bin"/></Relationships>
</file>

<file path=ppt/slides/_rels/slide6.xml.rels><?xml version="1.0" encoding="UTF-8" standalone="yes"?>
<Relationships xmlns="http://schemas.openxmlformats.org/package/2006/relationships"><Relationship Id="rId8" Type="http://schemas.openxmlformats.org/officeDocument/2006/relationships/image" Target="../media/image25.bin"/><Relationship Id="rId13" Type="http://schemas.openxmlformats.org/officeDocument/2006/relationships/image" Target="../media/image30.bin"/><Relationship Id="rId3" Type="http://schemas.openxmlformats.org/officeDocument/2006/relationships/image" Target="../media/image5.bin"/><Relationship Id="rId7" Type="http://schemas.openxmlformats.org/officeDocument/2006/relationships/image" Target="../media/image24.bin"/><Relationship Id="rId12" Type="http://schemas.openxmlformats.org/officeDocument/2006/relationships/image" Target="../media/image29.bin"/><Relationship Id="rId17" Type="http://schemas.openxmlformats.org/officeDocument/2006/relationships/image" Target="../media/image33.png"/><Relationship Id="rId2" Type="http://schemas.openxmlformats.org/officeDocument/2006/relationships/image" Target="../media/image1.bin"/><Relationship Id="rId16" Type="http://schemas.openxmlformats.org/officeDocument/2006/relationships/image" Target="../media/image10.bin"/><Relationship Id="rId1" Type="http://schemas.openxmlformats.org/officeDocument/2006/relationships/slideLayout" Target="../slideLayouts/slideLayout7.xml"/><Relationship Id="rId6" Type="http://schemas.openxmlformats.org/officeDocument/2006/relationships/image" Target="../media/image23.bin"/><Relationship Id="rId11" Type="http://schemas.openxmlformats.org/officeDocument/2006/relationships/image" Target="../media/image28.bin"/><Relationship Id="rId5" Type="http://schemas.openxmlformats.org/officeDocument/2006/relationships/image" Target="../media/image22.bin"/><Relationship Id="rId15" Type="http://schemas.openxmlformats.org/officeDocument/2006/relationships/image" Target="../media/image32.bin"/><Relationship Id="rId10" Type="http://schemas.openxmlformats.org/officeDocument/2006/relationships/image" Target="../media/image27.bin"/><Relationship Id="rId4" Type="http://schemas.openxmlformats.org/officeDocument/2006/relationships/image" Target="../media/image21.bin"/><Relationship Id="rId9" Type="http://schemas.openxmlformats.org/officeDocument/2006/relationships/image" Target="../media/image26.bin"/><Relationship Id="rId14" Type="http://schemas.openxmlformats.org/officeDocument/2006/relationships/image" Target="../media/image31.bin"/></Relationships>
</file>

<file path=ppt/slides/_rels/slide7.xml.rels><?xml version="1.0" encoding="UTF-8" standalone="yes"?>
<Relationships xmlns="http://schemas.openxmlformats.org/package/2006/relationships"><Relationship Id="rId8" Type="http://schemas.openxmlformats.org/officeDocument/2006/relationships/image" Target="../media/image10.bin"/><Relationship Id="rId3" Type="http://schemas.openxmlformats.org/officeDocument/2006/relationships/image" Target="../media/image5.bin"/><Relationship Id="rId7" Type="http://schemas.openxmlformats.org/officeDocument/2006/relationships/image" Target="../media/image31.bin"/><Relationship Id="rId2" Type="http://schemas.openxmlformats.org/officeDocument/2006/relationships/image" Target="../media/image1.bin"/><Relationship Id="rId1" Type="http://schemas.openxmlformats.org/officeDocument/2006/relationships/slideLayout" Target="../slideLayouts/slideLayout7.xml"/><Relationship Id="rId6" Type="http://schemas.openxmlformats.org/officeDocument/2006/relationships/image" Target="../media/image28.bin"/><Relationship Id="rId5" Type="http://schemas.openxmlformats.org/officeDocument/2006/relationships/image" Target="../media/image26.bin"/><Relationship Id="rId10" Type="http://schemas.openxmlformats.org/officeDocument/2006/relationships/chart" Target="../charts/chart2.xml"/><Relationship Id="rId4" Type="http://schemas.openxmlformats.org/officeDocument/2006/relationships/image" Target="../media/image23.bin"/><Relationship Id="rId9" Type="http://schemas.openxmlformats.org/officeDocument/2006/relationships/chart" Target="../charts/chart1.xml"/></Relationships>
</file>

<file path=ppt/slides/_rels/slide8.xml.rels><?xml version="1.0" encoding="UTF-8" standalone="yes"?>
<Relationships xmlns="http://schemas.openxmlformats.org/package/2006/relationships"><Relationship Id="rId8" Type="http://schemas.openxmlformats.org/officeDocument/2006/relationships/image" Target="../media/image10.bin"/><Relationship Id="rId3" Type="http://schemas.openxmlformats.org/officeDocument/2006/relationships/image" Target="../media/image5.bin"/><Relationship Id="rId7" Type="http://schemas.openxmlformats.org/officeDocument/2006/relationships/image" Target="../media/image31.bin"/><Relationship Id="rId2" Type="http://schemas.openxmlformats.org/officeDocument/2006/relationships/image" Target="../media/image1.bin"/><Relationship Id="rId1" Type="http://schemas.openxmlformats.org/officeDocument/2006/relationships/slideLayout" Target="../slideLayouts/slideLayout7.xml"/><Relationship Id="rId6" Type="http://schemas.openxmlformats.org/officeDocument/2006/relationships/image" Target="../media/image28.bin"/><Relationship Id="rId11" Type="http://schemas.openxmlformats.org/officeDocument/2006/relationships/chart" Target="../charts/chart5.xml"/><Relationship Id="rId5" Type="http://schemas.openxmlformats.org/officeDocument/2006/relationships/image" Target="../media/image26.bin"/><Relationship Id="rId10" Type="http://schemas.openxmlformats.org/officeDocument/2006/relationships/chart" Target="../charts/chart4.xml"/><Relationship Id="rId4" Type="http://schemas.openxmlformats.org/officeDocument/2006/relationships/image" Target="../media/image23.bin"/><Relationship Id="rId9" Type="http://schemas.openxmlformats.org/officeDocument/2006/relationships/chart" Target="../charts/chart3.xml"/></Relationships>
</file>

<file path=ppt/slides/_rels/slide9.xml.rels><?xml version="1.0" encoding="UTF-8" standalone="yes"?>
<Relationships xmlns="http://schemas.openxmlformats.org/package/2006/relationships"><Relationship Id="rId8" Type="http://schemas.openxmlformats.org/officeDocument/2006/relationships/image" Target="../media/image39.bin"/><Relationship Id="rId3" Type="http://schemas.openxmlformats.org/officeDocument/2006/relationships/image" Target="../media/image34.bin"/><Relationship Id="rId7" Type="http://schemas.openxmlformats.org/officeDocument/2006/relationships/image" Target="../media/image38.bin"/><Relationship Id="rId2" Type="http://schemas.openxmlformats.org/officeDocument/2006/relationships/image" Target="../media/image1.bin"/><Relationship Id="rId1" Type="http://schemas.openxmlformats.org/officeDocument/2006/relationships/slideLayout" Target="../slideLayouts/slideLayout7.xml"/><Relationship Id="rId6" Type="http://schemas.openxmlformats.org/officeDocument/2006/relationships/image" Target="../media/image37.bin"/><Relationship Id="rId5" Type="http://schemas.openxmlformats.org/officeDocument/2006/relationships/image" Target="../media/image36.bin"/><Relationship Id="rId4" Type="http://schemas.openxmlformats.org/officeDocument/2006/relationships/image" Target="../media/image35.bin"/></Relationships>
</file>

<file path=ppt/slides/_rels/slide10.xml.rels><?xml version="1.0" encoding="UTF-8" standalone="yes"?>
<Relationships xmlns="http://schemas.openxmlformats.org/package/2006/relationships"><Relationship Id="rId8" Type="http://schemas.openxmlformats.org/officeDocument/2006/relationships/image" Target="../media/image39.bin"/><Relationship Id="rId3" Type="http://schemas.openxmlformats.org/officeDocument/2006/relationships/image" Target="../media/image40.bin"/><Relationship Id="rId7" Type="http://schemas.openxmlformats.org/officeDocument/2006/relationships/image" Target="../media/image42.bin"/><Relationship Id="rId2" Type="http://schemas.openxmlformats.org/officeDocument/2006/relationships/image" Target="../media/image1.bin"/><Relationship Id="rId1" Type="http://schemas.openxmlformats.org/officeDocument/2006/relationships/slideLayout" Target="../slideLayouts/slideLayout7.xml"/><Relationship Id="rId6" Type="http://schemas.openxmlformats.org/officeDocument/2006/relationships/image" Target="../media/image41.bin"/><Relationship Id="rId5" Type="http://schemas.openxmlformats.org/officeDocument/2006/relationships/image" Target="../media/image36.bin"/><Relationship Id="rId4" Type="http://schemas.openxmlformats.org/officeDocument/2006/relationships/image" Target="../media/image35.bin"/></Relationships>
</file>

<file path=ppt/slides/_rels/slide11.xml.rels><?xml version="1.0" encoding="UTF-8" standalone="yes"?>
<Relationships xmlns="http://schemas.openxmlformats.org/package/2006/relationships"><Relationship Id="rId8" Type="http://schemas.openxmlformats.org/officeDocument/2006/relationships/image" Target="../media/image39.bin"/><Relationship Id="rId3" Type="http://schemas.openxmlformats.org/officeDocument/2006/relationships/image" Target="../media/image43.bin"/><Relationship Id="rId7" Type="http://schemas.openxmlformats.org/officeDocument/2006/relationships/image" Target="../media/image45.bin"/><Relationship Id="rId2" Type="http://schemas.openxmlformats.org/officeDocument/2006/relationships/image" Target="../media/image1.bin"/><Relationship Id="rId1" Type="http://schemas.openxmlformats.org/officeDocument/2006/relationships/slideLayout" Target="../slideLayouts/slideLayout7.xml"/><Relationship Id="rId6" Type="http://schemas.openxmlformats.org/officeDocument/2006/relationships/image" Target="../media/image44.bin"/><Relationship Id="rId5" Type="http://schemas.openxmlformats.org/officeDocument/2006/relationships/image" Target="../media/image36.bin"/><Relationship Id="rId4" Type="http://schemas.openxmlformats.org/officeDocument/2006/relationships/image" Target="../media/image35.bin"/></Relationships>
</file>

<file path=ppt/slides/_rels/slide12.xml.rels><?xml version="1.0" encoding="UTF-8" standalone="yes"?>
<Relationships xmlns="http://schemas.openxmlformats.org/package/2006/relationships"><Relationship Id="rId8" Type="http://schemas.openxmlformats.org/officeDocument/2006/relationships/image" Target="../media/image20.bin"/><Relationship Id="rId3" Type="http://schemas.openxmlformats.org/officeDocument/2006/relationships/image" Target="../media/image34.bin"/><Relationship Id="rId7" Type="http://schemas.openxmlformats.org/officeDocument/2006/relationships/image" Target="../media/image38.bin"/><Relationship Id="rId2" Type="http://schemas.openxmlformats.org/officeDocument/2006/relationships/image" Target="../media/image1.bin"/><Relationship Id="rId1" Type="http://schemas.openxmlformats.org/officeDocument/2006/relationships/slideLayout" Target="../slideLayouts/slideLayout7.xml"/><Relationship Id="rId6" Type="http://schemas.openxmlformats.org/officeDocument/2006/relationships/image" Target="../media/image37.bin"/><Relationship Id="rId5" Type="http://schemas.openxmlformats.org/officeDocument/2006/relationships/image" Target="../media/image36.bin"/><Relationship Id="rId4" Type="http://schemas.openxmlformats.org/officeDocument/2006/relationships/image" Target="../media/image35.bin"/></Relationships>
</file>

<file path=ppt/slides/_rels/slide13.xml.rels><?xml version="1.0" encoding="UTF-8" standalone="yes"?>
<Relationships xmlns="http://schemas.openxmlformats.org/package/2006/relationships"><Relationship Id="rId8" Type="http://schemas.openxmlformats.org/officeDocument/2006/relationships/image" Target="../media/image44.bin"/><Relationship Id="rId3" Type="http://schemas.openxmlformats.org/officeDocument/2006/relationships/image" Target="../media/image40.bin"/><Relationship Id="rId7" Type="http://schemas.openxmlformats.org/officeDocument/2006/relationships/image" Target="../media/image42.bin"/><Relationship Id="rId2" Type="http://schemas.openxmlformats.org/officeDocument/2006/relationships/image" Target="../media/image1.bin"/><Relationship Id="rId1" Type="http://schemas.openxmlformats.org/officeDocument/2006/relationships/slideLayout" Target="../slideLayouts/slideLayout7.xml"/><Relationship Id="rId6" Type="http://schemas.openxmlformats.org/officeDocument/2006/relationships/image" Target="../media/image41.bin"/><Relationship Id="rId5" Type="http://schemas.openxmlformats.org/officeDocument/2006/relationships/image" Target="../media/image36.bin"/><Relationship Id="rId4" Type="http://schemas.openxmlformats.org/officeDocument/2006/relationships/image" Target="../media/image46.bin"/><Relationship Id="rId9" Type="http://schemas.openxmlformats.org/officeDocument/2006/relationships/image" Target="../media/image20.bin"/></Relationships>
</file>

<file path=ppt/slides/_rels/slide14.xml.rels><?xml version="1.0" encoding="UTF-8" standalone="yes"?>
<Relationships xmlns="http://schemas.openxmlformats.org/package/2006/relationships"><Relationship Id="rId8" Type="http://schemas.openxmlformats.org/officeDocument/2006/relationships/image" Target="../media/image20.bin"/><Relationship Id="rId3" Type="http://schemas.openxmlformats.org/officeDocument/2006/relationships/image" Target="../media/image43.bin"/><Relationship Id="rId7" Type="http://schemas.openxmlformats.org/officeDocument/2006/relationships/image" Target="../media/image47.bin"/><Relationship Id="rId2" Type="http://schemas.openxmlformats.org/officeDocument/2006/relationships/image" Target="../media/image1.bin"/><Relationship Id="rId1" Type="http://schemas.openxmlformats.org/officeDocument/2006/relationships/slideLayout" Target="../slideLayouts/slideLayout7.xml"/><Relationship Id="rId6" Type="http://schemas.openxmlformats.org/officeDocument/2006/relationships/image" Target="../media/image45.bin"/><Relationship Id="rId5" Type="http://schemas.openxmlformats.org/officeDocument/2006/relationships/image" Target="../media/image36.bin"/><Relationship Id="rId4" Type="http://schemas.openxmlformats.org/officeDocument/2006/relationships/image" Target="../media/image35.bin"/></Relationships>
</file>

<file path=ppt/slides/_rels/slide15.xml.rels><?xml version="1.0" encoding="UTF-8" standalone="yes"?>
<Relationships xmlns="http://schemas.openxmlformats.org/package/2006/relationships"><Relationship Id="rId8" Type="http://schemas.openxmlformats.org/officeDocument/2006/relationships/image" Target="../media/image52.bin"/><Relationship Id="rId3" Type="http://schemas.openxmlformats.org/officeDocument/2006/relationships/image" Target="../media/image5.bin"/><Relationship Id="rId7" Type="http://schemas.openxmlformats.org/officeDocument/2006/relationships/image" Target="../media/image51.bin"/><Relationship Id="rId2" Type="http://schemas.openxmlformats.org/officeDocument/2006/relationships/image" Target="../media/image1.bin"/><Relationship Id="rId1" Type="http://schemas.openxmlformats.org/officeDocument/2006/relationships/slideLayout" Target="../slideLayouts/slideLayout7.xml"/><Relationship Id="rId6" Type="http://schemas.openxmlformats.org/officeDocument/2006/relationships/image" Target="../media/image50.bin"/><Relationship Id="rId5" Type="http://schemas.openxmlformats.org/officeDocument/2006/relationships/image" Target="../media/image49.bin"/><Relationship Id="rId4" Type="http://schemas.openxmlformats.org/officeDocument/2006/relationships/image" Target="../media/image48.bin"/></Relationships>
</file>

<file path=ppt/slides/_rels/slide16.xml.rels><?xml version="1.0" encoding="UTF-8" standalone="yes"?>
<Relationships xmlns="http://schemas.openxmlformats.org/package/2006/relationships"><Relationship Id="rId8" Type="http://schemas.openxmlformats.org/officeDocument/2006/relationships/image" Target="../media/image51.bin"/><Relationship Id="rId3" Type="http://schemas.openxmlformats.org/officeDocument/2006/relationships/image" Target="../media/image5.bin"/><Relationship Id="rId7" Type="http://schemas.openxmlformats.org/officeDocument/2006/relationships/image" Target="../media/image55.bin"/><Relationship Id="rId2" Type="http://schemas.openxmlformats.org/officeDocument/2006/relationships/image" Target="../media/image1.bin"/><Relationship Id="rId1" Type="http://schemas.openxmlformats.org/officeDocument/2006/relationships/slideLayout" Target="../slideLayouts/slideLayout7.xml"/><Relationship Id="rId6" Type="http://schemas.openxmlformats.org/officeDocument/2006/relationships/image" Target="../media/image54.bin"/><Relationship Id="rId5" Type="http://schemas.openxmlformats.org/officeDocument/2006/relationships/image" Target="../media/image53.bin"/><Relationship Id="rId4" Type="http://schemas.openxmlformats.org/officeDocument/2006/relationships/image" Target="../media/image50.bin"/><Relationship Id="rId9" Type="http://schemas.openxmlformats.org/officeDocument/2006/relationships/image" Target="../media/image52.bin"/></Relationships>
</file>

<file path=ppt/slides/_rels/slide17.xml.rels><?xml version="1.0" encoding="UTF-8" standalone="yes"?>
<Relationships xmlns="http://schemas.openxmlformats.org/package/2006/relationships"><Relationship Id="rId8" Type="http://schemas.openxmlformats.org/officeDocument/2006/relationships/image" Target="../media/image55.bin"/><Relationship Id="rId3" Type="http://schemas.openxmlformats.org/officeDocument/2006/relationships/image" Target="../media/image5.bin"/><Relationship Id="rId7" Type="http://schemas.openxmlformats.org/officeDocument/2006/relationships/image" Target="../media/image54.bin"/><Relationship Id="rId2" Type="http://schemas.openxmlformats.org/officeDocument/2006/relationships/image" Target="../media/image1.bin"/><Relationship Id="rId1" Type="http://schemas.openxmlformats.org/officeDocument/2006/relationships/slideLayout" Target="../slideLayouts/slideLayout7.xml"/><Relationship Id="rId6" Type="http://schemas.openxmlformats.org/officeDocument/2006/relationships/image" Target="../media/image51.bin"/><Relationship Id="rId5" Type="http://schemas.openxmlformats.org/officeDocument/2006/relationships/image" Target="../media/image50.bin"/><Relationship Id="rId4" Type="http://schemas.openxmlformats.org/officeDocument/2006/relationships/image" Target="../media/image56.bin"/><Relationship Id="rId9" Type="http://schemas.openxmlformats.org/officeDocument/2006/relationships/image" Target="../media/image52.bin"/></Relationships>
</file>

<file path=ppt/slides/_rels/slide18.xml.rels><?xml version="1.0" encoding="UTF-8" standalone="yes"?>
<Relationships xmlns="http://schemas.openxmlformats.org/package/2006/relationships"><Relationship Id="rId8" Type="http://schemas.openxmlformats.org/officeDocument/2006/relationships/image" Target="../media/image55.bin"/><Relationship Id="rId3" Type="http://schemas.openxmlformats.org/officeDocument/2006/relationships/image" Target="../media/image5.bin"/><Relationship Id="rId7" Type="http://schemas.openxmlformats.org/officeDocument/2006/relationships/image" Target="../media/image54.bin"/><Relationship Id="rId2" Type="http://schemas.openxmlformats.org/officeDocument/2006/relationships/image" Target="../media/image1.bin"/><Relationship Id="rId1" Type="http://schemas.openxmlformats.org/officeDocument/2006/relationships/slideLayout" Target="../slideLayouts/slideLayout7.xml"/><Relationship Id="rId6" Type="http://schemas.openxmlformats.org/officeDocument/2006/relationships/image" Target="../media/image51.bin"/><Relationship Id="rId5" Type="http://schemas.openxmlformats.org/officeDocument/2006/relationships/image" Target="../media/image50.bin"/><Relationship Id="rId4" Type="http://schemas.openxmlformats.org/officeDocument/2006/relationships/image" Target="../media/image56.bin"/><Relationship Id="rId9" Type="http://schemas.openxmlformats.org/officeDocument/2006/relationships/image" Target="../media/image52.bin"/></Relationships>
</file>

<file path=ppt/slides/_rels/slide19.xml.rels><?xml version="1.0" encoding="UTF-8" standalone="yes"?>
<Relationships xmlns="http://schemas.openxmlformats.org/package/2006/relationships"><Relationship Id="rId8" Type="http://schemas.openxmlformats.org/officeDocument/2006/relationships/image" Target="../media/image55.bin"/><Relationship Id="rId3" Type="http://schemas.openxmlformats.org/officeDocument/2006/relationships/image" Target="../media/image5.bin"/><Relationship Id="rId7" Type="http://schemas.openxmlformats.org/officeDocument/2006/relationships/image" Target="../media/image57.bin"/><Relationship Id="rId2" Type="http://schemas.openxmlformats.org/officeDocument/2006/relationships/image" Target="../media/image1.bin"/><Relationship Id="rId1" Type="http://schemas.openxmlformats.org/officeDocument/2006/relationships/slideLayout" Target="../slideLayouts/slideLayout7.xml"/><Relationship Id="rId6" Type="http://schemas.openxmlformats.org/officeDocument/2006/relationships/image" Target="../media/image51.bin"/><Relationship Id="rId5" Type="http://schemas.openxmlformats.org/officeDocument/2006/relationships/image" Target="../media/image50.bin"/><Relationship Id="rId4" Type="http://schemas.openxmlformats.org/officeDocument/2006/relationships/image" Target="../media/image56.bin"/></Relationships>
</file>

<file path=ppt/slides/_rels/slide20.xml.rels><?xml version="1.0" encoding="UTF-8" standalone="yes"?>
<Relationships xmlns="http://schemas.openxmlformats.org/package/2006/relationships"><Relationship Id="rId8" Type="http://schemas.openxmlformats.org/officeDocument/2006/relationships/image" Target="../media/image55.bin"/><Relationship Id="rId3" Type="http://schemas.openxmlformats.org/officeDocument/2006/relationships/image" Target="../media/image5.bin"/><Relationship Id="rId7" Type="http://schemas.openxmlformats.org/officeDocument/2006/relationships/image" Target="../media/image54.bin"/><Relationship Id="rId2" Type="http://schemas.openxmlformats.org/officeDocument/2006/relationships/image" Target="../media/image1.bin"/><Relationship Id="rId1" Type="http://schemas.openxmlformats.org/officeDocument/2006/relationships/slideLayout" Target="../slideLayouts/slideLayout7.xml"/><Relationship Id="rId6" Type="http://schemas.openxmlformats.org/officeDocument/2006/relationships/image" Target="../media/image51.bin"/><Relationship Id="rId5" Type="http://schemas.openxmlformats.org/officeDocument/2006/relationships/image" Target="../media/image50.bin"/><Relationship Id="rId4" Type="http://schemas.openxmlformats.org/officeDocument/2006/relationships/image" Target="../media/image56.bin"/></Relationships>
</file>

<file path=ppt/slides/_rels/slide21.xml.rels><?xml version="1.0" encoding="UTF-8" standalone="yes"?>
<Relationships xmlns="http://schemas.openxmlformats.org/package/2006/relationships"><Relationship Id="rId8" Type="http://schemas.openxmlformats.org/officeDocument/2006/relationships/image" Target="../media/image62.bin"/><Relationship Id="rId3" Type="http://schemas.openxmlformats.org/officeDocument/2006/relationships/image" Target="../media/image5.bin"/><Relationship Id="rId7" Type="http://schemas.openxmlformats.org/officeDocument/2006/relationships/image" Target="../media/image61.bin"/><Relationship Id="rId2" Type="http://schemas.openxmlformats.org/officeDocument/2006/relationships/image" Target="../media/image1.bin"/><Relationship Id="rId1" Type="http://schemas.openxmlformats.org/officeDocument/2006/relationships/slideLayout" Target="../slideLayouts/slideLayout7.xml"/><Relationship Id="rId6" Type="http://schemas.openxmlformats.org/officeDocument/2006/relationships/image" Target="../media/image60.bin"/><Relationship Id="rId5" Type="http://schemas.openxmlformats.org/officeDocument/2006/relationships/image" Target="../media/image59.bin"/><Relationship Id="rId10" Type="http://schemas.openxmlformats.org/officeDocument/2006/relationships/image" Target="../media/image10.bin"/><Relationship Id="rId4" Type="http://schemas.openxmlformats.org/officeDocument/2006/relationships/image" Target="../media/image58.bin"/><Relationship Id="rId9" Type="http://schemas.openxmlformats.org/officeDocument/2006/relationships/image" Target="../media/image63.bin"/></Relationships>
</file>

<file path=ppt/slides/_rels/slide22.xml.rels><?xml version="1.0" encoding="UTF-8" standalone="yes"?>
<Relationships xmlns="http://schemas.openxmlformats.org/package/2006/relationships"><Relationship Id="rId8" Type="http://schemas.openxmlformats.org/officeDocument/2006/relationships/image" Target="../media/image68.bin"/><Relationship Id="rId13" Type="http://schemas.openxmlformats.org/officeDocument/2006/relationships/image" Target="../media/image73.bin"/><Relationship Id="rId18" Type="http://schemas.openxmlformats.org/officeDocument/2006/relationships/image" Target="../media/image78.bin"/><Relationship Id="rId3" Type="http://schemas.openxmlformats.org/officeDocument/2006/relationships/image" Target="../media/image5.bin"/><Relationship Id="rId7" Type="http://schemas.openxmlformats.org/officeDocument/2006/relationships/image" Target="../media/image67.bin"/><Relationship Id="rId12" Type="http://schemas.openxmlformats.org/officeDocument/2006/relationships/image" Target="../media/image72.bin"/><Relationship Id="rId17" Type="http://schemas.openxmlformats.org/officeDocument/2006/relationships/image" Target="../media/image77.bin"/><Relationship Id="rId2" Type="http://schemas.openxmlformats.org/officeDocument/2006/relationships/image" Target="../media/image1.bin"/><Relationship Id="rId16" Type="http://schemas.openxmlformats.org/officeDocument/2006/relationships/image" Target="../media/image76.bin"/><Relationship Id="rId1" Type="http://schemas.openxmlformats.org/officeDocument/2006/relationships/slideLayout" Target="../slideLayouts/slideLayout7.xml"/><Relationship Id="rId6" Type="http://schemas.openxmlformats.org/officeDocument/2006/relationships/image" Target="../media/image66.bin"/><Relationship Id="rId11" Type="http://schemas.openxmlformats.org/officeDocument/2006/relationships/image" Target="../media/image71.bin"/><Relationship Id="rId5" Type="http://schemas.openxmlformats.org/officeDocument/2006/relationships/image" Target="../media/image65.bin"/><Relationship Id="rId15" Type="http://schemas.openxmlformats.org/officeDocument/2006/relationships/image" Target="../media/image75.bin"/><Relationship Id="rId10" Type="http://schemas.openxmlformats.org/officeDocument/2006/relationships/image" Target="../media/image70.bin"/><Relationship Id="rId19" Type="http://schemas.openxmlformats.org/officeDocument/2006/relationships/image" Target="../media/image10.bin"/><Relationship Id="rId4" Type="http://schemas.openxmlformats.org/officeDocument/2006/relationships/image" Target="../media/image64.bin"/><Relationship Id="rId9" Type="http://schemas.openxmlformats.org/officeDocument/2006/relationships/image" Target="../media/image69.bin"/><Relationship Id="rId14" Type="http://schemas.openxmlformats.org/officeDocument/2006/relationships/image" Target="../media/image74.bin"/></Relationships>
</file>

<file path=ppt/slides/_rels/slide23.xml.rels><?xml version="1.0" encoding="UTF-8" standalone="yes"?>
<Relationships xmlns="http://schemas.openxmlformats.org/package/2006/relationships"><Relationship Id="rId8" Type="http://schemas.openxmlformats.org/officeDocument/2006/relationships/image" Target="../media/image83.bin"/><Relationship Id="rId3" Type="http://schemas.openxmlformats.org/officeDocument/2006/relationships/image" Target="../media/image5.bin"/><Relationship Id="rId7" Type="http://schemas.openxmlformats.org/officeDocument/2006/relationships/image" Target="../media/image82.bin"/><Relationship Id="rId2" Type="http://schemas.openxmlformats.org/officeDocument/2006/relationships/image" Target="../media/image1.bin"/><Relationship Id="rId1" Type="http://schemas.openxmlformats.org/officeDocument/2006/relationships/slideLayout" Target="../slideLayouts/slideLayout7.xml"/><Relationship Id="rId6" Type="http://schemas.openxmlformats.org/officeDocument/2006/relationships/image" Target="../media/image81.bin"/><Relationship Id="rId11" Type="http://schemas.openxmlformats.org/officeDocument/2006/relationships/image" Target="../media/image10.bin"/><Relationship Id="rId5" Type="http://schemas.openxmlformats.org/officeDocument/2006/relationships/image" Target="../media/image80.bin"/><Relationship Id="rId10" Type="http://schemas.openxmlformats.org/officeDocument/2006/relationships/image" Target="../media/image85.bin"/><Relationship Id="rId4" Type="http://schemas.openxmlformats.org/officeDocument/2006/relationships/image" Target="../media/image79.bin"/><Relationship Id="rId9" Type="http://schemas.openxmlformats.org/officeDocument/2006/relationships/image" Target="../media/image84.bin"/></Relationships>
</file>

<file path=ppt/slides/_rels/slide24.xml.rels><?xml version="1.0" encoding="UTF-8" standalone="yes"?>
<Relationships xmlns="http://schemas.openxmlformats.org/package/2006/relationships"><Relationship Id="rId8" Type="http://schemas.openxmlformats.org/officeDocument/2006/relationships/image" Target="../media/image88.bin"/><Relationship Id="rId3" Type="http://schemas.openxmlformats.org/officeDocument/2006/relationships/image" Target="../media/image5.bin"/><Relationship Id="rId7" Type="http://schemas.openxmlformats.org/officeDocument/2006/relationships/image" Target="../media/image87.bin"/><Relationship Id="rId2" Type="http://schemas.openxmlformats.org/officeDocument/2006/relationships/image" Target="../media/image1.bin"/><Relationship Id="rId1" Type="http://schemas.openxmlformats.org/officeDocument/2006/relationships/slideLayout" Target="../slideLayouts/slideLayout7.xml"/><Relationship Id="rId6" Type="http://schemas.openxmlformats.org/officeDocument/2006/relationships/image" Target="../media/image81.bin"/><Relationship Id="rId11" Type="http://schemas.openxmlformats.org/officeDocument/2006/relationships/image" Target="../media/image10.bin"/><Relationship Id="rId5" Type="http://schemas.openxmlformats.org/officeDocument/2006/relationships/image" Target="../media/image80.bin"/><Relationship Id="rId10" Type="http://schemas.openxmlformats.org/officeDocument/2006/relationships/image" Target="../media/image89.bin"/><Relationship Id="rId4" Type="http://schemas.openxmlformats.org/officeDocument/2006/relationships/image" Target="../media/image86.bin"/><Relationship Id="rId9" Type="http://schemas.openxmlformats.org/officeDocument/2006/relationships/image" Target="../media/image84.bin"/></Relationships>
</file>

<file path=ppt/slides/_rels/slide25.xml.rels><?xml version="1.0" encoding="UTF-8" standalone="yes"?>
<Relationships xmlns="http://schemas.openxmlformats.org/package/2006/relationships"><Relationship Id="rId8" Type="http://schemas.openxmlformats.org/officeDocument/2006/relationships/image" Target="../media/image94.bin"/><Relationship Id="rId13" Type="http://schemas.openxmlformats.org/officeDocument/2006/relationships/image" Target="../media/image99.bin"/><Relationship Id="rId3" Type="http://schemas.openxmlformats.org/officeDocument/2006/relationships/image" Target="../media/image5.bin"/><Relationship Id="rId7" Type="http://schemas.openxmlformats.org/officeDocument/2006/relationships/image" Target="../media/image93.bin"/><Relationship Id="rId12" Type="http://schemas.openxmlformats.org/officeDocument/2006/relationships/image" Target="../media/image98.bin"/><Relationship Id="rId17" Type="http://schemas.openxmlformats.org/officeDocument/2006/relationships/chart" Target="../charts/chart8.xml"/><Relationship Id="rId2" Type="http://schemas.openxmlformats.org/officeDocument/2006/relationships/image" Target="../media/image1.bin"/><Relationship Id="rId16" Type="http://schemas.openxmlformats.org/officeDocument/2006/relationships/chart" Target="../charts/chart7.xml"/><Relationship Id="rId1" Type="http://schemas.openxmlformats.org/officeDocument/2006/relationships/slideLayout" Target="../slideLayouts/slideLayout7.xml"/><Relationship Id="rId6" Type="http://schemas.openxmlformats.org/officeDocument/2006/relationships/image" Target="../media/image92.bin"/><Relationship Id="rId11" Type="http://schemas.openxmlformats.org/officeDocument/2006/relationships/image" Target="../media/image97.bin"/><Relationship Id="rId5" Type="http://schemas.openxmlformats.org/officeDocument/2006/relationships/image" Target="../media/image91.bin"/><Relationship Id="rId15" Type="http://schemas.openxmlformats.org/officeDocument/2006/relationships/chart" Target="../charts/chart6.xml"/><Relationship Id="rId10" Type="http://schemas.openxmlformats.org/officeDocument/2006/relationships/image" Target="../media/image96.bin"/><Relationship Id="rId4" Type="http://schemas.openxmlformats.org/officeDocument/2006/relationships/image" Target="../media/image90.bin"/><Relationship Id="rId9" Type="http://schemas.openxmlformats.org/officeDocument/2006/relationships/image" Target="../media/image95.bin"/><Relationship Id="rId14" Type="http://schemas.openxmlformats.org/officeDocument/2006/relationships/image" Target="../media/image10.bin"/></Relationships>
</file>

<file path=ppt/slides/_rels/slide26.xml.rels><?xml version="1.0" encoding="UTF-8" standalone="yes"?>
<Relationships xmlns="http://schemas.openxmlformats.org/package/2006/relationships"><Relationship Id="rId8" Type="http://schemas.openxmlformats.org/officeDocument/2006/relationships/image" Target="../media/image105.bin"/><Relationship Id="rId13" Type="http://schemas.openxmlformats.org/officeDocument/2006/relationships/image" Target="../media/image110.bin"/><Relationship Id="rId18" Type="http://schemas.openxmlformats.org/officeDocument/2006/relationships/image" Target="../media/image115.bin"/><Relationship Id="rId3" Type="http://schemas.openxmlformats.org/officeDocument/2006/relationships/image" Target="../media/image100.bin"/><Relationship Id="rId21" Type="http://schemas.openxmlformats.org/officeDocument/2006/relationships/image" Target="../media/image118.bin"/><Relationship Id="rId7" Type="http://schemas.openxmlformats.org/officeDocument/2006/relationships/image" Target="../media/image104.bin"/><Relationship Id="rId12" Type="http://schemas.openxmlformats.org/officeDocument/2006/relationships/image" Target="../media/image109.bin"/><Relationship Id="rId17" Type="http://schemas.openxmlformats.org/officeDocument/2006/relationships/image" Target="../media/image114.bin"/><Relationship Id="rId2" Type="http://schemas.openxmlformats.org/officeDocument/2006/relationships/image" Target="../media/image1.bin"/><Relationship Id="rId16" Type="http://schemas.openxmlformats.org/officeDocument/2006/relationships/image" Target="../media/image113.bin"/><Relationship Id="rId20" Type="http://schemas.openxmlformats.org/officeDocument/2006/relationships/image" Target="../media/image117.bin"/><Relationship Id="rId1" Type="http://schemas.openxmlformats.org/officeDocument/2006/relationships/slideLayout" Target="../slideLayouts/slideLayout7.xml"/><Relationship Id="rId6" Type="http://schemas.openxmlformats.org/officeDocument/2006/relationships/image" Target="../media/image103.bin"/><Relationship Id="rId11" Type="http://schemas.openxmlformats.org/officeDocument/2006/relationships/image" Target="../media/image108.bin"/><Relationship Id="rId5" Type="http://schemas.openxmlformats.org/officeDocument/2006/relationships/image" Target="../media/image102.bin"/><Relationship Id="rId15" Type="http://schemas.openxmlformats.org/officeDocument/2006/relationships/image" Target="../media/image112.bin"/><Relationship Id="rId10" Type="http://schemas.openxmlformats.org/officeDocument/2006/relationships/image" Target="../media/image107.bin"/><Relationship Id="rId19" Type="http://schemas.openxmlformats.org/officeDocument/2006/relationships/image" Target="../media/image116.bin"/><Relationship Id="rId4" Type="http://schemas.openxmlformats.org/officeDocument/2006/relationships/image" Target="../media/image101.bin"/><Relationship Id="rId9" Type="http://schemas.openxmlformats.org/officeDocument/2006/relationships/image" Target="../media/image106.bin"/><Relationship Id="rId14" Type="http://schemas.openxmlformats.org/officeDocument/2006/relationships/image" Target="../media/image111.bin"/><Relationship Id="rId22" Type="http://schemas.openxmlformats.org/officeDocument/2006/relationships/image" Target="../media/image119.bin"/></Relationships>
</file>

<file path=ppt/slides/_rels/slide27.xml.rels><?xml version="1.0" encoding="UTF-8" standalone="yes"?>
<Relationships xmlns="http://schemas.openxmlformats.org/package/2006/relationships"><Relationship Id="rId8" Type="http://schemas.openxmlformats.org/officeDocument/2006/relationships/image" Target="../media/image124.bin"/><Relationship Id="rId3" Type="http://schemas.openxmlformats.org/officeDocument/2006/relationships/image" Target="../media/image5.bin"/><Relationship Id="rId7" Type="http://schemas.openxmlformats.org/officeDocument/2006/relationships/image" Target="../media/image123.bin"/><Relationship Id="rId2" Type="http://schemas.openxmlformats.org/officeDocument/2006/relationships/image" Target="../media/image1.bin"/><Relationship Id="rId1" Type="http://schemas.openxmlformats.org/officeDocument/2006/relationships/slideLayout" Target="../slideLayouts/slideLayout7.xml"/><Relationship Id="rId6" Type="http://schemas.openxmlformats.org/officeDocument/2006/relationships/image" Target="../media/image122.bin"/><Relationship Id="rId5" Type="http://schemas.openxmlformats.org/officeDocument/2006/relationships/image" Target="../media/image121.bin"/><Relationship Id="rId4" Type="http://schemas.openxmlformats.org/officeDocument/2006/relationships/image" Target="../media/image120.bin"/><Relationship Id="rId9" Type="http://schemas.openxmlformats.org/officeDocument/2006/relationships/image" Target="../media/image125.bin"/></Relationships>
</file>

<file path=ppt/slides/_rels/slide28.xml.rels><?xml version="1.0" encoding="UTF-8" standalone="yes"?>
<Relationships xmlns="http://schemas.openxmlformats.org/package/2006/relationships"><Relationship Id="rId3" Type="http://schemas.openxmlformats.org/officeDocument/2006/relationships/image" Target="../media/image5.bin"/><Relationship Id="rId7" Type="http://schemas.openxmlformats.org/officeDocument/2006/relationships/image" Target="../media/image125.bin"/><Relationship Id="rId2" Type="http://schemas.openxmlformats.org/officeDocument/2006/relationships/image" Target="../media/image1.bin"/><Relationship Id="rId1" Type="http://schemas.openxmlformats.org/officeDocument/2006/relationships/slideLayout" Target="../slideLayouts/slideLayout7.xml"/><Relationship Id="rId6" Type="http://schemas.openxmlformats.org/officeDocument/2006/relationships/image" Target="../media/image128.bin"/><Relationship Id="rId5" Type="http://schemas.openxmlformats.org/officeDocument/2006/relationships/image" Target="../media/image127.bin"/><Relationship Id="rId4" Type="http://schemas.openxmlformats.org/officeDocument/2006/relationships/image" Target="../media/image126.bin"/></Relationships>
</file>

<file path=ppt/slides/_rels/slide29.xml.rels><?xml version="1.0" encoding="UTF-8" standalone="yes"?>
<Relationships xmlns="http://schemas.openxmlformats.org/package/2006/relationships"><Relationship Id="rId8" Type="http://schemas.openxmlformats.org/officeDocument/2006/relationships/image" Target="../media/image133.bin"/><Relationship Id="rId13" Type="http://schemas.openxmlformats.org/officeDocument/2006/relationships/image" Target="../media/image138.bin"/><Relationship Id="rId18" Type="http://schemas.openxmlformats.org/officeDocument/2006/relationships/image" Target="../media/image143.bin"/><Relationship Id="rId3" Type="http://schemas.openxmlformats.org/officeDocument/2006/relationships/image" Target="../media/image5.bin"/><Relationship Id="rId7" Type="http://schemas.openxmlformats.org/officeDocument/2006/relationships/image" Target="../media/image132.bin"/><Relationship Id="rId12" Type="http://schemas.openxmlformats.org/officeDocument/2006/relationships/image" Target="../media/image137.bin"/><Relationship Id="rId17" Type="http://schemas.openxmlformats.org/officeDocument/2006/relationships/image" Target="../media/image142.bin"/><Relationship Id="rId2" Type="http://schemas.openxmlformats.org/officeDocument/2006/relationships/image" Target="../media/image1.bin"/><Relationship Id="rId16" Type="http://schemas.openxmlformats.org/officeDocument/2006/relationships/image" Target="../media/image141.bin"/><Relationship Id="rId1" Type="http://schemas.openxmlformats.org/officeDocument/2006/relationships/slideLayout" Target="../slideLayouts/slideLayout7.xml"/><Relationship Id="rId6" Type="http://schemas.openxmlformats.org/officeDocument/2006/relationships/image" Target="../media/image131.bin"/><Relationship Id="rId11" Type="http://schemas.openxmlformats.org/officeDocument/2006/relationships/image" Target="../media/image136.bin"/><Relationship Id="rId5" Type="http://schemas.openxmlformats.org/officeDocument/2006/relationships/image" Target="../media/image130.bin"/><Relationship Id="rId15" Type="http://schemas.openxmlformats.org/officeDocument/2006/relationships/image" Target="../media/image140.bin"/><Relationship Id="rId10" Type="http://schemas.openxmlformats.org/officeDocument/2006/relationships/image" Target="../media/image135.bin"/><Relationship Id="rId19" Type="http://schemas.openxmlformats.org/officeDocument/2006/relationships/image" Target="../media/image125.bin"/><Relationship Id="rId4" Type="http://schemas.openxmlformats.org/officeDocument/2006/relationships/image" Target="../media/image129.bin"/><Relationship Id="rId9" Type="http://schemas.openxmlformats.org/officeDocument/2006/relationships/image" Target="../media/image134.bin"/><Relationship Id="rId14" Type="http://schemas.openxmlformats.org/officeDocument/2006/relationships/image" Target="../media/image139.bin"/></Relationships>
</file>

<file path=ppt/slides/_rels/slide30.xml.rels><?xml version="1.0" encoding="UTF-8" standalone="yes"?>
<Relationships xmlns="http://schemas.openxmlformats.org/package/2006/relationships"><Relationship Id="rId8" Type="http://schemas.openxmlformats.org/officeDocument/2006/relationships/image" Target="../media/image147.bin"/><Relationship Id="rId13" Type="http://schemas.openxmlformats.org/officeDocument/2006/relationships/image" Target="../media/image152.bin"/><Relationship Id="rId3" Type="http://schemas.openxmlformats.org/officeDocument/2006/relationships/image" Target="../media/image5.bin"/><Relationship Id="rId7" Type="http://schemas.openxmlformats.org/officeDocument/2006/relationships/image" Target="../media/image146.bin"/><Relationship Id="rId12" Type="http://schemas.openxmlformats.org/officeDocument/2006/relationships/image" Target="../media/image151.bin"/><Relationship Id="rId2" Type="http://schemas.openxmlformats.org/officeDocument/2006/relationships/image" Target="../media/image1.bin"/><Relationship Id="rId16" Type="http://schemas.openxmlformats.org/officeDocument/2006/relationships/image" Target="../media/image155.bin"/><Relationship Id="rId1" Type="http://schemas.openxmlformats.org/officeDocument/2006/relationships/slideLayout" Target="../slideLayouts/slideLayout7.xml"/><Relationship Id="rId6" Type="http://schemas.openxmlformats.org/officeDocument/2006/relationships/image" Target="../media/image145.bin"/><Relationship Id="rId11" Type="http://schemas.openxmlformats.org/officeDocument/2006/relationships/image" Target="../media/image150.bin"/><Relationship Id="rId5" Type="http://schemas.openxmlformats.org/officeDocument/2006/relationships/image" Target="../media/image144.bin"/><Relationship Id="rId15" Type="http://schemas.openxmlformats.org/officeDocument/2006/relationships/image" Target="../media/image154.bin"/><Relationship Id="rId10" Type="http://schemas.openxmlformats.org/officeDocument/2006/relationships/image" Target="../media/image149.bin"/><Relationship Id="rId4" Type="http://schemas.openxmlformats.org/officeDocument/2006/relationships/image" Target="../media/image125.bin"/><Relationship Id="rId9" Type="http://schemas.openxmlformats.org/officeDocument/2006/relationships/image" Target="../media/image148.bin"/><Relationship Id="rId14" Type="http://schemas.openxmlformats.org/officeDocument/2006/relationships/image" Target="../media/image153.bin"/></Relationships>
</file>

<file path=ppt/slides/_rels/slide31.xml.rels><?xml version="1.0" encoding="UTF-8" standalone="yes"?>
<Relationships xmlns="http://schemas.openxmlformats.org/package/2006/relationships"><Relationship Id="rId8" Type="http://schemas.openxmlformats.org/officeDocument/2006/relationships/image" Target="../media/image133.bin"/><Relationship Id="rId3" Type="http://schemas.openxmlformats.org/officeDocument/2006/relationships/image" Target="../media/image5.bin"/><Relationship Id="rId7" Type="http://schemas.openxmlformats.org/officeDocument/2006/relationships/image" Target="../media/image132.bin"/><Relationship Id="rId2" Type="http://schemas.openxmlformats.org/officeDocument/2006/relationships/image" Target="../media/image1.bin"/><Relationship Id="rId1" Type="http://schemas.openxmlformats.org/officeDocument/2006/relationships/slideLayout" Target="../slideLayouts/slideLayout7.xml"/><Relationship Id="rId6" Type="http://schemas.openxmlformats.org/officeDocument/2006/relationships/image" Target="../media/image131.bin"/><Relationship Id="rId5" Type="http://schemas.openxmlformats.org/officeDocument/2006/relationships/image" Target="../media/image130.bin"/><Relationship Id="rId4" Type="http://schemas.openxmlformats.org/officeDocument/2006/relationships/image" Target="../media/image141.bin"/></Relationships>
</file>

<file path=ppt/slides/_rels/slide32.xml.rels><?xml version="1.0" encoding="UTF-8" standalone="yes"?>
<Relationships xmlns="http://schemas.openxmlformats.org/package/2006/relationships"><Relationship Id="rId3" Type="http://schemas.openxmlformats.org/officeDocument/2006/relationships/image" Target="../media/image156.png"/><Relationship Id="rId2" Type="http://schemas.openxmlformats.org/officeDocument/2006/relationships/slideLayout" Target="../slideLayouts/slideLayout7.xml"/><Relationship Id="rId1" Type="http://schemas.openxmlformats.org/officeDocument/2006/relationships/themeOverride" Target="../theme/themeOverride1.xml"/><Relationship Id="rId4" Type="http://schemas.microsoft.com/office/2007/relationships/hdphoto" Target="../media/hdphoto1.wdp"/></Relationships>
</file>

<file path=ppt/slides/_rels/slide33.xml.rels><?xml version="1.0" encoding="UTF-8" standalone="yes"?>
<Relationships xmlns="http://schemas.openxmlformats.org/package/2006/relationships"><Relationship Id="rId3" Type="http://schemas.openxmlformats.org/officeDocument/2006/relationships/image" Target="../media/image157.bin"/><Relationship Id="rId7" Type="http://schemas.openxmlformats.org/officeDocument/2006/relationships/image" Target="../media/image161.bin"/><Relationship Id="rId2" Type="http://schemas.openxmlformats.org/officeDocument/2006/relationships/image" Target="../media/image1.bin"/><Relationship Id="rId1" Type="http://schemas.openxmlformats.org/officeDocument/2006/relationships/slideLayout" Target="../slideLayouts/slideLayout7.xml"/><Relationship Id="rId6" Type="http://schemas.openxmlformats.org/officeDocument/2006/relationships/image" Target="../media/image160.bin"/><Relationship Id="rId5" Type="http://schemas.openxmlformats.org/officeDocument/2006/relationships/image" Target="../media/image159.bin"/><Relationship Id="rId4" Type="http://schemas.openxmlformats.org/officeDocument/2006/relationships/image" Target="../media/image158.bin"/></Relationships>
</file>

<file path=ppt/slides/_rels/slide34.xml.rels><?xml version="1.0" encoding="UTF-8" standalone="yes"?>
<Relationships xmlns="http://schemas.openxmlformats.org/package/2006/relationships"><Relationship Id="rId3" Type="http://schemas.openxmlformats.org/officeDocument/2006/relationships/image" Target="../media/image5.bin"/><Relationship Id="rId2" Type="http://schemas.openxmlformats.org/officeDocument/2006/relationships/image" Target="../media/image1.bin"/><Relationship Id="rId1" Type="http://schemas.openxmlformats.org/officeDocument/2006/relationships/slideLayout" Target="../slideLayouts/slideLayout7.xml"/><Relationship Id="rId6" Type="http://schemas.openxmlformats.org/officeDocument/2006/relationships/image" Target="../media/image125.bin"/><Relationship Id="rId5" Type="http://schemas.openxmlformats.org/officeDocument/2006/relationships/image" Target="../media/image163.bin"/><Relationship Id="rId4" Type="http://schemas.openxmlformats.org/officeDocument/2006/relationships/image" Target="../media/image162.bin"/></Relationships>
</file>

<file path=ppt/slides/_rels/slide35.xml.rels><?xml version="1.0" encoding="UTF-8" standalone="yes"?>
<Relationships xmlns="http://schemas.openxmlformats.org/package/2006/relationships"><Relationship Id="rId3" Type="http://schemas.openxmlformats.org/officeDocument/2006/relationships/image" Target="../media/image5.bin"/><Relationship Id="rId2" Type="http://schemas.openxmlformats.org/officeDocument/2006/relationships/image" Target="../media/image1.bin"/><Relationship Id="rId1" Type="http://schemas.openxmlformats.org/officeDocument/2006/relationships/slideLayout" Target="../slideLayouts/slideLayout7.xml"/><Relationship Id="rId5" Type="http://schemas.openxmlformats.org/officeDocument/2006/relationships/image" Target="../media/image164.png"/><Relationship Id="rId4" Type="http://schemas.openxmlformats.org/officeDocument/2006/relationships/image" Target="../media/image125.bin"/></Relationships>
</file>

<file path=ppt/slides/_rels/slide36.xml.rels><?xml version="1.0" encoding="UTF-8" standalone="yes"?>
<Relationships xmlns="http://schemas.openxmlformats.org/package/2006/relationships"><Relationship Id="rId3" Type="http://schemas.openxmlformats.org/officeDocument/2006/relationships/image" Target="../media/image5.bin"/><Relationship Id="rId2" Type="http://schemas.openxmlformats.org/officeDocument/2006/relationships/image" Target="../media/image1.bin"/><Relationship Id="rId1" Type="http://schemas.openxmlformats.org/officeDocument/2006/relationships/slideLayout" Target="../slideLayouts/slideLayout7.xml"/><Relationship Id="rId5" Type="http://schemas.openxmlformats.org/officeDocument/2006/relationships/image" Target="../media/image165.jpg"/><Relationship Id="rId4" Type="http://schemas.openxmlformats.org/officeDocument/2006/relationships/image" Target="../media/image125.bin"/></Relationships>
</file>

<file path=ppt/slides/_rels/slide37.xml.rels><?xml version="1.0" encoding="UTF-8" standalone="yes"?>
<Relationships xmlns="http://schemas.openxmlformats.org/package/2006/relationships"><Relationship Id="rId3" Type="http://schemas.openxmlformats.org/officeDocument/2006/relationships/image" Target="../media/image11.bin"/><Relationship Id="rId2" Type="http://schemas.openxmlformats.org/officeDocument/2006/relationships/image" Target="../media/image1.bin"/><Relationship Id="rId1" Type="http://schemas.openxmlformats.org/officeDocument/2006/relationships/slideLayout" Target="../slideLayouts/slideLayout7.xml"/><Relationship Id="rId6" Type="http://schemas.openxmlformats.org/officeDocument/2006/relationships/image" Target="../media/image167.bin"/><Relationship Id="rId5" Type="http://schemas.openxmlformats.org/officeDocument/2006/relationships/image" Target="../media/image101.bin"/><Relationship Id="rId4" Type="http://schemas.openxmlformats.org/officeDocument/2006/relationships/image" Target="../media/image166.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0" y="0"/>
            <a:ext cx="18288000" cy="10287000"/>
          </a:xfrm>
          <a:prstGeom prst="rect">
            <a:avLst/>
          </a:prstGeom>
        </p:spPr>
      </p:pic>
      <p:pic>
        <p:nvPicPr>
          <p:cNvPr id="303" name="layoutShapeInnerChild1">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0" y="0"/>
            <a:ext cx="18288000" cy="10287000"/>
          </a:xfrm>
          <a:prstGeom prst="rect">
            <a:avLst/>
          </a:prstGeom>
        </p:spPr>
      </p:pic>
      <p:sp>
        <p:nvSpPr>
          <p:cNvPr id="304" name="Presenter Name-486">
            <a:extLst>
              <a:ext uri="{FF2B5EF4-FFF2-40B4-BE49-F238E27FC236}">
                <a16:creationId xmlns:a16="http://schemas.microsoft.com/office/drawing/2014/main" id="{111B4A49-B930-4A89-A1CD-6CA2B3D95AED}"/>
              </a:ext>
            </a:extLst>
          </p:cNvPr>
          <p:cNvSpPr txBox="1"/>
          <p:nvPr/>
        </p:nvSpPr>
        <p:spPr>
          <a:xfrm>
            <a:off x="1219200" y="6633686"/>
            <a:ext cx="2533650" cy="485775"/>
          </a:xfrm>
          <a:prstGeom prst="rect">
            <a:avLst/>
          </a:prstGeom>
          <a:noFill/>
        </p:spPr>
        <p:txBody>
          <a:bodyPr vertOverflow="clip" horzOverflow="clip" wrap="square" lIns="0" tIns="0" rIns="0" bIns="0" rtlCol="0" anchor="ctr">
            <a:spAutoFit/>
          </a:bodyPr>
          <a:lstStyle/>
          <a:p>
            <a:pPr algn="l">
              <a:lnSpc>
                <a:spcPts val="3591"/>
              </a:lnSpc>
            </a:pPr>
            <a:r>
              <a:rPr lang="en-US" sz="2700" spc="-54" dirty="0">
                <a:solidFill>
                  <a:srgbClr val="FFFFFF">
                    <a:alpha val="100000"/>
                  </a:srgbClr>
                </a:solidFill>
                <a:latin typeface="Montserrat Light" panose="00000700000000000000" pitchFamily="2" charset="0"/>
              </a:rPr>
              <a:t>Vishal Kulkarni  </a:t>
            </a:r>
          </a:p>
        </p:txBody>
      </p:sp>
      <p:sp>
        <p:nvSpPr>
          <p:cNvPr id="305" name="Awesome Presentation Title-0">
            <a:extLst>
              <a:ext uri="{FF2B5EF4-FFF2-40B4-BE49-F238E27FC236}">
                <a16:creationId xmlns:a16="http://schemas.microsoft.com/office/drawing/2014/main" id="{111B4A49-B930-4A89-A1CD-6CA2B3D95AED}"/>
              </a:ext>
            </a:extLst>
          </p:cNvPr>
          <p:cNvSpPr txBox="1"/>
          <p:nvPr/>
        </p:nvSpPr>
        <p:spPr>
          <a:xfrm>
            <a:off x="1219200" y="3626399"/>
            <a:ext cx="8553450" cy="825162"/>
          </a:xfrm>
          <a:prstGeom prst="rect">
            <a:avLst/>
          </a:prstGeom>
          <a:noFill/>
        </p:spPr>
        <p:txBody>
          <a:bodyPr vertOverflow="clip" horzOverflow="clip" wrap="square" lIns="0" tIns="0" rIns="0" bIns="0" rtlCol="0" anchor="ctr">
            <a:spAutoFit/>
          </a:bodyPr>
          <a:lstStyle/>
          <a:p>
            <a:pPr algn="l">
              <a:lnSpc>
                <a:spcPts val="6750"/>
              </a:lnSpc>
            </a:pPr>
            <a:r>
              <a:rPr lang="en-US" sz="5400" spc="-135" dirty="0">
                <a:solidFill>
                  <a:srgbClr val="FFFFFF">
                    <a:alpha val="100000"/>
                  </a:srgbClr>
                </a:solidFill>
                <a:latin typeface="Montserrat Light" panose="00000700000000000000" pitchFamily="2" charset="0"/>
              </a:rPr>
              <a:t>Portal Engineering Ltd.</a:t>
            </a:r>
          </a:p>
        </p:txBody>
      </p:sp>
      <p:sp>
        <p:nvSpPr>
          <p:cNvPr id="306" name="A small sentence which explains all about this presentation-0">
            <a:extLst>
              <a:ext uri="{FF2B5EF4-FFF2-40B4-BE49-F238E27FC236}">
                <a16:creationId xmlns:a16="http://schemas.microsoft.com/office/drawing/2014/main" id="{111B4A49-B930-4A89-A1CD-6CA2B3D95AED}"/>
              </a:ext>
            </a:extLst>
          </p:cNvPr>
          <p:cNvSpPr txBox="1"/>
          <p:nvPr/>
        </p:nvSpPr>
        <p:spPr>
          <a:xfrm>
            <a:off x="1152525" y="5348668"/>
            <a:ext cx="8553450" cy="381000"/>
          </a:xfrm>
          <a:prstGeom prst="rect">
            <a:avLst/>
          </a:prstGeom>
          <a:noFill/>
        </p:spPr>
        <p:txBody>
          <a:bodyPr vertOverflow="clip" horzOverflow="clip" wrap="square" lIns="0" tIns="0" rIns="0" bIns="0" rtlCol="0" anchor="ctr">
            <a:spAutoFit/>
          </a:bodyPr>
          <a:lstStyle/>
          <a:p>
            <a:pPr algn="l">
              <a:lnSpc>
                <a:spcPts val="2919"/>
              </a:lnSpc>
            </a:pPr>
            <a:r>
              <a:rPr lang="en-US" sz="2100" spc="-21" dirty="0">
                <a:solidFill>
                  <a:srgbClr val="FFFFFF">
                    <a:alpha val="100000"/>
                  </a:srgbClr>
                </a:solidFill>
                <a:latin typeface="Montserrat Light" panose="00000700000000000000" pitchFamily="2" charset="0"/>
              </a:rPr>
              <a:t>Investor Presentation</a:t>
            </a:r>
          </a:p>
        </p:txBody>
      </p:sp>
      <p:pic>
        <p:nvPicPr>
          <p:cNvPr id="307"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590550" y="3181350"/>
            <a:ext cx="19050" cy="2543175"/>
          </a:xfrm>
          <a:prstGeom prst="rect">
            <a:avLst/>
          </a:prstGeom>
        </p:spPr>
      </p:pic>
      <p:pic>
        <p:nvPicPr>
          <p:cNvPr id="308" name="coverimage">
            <a:extLst>
              <a:ext uri="{FF2B5EF4-FFF2-40B4-BE49-F238E27FC236}">
                <a16:creationId xmlns:a16="http://schemas.microsoft.com/office/drawing/2014/main" id="{A8642F66-C0BB-4949-9A9C-024B120A5D52}"/>
              </a:ext>
            </a:extLst>
          </p:cNvPr>
          <p:cNvPicPr preferRelativeResize="0">
            <a:picLocks noChangeAspect="1"/>
          </p:cNvPicPr>
          <p:nvPr/>
        </p:nvPicPr>
        <p:blipFill rotWithShape="1">
          <a:blip r:embed="rId5">
            <a:alphaModFix/>
          </a:blip>
          <a:srcRect/>
          <a:stretch/>
        </p:blipFill>
        <p:spPr>
          <a:xfrm>
            <a:off x="10239375" y="609600"/>
            <a:ext cx="8048625" cy="9677400"/>
          </a:xfrm>
          <a:prstGeom prst="rect">
            <a:avLst/>
          </a:prstGeom>
        </p:spPr>
      </p:pic>
    </p:spTree>
    <p:extLst>
      <p:ext uri="{BB962C8B-B14F-4D97-AF65-F5344CB8AC3E}">
        <p14:creationId xmlns:p14="http://schemas.microsoft.com/office/powerpoint/2010/main" val="36480479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1"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0" y="0"/>
            <a:ext cx="18288000" cy="10287000"/>
          </a:xfrm>
          <a:prstGeom prst="rect">
            <a:avLst/>
          </a:prstGeom>
        </p:spPr>
      </p:pic>
      <p:pic>
        <p:nvPicPr>
          <p:cNvPr id="312" name="layoutShapeInnerChild1">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0" y="0"/>
            <a:ext cx="18288000" cy="10287000"/>
          </a:xfrm>
          <a:prstGeom prst="rect">
            <a:avLst/>
          </a:prstGeom>
        </p:spPr>
      </p:pic>
      <p:sp>
        <p:nvSpPr>
          <p:cNvPr id="313" name="-0">
            <a:extLst>
              <a:ext uri="{FF2B5EF4-FFF2-40B4-BE49-F238E27FC236}">
                <a16:creationId xmlns:a16="http://schemas.microsoft.com/office/drawing/2014/main" id="{111B4A49-B930-4A89-A1CD-6CA2B3D95AED}"/>
              </a:ext>
            </a:extLst>
          </p:cNvPr>
          <p:cNvSpPr txBox="1"/>
          <p:nvPr/>
        </p:nvSpPr>
        <p:spPr>
          <a:xfrm>
            <a:off x="596741" y="3432715"/>
            <a:ext cx="495300" cy="333375"/>
          </a:xfrm>
          <a:prstGeom prst="rect">
            <a:avLst/>
          </a:prstGeom>
          <a:noFill/>
        </p:spPr>
        <p:txBody>
          <a:bodyPr vertOverflow="clip" horzOverflow="clip" wrap="square" lIns="0" tIns="0" rIns="0" bIns="0" rtlCol="0" anchor="ctr">
            <a:spAutoFit/>
          </a:bodyPr>
          <a:lstStyle/>
          <a:p>
            <a:pPr algn="ctr"/>
            <a:r>
              <a:rPr lang="en-US" sz="2520" b="1" dirty="0">
                <a:solidFill>
                  <a:srgbClr val="FBC76E">
                    <a:alpha val="100000"/>
                  </a:srgbClr>
                </a:solidFill>
                <a:latin typeface="Montserrat" panose="00000700000000000000" pitchFamily="2" charset="0"/>
              </a:rPr>
              <a:t>#1</a:t>
            </a:r>
          </a:p>
        </p:txBody>
      </p:sp>
      <p:sp>
        <p:nvSpPr>
          <p:cNvPr id="314" name="Primary Heading-0">
            <a:extLst>
              <a:ext uri="{FF2B5EF4-FFF2-40B4-BE49-F238E27FC236}">
                <a16:creationId xmlns:a16="http://schemas.microsoft.com/office/drawing/2014/main" id="{111B4A49-B930-4A89-A1CD-6CA2B3D95AED}"/>
              </a:ext>
            </a:extLst>
          </p:cNvPr>
          <p:cNvSpPr txBox="1"/>
          <p:nvPr/>
        </p:nvSpPr>
        <p:spPr>
          <a:xfrm>
            <a:off x="1676400" y="3364135"/>
            <a:ext cx="7134225" cy="466725"/>
          </a:xfrm>
          <a:prstGeom prst="rect">
            <a:avLst/>
          </a:prstGeom>
          <a:noFill/>
        </p:spPr>
        <p:txBody>
          <a:bodyPr vertOverflow="clip" horzOverflow="clip" wrap="square" lIns="0" tIns="0" rIns="0" bIns="0" rtlCol="0" anchor="ctr">
            <a:spAutoFit/>
          </a:bodyPr>
          <a:lstStyle/>
          <a:p>
            <a:pPr algn="l">
              <a:lnSpc>
                <a:spcPts val="3591"/>
              </a:lnSpc>
            </a:pPr>
            <a:r>
              <a:rPr lang="en-US" sz="2700" spc="-54" dirty="0">
                <a:solidFill>
                  <a:srgbClr val="FFFFFF">
                    <a:alpha val="100000"/>
                  </a:srgbClr>
                </a:solidFill>
                <a:latin typeface="Montserrat Light" panose="00000700000000000000" pitchFamily="2" charset="0"/>
              </a:rPr>
              <a:t>Vision</a:t>
            </a:r>
          </a:p>
        </p:txBody>
      </p:sp>
      <p:sp>
        <p:nvSpPr>
          <p:cNvPr id="315" name="A breif explanation of the above topic-0">
            <a:extLst>
              <a:ext uri="{FF2B5EF4-FFF2-40B4-BE49-F238E27FC236}">
                <a16:creationId xmlns:a16="http://schemas.microsoft.com/office/drawing/2014/main" id="{111B4A49-B930-4A89-A1CD-6CA2B3D95AED}"/>
              </a:ext>
            </a:extLst>
          </p:cNvPr>
          <p:cNvSpPr txBox="1"/>
          <p:nvPr/>
        </p:nvSpPr>
        <p:spPr>
          <a:xfrm>
            <a:off x="1609725" y="3915346"/>
            <a:ext cx="7134225" cy="695325"/>
          </a:xfrm>
          <a:prstGeom prst="rect">
            <a:avLst/>
          </a:prstGeom>
          <a:noFill/>
        </p:spPr>
        <p:txBody>
          <a:bodyPr vertOverflow="clip" horzOverflow="clip" wrap="square" lIns="0" tIns="0" rIns="0" bIns="0" rtlCol="0" anchor="ctr">
            <a:spAutoFit/>
          </a:bodyPr>
          <a:lstStyle/>
          <a:p>
            <a:pPr algn="l">
              <a:lnSpc>
                <a:spcPts val="2700"/>
              </a:lnSpc>
            </a:pPr>
            <a:r>
              <a:rPr lang="en-US" sz="1800" spc="-18" dirty="0">
                <a:solidFill>
                  <a:srgbClr val="FFFFFF">
                    <a:alpha val="100000"/>
                  </a:srgbClr>
                </a:solidFill>
                <a:latin typeface="Montserrat Light" panose="00000700000000000000" pitchFamily="2" charset="0"/>
              </a:rPr>
              <a:t>Define the long-term vision and strategic goals for market expansion in India's elevator industry.</a:t>
            </a:r>
          </a:p>
        </p:txBody>
      </p:sp>
      <p:pic>
        <p:nvPicPr>
          <p:cNvPr id="31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609600" y="5076825"/>
            <a:ext cx="8058150" cy="9525"/>
          </a:xfrm>
          <a:prstGeom prst="rect">
            <a:avLst/>
          </a:prstGeom>
        </p:spPr>
      </p:pic>
      <p:sp>
        <p:nvSpPr>
          <p:cNvPr id="317" name="-1">
            <a:extLst>
              <a:ext uri="{FF2B5EF4-FFF2-40B4-BE49-F238E27FC236}">
                <a16:creationId xmlns:a16="http://schemas.microsoft.com/office/drawing/2014/main" id="{111B4A49-B930-4A89-A1CD-6CA2B3D95AED}"/>
              </a:ext>
            </a:extLst>
          </p:cNvPr>
          <p:cNvSpPr txBox="1"/>
          <p:nvPr/>
        </p:nvSpPr>
        <p:spPr>
          <a:xfrm>
            <a:off x="564547" y="5622226"/>
            <a:ext cx="552450" cy="333375"/>
          </a:xfrm>
          <a:prstGeom prst="rect">
            <a:avLst/>
          </a:prstGeom>
          <a:noFill/>
        </p:spPr>
        <p:txBody>
          <a:bodyPr vertOverflow="clip" horzOverflow="clip" wrap="square" lIns="0" tIns="0" rIns="0" bIns="0" rtlCol="0" anchor="ctr">
            <a:spAutoFit/>
          </a:bodyPr>
          <a:lstStyle/>
          <a:p>
            <a:pPr algn="ctr"/>
            <a:r>
              <a:rPr lang="en-US" sz="2520" b="1" dirty="0">
                <a:solidFill>
                  <a:srgbClr val="FBC76E">
                    <a:alpha val="100000"/>
                  </a:srgbClr>
                </a:solidFill>
                <a:latin typeface="Montserrat" panose="00000700000000000000" pitchFamily="2" charset="0"/>
              </a:rPr>
              <a:t>#2</a:t>
            </a:r>
          </a:p>
        </p:txBody>
      </p:sp>
      <p:sp>
        <p:nvSpPr>
          <p:cNvPr id="318" name="Primary Heading-1">
            <a:extLst>
              <a:ext uri="{FF2B5EF4-FFF2-40B4-BE49-F238E27FC236}">
                <a16:creationId xmlns:a16="http://schemas.microsoft.com/office/drawing/2014/main" id="{111B4A49-B930-4A89-A1CD-6CA2B3D95AED}"/>
              </a:ext>
            </a:extLst>
          </p:cNvPr>
          <p:cNvSpPr txBox="1"/>
          <p:nvPr/>
        </p:nvSpPr>
        <p:spPr>
          <a:xfrm>
            <a:off x="1676400" y="5553646"/>
            <a:ext cx="7134225" cy="466725"/>
          </a:xfrm>
          <a:prstGeom prst="rect">
            <a:avLst/>
          </a:prstGeom>
          <a:noFill/>
        </p:spPr>
        <p:txBody>
          <a:bodyPr vertOverflow="clip" horzOverflow="clip" wrap="square" lIns="0" tIns="0" rIns="0" bIns="0" rtlCol="0" anchor="ctr">
            <a:spAutoFit/>
          </a:bodyPr>
          <a:lstStyle/>
          <a:p>
            <a:pPr algn="l">
              <a:lnSpc>
                <a:spcPts val="3591"/>
              </a:lnSpc>
            </a:pPr>
            <a:r>
              <a:rPr lang="en-US" sz="2700" spc="-54" dirty="0">
                <a:solidFill>
                  <a:srgbClr val="F2F1F3">
                    <a:alpha val="100000"/>
                  </a:srgbClr>
                </a:solidFill>
                <a:latin typeface="Montserrat Light" panose="00000700000000000000" pitchFamily="2" charset="0"/>
              </a:rPr>
              <a:t>Problem Statement</a:t>
            </a:r>
          </a:p>
        </p:txBody>
      </p:sp>
      <p:sp>
        <p:nvSpPr>
          <p:cNvPr id="319" name="A breif explanation of the above topic-1">
            <a:extLst>
              <a:ext uri="{FF2B5EF4-FFF2-40B4-BE49-F238E27FC236}">
                <a16:creationId xmlns:a16="http://schemas.microsoft.com/office/drawing/2014/main" id="{111B4A49-B930-4A89-A1CD-6CA2B3D95AED}"/>
              </a:ext>
            </a:extLst>
          </p:cNvPr>
          <p:cNvSpPr txBox="1"/>
          <p:nvPr/>
        </p:nvSpPr>
        <p:spPr>
          <a:xfrm>
            <a:off x="1609725" y="6104954"/>
            <a:ext cx="7134225" cy="695325"/>
          </a:xfrm>
          <a:prstGeom prst="rect">
            <a:avLst/>
          </a:prstGeom>
          <a:noFill/>
        </p:spPr>
        <p:txBody>
          <a:bodyPr vertOverflow="clip" horzOverflow="clip" wrap="square" lIns="0" tIns="0" rIns="0" bIns="0" rtlCol="0" anchor="ctr">
            <a:spAutoFit/>
          </a:bodyPr>
          <a:lstStyle/>
          <a:p>
            <a:pPr algn="l">
              <a:lnSpc>
                <a:spcPts val="2700"/>
              </a:lnSpc>
            </a:pPr>
            <a:r>
              <a:rPr lang="en-US" sz="1800" spc="-18" dirty="0">
                <a:solidFill>
                  <a:srgbClr val="F2F1F3">
                    <a:alpha val="100000"/>
                  </a:srgbClr>
                </a:solidFill>
                <a:latin typeface="Montserrat Light" panose="00000700000000000000" pitchFamily="2" charset="0"/>
              </a:rPr>
              <a:t>Identify and analyze the current challenges and market gaps within the Indian elevator industry.</a:t>
            </a:r>
          </a:p>
        </p:txBody>
      </p:sp>
      <p:pic>
        <p:nvPicPr>
          <p:cNvPr id="32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609600" y="7258050"/>
            <a:ext cx="8058150" cy="9525"/>
          </a:xfrm>
          <a:prstGeom prst="rect">
            <a:avLst/>
          </a:prstGeom>
        </p:spPr>
      </p:pic>
      <p:sp>
        <p:nvSpPr>
          <p:cNvPr id="321" name="-2">
            <a:extLst>
              <a:ext uri="{FF2B5EF4-FFF2-40B4-BE49-F238E27FC236}">
                <a16:creationId xmlns:a16="http://schemas.microsoft.com/office/drawing/2014/main" id="{111B4A49-B930-4A89-A1CD-6CA2B3D95AED}"/>
              </a:ext>
            </a:extLst>
          </p:cNvPr>
          <p:cNvSpPr txBox="1"/>
          <p:nvPr/>
        </p:nvSpPr>
        <p:spPr>
          <a:xfrm>
            <a:off x="564547" y="7811834"/>
            <a:ext cx="552450" cy="333375"/>
          </a:xfrm>
          <a:prstGeom prst="rect">
            <a:avLst/>
          </a:prstGeom>
          <a:noFill/>
        </p:spPr>
        <p:txBody>
          <a:bodyPr vertOverflow="clip" horzOverflow="clip" wrap="square" lIns="0" tIns="0" rIns="0" bIns="0" rtlCol="0" anchor="ctr">
            <a:spAutoFit/>
          </a:bodyPr>
          <a:lstStyle/>
          <a:p>
            <a:pPr algn="ctr"/>
            <a:r>
              <a:rPr lang="en-US" sz="2520" b="1" dirty="0">
                <a:solidFill>
                  <a:srgbClr val="FBC76E">
                    <a:alpha val="100000"/>
                  </a:srgbClr>
                </a:solidFill>
                <a:latin typeface="Montserrat" panose="00000700000000000000" pitchFamily="2" charset="0"/>
              </a:rPr>
              <a:t>#3</a:t>
            </a:r>
          </a:p>
        </p:txBody>
      </p:sp>
      <p:sp>
        <p:nvSpPr>
          <p:cNvPr id="322" name="Primary Heading-2">
            <a:extLst>
              <a:ext uri="{FF2B5EF4-FFF2-40B4-BE49-F238E27FC236}">
                <a16:creationId xmlns:a16="http://schemas.microsoft.com/office/drawing/2014/main" id="{111B4A49-B930-4A89-A1CD-6CA2B3D95AED}"/>
              </a:ext>
            </a:extLst>
          </p:cNvPr>
          <p:cNvSpPr txBox="1"/>
          <p:nvPr/>
        </p:nvSpPr>
        <p:spPr>
          <a:xfrm>
            <a:off x="1676400" y="7743254"/>
            <a:ext cx="7134225" cy="466725"/>
          </a:xfrm>
          <a:prstGeom prst="rect">
            <a:avLst/>
          </a:prstGeom>
          <a:noFill/>
        </p:spPr>
        <p:txBody>
          <a:bodyPr vertOverflow="clip" horzOverflow="clip" wrap="square" lIns="0" tIns="0" rIns="0" bIns="0" rtlCol="0" anchor="ctr">
            <a:spAutoFit/>
          </a:bodyPr>
          <a:lstStyle/>
          <a:p>
            <a:pPr algn="l">
              <a:lnSpc>
                <a:spcPts val="3591"/>
              </a:lnSpc>
            </a:pPr>
            <a:r>
              <a:rPr lang="en-US" sz="2700" spc="-54" dirty="0">
                <a:solidFill>
                  <a:srgbClr val="EBEAED">
                    <a:alpha val="100000"/>
                  </a:srgbClr>
                </a:solidFill>
                <a:latin typeface="Montserrat Light" panose="00000700000000000000" pitchFamily="2" charset="0"/>
              </a:rPr>
              <a:t>Solution</a:t>
            </a:r>
          </a:p>
        </p:txBody>
      </p:sp>
      <p:sp>
        <p:nvSpPr>
          <p:cNvPr id="323" name="A breif explanation of the above topic-2">
            <a:extLst>
              <a:ext uri="{FF2B5EF4-FFF2-40B4-BE49-F238E27FC236}">
                <a16:creationId xmlns:a16="http://schemas.microsoft.com/office/drawing/2014/main" id="{111B4A49-B930-4A89-A1CD-6CA2B3D95AED}"/>
              </a:ext>
            </a:extLst>
          </p:cNvPr>
          <p:cNvSpPr txBox="1"/>
          <p:nvPr/>
        </p:nvSpPr>
        <p:spPr>
          <a:xfrm>
            <a:off x="1609725" y="8294465"/>
            <a:ext cx="7134225" cy="695325"/>
          </a:xfrm>
          <a:prstGeom prst="rect">
            <a:avLst/>
          </a:prstGeom>
          <a:noFill/>
        </p:spPr>
        <p:txBody>
          <a:bodyPr vertOverflow="clip" horzOverflow="clip" wrap="square" lIns="0" tIns="0" rIns="0" bIns="0" rtlCol="0" anchor="ctr">
            <a:spAutoFit/>
          </a:bodyPr>
          <a:lstStyle/>
          <a:p>
            <a:pPr algn="l">
              <a:lnSpc>
                <a:spcPts val="2700"/>
              </a:lnSpc>
            </a:pPr>
            <a:r>
              <a:rPr lang="en-US" sz="1800" spc="-18" dirty="0">
                <a:solidFill>
                  <a:srgbClr val="EBEAED">
                    <a:alpha val="100000"/>
                  </a:srgbClr>
                </a:solidFill>
                <a:latin typeface="Montserrat Light" panose="00000700000000000000" pitchFamily="2" charset="0"/>
              </a:rPr>
              <a:t>Propose innovative solutions to address the identified challenges and improve market positioning.</a:t>
            </a:r>
          </a:p>
        </p:txBody>
      </p:sp>
      <p:pic>
        <p:nvPicPr>
          <p:cNvPr id="32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609600" y="9448800"/>
            <a:ext cx="8058150" cy="9525"/>
          </a:xfrm>
          <a:prstGeom prst="rect">
            <a:avLst/>
          </a:prstGeom>
        </p:spPr>
      </p:pic>
      <p:sp>
        <p:nvSpPr>
          <p:cNvPr id="325" name="-3">
            <a:extLst>
              <a:ext uri="{FF2B5EF4-FFF2-40B4-BE49-F238E27FC236}">
                <a16:creationId xmlns:a16="http://schemas.microsoft.com/office/drawing/2014/main" id="{111B4A49-B930-4A89-A1CD-6CA2B3D95AED}"/>
              </a:ext>
            </a:extLst>
          </p:cNvPr>
          <p:cNvSpPr txBox="1"/>
          <p:nvPr/>
        </p:nvSpPr>
        <p:spPr>
          <a:xfrm>
            <a:off x="9559671" y="3432715"/>
            <a:ext cx="590550" cy="333375"/>
          </a:xfrm>
          <a:prstGeom prst="rect">
            <a:avLst/>
          </a:prstGeom>
          <a:noFill/>
        </p:spPr>
        <p:txBody>
          <a:bodyPr vertOverflow="clip" horzOverflow="clip" wrap="square" lIns="0" tIns="0" rIns="0" bIns="0" rtlCol="0" anchor="ctr">
            <a:spAutoFit/>
          </a:bodyPr>
          <a:lstStyle/>
          <a:p>
            <a:pPr algn="ctr"/>
            <a:r>
              <a:rPr lang="en-US" sz="2520" b="1" dirty="0">
                <a:solidFill>
                  <a:srgbClr val="FBC76E">
                    <a:alpha val="100000"/>
                  </a:srgbClr>
                </a:solidFill>
                <a:latin typeface="Montserrat" panose="00000700000000000000" pitchFamily="2" charset="0"/>
              </a:rPr>
              <a:t>#4</a:t>
            </a:r>
          </a:p>
        </p:txBody>
      </p:sp>
      <p:sp>
        <p:nvSpPr>
          <p:cNvPr id="326" name="Primary Heading-3">
            <a:extLst>
              <a:ext uri="{FF2B5EF4-FFF2-40B4-BE49-F238E27FC236}">
                <a16:creationId xmlns:a16="http://schemas.microsoft.com/office/drawing/2014/main" id="{111B4A49-B930-4A89-A1CD-6CA2B3D95AED}"/>
              </a:ext>
            </a:extLst>
          </p:cNvPr>
          <p:cNvSpPr txBox="1"/>
          <p:nvPr/>
        </p:nvSpPr>
        <p:spPr>
          <a:xfrm>
            <a:off x="10687050" y="3364135"/>
            <a:ext cx="7134225" cy="466725"/>
          </a:xfrm>
          <a:prstGeom prst="rect">
            <a:avLst/>
          </a:prstGeom>
          <a:noFill/>
        </p:spPr>
        <p:txBody>
          <a:bodyPr vertOverflow="clip" horzOverflow="clip" wrap="square" lIns="0" tIns="0" rIns="0" bIns="0" rtlCol="0" anchor="ctr">
            <a:spAutoFit/>
          </a:bodyPr>
          <a:lstStyle/>
          <a:p>
            <a:pPr algn="l">
              <a:lnSpc>
                <a:spcPts val="3591"/>
              </a:lnSpc>
            </a:pPr>
            <a:r>
              <a:rPr lang="en-US" sz="2700" spc="-54" dirty="0">
                <a:solidFill>
                  <a:srgbClr val="E5E3E7">
                    <a:alpha val="100000"/>
                  </a:srgbClr>
                </a:solidFill>
                <a:latin typeface="Montserrat Light" panose="00000700000000000000" pitchFamily="2" charset="0"/>
              </a:rPr>
              <a:t>Target Market</a:t>
            </a:r>
          </a:p>
        </p:txBody>
      </p:sp>
      <p:sp>
        <p:nvSpPr>
          <p:cNvPr id="327" name="A breif explanation of the above topic-3">
            <a:extLst>
              <a:ext uri="{FF2B5EF4-FFF2-40B4-BE49-F238E27FC236}">
                <a16:creationId xmlns:a16="http://schemas.microsoft.com/office/drawing/2014/main" id="{111B4A49-B930-4A89-A1CD-6CA2B3D95AED}"/>
              </a:ext>
            </a:extLst>
          </p:cNvPr>
          <p:cNvSpPr txBox="1"/>
          <p:nvPr/>
        </p:nvSpPr>
        <p:spPr>
          <a:xfrm>
            <a:off x="10620375" y="3915346"/>
            <a:ext cx="7134225" cy="695325"/>
          </a:xfrm>
          <a:prstGeom prst="rect">
            <a:avLst/>
          </a:prstGeom>
          <a:noFill/>
        </p:spPr>
        <p:txBody>
          <a:bodyPr vertOverflow="clip" horzOverflow="clip" wrap="square" lIns="0" tIns="0" rIns="0" bIns="0" rtlCol="0" anchor="ctr">
            <a:spAutoFit/>
          </a:bodyPr>
          <a:lstStyle/>
          <a:p>
            <a:pPr algn="l">
              <a:lnSpc>
                <a:spcPts val="2700"/>
              </a:lnSpc>
            </a:pPr>
            <a:r>
              <a:rPr lang="en-US" sz="1800" spc="-18" dirty="0">
                <a:solidFill>
                  <a:srgbClr val="E5E3E7">
                    <a:alpha val="100000"/>
                  </a:srgbClr>
                </a:solidFill>
                <a:latin typeface="Montserrat Light" panose="00000700000000000000" pitchFamily="2" charset="0"/>
              </a:rPr>
              <a:t>Define the specific target market segments and consumer demographics for market expansion strategies.</a:t>
            </a:r>
          </a:p>
        </p:txBody>
      </p:sp>
      <p:pic>
        <p:nvPicPr>
          <p:cNvPr id="32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9620250" y="5076825"/>
            <a:ext cx="8058150" cy="9525"/>
          </a:xfrm>
          <a:prstGeom prst="rect">
            <a:avLst/>
          </a:prstGeom>
        </p:spPr>
      </p:pic>
      <p:sp>
        <p:nvSpPr>
          <p:cNvPr id="329" name="-4">
            <a:extLst>
              <a:ext uri="{FF2B5EF4-FFF2-40B4-BE49-F238E27FC236}">
                <a16:creationId xmlns:a16="http://schemas.microsoft.com/office/drawing/2014/main" id="{111B4A49-B930-4A89-A1CD-6CA2B3D95AED}"/>
              </a:ext>
            </a:extLst>
          </p:cNvPr>
          <p:cNvSpPr txBox="1"/>
          <p:nvPr/>
        </p:nvSpPr>
        <p:spPr>
          <a:xfrm>
            <a:off x="9574911" y="5622226"/>
            <a:ext cx="561975" cy="333375"/>
          </a:xfrm>
          <a:prstGeom prst="rect">
            <a:avLst/>
          </a:prstGeom>
          <a:noFill/>
        </p:spPr>
        <p:txBody>
          <a:bodyPr vertOverflow="clip" horzOverflow="clip" wrap="square" lIns="0" tIns="0" rIns="0" bIns="0" rtlCol="0" anchor="ctr">
            <a:spAutoFit/>
          </a:bodyPr>
          <a:lstStyle/>
          <a:p>
            <a:pPr algn="ctr"/>
            <a:r>
              <a:rPr lang="en-US" sz="2520" b="1" dirty="0">
                <a:solidFill>
                  <a:srgbClr val="FBC76E">
                    <a:alpha val="100000"/>
                  </a:srgbClr>
                </a:solidFill>
                <a:latin typeface="Montserrat" panose="00000700000000000000" pitchFamily="2" charset="0"/>
              </a:rPr>
              <a:t>#5</a:t>
            </a:r>
          </a:p>
        </p:txBody>
      </p:sp>
      <p:sp>
        <p:nvSpPr>
          <p:cNvPr id="330" name="Primary Heading-4">
            <a:extLst>
              <a:ext uri="{FF2B5EF4-FFF2-40B4-BE49-F238E27FC236}">
                <a16:creationId xmlns:a16="http://schemas.microsoft.com/office/drawing/2014/main" id="{111B4A49-B930-4A89-A1CD-6CA2B3D95AED}"/>
              </a:ext>
            </a:extLst>
          </p:cNvPr>
          <p:cNvSpPr txBox="1"/>
          <p:nvPr/>
        </p:nvSpPr>
        <p:spPr>
          <a:xfrm>
            <a:off x="10687050" y="5553646"/>
            <a:ext cx="7134225" cy="466725"/>
          </a:xfrm>
          <a:prstGeom prst="rect">
            <a:avLst/>
          </a:prstGeom>
          <a:noFill/>
        </p:spPr>
        <p:txBody>
          <a:bodyPr vertOverflow="clip" horzOverflow="clip" wrap="square" lIns="0" tIns="0" rIns="0" bIns="0" rtlCol="0" anchor="ctr">
            <a:spAutoFit/>
          </a:bodyPr>
          <a:lstStyle/>
          <a:p>
            <a:pPr algn="l">
              <a:lnSpc>
                <a:spcPts val="3591"/>
              </a:lnSpc>
            </a:pPr>
            <a:r>
              <a:rPr lang="en-US" sz="2700" spc="-54" dirty="0">
                <a:solidFill>
                  <a:srgbClr val="DEDCE1">
                    <a:alpha val="100000"/>
                  </a:srgbClr>
                </a:solidFill>
                <a:latin typeface="Montserrat Light" panose="00000700000000000000" pitchFamily="2" charset="0"/>
              </a:rPr>
              <a:t>Competitive Landscape</a:t>
            </a:r>
          </a:p>
        </p:txBody>
      </p:sp>
      <p:sp>
        <p:nvSpPr>
          <p:cNvPr id="331" name="A breif explanation of the above topic-4">
            <a:extLst>
              <a:ext uri="{FF2B5EF4-FFF2-40B4-BE49-F238E27FC236}">
                <a16:creationId xmlns:a16="http://schemas.microsoft.com/office/drawing/2014/main" id="{111B4A49-B930-4A89-A1CD-6CA2B3D95AED}"/>
              </a:ext>
            </a:extLst>
          </p:cNvPr>
          <p:cNvSpPr txBox="1"/>
          <p:nvPr/>
        </p:nvSpPr>
        <p:spPr>
          <a:xfrm>
            <a:off x="10620375" y="6104954"/>
            <a:ext cx="7134225" cy="695325"/>
          </a:xfrm>
          <a:prstGeom prst="rect">
            <a:avLst/>
          </a:prstGeom>
          <a:noFill/>
        </p:spPr>
        <p:txBody>
          <a:bodyPr vertOverflow="clip" horzOverflow="clip" wrap="square" lIns="0" tIns="0" rIns="0" bIns="0" rtlCol="0" anchor="ctr">
            <a:spAutoFit/>
          </a:bodyPr>
          <a:lstStyle/>
          <a:p>
            <a:pPr algn="l">
              <a:lnSpc>
                <a:spcPts val="2700"/>
              </a:lnSpc>
            </a:pPr>
            <a:r>
              <a:rPr lang="en-US" sz="1800" spc="-18" dirty="0">
                <a:solidFill>
                  <a:srgbClr val="DEDCE1">
                    <a:alpha val="100000"/>
                  </a:srgbClr>
                </a:solidFill>
                <a:latin typeface="Montserrat Light" panose="00000700000000000000" pitchFamily="2" charset="0"/>
              </a:rPr>
              <a:t>Analyze the competitive landscape in the elevator industry in India, including key players and market positioning.</a:t>
            </a:r>
          </a:p>
        </p:txBody>
      </p:sp>
      <p:pic>
        <p:nvPicPr>
          <p:cNvPr id="33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9620250" y="7258050"/>
            <a:ext cx="8058150" cy="9525"/>
          </a:xfrm>
          <a:prstGeom prst="rect">
            <a:avLst/>
          </a:prstGeom>
        </p:spPr>
      </p:pic>
      <p:sp>
        <p:nvSpPr>
          <p:cNvPr id="333" name="-5">
            <a:extLst>
              <a:ext uri="{FF2B5EF4-FFF2-40B4-BE49-F238E27FC236}">
                <a16:creationId xmlns:a16="http://schemas.microsoft.com/office/drawing/2014/main" id="{111B4A49-B930-4A89-A1CD-6CA2B3D95AED}"/>
              </a:ext>
            </a:extLst>
          </p:cNvPr>
          <p:cNvSpPr txBox="1"/>
          <p:nvPr/>
        </p:nvSpPr>
        <p:spPr>
          <a:xfrm>
            <a:off x="9567958" y="7811834"/>
            <a:ext cx="571500" cy="333375"/>
          </a:xfrm>
          <a:prstGeom prst="rect">
            <a:avLst/>
          </a:prstGeom>
          <a:noFill/>
        </p:spPr>
        <p:txBody>
          <a:bodyPr vertOverflow="clip" horzOverflow="clip" wrap="square" lIns="0" tIns="0" rIns="0" bIns="0" rtlCol="0" anchor="ctr">
            <a:spAutoFit/>
          </a:bodyPr>
          <a:lstStyle/>
          <a:p>
            <a:pPr algn="ctr"/>
            <a:r>
              <a:rPr lang="en-US" sz="2520" b="1" dirty="0">
                <a:solidFill>
                  <a:srgbClr val="FBC76E">
                    <a:alpha val="100000"/>
                  </a:srgbClr>
                </a:solidFill>
                <a:latin typeface="Montserrat" panose="00000700000000000000" pitchFamily="2" charset="0"/>
              </a:rPr>
              <a:t>#6</a:t>
            </a:r>
          </a:p>
        </p:txBody>
      </p:sp>
      <p:sp>
        <p:nvSpPr>
          <p:cNvPr id="334" name="Primary Heading-5">
            <a:extLst>
              <a:ext uri="{FF2B5EF4-FFF2-40B4-BE49-F238E27FC236}">
                <a16:creationId xmlns:a16="http://schemas.microsoft.com/office/drawing/2014/main" id="{111B4A49-B930-4A89-A1CD-6CA2B3D95AED}"/>
              </a:ext>
            </a:extLst>
          </p:cNvPr>
          <p:cNvSpPr txBox="1"/>
          <p:nvPr/>
        </p:nvSpPr>
        <p:spPr>
          <a:xfrm>
            <a:off x="10687050" y="7743254"/>
            <a:ext cx="7134225" cy="466725"/>
          </a:xfrm>
          <a:prstGeom prst="rect">
            <a:avLst/>
          </a:prstGeom>
          <a:noFill/>
        </p:spPr>
        <p:txBody>
          <a:bodyPr vertOverflow="clip" horzOverflow="clip" wrap="square" lIns="0" tIns="0" rIns="0" bIns="0" rtlCol="0" anchor="ctr">
            <a:spAutoFit/>
          </a:bodyPr>
          <a:lstStyle/>
          <a:p>
            <a:pPr algn="l">
              <a:lnSpc>
                <a:spcPts val="3591"/>
              </a:lnSpc>
            </a:pPr>
            <a:r>
              <a:rPr lang="en-US" sz="2700" spc="-54" dirty="0">
                <a:solidFill>
                  <a:srgbClr val="D8D6DC">
                    <a:alpha val="100000"/>
                  </a:srgbClr>
                </a:solidFill>
                <a:latin typeface="Montserrat Light" panose="00000700000000000000" pitchFamily="2" charset="0"/>
              </a:rPr>
              <a:t>Financials</a:t>
            </a:r>
          </a:p>
        </p:txBody>
      </p:sp>
      <p:sp>
        <p:nvSpPr>
          <p:cNvPr id="335" name="A breif explanation of the above topic-5">
            <a:extLst>
              <a:ext uri="{FF2B5EF4-FFF2-40B4-BE49-F238E27FC236}">
                <a16:creationId xmlns:a16="http://schemas.microsoft.com/office/drawing/2014/main" id="{111B4A49-B930-4A89-A1CD-6CA2B3D95AED}"/>
              </a:ext>
            </a:extLst>
          </p:cNvPr>
          <p:cNvSpPr txBox="1"/>
          <p:nvPr/>
        </p:nvSpPr>
        <p:spPr>
          <a:xfrm>
            <a:off x="10620375" y="8294465"/>
            <a:ext cx="7134225" cy="695325"/>
          </a:xfrm>
          <a:prstGeom prst="rect">
            <a:avLst/>
          </a:prstGeom>
          <a:noFill/>
        </p:spPr>
        <p:txBody>
          <a:bodyPr vertOverflow="clip" horzOverflow="clip" wrap="square" lIns="0" tIns="0" rIns="0" bIns="0" rtlCol="0" anchor="ctr">
            <a:spAutoFit/>
          </a:bodyPr>
          <a:lstStyle/>
          <a:p>
            <a:pPr algn="l">
              <a:lnSpc>
                <a:spcPts val="2700"/>
              </a:lnSpc>
            </a:pPr>
            <a:r>
              <a:rPr lang="en-US" sz="1800" spc="-18" dirty="0">
                <a:solidFill>
                  <a:srgbClr val="D8D6DC">
                    <a:alpha val="100000"/>
                  </a:srgbClr>
                </a:solidFill>
                <a:latin typeface="Montserrat Light" panose="00000700000000000000" pitchFamily="2" charset="0"/>
              </a:rPr>
              <a:t>Present financial projections and estimations for market expansion initiatives in the Indian elevator sector.</a:t>
            </a:r>
          </a:p>
        </p:txBody>
      </p:sp>
      <p:pic>
        <p:nvPicPr>
          <p:cNvPr id="33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9620250" y="9448800"/>
            <a:ext cx="8058150" cy="9525"/>
          </a:xfrm>
          <a:prstGeom prst="rect">
            <a:avLst/>
          </a:prstGeom>
        </p:spPr>
      </p:pic>
      <p:sp>
        <p:nvSpPr>
          <p:cNvPr id="337" name="Click here to edit title-426">
            <a:extLst>
              <a:ext uri="{FF2B5EF4-FFF2-40B4-BE49-F238E27FC236}">
                <a16:creationId xmlns:a16="http://schemas.microsoft.com/office/drawing/2014/main" id="{111B4A49-B930-4A89-A1CD-6CA2B3D95AED}"/>
              </a:ext>
            </a:extLst>
          </p:cNvPr>
          <p:cNvSpPr txBox="1"/>
          <p:nvPr/>
        </p:nvSpPr>
        <p:spPr>
          <a:xfrm>
            <a:off x="1219200" y="923925"/>
            <a:ext cx="15992475" cy="676275"/>
          </a:xfrm>
          <a:prstGeom prst="rect">
            <a:avLst/>
          </a:prstGeom>
          <a:noFill/>
        </p:spPr>
        <p:txBody>
          <a:bodyPr vertOverflow="clip" horzOverflow="clip" wrap="square" lIns="0" tIns="0" rIns="0" bIns="0" rtlCol="0" anchor="ctr">
            <a:spAutoFit/>
          </a:bodyPr>
          <a:lstStyle/>
          <a:p>
            <a:pPr algn="l">
              <a:lnSpc>
                <a:spcPts val="5250"/>
              </a:lnSpc>
            </a:pPr>
            <a:r>
              <a:rPr lang="en-US" sz="4200" spc="-84" dirty="0">
                <a:solidFill>
                  <a:srgbClr val="FFFFFF">
                    <a:alpha val="100000"/>
                  </a:srgbClr>
                </a:solidFill>
                <a:latin typeface="Montserrat Light" panose="00000700000000000000" pitchFamily="2" charset="0"/>
              </a:rPr>
              <a:t>Agenda</a:t>
            </a:r>
          </a:p>
        </p:txBody>
      </p:sp>
      <p:sp>
        <p:nvSpPr>
          <p:cNvPr id="338" name="Click here to edit subtitle-418">
            <a:extLst>
              <a:ext uri="{FF2B5EF4-FFF2-40B4-BE49-F238E27FC236}">
                <a16:creationId xmlns:a16="http://schemas.microsoft.com/office/drawing/2014/main" id="{111B4A49-B930-4A89-A1CD-6CA2B3D95AED}"/>
              </a:ext>
            </a:extLst>
          </p:cNvPr>
          <p:cNvSpPr txBox="1"/>
          <p:nvPr/>
        </p:nvSpPr>
        <p:spPr>
          <a:xfrm>
            <a:off x="1219200" y="1790700"/>
            <a:ext cx="15992475" cy="381000"/>
          </a:xfrm>
          <a:prstGeom prst="rect">
            <a:avLst/>
          </a:prstGeom>
          <a:noFill/>
        </p:spPr>
        <p:txBody>
          <a:bodyPr vertOverflow="clip" horzOverflow="clip" wrap="square" lIns="0" tIns="0" rIns="0" bIns="0" rtlCol="0" anchor="ctr">
            <a:spAutoFit/>
          </a:bodyPr>
          <a:lstStyle/>
          <a:p>
            <a:pPr algn="l">
              <a:lnSpc>
                <a:spcPts val="2919"/>
              </a:lnSpc>
            </a:pPr>
            <a:r>
              <a:rPr lang="en-US" sz="2100" spc="-21" dirty="0">
                <a:solidFill>
                  <a:srgbClr val="FFFFFF">
                    <a:alpha val="100000"/>
                  </a:srgbClr>
                </a:solidFill>
                <a:latin typeface="Montserrat Light" panose="00000700000000000000" pitchFamily="2" charset="0"/>
              </a:rPr>
              <a:t>Key Points for Market Expansion in India's Elevator Industry</a:t>
            </a:r>
          </a:p>
        </p:txBody>
      </p:sp>
      <p:sp>
        <p:nvSpPr>
          <p:cNvPr id="339" name="Click here to edit label-405">
            <a:extLst>
              <a:ext uri="{FF2B5EF4-FFF2-40B4-BE49-F238E27FC236}">
                <a16:creationId xmlns:a16="http://schemas.microsoft.com/office/drawing/2014/main" id="{111B4A49-B930-4A89-A1CD-6CA2B3D95AED}"/>
              </a:ext>
            </a:extLst>
          </p:cNvPr>
          <p:cNvSpPr txBox="1"/>
          <p:nvPr/>
        </p:nvSpPr>
        <p:spPr>
          <a:xfrm>
            <a:off x="1219200" y="571500"/>
            <a:ext cx="15992475" cy="295275"/>
          </a:xfrm>
          <a:prstGeom prst="rect">
            <a:avLst/>
          </a:prstGeom>
          <a:noFill/>
        </p:spPr>
        <p:txBody>
          <a:bodyPr vertOverflow="clip" horzOverflow="clip" wrap="square" lIns="0" tIns="0" rIns="0" bIns="0" rtlCol="0" anchor="ctr">
            <a:spAutoFit/>
          </a:bodyPr>
          <a:lstStyle/>
          <a:p>
            <a:pPr algn="l">
              <a:lnSpc>
                <a:spcPts val="2196"/>
              </a:lnSpc>
            </a:pPr>
            <a:r>
              <a:rPr lang="en-US" sz="1800" spc="990" dirty="0">
                <a:solidFill>
                  <a:srgbClr val="FFFFFF">
                    <a:alpha val="100000"/>
                  </a:srgbClr>
                </a:solidFill>
                <a:latin typeface="Montserrat" panose="00000700000000000000" pitchFamily="2" charset="0"/>
              </a:rPr>
              <a:t>MARKET EXPANSION STRATEGIES</a:t>
            </a:r>
          </a:p>
        </p:txBody>
      </p:sp>
      <p:pic>
        <p:nvPicPr>
          <p:cNvPr id="34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8">
            <a:alphaModFix/>
          </a:blip>
          <a:stretch/>
        </p:blipFill>
        <p:spPr>
          <a:xfrm>
            <a:off x="590550" y="571500"/>
            <a:ext cx="19050" cy="1590675"/>
          </a:xfrm>
          <a:prstGeom prst="rect">
            <a:avLst/>
          </a:prstGeom>
        </p:spPr>
      </p:pic>
    </p:spTree>
    <p:extLst>
      <p:ext uri="{BB962C8B-B14F-4D97-AF65-F5344CB8AC3E}">
        <p14:creationId xmlns:p14="http://schemas.microsoft.com/office/powerpoint/2010/main" val="36480479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0" y="0"/>
            <a:ext cx="18288000" cy="10287000"/>
          </a:xfrm>
          <a:prstGeom prst="rect">
            <a:avLst/>
          </a:prstGeom>
        </p:spPr>
      </p:pic>
      <p:pic>
        <p:nvPicPr>
          <p:cNvPr id="344" name="layoutShapeInnerChild1">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0" y="0"/>
            <a:ext cx="18288000" cy="10287000"/>
          </a:xfrm>
          <a:prstGeom prst="rect">
            <a:avLst/>
          </a:prstGeom>
        </p:spPr>
      </p:pic>
      <p:sp>
        <p:nvSpPr>
          <p:cNvPr id="347" name="Title label here-0">
            <a:extLst>
              <a:ext uri="{FF2B5EF4-FFF2-40B4-BE49-F238E27FC236}">
                <a16:creationId xmlns:a16="http://schemas.microsoft.com/office/drawing/2014/main" id="{111B4A49-B930-4A89-A1CD-6CA2B3D95AED}"/>
              </a:ext>
            </a:extLst>
          </p:cNvPr>
          <p:cNvSpPr txBox="1"/>
          <p:nvPr/>
        </p:nvSpPr>
        <p:spPr>
          <a:xfrm>
            <a:off x="1219200" y="3169348"/>
            <a:ext cx="8372475" cy="285750"/>
          </a:xfrm>
          <a:prstGeom prst="rect">
            <a:avLst/>
          </a:prstGeom>
          <a:noFill/>
        </p:spPr>
        <p:txBody>
          <a:bodyPr vertOverflow="clip" horzOverflow="clip" wrap="square" lIns="0" tIns="0" rIns="0" bIns="0" rtlCol="0" anchor="ctr">
            <a:spAutoFit/>
          </a:bodyPr>
          <a:lstStyle/>
          <a:p>
            <a:pPr algn="l">
              <a:lnSpc>
                <a:spcPts val="2196"/>
              </a:lnSpc>
            </a:pPr>
            <a:r>
              <a:rPr lang="en-US" sz="1800" spc="990" dirty="0">
                <a:solidFill>
                  <a:srgbClr val="FFFFFF">
                    <a:alpha val="100000"/>
                  </a:srgbClr>
                </a:solidFill>
                <a:latin typeface="Montserrat" panose="00000700000000000000" pitchFamily="2" charset="0"/>
              </a:rPr>
              <a:t>INNOVATIVE VISION</a:t>
            </a:r>
          </a:p>
        </p:txBody>
      </p:sp>
      <p:sp>
        <p:nvSpPr>
          <p:cNvPr id="348" name="Awesome Section Break-0">
            <a:extLst>
              <a:ext uri="{FF2B5EF4-FFF2-40B4-BE49-F238E27FC236}">
                <a16:creationId xmlns:a16="http://schemas.microsoft.com/office/drawing/2014/main" id="{111B4A49-B930-4A89-A1CD-6CA2B3D95AED}"/>
              </a:ext>
            </a:extLst>
          </p:cNvPr>
          <p:cNvSpPr txBox="1"/>
          <p:nvPr/>
        </p:nvSpPr>
        <p:spPr>
          <a:xfrm>
            <a:off x="1219200" y="3486245"/>
            <a:ext cx="8372475" cy="1104900"/>
          </a:xfrm>
          <a:prstGeom prst="rect">
            <a:avLst/>
          </a:prstGeom>
          <a:noFill/>
        </p:spPr>
        <p:txBody>
          <a:bodyPr vertOverflow="clip" horzOverflow="clip" wrap="square" lIns="0" tIns="0" rIns="0" bIns="0" rtlCol="0" anchor="ctr">
            <a:spAutoFit/>
          </a:bodyPr>
          <a:lstStyle/>
          <a:p>
            <a:pPr algn="l">
              <a:lnSpc>
                <a:spcPts val="8496"/>
              </a:lnSpc>
            </a:pPr>
            <a:r>
              <a:rPr lang="en-US" sz="7200" spc="-180" dirty="0">
                <a:solidFill>
                  <a:srgbClr val="FFFFFF">
                    <a:alpha val="100000"/>
                  </a:srgbClr>
                </a:solidFill>
                <a:latin typeface="Montserrat Light" panose="00000700000000000000" pitchFamily="2" charset="0"/>
              </a:rPr>
              <a:t>Vision</a:t>
            </a:r>
          </a:p>
        </p:txBody>
      </p:sp>
      <p:sp>
        <p:nvSpPr>
          <p:cNvPr id="349" name="A small sentence which explains all about this presentation-0">
            <a:extLst>
              <a:ext uri="{FF2B5EF4-FFF2-40B4-BE49-F238E27FC236}">
                <a16:creationId xmlns:a16="http://schemas.microsoft.com/office/drawing/2014/main" id="{111B4A49-B930-4A89-A1CD-6CA2B3D95AED}"/>
              </a:ext>
            </a:extLst>
          </p:cNvPr>
          <p:cNvSpPr txBox="1"/>
          <p:nvPr/>
        </p:nvSpPr>
        <p:spPr>
          <a:xfrm>
            <a:off x="1152525" y="4871966"/>
            <a:ext cx="6780935" cy="717376"/>
          </a:xfrm>
          <a:prstGeom prst="rect">
            <a:avLst/>
          </a:prstGeom>
          <a:noFill/>
        </p:spPr>
        <p:txBody>
          <a:bodyPr vertOverflow="clip" horzOverflow="clip" wrap="square" lIns="0" tIns="0" rIns="0" bIns="0" rtlCol="0" anchor="ctr">
            <a:spAutoFit/>
          </a:bodyPr>
          <a:lstStyle/>
          <a:p>
            <a:pPr algn="l">
              <a:lnSpc>
                <a:spcPts val="2919"/>
              </a:lnSpc>
            </a:pPr>
            <a:r>
              <a:rPr lang="en-US" sz="2100" spc="-21" dirty="0">
                <a:solidFill>
                  <a:srgbClr val="FFFFFF">
                    <a:alpha val="100000"/>
                  </a:srgbClr>
                </a:solidFill>
                <a:latin typeface="Montserrat Light" panose="00000700000000000000" pitchFamily="2" charset="0"/>
              </a:rPr>
              <a:t>To be the Leading Innovator and solutions provider in the Global Elevator &amp; Parking Systems Industry </a:t>
            </a:r>
          </a:p>
        </p:txBody>
      </p:sp>
      <p:pic>
        <p:nvPicPr>
          <p:cNvPr id="35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590550" y="3171825"/>
            <a:ext cx="19050" cy="2238375"/>
          </a:xfrm>
          <a:prstGeom prst="rect">
            <a:avLst/>
          </a:prstGeom>
        </p:spPr>
      </p:pic>
    </p:spTree>
    <p:extLst>
      <p:ext uri="{BB962C8B-B14F-4D97-AF65-F5344CB8AC3E}">
        <p14:creationId xmlns:p14="http://schemas.microsoft.com/office/powerpoint/2010/main" val="36480479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0" y="0"/>
            <a:ext cx="18288000" cy="10287000"/>
          </a:xfrm>
          <a:prstGeom prst="rect">
            <a:avLst/>
          </a:prstGeom>
        </p:spPr>
      </p:pic>
      <p:pic>
        <p:nvPicPr>
          <p:cNvPr id="354" name="layoutShapeInnerChild1">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0" y="0"/>
            <a:ext cx="18288000" cy="10287000"/>
          </a:xfrm>
          <a:prstGeom prst="rect">
            <a:avLst/>
          </a:prstGeom>
        </p:spPr>
      </p:pic>
      <p:pic>
        <p:nvPicPr>
          <p:cNvPr id="35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7391400" y="6086475"/>
            <a:ext cx="2790825" cy="3590925"/>
          </a:xfrm>
          <a:prstGeom prst="rect">
            <a:avLst/>
          </a:prstGeom>
          <a:effectLst>
            <a:outerShdw blurRad="114300" dir="2700000" algn="ctr" rotWithShape="0">
              <a:srgbClr val="000000">
                <a:alpha val="40000"/>
              </a:srgbClr>
            </a:outerShdw>
          </a:effectLst>
        </p:spPr>
      </p:pic>
      <p:pic>
        <p:nvPicPr>
          <p:cNvPr id="356" name="imageNode10cb2bec-b19d-403c-a627-0cd0c1a333f4">
            <a:extLst>
              <a:ext uri="{FF2B5EF4-FFF2-40B4-BE49-F238E27FC236}">
                <a16:creationId xmlns:a16="http://schemas.microsoft.com/office/drawing/2014/main" id="{A8642F66-C0BB-4949-9A9C-024B120A5D52}"/>
              </a:ext>
            </a:extLst>
          </p:cNvPr>
          <p:cNvPicPr preferRelativeResize="0">
            <a:picLocks noChangeAspect="1"/>
          </p:cNvPicPr>
          <p:nvPr/>
        </p:nvPicPr>
        <p:blipFill rotWithShape="1">
          <a:blip r:embed="rId5">
            <a:alphaModFix/>
          </a:blip>
          <a:stretch/>
        </p:blipFill>
        <p:spPr>
          <a:xfrm>
            <a:off x="7391400" y="6086475"/>
            <a:ext cx="2790825" cy="3590925"/>
          </a:xfrm>
          <a:prstGeom prst="rect">
            <a:avLst/>
          </a:prstGeom>
          <a:effectLst>
            <a:outerShdw blurRad="114300" dir="2700000" algn="ctr" rotWithShape="0">
              <a:srgbClr val="000000">
                <a:alpha val="40000"/>
              </a:srgbClr>
            </a:outerShdw>
          </a:effectLst>
        </p:spPr>
      </p:pic>
      <p:sp>
        <p:nvSpPr>
          <p:cNvPr id="357" name="-0">
            <a:extLst>
              <a:ext uri="{FF2B5EF4-FFF2-40B4-BE49-F238E27FC236}">
                <a16:creationId xmlns:a16="http://schemas.microsoft.com/office/drawing/2014/main" id="{111B4A49-B930-4A89-A1CD-6CA2B3D95AED}"/>
              </a:ext>
            </a:extLst>
          </p:cNvPr>
          <p:cNvSpPr txBox="1"/>
          <p:nvPr/>
        </p:nvSpPr>
        <p:spPr>
          <a:xfrm>
            <a:off x="8596789" y="7767638"/>
            <a:ext cx="390525" cy="238125"/>
          </a:xfrm>
          <a:prstGeom prst="rect">
            <a:avLst/>
          </a:prstGeom>
          <a:noFill/>
        </p:spPr>
        <p:txBody>
          <a:bodyPr vertOverflow="clip" horzOverflow="clip" wrap="square" lIns="0" tIns="0" rIns="0" bIns="0" rtlCol="0" anchor="ctr">
            <a:spAutoFit/>
          </a:bodyPr>
          <a:lstStyle/>
          <a:p>
            <a:pPr algn="l"/>
            <a:r>
              <a:rPr lang="en-US" sz="1800" b="1" dirty="0">
                <a:solidFill>
                  <a:srgbClr val="FFFFFF">
                    <a:alpha val="100000"/>
                  </a:srgbClr>
                </a:solidFill>
                <a:latin typeface="Montserrat" panose="00000700000000000000" pitchFamily="2" charset="0"/>
              </a:rPr>
              <a:t>#1</a:t>
            </a:r>
          </a:p>
        </p:txBody>
      </p:sp>
      <p:sp>
        <p:nvSpPr>
          <p:cNvPr id="358" name="Primary Heading-0">
            <a:extLst>
              <a:ext uri="{FF2B5EF4-FFF2-40B4-BE49-F238E27FC236}">
                <a16:creationId xmlns:a16="http://schemas.microsoft.com/office/drawing/2014/main" id="{111B4A49-B930-4A89-A1CD-6CA2B3D95AED}"/>
              </a:ext>
            </a:extLst>
          </p:cNvPr>
          <p:cNvSpPr txBox="1"/>
          <p:nvPr/>
        </p:nvSpPr>
        <p:spPr>
          <a:xfrm>
            <a:off x="7391400" y="609600"/>
            <a:ext cx="2933700" cy="771525"/>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FFFFFF">
                    <a:alpha val="100000"/>
                  </a:srgbClr>
                </a:solidFill>
                <a:latin typeface="Montserrat" panose="00000700000000000000" pitchFamily="2" charset="0"/>
              </a:rPr>
              <a:t>Strong Market Presence for 15 Years</a:t>
            </a:r>
          </a:p>
        </p:txBody>
      </p:sp>
      <p:sp>
        <p:nvSpPr>
          <p:cNvPr id="359" name="Description of a primary heading-0">
            <a:extLst>
              <a:ext uri="{FF2B5EF4-FFF2-40B4-BE49-F238E27FC236}">
                <a16:creationId xmlns:a16="http://schemas.microsoft.com/office/drawing/2014/main" id="{111B4A49-B930-4A89-A1CD-6CA2B3D95AED}"/>
              </a:ext>
            </a:extLst>
          </p:cNvPr>
          <p:cNvSpPr txBox="1"/>
          <p:nvPr/>
        </p:nvSpPr>
        <p:spPr>
          <a:xfrm>
            <a:off x="7324725" y="2276475"/>
            <a:ext cx="2933700" cy="3095625"/>
          </a:xfrm>
          <a:prstGeom prst="rect">
            <a:avLst/>
          </a:prstGeom>
          <a:noFill/>
        </p:spPr>
        <p:txBody>
          <a:bodyPr vertOverflow="clip" horzOverflow="clip" wrap="square" lIns="0" tIns="0" rIns="0" bIns="0" rtlCol="0" anchor="ctr">
            <a:spAutoFit/>
          </a:bodyPr>
          <a:lstStyle/>
          <a:p>
            <a:pPr algn="l">
              <a:lnSpc>
                <a:spcPts val="2700"/>
              </a:lnSpc>
            </a:pPr>
            <a:r>
              <a:rPr lang="en-US" sz="1800" spc="-18" dirty="0">
                <a:solidFill>
                  <a:srgbClr val="FFFFFF">
                    <a:alpha val="100000"/>
                  </a:srgbClr>
                </a:solidFill>
                <a:latin typeface="Montserrat Light" panose="00000700000000000000" pitchFamily="2" charset="0"/>
              </a:rPr>
              <a:t>Our company has established a robust market presence over 15 years, specializing in top-tier automatic doors for lifts, hydraulic power packs, cylinders, and multi-level car parking systems.</a:t>
            </a:r>
          </a:p>
        </p:txBody>
      </p:sp>
      <p:pic>
        <p:nvPicPr>
          <p:cNvPr id="36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10658475" y="609600"/>
            <a:ext cx="9525" cy="9067800"/>
          </a:xfrm>
          <a:prstGeom prst="rect">
            <a:avLst/>
          </a:prstGeom>
        </p:spPr>
      </p:pic>
      <p:pic>
        <p:nvPicPr>
          <p:cNvPr id="361"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11134725" y="6086475"/>
            <a:ext cx="2790825" cy="3590925"/>
          </a:xfrm>
          <a:prstGeom prst="rect">
            <a:avLst/>
          </a:prstGeom>
          <a:effectLst>
            <a:outerShdw blurRad="114300" dir="2700000" algn="ctr" rotWithShape="0">
              <a:srgbClr val="000000">
                <a:alpha val="40000"/>
              </a:srgbClr>
            </a:outerShdw>
          </a:effectLst>
        </p:spPr>
      </p:pic>
      <p:pic>
        <p:nvPicPr>
          <p:cNvPr id="362" name="imageNodebb947006-687f-411d-92c6-8c9bf98f9de5">
            <a:extLst>
              <a:ext uri="{FF2B5EF4-FFF2-40B4-BE49-F238E27FC236}">
                <a16:creationId xmlns:a16="http://schemas.microsoft.com/office/drawing/2014/main" id="{A8642F66-C0BB-4949-9A9C-024B120A5D52}"/>
              </a:ext>
            </a:extLst>
          </p:cNvPr>
          <p:cNvPicPr preferRelativeResize="0">
            <a:picLocks noChangeAspect="1"/>
          </p:cNvPicPr>
          <p:nvPr/>
        </p:nvPicPr>
        <p:blipFill rotWithShape="1">
          <a:blip r:embed="rId7">
            <a:alphaModFix/>
          </a:blip>
          <a:srcRect/>
          <a:stretch/>
        </p:blipFill>
        <p:spPr>
          <a:xfrm>
            <a:off x="11134725" y="6086475"/>
            <a:ext cx="2790825" cy="3590925"/>
          </a:xfrm>
          <a:prstGeom prst="rect">
            <a:avLst/>
          </a:prstGeom>
          <a:effectLst>
            <a:outerShdw blurRad="114300" dir="2700000" algn="ctr" rotWithShape="0">
              <a:srgbClr val="000000">
                <a:alpha val="40000"/>
              </a:srgbClr>
            </a:outerShdw>
          </a:effectLst>
        </p:spPr>
      </p:pic>
      <p:sp>
        <p:nvSpPr>
          <p:cNvPr id="363" name="-1">
            <a:extLst>
              <a:ext uri="{FF2B5EF4-FFF2-40B4-BE49-F238E27FC236}">
                <a16:creationId xmlns:a16="http://schemas.microsoft.com/office/drawing/2014/main" id="{111B4A49-B930-4A89-A1CD-6CA2B3D95AED}"/>
              </a:ext>
            </a:extLst>
          </p:cNvPr>
          <p:cNvSpPr txBox="1"/>
          <p:nvPr/>
        </p:nvSpPr>
        <p:spPr>
          <a:xfrm>
            <a:off x="12320302" y="7767638"/>
            <a:ext cx="438150" cy="238125"/>
          </a:xfrm>
          <a:prstGeom prst="rect">
            <a:avLst/>
          </a:prstGeom>
          <a:noFill/>
        </p:spPr>
        <p:txBody>
          <a:bodyPr vertOverflow="clip" horzOverflow="clip" wrap="square" lIns="0" tIns="0" rIns="0" bIns="0" rtlCol="0" anchor="ctr">
            <a:spAutoFit/>
          </a:bodyPr>
          <a:lstStyle/>
          <a:p>
            <a:pPr algn="l"/>
            <a:r>
              <a:rPr lang="en-US" sz="1800" b="1" dirty="0">
                <a:solidFill>
                  <a:srgbClr val="FFFFFF">
                    <a:alpha val="100000"/>
                  </a:srgbClr>
                </a:solidFill>
                <a:latin typeface="Montserrat" panose="00000700000000000000" pitchFamily="2" charset="0"/>
              </a:rPr>
              <a:t>#2</a:t>
            </a:r>
          </a:p>
        </p:txBody>
      </p:sp>
      <p:sp>
        <p:nvSpPr>
          <p:cNvPr id="364" name="Primary Heading-1">
            <a:extLst>
              <a:ext uri="{FF2B5EF4-FFF2-40B4-BE49-F238E27FC236}">
                <a16:creationId xmlns:a16="http://schemas.microsoft.com/office/drawing/2014/main" id="{111B4A49-B930-4A89-A1CD-6CA2B3D95AED}"/>
              </a:ext>
            </a:extLst>
          </p:cNvPr>
          <p:cNvSpPr txBox="1"/>
          <p:nvPr/>
        </p:nvSpPr>
        <p:spPr>
          <a:xfrm>
            <a:off x="11137964" y="609600"/>
            <a:ext cx="2933700" cy="1524000"/>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F2F1F3">
                    <a:alpha val="100000"/>
                  </a:srgbClr>
                </a:solidFill>
                <a:latin typeface="Montserrat" panose="00000700000000000000" pitchFamily="2" charset="0"/>
              </a:rPr>
              <a:t>Formidable Competition from Multinational Corporations</a:t>
            </a:r>
          </a:p>
        </p:txBody>
      </p:sp>
      <p:sp>
        <p:nvSpPr>
          <p:cNvPr id="365" name="Description of a primary heading-1">
            <a:extLst>
              <a:ext uri="{FF2B5EF4-FFF2-40B4-BE49-F238E27FC236}">
                <a16:creationId xmlns:a16="http://schemas.microsoft.com/office/drawing/2014/main" id="{111B4A49-B930-4A89-A1CD-6CA2B3D95AED}"/>
              </a:ext>
            </a:extLst>
          </p:cNvPr>
          <p:cNvSpPr txBox="1"/>
          <p:nvPr/>
        </p:nvSpPr>
        <p:spPr>
          <a:xfrm>
            <a:off x="11071288" y="2276475"/>
            <a:ext cx="2933700" cy="3438525"/>
          </a:xfrm>
          <a:prstGeom prst="rect">
            <a:avLst/>
          </a:prstGeom>
          <a:noFill/>
        </p:spPr>
        <p:txBody>
          <a:bodyPr vertOverflow="clip" horzOverflow="clip" wrap="square" lIns="0" tIns="0" rIns="0" bIns="0" rtlCol="0" anchor="ctr">
            <a:spAutoFit/>
          </a:bodyPr>
          <a:lstStyle/>
          <a:p>
            <a:pPr algn="l">
              <a:lnSpc>
                <a:spcPts val="2700"/>
              </a:lnSpc>
            </a:pPr>
            <a:r>
              <a:rPr lang="en-US" sz="1800" spc="-18" dirty="0">
                <a:solidFill>
                  <a:srgbClr val="F2F1F3">
                    <a:alpha val="100000"/>
                  </a:srgbClr>
                </a:solidFill>
                <a:latin typeface="Montserrat Light" panose="00000700000000000000" pitchFamily="2" charset="0"/>
              </a:rPr>
              <a:t>Facing tough competition from multinational corporations and traders importing elevator components from Europe and China, posing a significant threat to our market share.</a:t>
            </a:r>
          </a:p>
        </p:txBody>
      </p:sp>
      <p:pic>
        <p:nvPicPr>
          <p:cNvPr id="36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8">
            <a:alphaModFix/>
          </a:blip>
          <a:stretch/>
        </p:blipFill>
        <p:spPr>
          <a:xfrm>
            <a:off x="14401800" y="609600"/>
            <a:ext cx="9525" cy="9067800"/>
          </a:xfrm>
          <a:prstGeom prst="rect">
            <a:avLst/>
          </a:prstGeom>
        </p:spPr>
      </p:pic>
      <p:pic>
        <p:nvPicPr>
          <p:cNvPr id="367"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14887575" y="6086475"/>
            <a:ext cx="2790825" cy="3590925"/>
          </a:xfrm>
          <a:prstGeom prst="rect">
            <a:avLst/>
          </a:prstGeom>
          <a:effectLst>
            <a:outerShdw blurRad="114300" dir="2700000" algn="ctr" rotWithShape="0">
              <a:srgbClr val="000000">
                <a:alpha val="40000"/>
              </a:srgbClr>
            </a:outerShdw>
          </a:effectLst>
        </p:spPr>
      </p:pic>
      <p:pic>
        <p:nvPicPr>
          <p:cNvPr id="368" name="imageNode8fbe0046-be4f-422d-bde8-0a5c687334b9">
            <a:extLst>
              <a:ext uri="{FF2B5EF4-FFF2-40B4-BE49-F238E27FC236}">
                <a16:creationId xmlns:a16="http://schemas.microsoft.com/office/drawing/2014/main" id="{A8642F66-C0BB-4949-9A9C-024B120A5D52}"/>
              </a:ext>
            </a:extLst>
          </p:cNvPr>
          <p:cNvPicPr preferRelativeResize="0">
            <a:picLocks noChangeAspect="1"/>
          </p:cNvPicPr>
          <p:nvPr/>
        </p:nvPicPr>
        <p:blipFill rotWithShape="1">
          <a:blip r:embed="rId9">
            <a:alphaModFix/>
          </a:blip>
          <a:srcRect/>
          <a:stretch/>
        </p:blipFill>
        <p:spPr>
          <a:xfrm>
            <a:off x="14887575" y="6086475"/>
            <a:ext cx="2790825" cy="3590925"/>
          </a:xfrm>
          <a:prstGeom prst="rect">
            <a:avLst/>
          </a:prstGeom>
          <a:effectLst>
            <a:outerShdw blurRad="114300" dir="2700000" algn="ctr" rotWithShape="0">
              <a:srgbClr val="000000">
                <a:alpha val="40000"/>
              </a:srgbClr>
            </a:outerShdw>
          </a:effectLst>
        </p:spPr>
      </p:pic>
      <p:sp>
        <p:nvSpPr>
          <p:cNvPr id="369" name="-2">
            <a:extLst>
              <a:ext uri="{FF2B5EF4-FFF2-40B4-BE49-F238E27FC236}">
                <a16:creationId xmlns:a16="http://schemas.microsoft.com/office/drawing/2014/main" id="{111B4A49-B930-4A89-A1CD-6CA2B3D95AED}"/>
              </a:ext>
            </a:extLst>
          </p:cNvPr>
          <p:cNvSpPr txBox="1"/>
          <p:nvPr/>
        </p:nvSpPr>
        <p:spPr>
          <a:xfrm>
            <a:off x="16066865" y="7767638"/>
            <a:ext cx="438150" cy="238125"/>
          </a:xfrm>
          <a:prstGeom prst="rect">
            <a:avLst/>
          </a:prstGeom>
          <a:noFill/>
        </p:spPr>
        <p:txBody>
          <a:bodyPr vertOverflow="clip" horzOverflow="clip" wrap="square" lIns="0" tIns="0" rIns="0" bIns="0" rtlCol="0" anchor="ctr">
            <a:spAutoFit/>
          </a:bodyPr>
          <a:lstStyle/>
          <a:p>
            <a:pPr algn="l"/>
            <a:r>
              <a:rPr lang="en-US" sz="1800" b="1" dirty="0">
                <a:solidFill>
                  <a:srgbClr val="FFFFFF">
                    <a:alpha val="100000"/>
                  </a:srgbClr>
                </a:solidFill>
                <a:latin typeface="Montserrat" panose="00000700000000000000" pitchFamily="2" charset="0"/>
              </a:rPr>
              <a:t>#3</a:t>
            </a:r>
          </a:p>
        </p:txBody>
      </p:sp>
      <p:sp>
        <p:nvSpPr>
          <p:cNvPr id="370" name="Primary Heading-2">
            <a:extLst>
              <a:ext uri="{FF2B5EF4-FFF2-40B4-BE49-F238E27FC236}">
                <a16:creationId xmlns:a16="http://schemas.microsoft.com/office/drawing/2014/main" id="{111B4A49-B930-4A89-A1CD-6CA2B3D95AED}"/>
              </a:ext>
            </a:extLst>
          </p:cNvPr>
          <p:cNvSpPr txBox="1"/>
          <p:nvPr/>
        </p:nvSpPr>
        <p:spPr>
          <a:xfrm>
            <a:off x="14884527" y="609600"/>
            <a:ext cx="2933700" cy="1143000"/>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EBEAED">
                    <a:alpha val="100000"/>
                  </a:srgbClr>
                </a:solidFill>
                <a:latin typeface="Montserrat" panose="00000700000000000000" pitchFamily="2" charset="0"/>
              </a:rPr>
              <a:t>Leveraging Skilled Technical Team and Design Capabilities</a:t>
            </a:r>
          </a:p>
        </p:txBody>
      </p:sp>
      <p:sp>
        <p:nvSpPr>
          <p:cNvPr id="371" name="Description of a primary heading-2">
            <a:extLst>
              <a:ext uri="{FF2B5EF4-FFF2-40B4-BE49-F238E27FC236}">
                <a16:creationId xmlns:a16="http://schemas.microsoft.com/office/drawing/2014/main" id="{111B4A49-B930-4A89-A1CD-6CA2B3D95AED}"/>
              </a:ext>
            </a:extLst>
          </p:cNvPr>
          <p:cNvSpPr txBox="1"/>
          <p:nvPr/>
        </p:nvSpPr>
        <p:spPr>
          <a:xfrm>
            <a:off x="14817852" y="2276475"/>
            <a:ext cx="2933700" cy="3438525"/>
          </a:xfrm>
          <a:prstGeom prst="rect">
            <a:avLst/>
          </a:prstGeom>
          <a:noFill/>
        </p:spPr>
        <p:txBody>
          <a:bodyPr vertOverflow="clip" horzOverflow="clip" wrap="square" lIns="0" tIns="0" rIns="0" bIns="0" rtlCol="0" anchor="ctr">
            <a:spAutoFit/>
          </a:bodyPr>
          <a:lstStyle/>
          <a:p>
            <a:pPr algn="l">
              <a:lnSpc>
                <a:spcPts val="2700"/>
              </a:lnSpc>
            </a:pPr>
            <a:r>
              <a:rPr lang="en-US" sz="1800" spc="-18" dirty="0">
                <a:solidFill>
                  <a:srgbClr val="EBEAED">
                    <a:alpha val="100000"/>
                  </a:srgbClr>
                </a:solidFill>
                <a:latin typeface="Montserrat Light" panose="00000700000000000000" pitchFamily="2" charset="0"/>
              </a:rPr>
              <a:t>We aim to leverage our highly skilled technical team, robust design capabilities, and advanced manufacturing facility to outpace competition and drive innovation in a saturated market dominated by imports.</a:t>
            </a:r>
          </a:p>
        </p:txBody>
      </p:sp>
      <p:sp>
        <p:nvSpPr>
          <p:cNvPr id="372" name="Click here to edit title-484">
            <a:extLst>
              <a:ext uri="{FF2B5EF4-FFF2-40B4-BE49-F238E27FC236}">
                <a16:creationId xmlns:a16="http://schemas.microsoft.com/office/drawing/2014/main" id="{111B4A49-B930-4A89-A1CD-6CA2B3D95AED}"/>
              </a:ext>
            </a:extLst>
          </p:cNvPr>
          <p:cNvSpPr txBox="1"/>
          <p:nvPr/>
        </p:nvSpPr>
        <p:spPr>
          <a:xfrm>
            <a:off x="1219200" y="4305300"/>
            <a:ext cx="5667375" cy="676275"/>
          </a:xfrm>
          <a:prstGeom prst="rect">
            <a:avLst/>
          </a:prstGeom>
          <a:noFill/>
        </p:spPr>
        <p:txBody>
          <a:bodyPr vertOverflow="clip" horzOverflow="clip" wrap="square" lIns="0" tIns="0" rIns="0" bIns="0" rtlCol="0" anchor="ctr">
            <a:spAutoFit/>
          </a:bodyPr>
          <a:lstStyle/>
          <a:p>
            <a:pPr algn="l">
              <a:lnSpc>
                <a:spcPts val="5250"/>
              </a:lnSpc>
            </a:pPr>
            <a:r>
              <a:rPr lang="en-US" sz="4200" spc="-84" dirty="0">
                <a:solidFill>
                  <a:srgbClr val="FFFFFF">
                    <a:alpha val="100000"/>
                  </a:srgbClr>
                </a:solidFill>
                <a:latin typeface="Montserrat Light" panose="00000700000000000000" pitchFamily="2" charset="0"/>
              </a:rPr>
              <a:t>Problem Statement</a:t>
            </a:r>
          </a:p>
        </p:txBody>
      </p:sp>
      <p:sp>
        <p:nvSpPr>
          <p:cNvPr id="373" name="Click here to edit subtitle-422">
            <a:extLst>
              <a:ext uri="{FF2B5EF4-FFF2-40B4-BE49-F238E27FC236}">
                <a16:creationId xmlns:a16="http://schemas.microsoft.com/office/drawing/2014/main" id="{111B4A49-B930-4A89-A1CD-6CA2B3D95AED}"/>
              </a:ext>
            </a:extLst>
          </p:cNvPr>
          <p:cNvSpPr txBox="1"/>
          <p:nvPr/>
        </p:nvSpPr>
        <p:spPr>
          <a:xfrm>
            <a:off x="1219200" y="5410200"/>
            <a:ext cx="5667375" cy="733425"/>
          </a:xfrm>
          <a:prstGeom prst="rect">
            <a:avLst/>
          </a:prstGeom>
          <a:noFill/>
        </p:spPr>
        <p:txBody>
          <a:bodyPr vertOverflow="clip" horzOverflow="clip" wrap="square" lIns="0" tIns="0" rIns="0" bIns="0" rtlCol="0" anchor="ctr">
            <a:spAutoFit/>
          </a:bodyPr>
          <a:lstStyle/>
          <a:p>
            <a:pPr algn="l">
              <a:lnSpc>
                <a:spcPts val="2919"/>
              </a:lnSpc>
            </a:pPr>
            <a:r>
              <a:rPr lang="en-US" sz="2100" spc="-21" dirty="0">
                <a:solidFill>
                  <a:srgbClr val="FFFFFF">
                    <a:alpha val="100000"/>
                  </a:srgbClr>
                </a:solidFill>
                <a:latin typeface="Montserrat Light" panose="00000700000000000000" pitchFamily="2" charset="0"/>
              </a:rPr>
              <a:t>Challenges Faced by Our Manufacturing Company in the Elevator Industry</a:t>
            </a:r>
          </a:p>
        </p:txBody>
      </p:sp>
      <p:sp>
        <p:nvSpPr>
          <p:cNvPr id="374" name="Click here to edit label-419">
            <a:extLst>
              <a:ext uri="{FF2B5EF4-FFF2-40B4-BE49-F238E27FC236}">
                <a16:creationId xmlns:a16="http://schemas.microsoft.com/office/drawing/2014/main" id="{111B4A49-B930-4A89-A1CD-6CA2B3D95AED}"/>
              </a:ext>
            </a:extLst>
          </p:cNvPr>
          <p:cNvSpPr txBox="1"/>
          <p:nvPr/>
        </p:nvSpPr>
        <p:spPr>
          <a:xfrm>
            <a:off x="1219200" y="3962400"/>
            <a:ext cx="5667375" cy="295275"/>
          </a:xfrm>
          <a:prstGeom prst="rect">
            <a:avLst/>
          </a:prstGeom>
          <a:noFill/>
        </p:spPr>
        <p:txBody>
          <a:bodyPr vertOverflow="clip" horzOverflow="clip" wrap="square" lIns="0" tIns="0" rIns="0" bIns="0" rtlCol="0" anchor="ctr">
            <a:spAutoFit/>
          </a:bodyPr>
          <a:lstStyle/>
          <a:p>
            <a:pPr algn="l">
              <a:lnSpc>
                <a:spcPts val="2196"/>
              </a:lnSpc>
            </a:pPr>
            <a:r>
              <a:rPr lang="en-US" sz="1800" spc="990" dirty="0">
                <a:solidFill>
                  <a:srgbClr val="FFFFFF">
                    <a:alpha val="100000"/>
                  </a:srgbClr>
                </a:solidFill>
                <a:latin typeface="Montserrat" panose="00000700000000000000" pitchFamily="2" charset="0"/>
              </a:rPr>
              <a:t>INDUSTRY CHALLENGES AND COMPETITIVE LANDSCAPE</a:t>
            </a:r>
          </a:p>
        </p:txBody>
      </p:sp>
      <p:pic>
        <p:nvPicPr>
          <p:cNvPr id="37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0">
            <a:alphaModFix/>
          </a:blip>
          <a:stretch/>
        </p:blipFill>
        <p:spPr>
          <a:xfrm>
            <a:off x="590550" y="3962400"/>
            <a:ext cx="19050" cy="2171700"/>
          </a:xfrm>
          <a:prstGeom prst="rect">
            <a:avLst/>
          </a:prstGeom>
        </p:spPr>
      </p:pic>
    </p:spTree>
    <p:extLst>
      <p:ext uri="{BB962C8B-B14F-4D97-AF65-F5344CB8AC3E}">
        <p14:creationId xmlns:p14="http://schemas.microsoft.com/office/powerpoint/2010/main" val="36480479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0" y="0"/>
            <a:ext cx="18288000" cy="10287000"/>
          </a:xfrm>
          <a:prstGeom prst="rect">
            <a:avLst/>
          </a:prstGeom>
        </p:spPr>
      </p:pic>
      <p:pic>
        <p:nvPicPr>
          <p:cNvPr id="379" name="layoutShapeInnerChild1">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0" y="0"/>
            <a:ext cx="18288000" cy="10287000"/>
          </a:xfrm>
          <a:prstGeom prst="rect">
            <a:avLst/>
          </a:prstGeom>
        </p:spPr>
      </p:pic>
      <p:pic>
        <p:nvPicPr>
          <p:cNvPr id="38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609600" y="3819525"/>
            <a:ext cx="1143000" cy="1143000"/>
          </a:xfrm>
          <a:prstGeom prst="rect">
            <a:avLst/>
          </a:prstGeom>
        </p:spPr>
      </p:pic>
      <p:pic>
        <p:nvPicPr>
          <p:cNvPr id="381" name="iconNode09897b9a-c023-4e10-9efe-37bd929300f2">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extLst>
              <a:ext uri="{30CF7955-4157-4C81-9236-F3BCB02DB40F}">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895350" y="4105275"/>
            <a:ext cx="571500" cy="571500"/>
          </a:xfrm>
          <a:prstGeom prst="rect">
            <a:avLst/>
          </a:prstGeom>
        </p:spPr>
      </p:pic>
      <p:sp>
        <p:nvSpPr>
          <p:cNvPr id="382" name="Primary Heading-0">
            <a:extLst>
              <a:ext uri="{FF2B5EF4-FFF2-40B4-BE49-F238E27FC236}">
                <a16:creationId xmlns:a16="http://schemas.microsoft.com/office/drawing/2014/main" id="{111B4A49-B930-4A89-A1CD-6CA2B3D95AED}"/>
              </a:ext>
            </a:extLst>
          </p:cNvPr>
          <p:cNvSpPr txBox="1"/>
          <p:nvPr/>
        </p:nvSpPr>
        <p:spPr>
          <a:xfrm>
            <a:off x="609600" y="5572125"/>
            <a:ext cx="2790825" cy="752475"/>
          </a:xfrm>
          <a:prstGeom prst="rect">
            <a:avLst/>
          </a:prstGeom>
          <a:noFill/>
        </p:spPr>
        <p:txBody>
          <a:bodyPr vertOverflow="clip" horzOverflow="clip" wrap="square" lIns="0" tIns="0" rIns="0" bIns="0" rtlCol="0" anchor="ctr">
            <a:spAutoFit/>
          </a:bodyPr>
          <a:lstStyle/>
          <a:p>
            <a:pPr algn="l">
              <a:lnSpc>
                <a:spcPts val="2919"/>
              </a:lnSpc>
            </a:pPr>
            <a:r>
              <a:rPr lang="en-US" sz="2100" spc="-21" dirty="0">
                <a:solidFill>
                  <a:srgbClr val="FFFFFF">
                    <a:alpha val="100000"/>
                  </a:srgbClr>
                </a:solidFill>
                <a:latin typeface="Montserrat Light" panose="00000700000000000000" pitchFamily="2" charset="0"/>
              </a:rPr>
              <a:t>Hydraulic Cylinders and Power Packs</a:t>
            </a:r>
          </a:p>
        </p:txBody>
      </p:sp>
      <p:sp>
        <p:nvSpPr>
          <p:cNvPr id="383" name="Description of a primary heading-0">
            <a:extLst>
              <a:ext uri="{FF2B5EF4-FFF2-40B4-BE49-F238E27FC236}">
                <a16:creationId xmlns:a16="http://schemas.microsoft.com/office/drawing/2014/main" id="{111B4A49-B930-4A89-A1CD-6CA2B3D95AED}"/>
              </a:ext>
            </a:extLst>
          </p:cNvPr>
          <p:cNvSpPr txBox="1"/>
          <p:nvPr/>
        </p:nvSpPr>
        <p:spPr>
          <a:xfrm>
            <a:off x="542925" y="6465760"/>
            <a:ext cx="2790825" cy="1724025"/>
          </a:xfrm>
          <a:prstGeom prst="rect">
            <a:avLst/>
          </a:prstGeom>
          <a:noFill/>
        </p:spPr>
        <p:txBody>
          <a:bodyPr vertOverflow="clip" horzOverflow="clip" wrap="square" lIns="0" tIns="0" rIns="0" bIns="0" rtlCol="0" anchor="ctr">
            <a:spAutoFit/>
          </a:bodyPr>
          <a:lstStyle/>
          <a:p>
            <a:pPr algn="l">
              <a:lnSpc>
                <a:spcPts val="2700"/>
              </a:lnSpc>
            </a:pPr>
            <a:r>
              <a:rPr lang="en-US" sz="1800" spc="-18" dirty="0">
                <a:solidFill>
                  <a:srgbClr val="FFFFFF">
                    <a:alpha val="100000"/>
                  </a:srgbClr>
                </a:solidFill>
                <a:latin typeface="Montserrat Light" panose="00000700000000000000" pitchFamily="2" charset="0"/>
              </a:rPr>
              <a:t>Key components for elevators providing necessary force and control for efficient vertical movement.</a:t>
            </a:r>
          </a:p>
        </p:txBody>
      </p:sp>
      <p:pic>
        <p:nvPicPr>
          <p:cNvPr id="38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3733800" y="3819525"/>
            <a:ext cx="9525" cy="4705350"/>
          </a:xfrm>
          <a:prstGeom prst="rect">
            <a:avLst/>
          </a:prstGeom>
        </p:spPr>
      </p:pic>
      <p:pic>
        <p:nvPicPr>
          <p:cNvPr id="38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4210050" y="3819525"/>
            <a:ext cx="1143000" cy="1143000"/>
          </a:xfrm>
          <a:prstGeom prst="rect">
            <a:avLst/>
          </a:prstGeom>
        </p:spPr>
      </p:pic>
      <p:pic>
        <p:nvPicPr>
          <p:cNvPr id="386" name="iconNodea3d46224-63f4-463c-8734-ec4120fb99c5">
            <a:extLst>
              <a:ext uri="{FF2B5EF4-FFF2-40B4-BE49-F238E27FC236}">
                <a16:creationId xmlns:a16="http://schemas.microsoft.com/office/drawing/2014/main" id="{A8642F66-C0BB-4949-9A9C-024B120A5D52}"/>
              </a:ext>
            </a:extLst>
          </p:cNvPr>
          <p:cNvPicPr>
            <a:picLocks noChangeAspect="1"/>
          </p:cNvPicPr>
          <p:nvPr/>
        </p:nvPicPr>
        <p:blipFill rotWithShape="1">
          <a:blip r:embed="rId8">
            <a:alphaModFix/>
            <a:extLst>
              <a:ext uri="{AB085B92-A25D-4864-B7EB-5C143D2E2F2D}">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4495800" y="4105275"/>
            <a:ext cx="571500" cy="571500"/>
          </a:xfrm>
          <a:prstGeom prst="rect">
            <a:avLst/>
          </a:prstGeom>
        </p:spPr>
      </p:pic>
      <p:sp>
        <p:nvSpPr>
          <p:cNvPr id="387" name="Primary Heading-1">
            <a:extLst>
              <a:ext uri="{FF2B5EF4-FFF2-40B4-BE49-F238E27FC236}">
                <a16:creationId xmlns:a16="http://schemas.microsoft.com/office/drawing/2014/main" id="{111B4A49-B930-4A89-A1CD-6CA2B3D95AED}"/>
              </a:ext>
            </a:extLst>
          </p:cNvPr>
          <p:cNvSpPr txBox="1"/>
          <p:nvPr/>
        </p:nvSpPr>
        <p:spPr>
          <a:xfrm>
            <a:off x="4213860" y="5572125"/>
            <a:ext cx="2790825" cy="752475"/>
          </a:xfrm>
          <a:prstGeom prst="rect">
            <a:avLst/>
          </a:prstGeom>
          <a:noFill/>
        </p:spPr>
        <p:txBody>
          <a:bodyPr vertOverflow="clip" horzOverflow="clip" wrap="square" lIns="0" tIns="0" rIns="0" bIns="0" rtlCol="0" anchor="ctr">
            <a:spAutoFit/>
          </a:bodyPr>
          <a:lstStyle/>
          <a:p>
            <a:pPr algn="l">
              <a:lnSpc>
                <a:spcPts val="2919"/>
              </a:lnSpc>
            </a:pPr>
            <a:r>
              <a:rPr lang="en-US" sz="2100" spc="-21" dirty="0">
                <a:solidFill>
                  <a:srgbClr val="F2F1F3">
                    <a:alpha val="100000"/>
                  </a:srgbClr>
                </a:solidFill>
                <a:latin typeface="Montserrat Light" panose="00000700000000000000" pitchFamily="2" charset="0"/>
              </a:rPr>
              <a:t>Automatic Doors for Elevators</a:t>
            </a:r>
          </a:p>
        </p:txBody>
      </p:sp>
      <p:sp>
        <p:nvSpPr>
          <p:cNvPr id="388" name="Description of a primary heading-1">
            <a:extLst>
              <a:ext uri="{FF2B5EF4-FFF2-40B4-BE49-F238E27FC236}">
                <a16:creationId xmlns:a16="http://schemas.microsoft.com/office/drawing/2014/main" id="{111B4A49-B930-4A89-A1CD-6CA2B3D95AED}"/>
              </a:ext>
            </a:extLst>
          </p:cNvPr>
          <p:cNvSpPr txBox="1"/>
          <p:nvPr/>
        </p:nvSpPr>
        <p:spPr>
          <a:xfrm>
            <a:off x="4147185" y="6465760"/>
            <a:ext cx="2790825" cy="2066925"/>
          </a:xfrm>
          <a:prstGeom prst="rect">
            <a:avLst/>
          </a:prstGeom>
          <a:noFill/>
        </p:spPr>
        <p:txBody>
          <a:bodyPr vertOverflow="clip" horzOverflow="clip" wrap="square" lIns="0" tIns="0" rIns="0" bIns="0" rtlCol="0" anchor="ctr">
            <a:spAutoFit/>
          </a:bodyPr>
          <a:lstStyle/>
          <a:p>
            <a:pPr algn="l">
              <a:lnSpc>
                <a:spcPts val="2700"/>
              </a:lnSpc>
            </a:pPr>
            <a:r>
              <a:rPr lang="en-US" sz="1800" spc="-18" dirty="0">
                <a:solidFill>
                  <a:srgbClr val="F2F1F3">
                    <a:alpha val="100000"/>
                  </a:srgbClr>
                </a:solidFill>
                <a:latin typeface="Montserrat Light" panose="00000700000000000000" pitchFamily="2" charset="0"/>
              </a:rPr>
              <a:t>Enhancing safety and convenience, these doors offer seamless automatic operation for both residential and commercial buildings.</a:t>
            </a:r>
          </a:p>
        </p:txBody>
      </p:sp>
      <p:pic>
        <p:nvPicPr>
          <p:cNvPr id="38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9">
            <a:alphaModFix/>
          </a:blip>
          <a:stretch/>
        </p:blipFill>
        <p:spPr>
          <a:xfrm>
            <a:off x="7334250" y="3819525"/>
            <a:ext cx="9525" cy="4705350"/>
          </a:xfrm>
          <a:prstGeom prst="rect">
            <a:avLst/>
          </a:prstGeom>
        </p:spPr>
      </p:pic>
      <p:pic>
        <p:nvPicPr>
          <p:cNvPr id="39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7820025" y="3819525"/>
            <a:ext cx="1143000" cy="1143000"/>
          </a:xfrm>
          <a:prstGeom prst="rect">
            <a:avLst/>
          </a:prstGeom>
        </p:spPr>
      </p:pic>
      <p:pic>
        <p:nvPicPr>
          <p:cNvPr id="391" name="iconNodefd011f6b-e4b7-474e-aa8d-94d4652060b8">
            <a:extLst>
              <a:ext uri="{FF2B5EF4-FFF2-40B4-BE49-F238E27FC236}">
                <a16:creationId xmlns:a16="http://schemas.microsoft.com/office/drawing/2014/main" id="{A8642F66-C0BB-4949-9A9C-024B120A5D52}"/>
              </a:ext>
            </a:extLst>
          </p:cNvPr>
          <p:cNvPicPr>
            <a:picLocks noChangeAspect="1"/>
          </p:cNvPicPr>
          <p:nvPr/>
        </p:nvPicPr>
        <p:blipFill rotWithShape="1">
          <a:blip r:embed="rId10">
            <a:alphaModFix/>
            <a:extLst>
              <a:ext uri="{BA5B00F1-5350-4D5D-A9C1-0A4875FDD814}">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8105775" y="4105275"/>
            <a:ext cx="571500" cy="571500"/>
          </a:xfrm>
          <a:prstGeom prst="rect">
            <a:avLst/>
          </a:prstGeom>
        </p:spPr>
      </p:pic>
      <p:sp>
        <p:nvSpPr>
          <p:cNvPr id="392" name="Primary Heading-2">
            <a:extLst>
              <a:ext uri="{FF2B5EF4-FFF2-40B4-BE49-F238E27FC236}">
                <a16:creationId xmlns:a16="http://schemas.microsoft.com/office/drawing/2014/main" id="{111B4A49-B930-4A89-A1CD-6CA2B3D95AED}"/>
              </a:ext>
            </a:extLst>
          </p:cNvPr>
          <p:cNvSpPr txBox="1"/>
          <p:nvPr/>
        </p:nvSpPr>
        <p:spPr>
          <a:xfrm>
            <a:off x="7818120" y="5572125"/>
            <a:ext cx="2790825" cy="752475"/>
          </a:xfrm>
          <a:prstGeom prst="rect">
            <a:avLst/>
          </a:prstGeom>
          <a:noFill/>
        </p:spPr>
        <p:txBody>
          <a:bodyPr vertOverflow="clip" horzOverflow="clip" wrap="square" lIns="0" tIns="0" rIns="0" bIns="0" rtlCol="0" anchor="ctr">
            <a:spAutoFit/>
          </a:bodyPr>
          <a:lstStyle/>
          <a:p>
            <a:pPr algn="l">
              <a:lnSpc>
                <a:spcPts val="2919"/>
              </a:lnSpc>
            </a:pPr>
            <a:r>
              <a:rPr lang="en-US" sz="2100" spc="-21" dirty="0">
                <a:solidFill>
                  <a:srgbClr val="EBEAED">
                    <a:alpha val="100000"/>
                  </a:srgbClr>
                </a:solidFill>
                <a:latin typeface="Montserrat Light" panose="00000700000000000000" pitchFamily="2" charset="0"/>
              </a:rPr>
              <a:t>Vertical Telescopic Doors</a:t>
            </a:r>
          </a:p>
        </p:txBody>
      </p:sp>
      <p:sp>
        <p:nvSpPr>
          <p:cNvPr id="393" name="Description of a primary heading-2">
            <a:extLst>
              <a:ext uri="{FF2B5EF4-FFF2-40B4-BE49-F238E27FC236}">
                <a16:creationId xmlns:a16="http://schemas.microsoft.com/office/drawing/2014/main" id="{111B4A49-B930-4A89-A1CD-6CA2B3D95AED}"/>
              </a:ext>
            </a:extLst>
          </p:cNvPr>
          <p:cNvSpPr txBox="1"/>
          <p:nvPr/>
        </p:nvSpPr>
        <p:spPr>
          <a:xfrm>
            <a:off x="7751445" y="6465760"/>
            <a:ext cx="2790825" cy="2066925"/>
          </a:xfrm>
          <a:prstGeom prst="rect">
            <a:avLst/>
          </a:prstGeom>
          <a:noFill/>
        </p:spPr>
        <p:txBody>
          <a:bodyPr vertOverflow="clip" horzOverflow="clip" wrap="square" lIns="0" tIns="0" rIns="0" bIns="0" rtlCol="0" anchor="ctr">
            <a:spAutoFit/>
          </a:bodyPr>
          <a:lstStyle/>
          <a:p>
            <a:pPr algn="l">
              <a:lnSpc>
                <a:spcPts val="2700"/>
              </a:lnSpc>
            </a:pPr>
            <a:r>
              <a:rPr lang="en-US" sz="1800" spc="-18" dirty="0">
                <a:solidFill>
                  <a:srgbClr val="EBEAED">
                    <a:alpha val="100000"/>
                  </a:srgbClr>
                </a:solidFill>
                <a:latin typeface="Montserrat Light" panose="00000700000000000000" pitchFamily="2" charset="0"/>
              </a:rPr>
              <a:t>Maximizing space efficiency, these doors are ideal for car and goods elevators, ensuring safe loading and unloading.</a:t>
            </a:r>
          </a:p>
        </p:txBody>
      </p:sp>
      <p:pic>
        <p:nvPicPr>
          <p:cNvPr id="39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1">
            <a:alphaModFix/>
          </a:blip>
          <a:stretch/>
        </p:blipFill>
        <p:spPr>
          <a:xfrm>
            <a:off x="10944225" y="3819525"/>
            <a:ext cx="9525" cy="4705350"/>
          </a:xfrm>
          <a:prstGeom prst="rect">
            <a:avLst/>
          </a:prstGeom>
        </p:spPr>
      </p:pic>
      <p:pic>
        <p:nvPicPr>
          <p:cNvPr id="39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2">
            <a:alphaModFix/>
          </a:blip>
          <a:stretch/>
        </p:blipFill>
        <p:spPr>
          <a:xfrm>
            <a:off x="11420475" y="3819525"/>
            <a:ext cx="1143000" cy="1143000"/>
          </a:xfrm>
          <a:prstGeom prst="rect">
            <a:avLst/>
          </a:prstGeom>
        </p:spPr>
      </p:pic>
      <p:pic>
        <p:nvPicPr>
          <p:cNvPr id="396" name="iconNode9153d35f-cf39-4321-96cf-ef756492a6de">
            <a:extLst>
              <a:ext uri="{FF2B5EF4-FFF2-40B4-BE49-F238E27FC236}">
                <a16:creationId xmlns:a16="http://schemas.microsoft.com/office/drawing/2014/main" id="{A8642F66-C0BB-4949-9A9C-024B120A5D52}"/>
              </a:ext>
            </a:extLst>
          </p:cNvPr>
          <p:cNvPicPr>
            <a:picLocks noChangeAspect="1"/>
          </p:cNvPicPr>
          <p:nvPr/>
        </p:nvPicPr>
        <p:blipFill rotWithShape="1">
          <a:blip r:embed="rId13">
            <a:alphaModFix/>
            <a:extLst>
              <a:ext uri="{CB3F158F-0019-4F59-AF63-D8D04BFD9A1F}">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11706225" y="4105275"/>
            <a:ext cx="571500" cy="571500"/>
          </a:xfrm>
          <a:prstGeom prst="rect">
            <a:avLst/>
          </a:prstGeom>
        </p:spPr>
      </p:pic>
      <p:sp>
        <p:nvSpPr>
          <p:cNvPr id="397" name="Primary Heading-3">
            <a:extLst>
              <a:ext uri="{FF2B5EF4-FFF2-40B4-BE49-F238E27FC236}">
                <a16:creationId xmlns:a16="http://schemas.microsoft.com/office/drawing/2014/main" id="{111B4A49-B930-4A89-A1CD-6CA2B3D95AED}"/>
              </a:ext>
            </a:extLst>
          </p:cNvPr>
          <p:cNvSpPr txBox="1"/>
          <p:nvPr/>
        </p:nvSpPr>
        <p:spPr>
          <a:xfrm>
            <a:off x="11422380" y="5775623"/>
            <a:ext cx="2790825" cy="345479"/>
          </a:xfrm>
          <a:prstGeom prst="rect">
            <a:avLst/>
          </a:prstGeom>
          <a:noFill/>
        </p:spPr>
        <p:txBody>
          <a:bodyPr vertOverflow="clip" horzOverflow="clip" wrap="square" lIns="0" tIns="0" rIns="0" bIns="0" rtlCol="0" anchor="ctr">
            <a:spAutoFit/>
          </a:bodyPr>
          <a:lstStyle/>
          <a:p>
            <a:pPr algn="l">
              <a:lnSpc>
                <a:spcPts val="2919"/>
              </a:lnSpc>
            </a:pPr>
            <a:r>
              <a:rPr lang="en-US" sz="2100" spc="-21" dirty="0">
                <a:solidFill>
                  <a:srgbClr val="E5E3E7">
                    <a:alpha val="100000"/>
                  </a:srgbClr>
                </a:solidFill>
                <a:latin typeface="Montserrat Light" panose="00000700000000000000" pitchFamily="2" charset="0"/>
              </a:rPr>
              <a:t>Car Parking Systems</a:t>
            </a:r>
          </a:p>
        </p:txBody>
      </p:sp>
      <p:sp>
        <p:nvSpPr>
          <p:cNvPr id="398" name="Description of a primary heading-3">
            <a:extLst>
              <a:ext uri="{FF2B5EF4-FFF2-40B4-BE49-F238E27FC236}">
                <a16:creationId xmlns:a16="http://schemas.microsoft.com/office/drawing/2014/main" id="{111B4A49-B930-4A89-A1CD-6CA2B3D95AED}"/>
              </a:ext>
            </a:extLst>
          </p:cNvPr>
          <p:cNvSpPr txBox="1"/>
          <p:nvPr/>
        </p:nvSpPr>
        <p:spPr>
          <a:xfrm>
            <a:off x="11355705" y="6476899"/>
            <a:ext cx="2790825" cy="1701748"/>
          </a:xfrm>
          <a:prstGeom prst="rect">
            <a:avLst/>
          </a:prstGeom>
          <a:noFill/>
        </p:spPr>
        <p:txBody>
          <a:bodyPr vertOverflow="clip" horzOverflow="clip" wrap="square" lIns="0" tIns="0" rIns="0" bIns="0" rtlCol="0" anchor="ctr">
            <a:spAutoFit/>
          </a:bodyPr>
          <a:lstStyle/>
          <a:p>
            <a:pPr algn="l">
              <a:lnSpc>
                <a:spcPts val="2700"/>
              </a:lnSpc>
            </a:pPr>
            <a:r>
              <a:rPr lang="en-US" sz="1800" spc="-18" dirty="0">
                <a:solidFill>
                  <a:srgbClr val="E5E3E7">
                    <a:alpha val="100000"/>
                  </a:srgbClr>
                </a:solidFill>
                <a:latin typeface="Montserrat Light" panose="00000700000000000000" pitchFamily="2" charset="0"/>
              </a:rPr>
              <a:t>Crafted for safety, durability and reliability, these </a:t>
            </a:r>
            <a:r>
              <a:rPr lang="en-US" spc="-18" dirty="0">
                <a:solidFill>
                  <a:srgbClr val="E5E3E7">
                    <a:alpha val="100000"/>
                  </a:srgbClr>
                </a:solidFill>
                <a:latin typeface="Montserrat Light" panose="00000700000000000000" pitchFamily="2" charset="0"/>
              </a:rPr>
              <a:t>multi-level parking systems are budget friendly </a:t>
            </a:r>
            <a:endParaRPr lang="en-US" sz="1800" spc="-18" dirty="0">
              <a:solidFill>
                <a:srgbClr val="E5E3E7">
                  <a:alpha val="100000"/>
                </a:srgbClr>
              </a:solidFill>
              <a:latin typeface="Montserrat Light" panose="00000700000000000000" pitchFamily="2" charset="0"/>
            </a:endParaRPr>
          </a:p>
        </p:txBody>
      </p:sp>
      <p:pic>
        <p:nvPicPr>
          <p:cNvPr id="39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4">
            <a:alphaModFix/>
          </a:blip>
          <a:stretch/>
        </p:blipFill>
        <p:spPr>
          <a:xfrm>
            <a:off x="14544675" y="3819525"/>
            <a:ext cx="9525" cy="4705350"/>
          </a:xfrm>
          <a:prstGeom prst="rect">
            <a:avLst/>
          </a:prstGeom>
        </p:spPr>
      </p:pic>
      <p:pic>
        <p:nvPicPr>
          <p:cNvPr id="40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15030450" y="3819525"/>
            <a:ext cx="1143000" cy="1143000"/>
          </a:xfrm>
          <a:prstGeom prst="rect">
            <a:avLst/>
          </a:prstGeom>
        </p:spPr>
      </p:pic>
      <p:pic>
        <p:nvPicPr>
          <p:cNvPr id="401" name="iconNodec4c772b4-2041-409f-bbc4-1d8e87c5648a">
            <a:extLst>
              <a:ext uri="{FF2B5EF4-FFF2-40B4-BE49-F238E27FC236}">
                <a16:creationId xmlns:a16="http://schemas.microsoft.com/office/drawing/2014/main" id="{A8642F66-C0BB-4949-9A9C-024B120A5D52}"/>
              </a:ext>
            </a:extLst>
          </p:cNvPr>
          <p:cNvPicPr>
            <a:picLocks noChangeAspect="1"/>
          </p:cNvPicPr>
          <p:nvPr/>
        </p:nvPicPr>
        <p:blipFill rotWithShape="1">
          <a:blip r:embed="rId15">
            <a:alphaModFix/>
            <a:extLst>
              <a:ext uri="{691C81C1-F416-443F-8537-890439D13A41}">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15316200" y="4105275"/>
            <a:ext cx="571500" cy="571500"/>
          </a:xfrm>
          <a:prstGeom prst="rect">
            <a:avLst/>
          </a:prstGeom>
        </p:spPr>
      </p:pic>
      <p:sp>
        <p:nvSpPr>
          <p:cNvPr id="402" name="Primary Heading-4">
            <a:extLst>
              <a:ext uri="{FF2B5EF4-FFF2-40B4-BE49-F238E27FC236}">
                <a16:creationId xmlns:a16="http://schemas.microsoft.com/office/drawing/2014/main" id="{111B4A49-B930-4A89-A1CD-6CA2B3D95AED}"/>
              </a:ext>
            </a:extLst>
          </p:cNvPr>
          <p:cNvSpPr txBox="1"/>
          <p:nvPr/>
        </p:nvSpPr>
        <p:spPr>
          <a:xfrm>
            <a:off x="15026640" y="5775623"/>
            <a:ext cx="2790825" cy="345479"/>
          </a:xfrm>
          <a:prstGeom prst="rect">
            <a:avLst/>
          </a:prstGeom>
          <a:noFill/>
        </p:spPr>
        <p:txBody>
          <a:bodyPr vertOverflow="clip" horzOverflow="clip" wrap="square" lIns="0" tIns="0" rIns="0" bIns="0" rtlCol="0" anchor="ctr">
            <a:spAutoFit/>
          </a:bodyPr>
          <a:lstStyle/>
          <a:p>
            <a:pPr algn="l">
              <a:lnSpc>
                <a:spcPts val="2919"/>
              </a:lnSpc>
            </a:pPr>
            <a:r>
              <a:rPr lang="en-US" sz="2100" spc="-21" dirty="0">
                <a:solidFill>
                  <a:srgbClr val="DEDCE1">
                    <a:alpha val="100000"/>
                  </a:srgbClr>
                </a:solidFill>
                <a:latin typeface="Montserrat Light" panose="00000700000000000000" pitchFamily="2" charset="0"/>
              </a:rPr>
              <a:t>Hydraulic Cylinders</a:t>
            </a:r>
          </a:p>
        </p:txBody>
      </p:sp>
      <p:sp>
        <p:nvSpPr>
          <p:cNvPr id="403" name="Description of a primary heading-4">
            <a:extLst>
              <a:ext uri="{FF2B5EF4-FFF2-40B4-BE49-F238E27FC236}">
                <a16:creationId xmlns:a16="http://schemas.microsoft.com/office/drawing/2014/main" id="{111B4A49-B930-4A89-A1CD-6CA2B3D95AED}"/>
              </a:ext>
            </a:extLst>
          </p:cNvPr>
          <p:cNvSpPr txBox="1"/>
          <p:nvPr/>
        </p:nvSpPr>
        <p:spPr>
          <a:xfrm>
            <a:off x="14959965" y="6475226"/>
            <a:ext cx="2790825" cy="2047997"/>
          </a:xfrm>
          <a:prstGeom prst="rect">
            <a:avLst/>
          </a:prstGeom>
          <a:noFill/>
        </p:spPr>
        <p:txBody>
          <a:bodyPr vertOverflow="clip" horzOverflow="clip" wrap="square" lIns="0" tIns="0" rIns="0" bIns="0" rtlCol="0" anchor="ctr">
            <a:spAutoFit/>
          </a:bodyPr>
          <a:lstStyle/>
          <a:p>
            <a:pPr algn="l">
              <a:lnSpc>
                <a:spcPts val="2700"/>
              </a:lnSpc>
            </a:pPr>
            <a:r>
              <a:rPr lang="en-US" sz="1800" spc="-18" dirty="0">
                <a:solidFill>
                  <a:srgbClr val="DEDCE1">
                    <a:alpha val="100000"/>
                  </a:srgbClr>
                </a:solidFill>
                <a:latin typeface="Montserrat Light" panose="00000700000000000000" pitchFamily="2" charset="0"/>
              </a:rPr>
              <a:t>Structural backbone for any hydraulic lift, these are sold to other integrators. Has a very high potential for global markets as well</a:t>
            </a:r>
          </a:p>
        </p:txBody>
      </p:sp>
      <p:sp>
        <p:nvSpPr>
          <p:cNvPr id="404" name="Click here to edit title-406">
            <a:extLst>
              <a:ext uri="{FF2B5EF4-FFF2-40B4-BE49-F238E27FC236}">
                <a16:creationId xmlns:a16="http://schemas.microsoft.com/office/drawing/2014/main" id="{111B4A49-B930-4A89-A1CD-6CA2B3D95AED}"/>
              </a:ext>
            </a:extLst>
          </p:cNvPr>
          <p:cNvSpPr txBox="1"/>
          <p:nvPr/>
        </p:nvSpPr>
        <p:spPr>
          <a:xfrm>
            <a:off x="1219200" y="940660"/>
            <a:ext cx="15992475" cy="642805"/>
          </a:xfrm>
          <a:prstGeom prst="rect">
            <a:avLst/>
          </a:prstGeom>
          <a:noFill/>
        </p:spPr>
        <p:txBody>
          <a:bodyPr vertOverflow="clip" horzOverflow="clip" wrap="square" lIns="0" tIns="0" rIns="0" bIns="0" rtlCol="0" anchor="ctr">
            <a:spAutoFit/>
          </a:bodyPr>
          <a:lstStyle/>
          <a:p>
            <a:pPr algn="l">
              <a:lnSpc>
                <a:spcPts val="5250"/>
              </a:lnSpc>
            </a:pPr>
            <a:r>
              <a:rPr lang="en-US" sz="4200" spc="-84" dirty="0">
                <a:solidFill>
                  <a:srgbClr val="FFFFFF">
                    <a:alpha val="100000"/>
                  </a:srgbClr>
                </a:solidFill>
                <a:latin typeface="Montserrat Light" panose="00000700000000000000" pitchFamily="2" charset="0"/>
              </a:rPr>
              <a:t>Products – 2021-2025</a:t>
            </a:r>
          </a:p>
        </p:txBody>
      </p:sp>
      <p:sp>
        <p:nvSpPr>
          <p:cNvPr id="405" name="Click here to edit subtitle-461">
            <a:extLst>
              <a:ext uri="{FF2B5EF4-FFF2-40B4-BE49-F238E27FC236}">
                <a16:creationId xmlns:a16="http://schemas.microsoft.com/office/drawing/2014/main" id="{111B4A49-B930-4A89-A1CD-6CA2B3D95AED}"/>
              </a:ext>
            </a:extLst>
          </p:cNvPr>
          <p:cNvSpPr txBox="1"/>
          <p:nvPr/>
        </p:nvSpPr>
        <p:spPr>
          <a:xfrm>
            <a:off x="1219200" y="1790700"/>
            <a:ext cx="15992475" cy="381000"/>
          </a:xfrm>
          <a:prstGeom prst="rect">
            <a:avLst/>
          </a:prstGeom>
          <a:noFill/>
        </p:spPr>
        <p:txBody>
          <a:bodyPr vertOverflow="clip" horzOverflow="clip" wrap="square" lIns="0" tIns="0" rIns="0" bIns="0" rtlCol="0" anchor="ctr">
            <a:spAutoFit/>
          </a:bodyPr>
          <a:lstStyle/>
          <a:p>
            <a:pPr algn="l">
              <a:lnSpc>
                <a:spcPts val="2919"/>
              </a:lnSpc>
            </a:pPr>
            <a:r>
              <a:rPr lang="en-US" sz="2100" spc="-21" dirty="0">
                <a:solidFill>
                  <a:srgbClr val="FFFFFF">
                    <a:alpha val="100000"/>
                  </a:srgbClr>
                </a:solidFill>
                <a:latin typeface="Montserrat Light" panose="00000700000000000000" pitchFamily="2" charset="0"/>
              </a:rPr>
              <a:t>Essential Components and Offerings in the Elevator Industry</a:t>
            </a:r>
          </a:p>
        </p:txBody>
      </p:sp>
      <p:sp>
        <p:nvSpPr>
          <p:cNvPr id="406" name="Click here to edit label-489">
            <a:extLst>
              <a:ext uri="{FF2B5EF4-FFF2-40B4-BE49-F238E27FC236}">
                <a16:creationId xmlns:a16="http://schemas.microsoft.com/office/drawing/2014/main" id="{111B4A49-B930-4A89-A1CD-6CA2B3D95AED}"/>
              </a:ext>
            </a:extLst>
          </p:cNvPr>
          <p:cNvSpPr txBox="1"/>
          <p:nvPr/>
        </p:nvSpPr>
        <p:spPr>
          <a:xfrm>
            <a:off x="1219200" y="571500"/>
            <a:ext cx="15992475" cy="295275"/>
          </a:xfrm>
          <a:prstGeom prst="rect">
            <a:avLst/>
          </a:prstGeom>
          <a:noFill/>
        </p:spPr>
        <p:txBody>
          <a:bodyPr vertOverflow="clip" horzOverflow="clip" wrap="square" lIns="0" tIns="0" rIns="0" bIns="0" rtlCol="0" anchor="ctr">
            <a:spAutoFit/>
          </a:bodyPr>
          <a:lstStyle/>
          <a:p>
            <a:pPr algn="l">
              <a:lnSpc>
                <a:spcPts val="2196"/>
              </a:lnSpc>
            </a:pPr>
            <a:r>
              <a:rPr lang="en-US" sz="1800" spc="990" dirty="0">
                <a:solidFill>
                  <a:srgbClr val="FFFFFF">
                    <a:alpha val="100000"/>
                  </a:srgbClr>
                </a:solidFill>
                <a:latin typeface="Montserrat" panose="00000700000000000000" pitchFamily="2" charset="0"/>
              </a:rPr>
              <a:t>ELEVATOR COMPONENTS AND OFFERINGS</a:t>
            </a:r>
          </a:p>
        </p:txBody>
      </p:sp>
      <p:pic>
        <p:nvPicPr>
          <p:cNvPr id="407"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6">
            <a:alphaModFix/>
          </a:blip>
          <a:stretch/>
        </p:blipFill>
        <p:spPr>
          <a:xfrm>
            <a:off x="590550" y="571500"/>
            <a:ext cx="19050" cy="1590675"/>
          </a:xfrm>
          <a:prstGeom prst="rect">
            <a:avLst/>
          </a:prstGeom>
        </p:spPr>
      </p:pic>
    </p:spTree>
    <p:extLst>
      <p:ext uri="{BB962C8B-B14F-4D97-AF65-F5344CB8AC3E}">
        <p14:creationId xmlns:p14="http://schemas.microsoft.com/office/powerpoint/2010/main" val="36480479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0" y="0"/>
            <a:ext cx="18288000" cy="10287000"/>
          </a:xfrm>
          <a:prstGeom prst="rect">
            <a:avLst/>
          </a:prstGeom>
        </p:spPr>
      </p:pic>
      <p:pic>
        <p:nvPicPr>
          <p:cNvPr id="379" name="layoutShapeInnerChild1">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0" y="0"/>
            <a:ext cx="18288000" cy="10287000"/>
          </a:xfrm>
          <a:prstGeom prst="rect">
            <a:avLst/>
          </a:prstGeom>
        </p:spPr>
      </p:pic>
      <p:pic>
        <p:nvPicPr>
          <p:cNvPr id="38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609600" y="3819525"/>
            <a:ext cx="1143000" cy="1143000"/>
          </a:xfrm>
          <a:prstGeom prst="rect">
            <a:avLst/>
          </a:prstGeom>
        </p:spPr>
      </p:pic>
      <p:pic>
        <p:nvPicPr>
          <p:cNvPr id="381" name="iconNode09897b9a-c023-4e10-9efe-37bd929300f2">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extLst>
              <a:ext uri="{30CF7955-4157-4C81-9236-F3BCB02DB40F}">
                <a14:useLocalDpi xmlns:a14="http://schemas.microsoft.com/office/drawing/2010/main" xmlns:p14="http://schemas.microsoft.com/office/powerpoint/2010/main" xmlns:asvg="http://schemas.microsoft.com/office/drawing/2016/SVG/main" xmlns:a16="http://schemas.microsoft.com/office/drawing/2014/main" xmlns="" val="0"/>
              </a:ext>
            </a:extLst>
          </a:blip>
          <a:srcRect/>
          <a:stretch/>
        </p:blipFill>
        <p:spPr>
          <a:xfrm>
            <a:off x="895350" y="4105275"/>
            <a:ext cx="571500" cy="571500"/>
          </a:xfrm>
          <a:prstGeom prst="rect">
            <a:avLst/>
          </a:prstGeom>
        </p:spPr>
      </p:pic>
      <p:sp>
        <p:nvSpPr>
          <p:cNvPr id="382" name="Primary Heading-0">
            <a:extLst>
              <a:ext uri="{FF2B5EF4-FFF2-40B4-BE49-F238E27FC236}">
                <a16:creationId xmlns:a16="http://schemas.microsoft.com/office/drawing/2014/main" id="{111B4A49-B930-4A89-A1CD-6CA2B3D95AED}"/>
              </a:ext>
            </a:extLst>
          </p:cNvPr>
          <p:cNvSpPr txBox="1"/>
          <p:nvPr/>
        </p:nvSpPr>
        <p:spPr>
          <a:xfrm>
            <a:off x="609600" y="5572125"/>
            <a:ext cx="2790825" cy="752475"/>
          </a:xfrm>
          <a:prstGeom prst="rect">
            <a:avLst/>
          </a:prstGeom>
          <a:noFill/>
        </p:spPr>
        <p:txBody>
          <a:bodyPr vertOverflow="clip" horzOverflow="clip" wrap="square" lIns="0" tIns="0" rIns="0" bIns="0" rtlCol="0" anchor="ctr">
            <a:spAutoFit/>
          </a:bodyPr>
          <a:lstStyle/>
          <a:p>
            <a:pPr algn="l">
              <a:lnSpc>
                <a:spcPts val="2919"/>
              </a:lnSpc>
            </a:pPr>
            <a:r>
              <a:rPr lang="en-US" sz="2100" spc="-21" dirty="0">
                <a:solidFill>
                  <a:srgbClr val="FFFFFF">
                    <a:alpha val="100000"/>
                  </a:srgbClr>
                </a:solidFill>
                <a:latin typeface="Montserrat Light" panose="00000700000000000000" pitchFamily="2" charset="0"/>
              </a:rPr>
              <a:t>Hydraulic Cylinders and Power Packs</a:t>
            </a:r>
          </a:p>
        </p:txBody>
      </p:sp>
      <p:sp>
        <p:nvSpPr>
          <p:cNvPr id="383" name="Description of a primary heading-0">
            <a:extLst>
              <a:ext uri="{FF2B5EF4-FFF2-40B4-BE49-F238E27FC236}">
                <a16:creationId xmlns:a16="http://schemas.microsoft.com/office/drawing/2014/main" id="{111B4A49-B930-4A89-A1CD-6CA2B3D95AED}"/>
              </a:ext>
            </a:extLst>
          </p:cNvPr>
          <p:cNvSpPr txBox="1"/>
          <p:nvPr/>
        </p:nvSpPr>
        <p:spPr>
          <a:xfrm>
            <a:off x="542925" y="6465760"/>
            <a:ext cx="2790825" cy="1724025"/>
          </a:xfrm>
          <a:prstGeom prst="rect">
            <a:avLst/>
          </a:prstGeom>
          <a:noFill/>
        </p:spPr>
        <p:txBody>
          <a:bodyPr vertOverflow="clip" horzOverflow="clip" wrap="square" lIns="0" tIns="0" rIns="0" bIns="0" rtlCol="0" anchor="ctr">
            <a:spAutoFit/>
          </a:bodyPr>
          <a:lstStyle/>
          <a:p>
            <a:pPr algn="l">
              <a:lnSpc>
                <a:spcPts val="2700"/>
              </a:lnSpc>
            </a:pPr>
            <a:r>
              <a:rPr lang="en-US" sz="1800" spc="-18" dirty="0">
                <a:solidFill>
                  <a:srgbClr val="FFFFFF">
                    <a:alpha val="100000"/>
                  </a:srgbClr>
                </a:solidFill>
                <a:latin typeface="Montserrat Light" panose="00000700000000000000" pitchFamily="2" charset="0"/>
              </a:rPr>
              <a:t>Key components for elevators providing necessary force and control for efficient vertical movement.</a:t>
            </a:r>
          </a:p>
        </p:txBody>
      </p:sp>
      <p:pic>
        <p:nvPicPr>
          <p:cNvPr id="38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3733800" y="3819525"/>
            <a:ext cx="9525" cy="4705350"/>
          </a:xfrm>
          <a:prstGeom prst="rect">
            <a:avLst/>
          </a:prstGeom>
        </p:spPr>
      </p:pic>
      <p:pic>
        <p:nvPicPr>
          <p:cNvPr id="38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4210050" y="3819525"/>
            <a:ext cx="1143000" cy="1143000"/>
          </a:xfrm>
          <a:prstGeom prst="rect">
            <a:avLst/>
          </a:prstGeom>
        </p:spPr>
      </p:pic>
      <p:pic>
        <p:nvPicPr>
          <p:cNvPr id="386" name="iconNodea3d46224-63f4-463c-8734-ec4120fb99c5">
            <a:extLst>
              <a:ext uri="{FF2B5EF4-FFF2-40B4-BE49-F238E27FC236}">
                <a16:creationId xmlns:a16="http://schemas.microsoft.com/office/drawing/2014/main" id="{A8642F66-C0BB-4949-9A9C-024B120A5D52}"/>
              </a:ext>
            </a:extLst>
          </p:cNvPr>
          <p:cNvPicPr>
            <a:picLocks noChangeAspect="1"/>
          </p:cNvPicPr>
          <p:nvPr/>
        </p:nvPicPr>
        <p:blipFill rotWithShape="1">
          <a:blip r:embed="rId8">
            <a:alphaModFix/>
            <a:extLst>
              <a:ext uri="{AB085B92-A25D-4864-B7EB-5C143D2E2F2D}">
                <a14:useLocalDpi xmlns:a14="http://schemas.microsoft.com/office/drawing/2010/main" xmlns:p14="http://schemas.microsoft.com/office/powerpoint/2010/main" xmlns:asvg="http://schemas.microsoft.com/office/drawing/2016/SVG/main" xmlns:a16="http://schemas.microsoft.com/office/drawing/2014/main" xmlns="" val="0"/>
              </a:ext>
            </a:extLst>
          </a:blip>
          <a:srcRect/>
          <a:stretch/>
        </p:blipFill>
        <p:spPr>
          <a:xfrm>
            <a:off x="4495800" y="4105275"/>
            <a:ext cx="571500" cy="571500"/>
          </a:xfrm>
          <a:prstGeom prst="rect">
            <a:avLst/>
          </a:prstGeom>
        </p:spPr>
      </p:pic>
      <p:sp>
        <p:nvSpPr>
          <p:cNvPr id="387" name="Primary Heading-1">
            <a:extLst>
              <a:ext uri="{FF2B5EF4-FFF2-40B4-BE49-F238E27FC236}">
                <a16:creationId xmlns:a16="http://schemas.microsoft.com/office/drawing/2014/main" id="{111B4A49-B930-4A89-A1CD-6CA2B3D95AED}"/>
              </a:ext>
            </a:extLst>
          </p:cNvPr>
          <p:cNvSpPr txBox="1"/>
          <p:nvPr/>
        </p:nvSpPr>
        <p:spPr>
          <a:xfrm>
            <a:off x="4213860" y="5572125"/>
            <a:ext cx="2790825" cy="752475"/>
          </a:xfrm>
          <a:prstGeom prst="rect">
            <a:avLst/>
          </a:prstGeom>
          <a:noFill/>
        </p:spPr>
        <p:txBody>
          <a:bodyPr vertOverflow="clip" horzOverflow="clip" wrap="square" lIns="0" tIns="0" rIns="0" bIns="0" rtlCol="0" anchor="ctr">
            <a:spAutoFit/>
          </a:bodyPr>
          <a:lstStyle/>
          <a:p>
            <a:pPr algn="l">
              <a:lnSpc>
                <a:spcPts val="2919"/>
              </a:lnSpc>
            </a:pPr>
            <a:r>
              <a:rPr lang="en-US" sz="2100" spc="-21" dirty="0">
                <a:solidFill>
                  <a:srgbClr val="F2F1F3">
                    <a:alpha val="100000"/>
                  </a:srgbClr>
                </a:solidFill>
                <a:latin typeface="Montserrat Light" panose="00000700000000000000" pitchFamily="2" charset="0"/>
              </a:rPr>
              <a:t>Automatic Doors for Elevators</a:t>
            </a:r>
          </a:p>
        </p:txBody>
      </p:sp>
      <p:sp>
        <p:nvSpPr>
          <p:cNvPr id="388" name="Description of a primary heading-1">
            <a:extLst>
              <a:ext uri="{FF2B5EF4-FFF2-40B4-BE49-F238E27FC236}">
                <a16:creationId xmlns:a16="http://schemas.microsoft.com/office/drawing/2014/main" id="{111B4A49-B930-4A89-A1CD-6CA2B3D95AED}"/>
              </a:ext>
            </a:extLst>
          </p:cNvPr>
          <p:cNvSpPr txBox="1"/>
          <p:nvPr/>
        </p:nvSpPr>
        <p:spPr>
          <a:xfrm>
            <a:off x="4147185" y="6465760"/>
            <a:ext cx="2790825" cy="2066925"/>
          </a:xfrm>
          <a:prstGeom prst="rect">
            <a:avLst/>
          </a:prstGeom>
          <a:noFill/>
        </p:spPr>
        <p:txBody>
          <a:bodyPr vertOverflow="clip" horzOverflow="clip" wrap="square" lIns="0" tIns="0" rIns="0" bIns="0" rtlCol="0" anchor="ctr">
            <a:spAutoFit/>
          </a:bodyPr>
          <a:lstStyle/>
          <a:p>
            <a:pPr algn="l">
              <a:lnSpc>
                <a:spcPts val="2700"/>
              </a:lnSpc>
            </a:pPr>
            <a:r>
              <a:rPr lang="en-US" sz="1800" spc="-18" dirty="0">
                <a:solidFill>
                  <a:srgbClr val="F2F1F3">
                    <a:alpha val="100000"/>
                  </a:srgbClr>
                </a:solidFill>
                <a:latin typeface="Montserrat Light" panose="00000700000000000000" pitchFamily="2" charset="0"/>
              </a:rPr>
              <a:t>Enhancing safety and convenience, these doors offer seamless automatic operation for both residential and commercial buildings.</a:t>
            </a:r>
          </a:p>
        </p:txBody>
      </p:sp>
      <p:pic>
        <p:nvPicPr>
          <p:cNvPr id="38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9">
            <a:alphaModFix/>
          </a:blip>
          <a:stretch/>
        </p:blipFill>
        <p:spPr>
          <a:xfrm>
            <a:off x="7334250" y="3819525"/>
            <a:ext cx="9525" cy="4705350"/>
          </a:xfrm>
          <a:prstGeom prst="rect">
            <a:avLst/>
          </a:prstGeom>
        </p:spPr>
      </p:pic>
      <p:pic>
        <p:nvPicPr>
          <p:cNvPr id="39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7820025" y="3819525"/>
            <a:ext cx="1143000" cy="1143000"/>
          </a:xfrm>
          <a:prstGeom prst="rect">
            <a:avLst/>
          </a:prstGeom>
        </p:spPr>
      </p:pic>
      <p:pic>
        <p:nvPicPr>
          <p:cNvPr id="391" name="iconNodefd011f6b-e4b7-474e-aa8d-94d4652060b8">
            <a:extLst>
              <a:ext uri="{FF2B5EF4-FFF2-40B4-BE49-F238E27FC236}">
                <a16:creationId xmlns:a16="http://schemas.microsoft.com/office/drawing/2014/main" id="{A8642F66-C0BB-4949-9A9C-024B120A5D52}"/>
              </a:ext>
            </a:extLst>
          </p:cNvPr>
          <p:cNvPicPr>
            <a:picLocks noChangeAspect="1"/>
          </p:cNvPicPr>
          <p:nvPr/>
        </p:nvPicPr>
        <p:blipFill rotWithShape="1">
          <a:blip r:embed="rId10">
            <a:alphaModFix/>
            <a:extLst>
              <a:ext uri="{BA5B00F1-5350-4D5D-A9C1-0A4875FDD814}">
                <a14:useLocalDpi xmlns:a14="http://schemas.microsoft.com/office/drawing/2010/main" xmlns:p14="http://schemas.microsoft.com/office/powerpoint/2010/main" xmlns:asvg="http://schemas.microsoft.com/office/drawing/2016/SVG/main" xmlns:a16="http://schemas.microsoft.com/office/drawing/2014/main" xmlns="" val="0"/>
              </a:ext>
            </a:extLst>
          </a:blip>
          <a:srcRect/>
          <a:stretch/>
        </p:blipFill>
        <p:spPr>
          <a:xfrm>
            <a:off x="8105775" y="4105275"/>
            <a:ext cx="571500" cy="571500"/>
          </a:xfrm>
          <a:prstGeom prst="rect">
            <a:avLst/>
          </a:prstGeom>
        </p:spPr>
      </p:pic>
      <p:sp>
        <p:nvSpPr>
          <p:cNvPr id="392" name="Primary Heading-2">
            <a:extLst>
              <a:ext uri="{FF2B5EF4-FFF2-40B4-BE49-F238E27FC236}">
                <a16:creationId xmlns:a16="http://schemas.microsoft.com/office/drawing/2014/main" id="{111B4A49-B930-4A89-A1CD-6CA2B3D95AED}"/>
              </a:ext>
            </a:extLst>
          </p:cNvPr>
          <p:cNvSpPr txBox="1"/>
          <p:nvPr/>
        </p:nvSpPr>
        <p:spPr>
          <a:xfrm>
            <a:off x="7818120" y="5572125"/>
            <a:ext cx="2790825" cy="752475"/>
          </a:xfrm>
          <a:prstGeom prst="rect">
            <a:avLst/>
          </a:prstGeom>
          <a:noFill/>
        </p:spPr>
        <p:txBody>
          <a:bodyPr vertOverflow="clip" horzOverflow="clip" wrap="square" lIns="0" tIns="0" rIns="0" bIns="0" rtlCol="0" anchor="ctr">
            <a:spAutoFit/>
          </a:bodyPr>
          <a:lstStyle/>
          <a:p>
            <a:pPr algn="l">
              <a:lnSpc>
                <a:spcPts val="2919"/>
              </a:lnSpc>
            </a:pPr>
            <a:r>
              <a:rPr lang="en-US" sz="2100" spc="-21" dirty="0">
                <a:solidFill>
                  <a:srgbClr val="EBEAED">
                    <a:alpha val="100000"/>
                  </a:srgbClr>
                </a:solidFill>
                <a:latin typeface="Montserrat Light" panose="00000700000000000000" pitchFamily="2" charset="0"/>
              </a:rPr>
              <a:t>Vertical Telescopic Doors</a:t>
            </a:r>
          </a:p>
        </p:txBody>
      </p:sp>
      <p:sp>
        <p:nvSpPr>
          <p:cNvPr id="393" name="Description of a primary heading-2">
            <a:extLst>
              <a:ext uri="{FF2B5EF4-FFF2-40B4-BE49-F238E27FC236}">
                <a16:creationId xmlns:a16="http://schemas.microsoft.com/office/drawing/2014/main" id="{111B4A49-B930-4A89-A1CD-6CA2B3D95AED}"/>
              </a:ext>
            </a:extLst>
          </p:cNvPr>
          <p:cNvSpPr txBox="1"/>
          <p:nvPr/>
        </p:nvSpPr>
        <p:spPr>
          <a:xfrm>
            <a:off x="7751445" y="6465760"/>
            <a:ext cx="2790825" cy="2066925"/>
          </a:xfrm>
          <a:prstGeom prst="rect">
            <a:avLst/>
          </a:prstGeom>
          <a:noFill/>
        </p:spPr>
        <p:txBody>
          <a:bodyPr vertOverflow="clip" horzOverflow="clip" wrap="square" lIns="0" tIns="0" rIns="0" bIns="0" rtlCol="0" anchor="ctr">
            <a:spAutoFit/>
          </a:bodyPr>
          <a:lstStyle/>
          <a:p>
            <a:pPr algn="l">
              <a:lnSpc>
                <a:spcPts val="2700"/>
              </a:lnSpc>
            </a:pPr>
            <a:r>
              <a:rPr lang="en-US" sz="1800" spc="-18" dirty="0">
                <a:solidFill>
                  <a:srgbClr val="EBEAED">
                    <a:alpha val="100000"/>
                  </a:srgbClr>
                </a:solidFill>
                <a:latin typeface="Montserrat Light" panose="00000700000000000000" pitchFamily="2" charset="0"/>
              </a:rPr>
              <a:t>Maximizing space efficiency, these doors are ideal for car and goods elevators, ensuring safe loading and unloading.</a:t>
            </a:r>
          </a:p>
        </p:txBody>
      </p:sp>
      <p:pic>
        <p:nvPicPr>
          <p:cNvPr id="39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1">
            <a:alphaModFix/>
          </a:blip>
          <a:stretch/>
        </p:blipFill>
        <p:spPr>
          <a:xfrm>
            <a:off x="10944225" y="3819525"/>
            <a:ext cx="9525" cy="4705350"/>
          </a:xfrm>
          <a:prstGeom prst="rect">
            <a:avLst/>
          </a:prstGeom>
        </p:spPr>
      </p:pic>
      <p:pic>
        <p:nvPicPr>
          <p:cNvPr id="39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2">
            <a:alphaModFix/>
          </a:blip>
          <a:stretch/>
        </p:blipFill>
        <p:spPr>
          <a:xfrm>
            <a:off x="11420475" y="3819525"/>
            <a:ext cx="1143000" cy="1143000"/>
          </a:xfrm>
          <a:prstGeom prst="rect">
            <a:avLst/>
          </a:prstGeom>
        </p:spPr>
      </p:pic>
      <p:pic>
        <p:nvPicPr>
          <p:cNvPr id="396" name="iconNode9153d35f-cf39-4321-96cf-ef756492a6de">
            <a:extLst>
              <a:ext uri="{FF2B5EF4-FFF2-40B4-BE49-F238E27FC236}">
                <a16:creationId xmlns:a16="http://schemas.microsoft.com/office/drawing/2014/main" id="{A8642F66-C0BB-4949-9A9C-024B120A5D52}"/>
              </a:ext>
            </a:extLst>
          </p:cNvPr>
          <p:cNvPicPr>
            <a:picLocks noChangeAspect="1"/>
          </p:cNvPicPr>
          <p:nvPr/>
        </p:nvPicPr>
        <p:blipFill rotWithShape="1">
          <a:blip r:embed="rId13">
            <a:alphaModFix/>
            <a:extLst>
              <a:ext uri="{CB3F158F-0019-4F59-AF63-D8D04BFD9A1F}">
                <a14:useLocalDpi xmlns:a14="http://schemas.microsoft.com/office/drawing/2010/main" xmlns:p14="http://schemas.microsoft.com/office/powerpoint/2010/main" xmlns:asvg="http://schemas.microsoft.com/office/drawing/2016/SVG/main" xmlns:a16="http://schemas.microsoft.com/office/drawing/2014/main" xmlns="" val="0"/>
              </a:ext>
            </a:extLst>
          </a:blip>
          <a:srcRect/>
          <a:stretch/>
        </p:blipFill>
        <p:spPr>
          <a:xfrm>
            <a:off x="11706225" y="4105275"/>
            <a:ext cx="571500" cy="571500"/>
          </a:xfrm>
          <a:prstGeom prst="rect">
            <a:avLst/>
          </a:prstGeom>
        </p:spPr>
      </p:pic>
      <p:sp>
        <p:nvSpPr>
          <p:cNvPr id="397" name="Primary Heading-3">
            <a:extLst>
              <a:ext uri="{FF2B5EF4-FFF2-40B4-BE49-F238E27FC236}">
                <a16:creationId xmlns:a16="http://schemas.microsoft.com/office/drawing/2014/main" id="{111B4A49-B930-4A89-A1CD-6CA2B3D95AED}"/>
              </a:ext>
            </a:extLst>
          </p:cNvPr>
          <p:cNvSpPr txBox="1"/>
          <p:nvPr/>
        </p:nvSpPr>
        <p:spPr>
          <a:xfrm>
            <a:off x="11422380" y="5775623"/>
            <a:ext cx="2790825" cy="345479"/>
          </a:xfrm>
          <a:prstGeom prst="rect">
            <a:avLst/>
          </a:prstGeom>
          <a:noFill/>
        </p:spPr>
        <p:txBody>
          <a:bodyPr vertOverflow="clip" horzOverflow="clip" wrap="square" lIns="0" tIns="0" rIns="0" bIns="0" rtlCol="0" anchor="ctr">
            <a:spAutoFit/>
          </a:bodyPr>
          <a:lstStyle/>
          <a:p>
            <a:pPr algn="l">
              <a:lnSpc>
                <a:spcPts val="2919"/>
              </a:lnSpc>
            </a:pPr>
            <a:r>
              <a:rPr lang="en-US" sz="2100" spc="-21" dirty="0">
                <a:solidFill>
                  <a:srgbClr val="E5E3E7">
                    <a:alpha val="100000"/>
                  </a:srgbClr>
                </a:solidFill>
                <a:latin typeface="Montserrat Light" panose="00000700000000000000" pitchFamily="2" charset="0"/>
              </a:rPr>
              <a:t>Car Parking Systems</a:t>
            </a:r>
          </a:p>
        </p:txBody>
      </p:sp>
      <p:sp>
        <p:nvSpPr>
          <p:cNvPr id="398" name="Description of a primary heading-3">
            <a:extLst>
              <a:ext uri="{FF2B5EF4-FFF2-40B4-BE49-F238E27FC236}">
                <a16:creationId xmlns:a16="http://schemas.microsoft.com/office/drawing/2014/main" id="{111B4A49-B930-4A89-A1CD-6CA2B3D95AED}"/>
              </a:ext>
            </a:extLst>
          </p:cNvPr>
          <p:cNvSpPr txBox="1"/>
          <p:nvPr/>
        </p:nvSpPr>
        <p:spPr>
          <a:xfrm>
            <a:off x="11355705" y="6476899"/>
            <a:ext cx="2790825" cy="1701748"/>
          </a:xfrm>
          <a:prstGeom prst="rect">
            <a:avLst/>
          </a:prstGeom>
          <a:noFill/>
        </p:spPr>
        <p:txBody>
          <a:bodyPr vertOverflow="clip" horzOverflow="clip" wrap="square" lIns="0" tIns="0" rIns="0" bIns="0" rtlCol="0" anchor="ctr">
            <a:spAutoFit/>
          </a:bodyPr>
          <a:lstStyle/>
          <a:p>
            <a:pPr algn="l">
              <a:lnSpc>
                <a:spcPts val="2700"/>
              </a:lnSpc>
            </a:pPr>
            <a:r>
              <a:rPr lang="en-US" sz="1800" spc="-18" dirty="0">
                <a:solidFill>
                  <a:srgbClr val="E5E3E7">
                    <a:alpha val="100000"/>
                  </a:srgbClr>
                </a:solidFill>
                <a:latin typeface="Montserrat Light" panose="00000700000000000000" pitchFamily="2" charset="0"/>
              </a:rPr>
              <a:t>Crafted for safety, durability and reliability, these </a:t>
            </a:r>
            <a:r>
              <a:rPr lang="en-US" spc="-18" dirty="0">
                <a:solidFill>
                  <a:srgbClr val="E5E3E7">
                    <a:alpha val="100000"/>
                  </a:srgbClr>
                </a:solidFill>
                <a:latin typeface="Montserrat Light" panose="00000700000000000000" pitchFamily="2" charset="0"/>
              </a:rPr>
              <a:t>multi-level parking systems are budget friendly </a:t>
            </a:r>
            <a:endParaRPr lang="en-US" sz="1800" spc="-18" dirty="0">
              <a:solidFill>
                <a:srgbClr val="E5E3E7">
                  <a:alpha val="100000"/>
                </a:srgbClr>
              </a:solidFill>
              <a:latin typeface="Montserrat Light" panose="00000700000000000000" pitchFamily="2" charset="0"/>
            </a:endParaRPr>
          </a:p>
        </p:txBody>
      </p:sp>
      <p:pic>
        <p:nvPicPr>
          <p:cNvPr id="39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4">
            <a:alphaModFix/>
          </a:blip>
          <a:stretch/>
        </p:blipFill>
        <p:spPr>
          <a:xfrm>
            <a:off x="14544675" y="3819525"/>
            <a:ext cx="9525" cy="4705350"/>
          </a:xfrm>
          <a:prstGeom prst="rect">
            <a:avLst/>
          </a:prstGeom>
        </p:spPr>
      </p:pic>
      <p:pic>
        <p:nvPicPr>
          <p:cNvPr id="40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15030450" y="3819525"/>
            <a:ext cx="1143000" cy="1143000"/>
          </a:xfrm>
          <a:prstGeom prst="rect">
            <a:avLst/>
          </a:prstGeom>
        </p:spPr>
      </p:pic>
      <p:pic>
        <p:nvPicPr>
          <p:cNvPr id="401" name="iconNodec4c772b4-2041-409f-bbc4-1d8e87c5648a">
            <a:extLst>
              <a:ext uri="{FF2B5EF4-FFF2-40B4-BE49-F238E27FC236}">
                <a16:creationId xmlns:a16="http://schemas.microsoft.com/office/drawing/2014/main" id="{A8642F66-C0BB-4949-9A9C-024B120A5D52}"/>
              </a:ext>
            </a:extLst>
          </p:cNvPr>
          <p:cNvPicPr>
            <a:picLocks noChangeAspect="1"/>
          </p:cNvPicPr>
          <p:nvPr/>
        </p:nvPicPr>
        <p:blipFill rotWithShape="1">
          <a:blip r:embed="rId15">
            <a:alphaModFix/>
            <a:extLst>
              <a:ext uri="{691C81C1-F416-443F-8537-890439D13A41}">
                <a14:useLocalDpi xmlns:a14="http://schemas.microsoft.com/office/drawing/2010/main" xmlns:p14="http://schemas.microsoft.com/office/powerpoint/2010/main" xmlns:asvg="http://schemas.microsoft.com/office/drawing/2016/SVG/main" xmlns:a16="http://schemas.microsoft.com/office/drawing/2014/main" xmlns="" val="0"/>
              </a:ext>
            </a:extLst>
          </a:blip>
          <a:srcRect/>
          <a:stretch/>
        </p:blipFill>
        <p:spPr>
          <a:xfrm>
            <a:off x="15316200" y="4105275"/>
            <a:ext cx="571500" cy="571500"/>
          </a:xfrm>
          <a:prstGeom prst="rect">
            <a:avLst/>
          </a:prstGeom>
        </p:spPr>
      </p:pic>
      <p:sp>
        <p:nvSpPr>
          <p:cNvPr id="402" name="Primary Heading-4">
            <a:extLst>
              <a:ext uri="{FF2B5EF4-FFF2-40B4-BE49-F238E27FC236}">
                <a16:creationId xmlns:a16="http://schemas.microsoft.com/office/drawing/2014/main" id="{111B4A49-B930-4A89-A1CD-6CA2B3D95AED}"/>
              </a:ext>
            </a:extLst>
          </p:cNvPr>
          <p:cNvSpPr txBox="1"/>
          <p:nvPr/>
        </p:nvSpPr>
        <p:spPr>
          <a:xfrm>
            <a:off x="15026640" y="5775623"/>
            <a:ext cx="2790825" cy="345479"/>
          </a:xfrm>
          <a:prstGeom prst="rect">
            <a:avLst/>
          </a:prstGeom>
          <a:noFill/>
        </p:spPr>
        <p:txBody>
          <a:bodyPr vertOverflow="clip" horzOverflow="clip" wrap="square" lIns="0" tIns="0" rIns="0" bIns="0" rtlCol="0" anchor="ctr">
            <a:spAutoFit/>
          </a:bodyPr>
          <a:lstStyle/>
          <a:p>
            <a:pPr algn="l">
              <a:lnSpc>
                <a:spcPts val="2919"/>
              </a:lnSpc>
            </a:pPr>
            <a:r>
              <a:rPr lang="en-US" sz="2100" spc="-21" dirty="0">
                <a:solidFill>
                  <a:srgbClr val="DEDCE1">
                    <a:alpha val="100000"/>
                  </a:srgbClr>
                </a:solidFill>
                <a:latin typeface="Montserrat Light" panose="00000700000000000000" pitchFamily="2" charset="0"/>
              </a:rPr>
              <a:t>Dumb Waiter Lifts</a:t>
            </a:r>
          </a:p>
        </p:txBody>
      </p:sp>
      <p:sp>
        <p:nvSpPr>
          <p:cNvPr id="403" name="Description of a primary heading-4">
            <a:extLst>
              <a:ext uri="{FF2B5EF4-FFF2-40B4-BE49-F238E27FC236}">
                <a16:creationId xmlns:a16="http://schemas.microsoft.com/office/drawing/2014/main" id="{111B4A49-B930-4A89-A1CD-6CA2B3D95AED}"/>
              </a:ext>
            </a:extLst>
          </p:cNvPr>
          <p:cNvSpPr txBox="1"/>
          <p:nvPr/>
        </p:nvSpPr>
        <p:spPr>
          <a:xfrm>
            <a:off x="14959965" y="6277402"/>
            <a:ext cx="2790825" cy="3432991"/>
          </a:xfrm>
          <a:prstGeom prst="rect">
            <a:avLst/>
          </a:prstGeom>
          <a:noFill/>
        </p:spPr>
        <p:txBody>
          <a:bodyPr vertOverflow="clip" horzOverflow="clip" wrap="square" lIns="0" tIns="0" rIns="0" bIns="0" rtlCol="0" anchor="ctr">
            <a:spAutoFit/>
          </a:bodyPr>
          <a:lstStyle/>
          <a:p>
            <a:pPr algn="l">
              <a:lnSpc>
                <a:spcPts val="2700"/>
              </a:lnSpc>
            </a:pPr>
            <a:r>
              <a:rPr lang="en-US" sz="1800" spc="-18" dirty="0">
                <a:solidFill>
                  <a:srgbClr val="DEDCE1">
                    <a:alpha val="100000"/>
                  </a:srgbClr>
                </a:solidFill>
                <a:latin typeface="Montserrat Light" panose="00000700000000000000" pitchFamily="2" charset="0"/>
              </a:rPr>
              <a:t>Urbanization brings new opportunities, these lifts are used for movement of food from one floor to another in Hotels/Restaurants, similarly can be used in Hospitals for Medicines and accessories movement</a:t>
            </a:r>
          </a:p>
        </p:txBody>
      </p:sp>
      <p:sp>
        <p:nvSpPr>
          <p:cNvPr id="404" name="Click here to edit title-406">
            <a:extLst>
              <a:ext uri="{FF2B5EF4-FFF2-40B4-BE49-F238E27FC236}">
                <a16:creationId xmlns:a16="http://schemas.microsoft.com/office/drawing/2014/main" id="{111B4A49-B930-4A89-A1CD-6CA2B3D95AED}"/>
              </a:ext>
            </a:extLst>
          </p:cNvPr>
          <p:cNvSpPr txBox="1"/>
          <p:nvPr/>
        </p:nvSpPr>
        <p:spPr>
          <a:xfrm>
            <a:off x="1219200" y="940660"/>
            <a:ext cx="15992475" cy="642805"/>
          </a:xfrm>
          <a:prstGeom prst="rect">
            <a:avLst/>
          </a:prstGeom>
          <a:noFill/>
        </p:spPr>
        <p:txBody>
          <a:bodyPr vertOverflow="clip" horzOverflow="clip" wrap="square" lIns="0" tIns="0" rIns="0" bIns="0" rtlCol="0" anchor="ctr">
            <a:spAutoFit/>
          </a:bodyPr>
          <a:lstStyle/>
          <a:p>
            <a:pPr algn="l">
              <a:lnSpc>
                <a:spcPts val="5250"/>
              </a:lnSpc>
            </a:pPr>
            <a:r>
              <a:rPr lang="en-US" sz="4200" spc="-84" dirty="0">
                <a:solidFill>
                  <a:srgbClr val="FFFFFF">
                    <a:alpha val="100000"/>
                  </a:srgbClr>
                </a:solidFill>
                <a:latin typeface="Montserrat Light" panose="00000700000000000000" pitchFamily="2" charset="0"/>
              </a:rPr>
              <a:t>Products – 2025-2026-2027</a:t>
            </a:r>
          </a:p>
        </p:txBody>
      </p:sp>
      <p:sp>
        <p:nvSpPr>
          <p:cNvPr id="405" name="Click here to edit subtitle-461">
            <a:extLst>
              <a:ext uri="{FF2B5EF4-FFF2-40B4-BE49-F238E27FC236}">
                <a16:creationId xmlns:a16="http://schemas.microsoft.com/office/drawing/2014/main" id="{111B4A49-B930-4A89-A1CD-6CA2B3D95AED}"/>
              </a:ext>
            </a:extLst>
          </p:cNvPr>
          <p:cNvSpPr txBox="1"/>
          <p:nvPr/>
        </p:nvSpPr>
        <p:spPr>
          <a:xfrm>
            <a:off x="1219201" y="1984672"/>
            <a:ext cx="8303492" cy="345479"/>
          </a:xfrm>
          <a:prstGeom prst="rect">
            <a:avLst/>
          </a:prstGeom>
          <a:noFill/>
        </p:spPr>
        <p:txBody>
          <a:bodyPr vertOverflow="clip" horzOverflow="clip" wrap="square" lIns="0" tIns="0" rIns="0" bIns="0" rtlCol="0" anchor="ctr">
            <a:spAutoFit/>
          </a:bodyPr>
          <a:lstStyle/>
          <a:p>
            <a:pPr algn="l">
              <a:lnSpc>
                <a:spcPts val="2919"/>
              </a:lnSpc>
            </a:pPr>
            <a:r>
              <a:rPr lang="en-US" sz="2100" spc="-21" dirty="0">
                <a:solidFill>
                  <a:srgbClr val="FFFFFF">
                    <a:alpha val="100000"/>
                  </a:srgbClr>
                </a:solidFill>
                <a:latin typeface="Montserrat Light" panose="00000700000000000000" pitchFamily="2" charset="0"/>
              </a:rPr>
              <a:t>Essential Components and Offerings in the Elevator Industry</a:t>
            </a:r>
          </a:p>
        </p:txBody>
      </p:sp>
      <p:sp>
        <p:nvSpPr>
          <p:cNvPr id="406" name="Click here to edit label-489">
            <a:extLst>
              <a:ext uri="{FF2B5EF4-FFF2-40B4-BE49-F238E27FC236}">
                <a16:creationId xmlns:a16="http://schemas.microsoft.com/office/drawing/2014/main" id="{111B4A49-B930-4A89-A1CD-6CA2B3D95AED}"/>
              </a:ext>
            </a:extLst>
          </p:cNvPr>
          <p:cNvSpPr txBox="1"/>
          <p:nvPr/>
        </p:nvSpPr>
        <p:spPr>
          <a:xfrm>
            <a:off x="1219200" y="571500"/>
            <a:ext cx="15992475" cy="295275"/>
          </a:xfrm>
          <a:prstGeom prst="rect">
            <a:avLst/>
          </a:prstGeom>
          <a:noFill/>
        </p:spPr>
        <p:txBody>
          <a:bodyPr vertOverflow="clip" horzOverflow="clip" wrap="square" lIns="0" tIns="0" rIns="0" bIns="0" rtlCol="0" anchor="ctr">
            <a:spAutoFit/>
          </a:bodyPr>
          <a:lstStyle/>
          <a:p>
            <a:pPr algn="l">
              <a:lnSpc>
                <a:spcPts val="2196"/>
              </a:lnSpc>
            </a:pPr>
            <a:r>
              <a:rPr lang="en-US" sz="1800" spc="990" dirty="0">
                <a:solidFill>
                  <a:srgbClr val="FFFFFF">
                    <a:alpha val="100000"/>
                  </a:srgbClr>
                </a:solidFill>
                <a:latin typeface="Montserrat" panose="00000700000000000000" pitchFamily="2" charset="0"/>
              </a:rPr>
              <a:t>ELEVATOR COMPONENTS AND OFFERINGS</a:t>
            </a:r>
          </a:p>
        </p:txBody>
      </p:sp>
      <p:pic>
        <p:nvPicPr>
          <p:cNvPr id="407"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6">
            <a:alphaModFix/>
          </a:blip>
          <a:stretch/>
        </p:blipFill>
        <p:spPr>
          <a:xfrm>
            <a:off x="590550" y="571500"/>
            <a:ext cx="19050" cy="1590675"/>
          </a:xfrm>
          <a:prstGeom prst="rect">
            <a:avLst/>
          </a:prstGeom>
        </p:spPr>
      </p:pic>
      <p:sp>
        <p:nvSpPr>
          <p:cNvPr id="2" name="Primary Heading-4">
            <a:extLst>
              <a:ext uri="{FF2B5EF4-FFF2-40B4-BE49-F238E27FC236}">
                <a16:creationId xmlns:a16="http://schemas.microsoft.com/office/drawing/2014/main" id="{2EBEE20A-D1FE-A321-2420-13299FB54DEB}"/>
              </a:ext>
            </a:extLst>
          </p:cNvPr>
          <p:cNvSpPr txBox="1"/>
          <p:nvPr/>
        </p:nvSpPr>
        <p:spPr>
          <a:xfrm>
            <a:off x="12465628" y="1237986"/>
            <a:ext cx="2881312" cy="345479"/>
          </a:xfrm>
          <a:prstGeom prst="rect">
            <a:avLst/>
          </a:prstGeom>
          <a:noFill/>
        </p:spPr>
        <p:txBody>
          <a:bodyPr vertOverflow="clip" horzOverflow="clip" wrap="square" lIns="0" tIns="0" rIns="0" bIns="0" rtlCol="0" anchor="ctr">
            <a:spAutoFit/>
          </a:bodyPr>
          <a:lstStyle/>
          <a:p>
            <a:pPr algn="l">
              <a:lnSpc>
                <a:spcPts val="2919"/>
              </a:lnSpc>
            </a:pPr>
            <a:r>
              <a:rPr lang="en-US" sz="2100" spc="-21" dirty="0">
                <a:solidFill>
                  <a:srgbClr val="DEDCE1">
                    <a:alpha val="100000"/>
                  </a:srgbClr>
                </a:solidFill>
                <a:latin typeface="Montserrat Light" panose="00000700000000000000" pitchFamily="2" charset="0"/>
              </a:rPr>
              <a:t>Premium Home Lifts</a:t>
            </a:r>
          </a:p>
        </p:txBody>
      </p:sp>
      <p:sp>
        <p:nvSpPr>
          <p:cNvPr id="3" name="Description of a primary heading-4">
            <a:extLst>
              <a:ext uri="{FF2B5EF4-FFF2-40B4-BE49-F238E27FC236}">
                <a16:creationId xmlns:a16="http://schemas.microsoft.com/office/drawing/2014/main" id="{9B0E8E84-5ED1-8020-2598-957BA4CAFF54}"/>
              </a:ext>
            </a:extLst>
          </p:cNvPr>
          <p:cNvSpPr txBox="1"/>
          <p:nvPr/>
        </p:nvSpPr>
        <p:spPr>
          <a:xfrm>
            <a:off x="12465628" y="2133016"/>
            <a:ext cx="3813463" cy="1009251"/>
          </a:xfrm>
          <a:prstGeom prst="rect">
            <a:avLst/>
          </a:prstGeom>
          <a:noFill/>
        </p:spPr>
        <p:txBody>
          <a:bodyPr vertOverflow="clip" horzOverflow="clip" wrap="square" lIns="0" tIns="0" rIns="0" bIns="0" rtlCol="0" anchor="ctr">
            <a:spAutoFit/>
          </a:bodyPr>
          <a:lstStyle/>
          <a:p>
            <a:pPr>
              <a:lnSpc>
                <a:spcPts val="2700"/>
              </a:lnSpc>
            </a:pPr>
            <a:r>
              <a:rPr lang="en-US" sz="1800" spc="-18" dirty="0">
                <a:solidFill>
                  <a:srgbClr val="DEDCE1">
                    <a:alpha val="100000"/>
                  </a:srgbClr>
                </a:solidFill>
                <a:latin typeface="Montserrat Light" panose="00000700000000000000" pitchFamily="2" charset="0"/>
              </a:rPr>
              <a:t>Premium Home Lifts in minimum space fully compliant with European Standards</a:t>
            </a:r>
          </a:p>
        </p:txBody>
      </p:sp>
      <p:sp>
        <p:nvSpPr>
          <p:cNvPr id="4" name="Rectangle 3">
            <a:extLst>
              <a:ext uri="{FF2B5EF4-FFF2-40B4-BE49-F238E27FC236}">
                <a16:creationId xmlns:a16="http://schemas.microsoft.com/office/drawing/2014/main" id="{48B29564-7F51-1319-B5A2-26D32D11EA6B}"/>
              </a:ext>
            </a:extLst>
          </p:cNvPr>
          <p:cNvSpPr/>
          <p:nvPr/>
        </p:nvSpPr>
        <p:spPr>
          <a:xfrm flipH="1" flipV="1">
            <a:off x="12315820" y="1152525"/>
            <a:ext cx="4050727" cy="2381250"/>
          </a:xfrm>
          <a:prstGeom prst="rect">
            <a:avLst/>
          </a:prstGeom>
          <a:noFill/>
          <a:ln>
            <a:solidFill>
              <a:schemeClr val="accent1">
                <a:lumMod val="20000"/>
                <a:lumOff val="8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6" name="Picture 5">
            <a:extLst>
              <a:ext uri="{FF2B5EF4-FFF2-40B4-BE49-F238E27FC236}">
                <a16:creationId xmlns:a16="http://schemas.microsoft.com/office/drawing/2014/main" id="{223FA4AF-331A-E7F5-1CC2-806ADBA76F3B}"/>
              </a:ext>
            </a:extLst>
          </p:cNvPr>
          <p:cNvPicPr>
            <a:picLocks noChangeAspect="1"/>
          </p:cNvPicPr>
          <p:nvPr/>
        </p:nvPicPr>
        <p:blipFill>
          <a:blip r:embed="rId17"/>
          <a:stretch>
            <a:fillRect/>
          </a:stretch>
        </p:blipFill>
        <p:spPr>
          <a:xfrm>
            <a:off x="10367820" y="1631956"/>
            <a:ext cx="1873100" cy="1399217"/>
          </a:xfrm>
          <a:prstGeom prst="rect">
            <a:avLst/>
          </a:prstGeom>
        </p:spPr>
      </p:pic>
    </p:spTree>
    <p:extLst>
      <p:ext uri="{BB962C8B-B14F-4D97-AF65-F5344CB8AC3E}">
        <p14:creationId xmlns:p14="http://schemas.microsoft.com/office/powerpoint/2010/main" val="29584039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0" y="0"/>
            <a:ext cx="18288000" cy="10287000"/>
          </a:xfrm>
          <a:prstGeom prst="rect">
            <a:avLst/>
          </a:prstGeom>
        </p:spPr>
      </p:pic>
      <p:pic>
        <p:nvPicPr>
          <p:cNvPr id="379" name="layoutShapeInnerChild1">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0" y="0"/>
            <a:ext cx="18288000" cy="10287000"/>
          </a:xfrm>
          <a:prstGeom prst="rect">
            <a:avLst/>
          </a:prstGeom>
        </p:spPr>
      </p:pic>
      <p:pic>
        <p:nvPicPr>
          <p:cNvPr id="38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3733800" y="3819525"/>
            <a:ext cx="9525" cy="4705350"/>
          </a:xfrm>
          <a:prstGeom prst="rect">
            <a:avLst/>
          </a:prstGeom>
        </p:spPr>
      </p:pic>
      <p:pic>
        <p:nvPicPr>
          <p:cNvPr id="38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7334250" y="3819525"/>
            <a:ext cx="9525" cy="4705350"/>
          </a:xfrm>
          <a:prstGeom prst="rect">
            <a:avLst/>
          </a:prstGeom>
        </p:spPr>
      </p:pic>
      <p:pic>
        <p:nvPicPr>
          <p:cNvPr id="39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10944225" y="3819525"/>
            <a:ext cx="9525" cy="4705350"/>
          </a:xfrm>
          <a:prstGeom prst="rect">
            <a:avLst/>
          </a:prstGeom>
        </p:spPr>
      </p:pic>
      <p:pic>
        <p:nvPicPr>
          <p:cNvPr id="39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14544675" y="3819525"/>
            <a:ext cx="9525" cy="4705350"/>
          </a:xfrm>
          <a:prstGeom prst="rect">
            <a:avLst/>
          </a:prstGeom>
        </p:spPr>
      </p:pic>
      <p:sp>
        <p:nvSpPr>
          <p:cNvPr id="404" name="Click here to edit title-406">
            <a:extLst>
              <a:ext uri="{FF2B5EF4-FFF2-40B4-BE49-F238E27FC236}">
                <a16:creationId xmlns:a16="http://schemas.microsoft.com/office/drawing/2014/main" id="{111B4A49-B930-4A89-A1CD-6CA2B3D95AED}"/>
              </a:ext>
            </a:extLst>
          </p:cNvPr>
          <p:cNvSpPr txBox="1"/>
          <p:nvPr/>
        </p:nvSpPr>
        <p:spPr>
          <a:xfrm>
            <a:off x="1219200" y="940660"/>
            <a:ext cx="15992475" cy="642805"/>
          </a:xfrm>
          <a:prstGeom prst="rect">
            <a:avLst/>
          </a:prstGeom>
          <a:noFill/>
        </p:spPr>
        <p:txBody>
          <a:bodyPr vertOverflow="clip" horzOverflow="clip" wrap="square" lIns="0" tIns="0" rIns="0" bIns="0" rtlCol="0" anchor="ctr">
            <a:spAutoFit/>
          </a:bodyPr>
          <a:lstStyle/>
          <a:p>
            <a:pPr algn="l">
              <a:lnSpc>
                <a:spcPts val="5250"/>
              </a:lnSpc>
            </a:pPr>
            <a:r>
              <a:rPr lang="en-US" sz="4200" spc="-84" dirty="0">
                <a:solidFill>
                  <a:srgbClr val="FFFFFF">
                    <a:alpha val="100000"/>
                  </a:srgbClr>
                </a:solidFill>
                <a:latin typeface="Montserrat Light" panose="00000700000000000000" pitchFamily="2" charset="0"/>
              </a:rPr>
              <a:t>Revenue Contributors- 2022-2023-2024</a:t>
            </a:r>
          </a:p>
        </p:txBody>
      </p:sp>
      <p:sp>
        <p:nvSpPr>
          <p:cNvPr id="405" name="Click here to edit subtitle-461">
            <a:extLst>
              <a:ext uri="{FF2B5EF4-FFF2-40B4-BE49-F238E27FC236}">
                <a16:creationId xmlns:a16="http://schemas.microsoft.com/office/drawing/2014/main" id="{111B4A49-B930-4A89-A1CD-6CA2B3D95AED}"/>
              </a:ext>
            </a:extLst>
          </p:cNvPr>
          <p:cNvSpPr txBox="1"/>
          <p:nvPr/>
        </p:nvSpPr>
        <p:spPr>
          <a:xfrm>
            <a:off x="1219200" y="1790700"/>
            <a:ext cx="15992475" cy="381000"/>
          </a:xfrm>
          <a:prstGeom prst="rect">
            <a:avLst/>
          </a:prstGeom>
          <a:noFill/>
        </p:spPr>
        <p:txBody>
          <a:bodyPr vertOverflow="clip" horzOverflow="clip" wrap="square" lIns="0" tIns="0" rIns="0" bIns="0" rtlCol="0" anchor="ctr">
            <a:spAutoFit/>
          </a:bodyPr>
          <a:lstStyle/>
          <a:p>
            <a:pPr algn="l">
              <a:lnSpc>
                <a:spcPts val="2919"/>
              </a:lnSpc>
            </a:pPr>
            <a:r>
              <a:rPr lang="en-US" sz="2100" spc="-21" dirty="0">
                <a:solidFill>
                  <a:srgbClr val="FFFFFF">
                    <a:alpha val="100000"/>
                  </a:srgbClr>
                </a:solidFill>
                <a:latin typeface="Montserrat Light" panose="00000700000000000000" pitchFamily="2" charset="0"/>
              </a:rPr>
              <a:t>Essential Components and Offerings in the Elevator Industry</a:t>
            </a:r>
          </a:p>
        </p:txBody>
      </p:sp>
      <p:sp>
        <p:nvSpPr>
          <p:cNvPr id="406" name="Click here to edit label-489">
            <a:extLst>
              <a:ext uri="{FF2B5EF4-FFF2-40B4-BE49-F238E27FC236}">
                <a16:creationId xmlns:a16="http://schemas.microsoft.com/office/drawing/2014/main" id="{111B4A49-B930-4A89-A1CD-6CA2B3D95AED}"/>
              </a:ext>
            </a:extLst>
          </p:cNvPr>
          <p:cNvSpPr txBox="1"/>
          <p:nvPr/>
        </p:nvSpPr>
        <p:spPr>
          <a:xfrm>
            <a:off x="1219200" y="571500"/>
            <a:ext cx="15992475" cy="295275"/>
          </a:xfrm>
          <a:prstGeom prst="rect">
            <a:avLst/>
          </a:prstGeom>
          <a:noFill/>
        </p:spPr>
        <p:txBody>
          <a:bodyPr vertOverflow="clip" horzOverflow="clip" wrap="square" lIns="0" tIns="0" rIns="0" bIns="0" rtlCol="0" anchor="ctr">
            <a:spAutoFit/>
          </a:bodyPr>
          <a:lstStyle/>
          <a:p>
            <a:pPr algn="l">
              <a:lnSpc>
                <a:spcPts val="2196"/>
              </a:lnSpc>
            </a:pPr>
            <a:r>
              <a:rPr lang="en-US" sz="1800" spc="990" dirty="0">
                <a:solidFill>
                  <a:srgbClr val="FFFFFF">
                    <a:alpha val="100000"/>
                  </a:srgbClr>
                </a:solidFill>
                <a:latin typeface="Montserrat" panose="00000700000000000000" pitchFamily="2" charset="0"/>
              </a:rPr>
              <a:t>ELEVATOR COMPONENTS AND OFFERINGS</a:t>
            </a:r>
          </a:p>
        </p:txBody>
      </p:sp>
      <p:pic>
        <p:nvPicPr>
          <p:cNvPr id="407"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8">
            <a:alphaModFix/>
          </a:blip>
          <a:stretch/>
        </p:blipFill>
        <p:spPr>
          <a:xfrm>
            <a:off x="590550" y="571500"/>
            <a:ext cx="19050" cy="1590675"/>
          </a:xfrm>
          <a:prstGeom prst="rect">
            <a:avLst/>
          </a:prstGeom>
        </p:spPr>
      </p:pic>
      <p:graphicFrame>
        <p:nvGraphicFramePr>
          <p:cNvPr id="2" name="Chart 1">
            <a:extLst>
              <a:ext uri="{FF2B5EF4-FFF2-40B4-BE49-F238E27FC236}">
                <a16:creationId xmlns:a16="http://schemas.microsoft.com/office/drawing/2014/main" id="{9F5754F5-B9FC-FBB2-EAA5-FEF0B1559007}"/>
              </a:ext>
            </a:extLst>
          </p:cNvPr>
          <p:cNvGraphicFramePr>
            <a:graphicFrameLocks/>
          </p:cNvGraphicFramePr>
          <p:nvPr>
            <p:extLst>
              <p:ext uri="{D42A27DB-BD31-4B8C-83A1-F6EECF244321}">
                <p14:modId xmlns:p14="http://schemas.microsoft.com/office/powerpoint/2010/main" val="723529296"/>
              </p:ext>
            </p:extLst>
          </p:nvPr>
        </p:nvGraphicFramePr>
        <p:xfrm>
          <a:off x="845198" y="3404576"/>
          <a:ext cx="7624259" cy="4437097"/>
        </p:xfrm>
        <a:graphic>
          <a:graphicData uri="http://schemas.openxmlformats.org/drawingml/2006/chart">
            <c:chart xmlns:c="http://schemas.openxmlformats.org/drawingml/2006/chart" xmlns:r="http://schemas.openxmlformats.org/officeDocument/2006/relationships" r:id="rId9"/>
          </a:graphicData>
        </a:graphic>
      </p:graphicFrame>
      <p:graphicFrame>
        <p:nvGraphicFramePr>
          <p:cNvPr id="3" name="Chart 2">
            <a:extLst>
              <a:ext uri="{FF2B5EF4-FFF2-40B4-BE49-F238E27FC236}">
                <a16:creationId xmlns:a16="http://schemas.microsoft.com/office/drawing/2014/main" id="{234FDA90-C30D-4262-9B9C-E5D2C8089B0B}"/>
              </a:ext>
            </a:extLst>
          </p:cNvPr>
          <p:cNvGraphicFramePr>
            <a:graphicFrameLocks/>
          </p:cNvGraphicFramePr>
          <p:nvPr>
            <p:extLst>
              <p:ext uri="{D42A27DB-BD31-4B8C-83A1-F6EECF244321}">
                <p14:modId xmlns:p14="http://schemas.microsoft.com/office/powerpoint/2010/main" val="3794999088"/>
              </p:ext>
            </p:extLst>
          </p:nvPr>
        </p:nvGraphicFramePr>
        <p:xfrm>
          <a:off x="9314655" y="2909905"/>
          <a:ext cx="7987825" cy="5091725"/>
        </p:xfrm>
        <a:graphic>
          <a:graphicData uri="http://schemas.openxmlformats.org/drawingml/2006/chart">
            <c:chart xmlns:c="http://schemas.openxmlformats.org/drawingml/2006/chart" xmlns:r="http://schemas.openxmlformats.org/officeDocument/2006/relationships" r:id="rId10"/>
          </a:graphicData>
        </a:graphic>
      </p:graphicFrame>
    </p:spTree>
    <p:extLst>
      <p:ext uri="{BB962C8B-B14F-4D97-AF65-F5344CB8AC3E}">
        <p14:creationId xmlns:p14="http://schemas.microsoft.com/office/powerpoint/2010/main" val="20120282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0" y="0"/>
            <a:ext cx="18288000" cy="10287000"/>
          </a:xfrm>
          <a:prstGeom prst="rect">
            <a:avLst/>
          </a:prstGeom>
        </p:spPr>
      </p:pic>
      <p:pic>
        <p:nvPicPr>
          <p:cNvPr id="379" name="layoutShapeInnerChild1">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0" y="-329783"/>
            <a:ext cx="18288000" cy="10287000"/>
          </a:xfrm>
          <a:prstGeom prst="rect">
            <a:avLst/>
          </a:prstGeom>
        </p:spPr>
      </p:pic>
      <p:pic>
        <p:nvPicPr>
          <p:cNvPr id="38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3733800" y="3819525"/>
            <a:ext cx="9525" cy="4705350"/>
          </a:xfrm>
          <a:prstGeom prst="rect">
            <a:avLst/>
          </a:prstGeom>
        </p:spPr>
      </p:pic>
      <p:pic>
        <p:nvPicPr>
          <p:cNvPr id="38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7334250" y="3819525"/>
            <a:ext cx="9525" cy="4705350"/>
          </a:xfrm>
          <a:prstGeom prst="rect">
            <a:avLst/>
          </a:prstGeom>
        </p:spPr>
      </p:pic>
      <p:pic>
        <p:nvPicPr>
          <p:cNvPr id="39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10944225" y="3819525"/>
            <a:ext cx="9525" cy="4705350"/>
          </a:xfrm>
          <a:prstGeom prst="rect">
            <a:avLst/>
          </a:prstGeom>
        </p:spPr>
      </p:pic>
      <p:pic>
        <p:nvPicPr>
          <p:cNvPr id="39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14544675" y="3819525"/>
            <a:ext cx="9525" cy="4705350"/>
          </a:xfrm>
          <a:prstGeom prst="rect">
            <a:avLst/>
          </a:prstGeom>
        </p:spPr>
      </p:pic>
      <p:sp>
        <p:nvSpPr>
          <p:cNvPr id="404" name="Click here to edit title-406">
            <a:extLst>
              <a:ext uri="{FF2B5EF4-FFF2-40B4-BE49-F238E27FC236}">
                <a16:creationId xmlns:a16="http://schemas.microsoft.com/office/drawing/2014/main" id="{111B4A49-B930-4A89-A1CD-6CA2B3D95AED}"/>
              </a:ext>
            </a:extLst>
          </p:cNvPr>
          <p:cNvSpPr txBox="1"/>
          <p:nvPr/>
        </p:nvSpPr>
        <p:spPr>
          <a:xfrm>
            <a:off x="1219200" y="940660"/>
            <a:ext cx="15992475" cy="642805"/>
          </a:xfrm>
          <a:prstGeom prst="rect">
            <a:avLst/>
          </a:prstGeom>
          <a:noFill/>
        </p:spPr>
        <p:txBody>
          <a:bodyPr vertOverflow="clip" horzOverflow="clip" wrap="square" lIns="0" tIns="0" rIns="0" bIns="0" rtlCol="0" anchor="ctr">
            <a:spAutoFit/>
          </a:bodyPr>
          <a:lstStyle/>
          <a:p>
            <a:pPr algn="l">
              <a:lnSpc>
                <a:spcPts val="5250"/>
              </a:lnSpc>
            </a:pPr>
            <a:r>
              <a:rPr lang="en-US" sz="4200" spc="-84" dirty="0">
                <a:solidFill>
                  <a:srgbClr val="FFFFFF">
                    <a:alpha val="100000"/>
                  </a:srgbClr>
                </a:solidFill>
                <a:latin typeface="Montserrat Light" panose="00000700000000000000" pitchFamily="2" charset="0"/>
              </a:rPr>
              <a:t>Products- 2027-2028-2029</a:t>
            </a:r>
          </a:p>
        </p:txBody>
      </p:sp>
      <p:sp>
        <p:nvSpPr>
          <p:cNvPr id="405" name="Click here to edit subtitle-461">
            <a:extLst>
              <a:ext uri="{FF2B5EF4-FFF2-40B4-BE49-F238E27FC236}">
                <a16:creationId xmlns:a16="http://schemas.microsoft.com/office/drawing/2014/main" id="{111B4A49-B930-4A89-A1CD-6CA2B3D95AED}"/>
              </a:ext>
            </a:extLst>
          </p:cNvPr>
          <p:cNvSpPr txBox="1"/>
          <p:nvPr/>
        </p:nvSpPr>
        <p:spPr>
          <a:xfrm>
            <a:off x="1219200" y="1790700"/>
            <a:ext cx="15992475" cy="381000"/>
          </a:xfrm>
          <a:prstGeom prst="rect">
            <a:avLst/>
          </a:prstGeom>
          <a:noFill/>
        </p:spPr>
        <p:txBody>
          <a:bodyPr vertOverflow="clip" horzOverflow="clip" wrap="square" lIns="0" tIns="0" rIns="0" bIns="0" rtlCol="0" anchor="ctr">
            <a:spAutoFit/>
          </a:bodyPr>
          <a:lstStyle/>
          <a:p>
            <a:pPr algn="l">
              <a:lnSpc>
                <a:spcPts val="2919"/>
              </a:lnSpc>
            </a:pPr>
            <a:r>
              <a:rPr lang="en-US" sz="2100" spc="-21" dirty="0">
                <a:solidFill>
                  <a:srgbClr val="FFFFFF">
                    <a:alpha val="100000"/>
                  </a:srgbClr>
                </a:solidFill>
                <a:latin typeface="Montserrat Light" panose="00000700000000000000" pitchFamily="2" charset="0"/>
              </a:rPr>
              <a:t>Essential Components and Offerings in the Elevator Industry</a:t>
            </a:r>
          </a:p>
        </p:txBody>
      </p:sp>
      <p:sp>
        <p:nvSpPr>
          <p:cNvPr id="406" name="Click here to edit label-489">
            <a:extLst>
              <a:ext uri="{FF2B5EF4-FFF2-40B4-BE49-F238E27FC236}">
                <a16:creationId xmlns:a16="http://schemas.microsoft.com/office/drawing/2014/main" id="{111B4A49-B930-4A89-A1CD-6CA2B3D95AED}"/>
              </a:ext>
            </a:extLst>
          </p:cNvPr>
          <p:cNvSpPr txBox="1"/>
          <p:nvPr/>
        </p:nvSpPr>
        <p:spPr>
          <a:xfrm>
            <a:off x="1219200" y="571500"/>
            <a:ext cx="15992475" cy="295275"/>
          </a:xfrm>
          <a:prstGeom prst="rect">
            <a:avLst/>
          </a:prstGeom>
          <a:noFill/>
        </p:spPr>
        <p:txBody>
          <a:bodyPr vertOverflow="clip" horzOverflow="clip" wrap="square" lIns="0" tIns="0" rIns="0" bIns="0" rtlCol="0" anchor="ctr">
            <a:spAutoFit/>
          </a:bodyPr>
          <a:lstStyle/>
          <a:p>
            <a:pPr algn="l">
              <a:lnSpc>
                <a:spcPts val="2196"/>
              </a:lnSpc>
            </a:pPr>
            <a:r>
              <a:rPr lang="en-US" sz="1800" spc="990" dirty="0">
                <a:solidFill>
                  <a:srgbClr val="FFFFFF">
                    <a:alpha val="100000"/>
                  </a:srgbClr>
                </a:solidFill>
                <a:latin typeface="Montserrat" panose="00000700000000000000" pitchFamily="2" charset="0"/>
              </a:rPr>
              <a:t>ELEVATOR COMPONENTS AND OFFERINGS</a:t>
            </a:r>
          </a:p>
        </p:txBody>
      </p:sp>
      <p:pic>
        <p:nvPicPr>
          <p:cNvPr id="407"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8">
            <a:alphaModFix/>
          </a:blip>
          <a:stretch/>
        </p:blipFill>
        <p:spPr>
          <a:xfrm>
            <a:off x="590550" y="571500"/>
            <a:ext cx="19050" cy="1590675"/>
          </a:xfrm>
          <a:prstGeom prst="rect">
            <a:avLst/>
          </a:prstGeom>
        </p:spPr>
      </p:pic>
      <p:graphicFrame>
        <p:nvGraphicFramePr>
          <p:cNvPr id="4" name="Chart 3">
            <a:extLst>
              <a:ext uri="{FF2B5EF4-FFF2-40B4-BE49-F238E27FC236}">
                <a16:creationId xmlns:a16="http://schemas.microsoft.com/office/drawing/2014/main" id="{67372647-BBFB-998A-F76D-21ACE2ACA45D}"/>
              </a:ext>
            </a:extLst>
          </p:cNvPr>
          <p:cNvGraphicFramePr>
            <a:graphicFrameLocks/>
          </p:cNvGraphicFramePr>
          <p:nvPr>
            <p:extLst>
              <p:ext uri="{D42A27DB-BD31-4B8C-83A1-F6EECF244321}">
                <p14:modId xmlns:p14="http://schemas.microsoft.com/office/powerpoint/2010/main" val="3775869641"/>
              </p:ext>
            </p:extLst>
          </p:nvPr>
        </p:nvGraphicFramePr>
        <p:xfrm>
          <a:off x="8903276" y="2733675"/>
          <a:ext cx="9038360" cy="5492283"/>
        </p:xfrm>
        <a:graphic>
          <a:graphicData uri="http://schemas.openxmlformats.org/drawingml/2006/chart">
            <c:chart xmlns:c="http://schemas.openxmlformats.org/drawingml/2006/chart" xmlns:r="http://schemas.openxmlformats.org/officeDocument/2006/relationships" r:id="rId9"/>
          </a:graphicData>
        </a:graphic>
      </p:graphicFrame>
      <p:graphicFrame>
        <p:nvGraphicFramePr>
          <p:cNvPr id="5" name="Chart 4">
            <a:extLst>
              <a:ext uri="{FF2B5EF4-FFF2-40B4-BE49-F238E27FC236}">
                <a16:creationId xmlns:a16="http://schemas.microsoft.com/office/drawing/2014/main" id="{626085F5-83B4-8ECD-97AC-00E9A6501D39}"/>
              </a:ext>
            </a:extLst>
          </p:cNvPr>
          <p:cNvGraphicFramePr>
            <a:graphicFrameLocks/>
          </p:cNvGraphicFramePr>
          <p:nvPr>
            <p:extLst>
              <p:ext uri="{D42A27DB-BD31-4B8C-83A1-F6EECF244321}">
                <p14:modId xmlns:p14="http://schemas.microsoft.com/office/powerpoint/2010/main" val="1302250634"/>
              </p:ext>
            </p:extLst>
          </p:nvPr>
        </p:nvGraphicFramePr>
        <p:xfrm>
          <a:off x="457198" y="2733675"/>
          <a:ext cx="7822623" cy="5492283"/>
        </p:xfrm>
        <a:graphic>
          <a:graphicData uri="http://schemas.openxmlformats.org/drawingml/2006/chart">
            <c:chart xmlns:c="http://schemas.openxmlformats.org/drawingml/2006/chart" xmlns:r="http://schemas.openxmlformats.org/officeDocument/2006/relationships" r:id="rId10"/>
          </a:graphicData>
        </a:graphic>
      </p:graphicFrame>
      <p:graphicFrame>
        <p:nvGraphicFramePr>
          <p:cNvPr id="3" name="Chart 2">
            <a:extLst>
              <a:ext uri="{FF2B5EF4-FFF2-40B4-BE49-F238E27FC236}">
                <a16:creationId xmlns:a16="http://schemas.microsoft.com/office/drawing/2014/main" id="{626085F5-83B4-8ECD-97AC-00E9A6501D39}"/>
              </a:ext>
            </a:extLst>
          </p:cNvPr>
          <p:cNvGraphicFramePr>
            <a:graphicFrameLocks/>
          </p:cNvGraphicFramePr>
          <p:nvPr>
            <p:extLst>
              <p:ext uri="{D42A27DB-BD31-4B8C-83A1-F6EECF244321}">
                <p14:modId xmlns:p14="http://schemas.microsoft.com/office/powerpoint/2010/main" val="828595071"/>
              </p:ext>
            </p:extLst>
          </p:nvPr>
        </p:nvGraphicFramePr>
        <p:xfrm>
          <a:off x="8749555" y="2965378"/>
          <a:ext cx="9081247" cy="5458168"/>
        </p:xfrm>
        <a:graphic>
          <a:graphicData uri="http://schemas.openxmlformats.org/drawingml/2006/chart">
            <c:chart xmlns:c="http://schemas.openxmlformats.org/drawingml/2006/chart" xmlns:r="http://schemas.openxmlformats.org/officeDocument/2006/relationships" r:id="rId11"/>
          </a:graphicData>
        </a:graphic>
      </p:graphicFrame>
    </p:spTree>
    <p:extLst>
      <p:ext uri="{BB962C8B-B14F-4D97-AF65-F5344CB8AC3E}">
        <p14:creationId xmlns:p14="http://schemas.microsoft.com/office/powerpoint/2010/main" val="38232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0" y="0"/>
            <a:ext cx="18288000" cy="10287000"/>
          </a:xfrm>
          <a:prstGeom prst="rect">
            <a:avLst/>
          </a:prstGeom>
        </p:spPr>
      </p:pic>
      <p:pic>
        <p:nvPicPr>
          <p:cNvPr id="411"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6534150" y="3257550"/>
            <a:ext cx="28575" cy="7029450"/>
          </a:xfrm>
          <a:prstGeom prst="rect">
            <a:avLst/>
          </a:prstGeom>
        </p:spPr>
      </p:pic>
      <p:pic>
        <p:nvPicPr>
          <p:cNvPr id="41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6457950" y="3162300"/>
            <a:ext cx="190500" cy="190500"/>
          </a:xfrm>
          <a:prstGeom prst="rect">
            <a:avLst/>
          </a:prstGeom>
        </p:spPr>
      </p:pic>
      <p:pic>
        <p:nvPicPr>
          <p:cNvPr id="413" name="Picture 412">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extLst>
              <a:ext uri="{CA7A516F-0D68-4BB0-880C-843EF3A4B65D}">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6477000" y="3238500"/>
            <a:ext cx="476250" cy="28575"/>
          </a:xfrm>
          <a:prstGeom prst="rect">
            <a:avLst/>
          </a:prstGeom>
        </p:spPr>
      </p:pic>
      <p:pic>
        <p:nvPicPr>
          <p:cNvPr id="41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6457950" y="7696200"/>
            <a:ext cx="190500" cy="190500"/>
          </a:xfrm>
          <a:prstGeom prst="rect">
            <a:avLst/>
          </a:prstGeom>
        </p:spPr>
      </p:pic>
      <p:pic>
        <p:nvPicPr>
          <p:cNvPr id="415" name="Picture 414">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extLst>
              <a:ext uri="{39321C1C-F9E6-4245-BD5C-6C0F7AD40069}">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6477000" y="7772400"/>
            <a:ext cx="476250" cy="28575"/>
          </a:xfrm>
          <a:prstGeom prst="rect">
            <a:avLst/>
          </a:prstGeom>
        </p:spPr>
      </p:pic>
      <p:pic>
        <p:nvPicPr>
          <p:cNvPr id="41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6324600" y="3028950"/>
            <a:ext cx="457200" cy="457200"/>
          </a:xfrm>
          <a:prstGeom prst="rect">
            <a:avLst/>
          </a:prstGeom>
        </p:spPr>
      </p:pic>
      <p:sp>
        <p:nvSpPr>
          <p:cNvPr id="417" name="-0">
            <a:extLst>
              <a:ext uri="{FF2B5EF4-FFF2-40B4-BE49-F238E27FC236}">
                <a16:creationId xmlns:a16="http://schemas.microsoft.com/office/drawing/2014/main" id="{111B4A49-B930-4A89-A1CD-6CA2B3D95AED}"/>
              </a:ext>
            </a:extLst>
          </p:cNvPr>
          <p:cNvSpPr txBox="1"/>
          <p:nvPr/>
        </p:nvSpPr>
        <p:spPr>
          <a:xfrm>
            <a:off x="6361652" y="3143250"/>
            <a:ext cx="390525" cy="238125"/>
          </a:xfrm>
          <a:prstGeom prst="rect">
            <a:avLst/>
          </a:prstGeom>
          <a:noFill/>
        </p:spPr>
        <p:txBody>
          <a:bodyPr vertOverflow="clip" horzOverflow="clip" wrap="square" lIns="0" tIns="0" rIns="0" bIns="0" rtlCol="0" anchor="ctr">
            <a:spAutoFit/>
          </a:bodyPr>
          <a:lstStyle/>
          <a:p>
            <a:pPr algn="ctr"/>
            <a:r>
              <a:rPr lang="en-US" sz="1800" b="1" dirty="0">
                <a:solidFill>
                  <a:srgbClr val="15092E">
                    <a:alpha val="100000"/>
                  </a:srgbClr>
                </a:solidFill>
                <a:latin typeface="Montserrat" panose="00000700000000000000" pitchFamily="2" charset="0"/>
              </a:rPr>
              <a:t>#1</a:t>
            </a:r>
          </a:p>
        </p:txBody>
      </p:sp>
      <p:sp>
        <p:nvSpPr>
          <p:cNvPr id="418" name="Primary Heading-0">
            <a:extLst>
              <a:ext uri="{FF2B5EF4-FFF2-40B4-BE49-F238E27FC236}">
                <a16:creationId xmlns:a16="http://schemas.microsoft.com/office/drawing/2014/main" id="{111B4A49-B930-4A89-A1CD-6CA2B3D95AED}"/>
              </a:ext>
            </a:extLst>
          </p:cNvPr>
          <p:cNvSpPr txBox="1"/>
          <p:nvPr/>
        </p:nvSpPr>
        <p:spPr>
          <a:xfrm>
            <a:off x="6972300" y="2725293"/>
            <a:ext cx="10506075" cy="390525"/>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FFFFFF">
                    <a:alpha val="100000"/>
                  </a:srgbClr>
                </a:solidFill>
                <a:latin typeface="Montserrat" panose="00000700000000000000" pitchFamily="2" charset="0"/>
              </a:rPr>
              <a:t>Customization</a:t>
            </a:r>
          </a:p>
        </p:txBody>
      </p:sp>
      <p:sp>
        <p:nvSpPr>
          <p:cNvPr id="419" name="Description of a primary heading-0">
            <a:extLst>
              <a:ext uri="{FF2B5EF4-FFF2-40B4-BE49-F238E27FC236}">
                <a16:creationId xmlns:a16="http://schemas.microsoft.com/office/drawing/2014/main" id="{111B4A49-B930-4A89-A1CD-6CA2B3D95AED}"/>
              </a:ext>
            </a:extLst>
          </p:cNvPr>
          <p:cNvSpPr txBox="1"/>
          <p:nvPr/>
        </p:nvSpPr>
        <p:spPr>
          <a:xfrm>
            <a:off x="6905625" y="3103912"/>
            <a:ext cx="10506075" cy="695325"/>
          </a:xfrm>
          <a:prstGeom prst="rect">
            <a:avLst/>
          </a:prstGeom>
          <a:noFill/>
        </p:spPr>
        <p:txBody>
          <a:bodyPr vertOverflow="clip" horzOverflow="clip" wrap="square" lIns="0" tIns="0" rIns="0" bIns="0" rtlCol="0" anchor="ctr">
            <a:spAutoFit/>
          </a:bodyPr>
          <a:lstStyle/>
          <a:p>
            <a:pPr algn="l">
              <a:lnSpc>
                <a:spcPts val="2700"/>
              </a:lnSpc>
            </a:pPr>
            <a:r>
              <a:rPr lang="en-US" sz="1800" spc="-18" dirty="0">
                <a:solidFill>
                  <a:srgbClr val="FFFFFF">
                    <a:alpha val="100000"/>
                  </a:srgbClr>
                </a:solidFill>
                <a:latin typeface="Montserrat Light" panose="00000700000000000000" pitchFamily="2" charset="0"/>
              </a:rPr>
              <a:t>Offer tailored solutions to meet specific customer requirements, a unique advantage over mass-produced imports.</a:t>
            </a:r>
          </a:p>
        </p:txBody>
      </p:sp>
      <p:pic>
        <p:nvPicPr>
          <p:cNvPr id="42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6324600" y="7562850"/>
            <a:ext cx="457200" cy="457200"/>
          </a:xfrm>
          <a:prstGeom prst="rect">
            <a:avLst/>
          </a:prstGeom>
        </p:spPr>
      </p:pic>
      <p:sp>
        <p:nvSpPr>
          <p:cNvPr id="421" name="-1">
            <a:extLst>
              <a:ext uri="{FF2B5EF4-FFF2-40B4-BE49-F238E27FC236}">
                <a16:creationId xmlns:a16="http://schemas.microsoft.com/office/drawing/2014/main" id="{111B4A49-B930-4A89-A1CD-6CA2B3D95AED}"/>
              </a:ext>
            </a:extLst>
          </p:cNvPr>
          <p:cNvSpPr txBox="1"/>
          <p:nvPr/>
        </p:nvSpPr>
        <p:spPr>
          <a:xfrm>
            <a:off x="6338697" y="7677150"/>
            <a:ext cx="438150" cy="238125"/>
          </a:xfrm>
          <a:prstGeom prst="rect">
            <a:avLst/>
          </a:prstGeom>
          <a:noFill/>
        </p:spPr>
        <p:txBody>
          <a:bodyPr vertOverflow="clip" horzOverflow="clip" wrap="square" lIns="0" tIns="0" rIns="0" bIns="0" rtlCol="0" anchor="ctr">
            <a:spAutoFit/>
          </a:bodyPr>
          <a:lstStyle/>
          <a:p>
            <a:pPr algn="ctr"/>
            <a:r>
              <a:rPr lang="en-US" sz="1800" b="1" dirty="0">
                <a:solidFill>
                  <a:srgbClr val="15092E">
                    <a:alpha val="100000"/>
                  </a:srgbClr>
                </a:solidFill>
                <a:latin typeface="Montserrat" panose="00000700000000000000" pitchFamily="2" charset="0"/>
              </a:rPr>
              <a:t>#2</a:t>
            </a:r>
          </a:p>
        </p:txBody>
      </p:sp>
      <p:sp>
        <p:nvSpPr>
          <p:cNvPr id="422" name="Primary Heading-1">
            <a:extLst>
              <a:ext uri="{FF2B5EF4-FFF2-40B4-BE49-F238E27FC236}">
                <a16:creationId xmlns:a16="http://schemas.microsoft.com/office/drawing/2014/main" id="{111B4A49-B930-4A89-A1CD-6CA2B3D95AED}"/>
              </a:ext>
            </a:extLst>
          </p:cNvPr>
          <p:cNvSpPr txBox="1"/>
          <p:nvPr/>
        </p:nvSpPr>
        <p:spPr>
          <a:xfrm>
            <a:off x="6972300" y="7259193"/>
            <a:ext cx="10506075" cy="390525"/>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F2F1F3">
                    <a:alpha val="100000"/>
                  </a:srgbClr>
                </a:solidFill>
                <a:latin typeface="Montserrat" panose="00000700000000000000" pitchFamily="2" charset="0"/>
              </a:rPr>
              <a:t>Local expertise</a:t>
            </a:r>
          </a:p>
        </p:txBody>
      </p:sp>
      <p:sp>
        <p:nvSpPr>
          <p:cNvPr id="423" name="Description of a primary heading-1">
            <a:extLst>
              <a:ext uri="{FF2B5EF4-FFF2-40B4-BE49-F238E27FC236}">
                <a16:creationId xmlns:a16="http://schemas.microsoft.com/office/drawing/2014/main" id="{111B4A49-B930-4A89-A1CD-6CA2B3D95AED}"/>
              </a:ext>
            </a:extLst>
          </p:cNvPr>
          <p:cNvSpPr txBox="1"/>
          <p:nvPr/>
        </p:nvSpPr>
        <p:spPr>
          <a:xfrm>
            <a:off x="6905625" y="7637812"/>
            <a:ext cx="10506075" cy="695325"/>
          </a:xfrm>
          <a:prstGeom prst="rect">
            <a:avLst/>
          </a:prstGeom>
          <a:noFill/>
        </p:spPr>
        <p:txBody>
          <a:bodyPr vertOverflow="clip" horzOverflow="clip" wrap="square" lIns="0" tIns="0" rIns="0" bIns="0" rtlCol="0" anchor="ctr">
            <a:spAutoFit/>
          </a:bodyPr>
          <a:lstStyle/>
          <a:p>
            <a:pPr algn="l">
              <a:lnSpc>
                <a:spcPts val="2700"/>
              </a:lnSpc>
            </a:pPr>
            <a:r>
              <a:rPr lang="en-US" sz="1800" spc="-18" dirty="0">
                <a:solidFill>
                  <a:srgbClr val="F2F1F3">
                    <a:alpha val="100000"/>
                  </a:srgbClr>
                </a:solidFill>
                <a:latin typeface="Montserrat Light" panose="00000700000000000000" pitchFamily="2" charset="0"/>
              </a:rPr>
              <a:t>Leverage knowledge of local regulations, standards, and customer preferences to build trust and cater effectively to the Indian market.</a:t>
            </a:r>
          </a:p>
        </p:txBody>
      </p:sp>
      <p:sp>
        <p:nvSpPr>
          <p:cNvPr id="424" name="Click here to edit title-463">
            <a:extLst>
              <a:ext uri="{FF2B5EF4-FFF2-40B4-BE49-F238E27FC236}">
                <a16:creationId xmlns:a16="http://schemas.microsoft.com/office/drawing/2014/main" id="{111B4A49-B930-4A89-A1CD-6CA2B3D95AED}"/>
              </a:ext>
            </a:extLst>
          </p:cNvPr>
          <p:cNvSpPr txBox="1"/>
          <p:nvPr/>
        </p:nvSpPr>
        <p:spPr>
          <a:xfrm>
            <a:off x="1219200" y="4114800"/>
            <a:ext cx="2247900" cy="676275"/>
          </a:xfrm>
          <a:prstGeom prst="rect">
            <a:avLst/>
          </a:prstGeom>
          <a:noFill/>
        </p:spPr>
        <p:txBody>
          <a:bodyPr vertOverflow="clip" horzOverflow="clip" wrap="square" lIns="0" tIns="0" rIns="0" bIns="0" rtlCol="0" anchor="ctr">
            <a:spAutoFit/>
          </a:bodyPr>
          <a:lstStyle/>
          <a:p>
            <a:pPr algn="l">
              <a:lnSpc>
                <a:spcPts val="5250"/>
              </a:lnSpc>
            </a:pPr>
            <a:r>
              <a:rPr lang="en-US" sz="4200" spc="-84" dirty="0">
                <a:solidFill>
                  <a:srgbClr val="FFFFFF">
                    <a:alpha val="100000"/>
                  </a:srgbClr>
                </a:solidFill>
                <a:latin typeface="Montserrat Light" panose="00000700000000000000" pitchFamily="2" charset="0"/>
              </a:rPr>
              <a:t>Solution</a:t>
            </a:r>
          </a:p>
        </p:txBody>
      </p:sp>
      <p:sp>
        <p:nvSpPr>
          <p:cNvPr id="425" name="Click here to edit subtitle-463">
            <a:extLst>
              <a:ext uri="{FF2B5EF4-FFF2-40B4-BE49-F238E27FC236}">
                <a16:creationId xmlns:a16="http://schemas.microsoft.com/office/drawing/2014/main" id="{111B4A49-B930-4A89-A1CD-6CA2B3D95AED}"/>
              </a:ext>
            </a:extLst>
          </p:cNvPr>
          <p:cNvSpPr txBox="1"/>
          <p:nvPr/>
        </p:nvSpPr>
        <p:spPr>
          <a:xfrm>
            <a:off x="1219200" y="5219700"/>
            <a:ext cx="4829175" cy="1104900"/>
          </a:xfrm>
          <a:prstGeom prst="rect">
            <a:avLst/>
          </a:prstGeom>
          <a:noFill/>
        </p:spPr>
        <p:txBody>
          <a:bodyPr vertOverflow="clip" horzOverflow="clip" wrap="square" lIns="0" tIns="0" rIns="0" bIns="0" rtlCol="0" anchor="ctr">
            <a:spAutoFit/>
          </a:bodyPr>
          <a:lstStyle/>
          <a:p>
            <a:pPr algn="l">
              <a:lnSpc>
                <a:spcPts val="2919"/>
              </a:lnSpc>
            </a:pPr>
            <a:r>
              <a:rPr lang="en-US" sz="2100" spc="-21" dirty="0">
                <a:solidFill>
                  <a:srgbClr val="FFFFFF">
                    <a:alpha val="100000"/>
                  </a:srgbClr>
                </a:solidFill>
                <a:latin typeface="Montserrat Light" panose="00000700000000000000" pitchFamily="2" charset="0"/>
              </a:rPr>
              <a:t>Strategies for Market Expansion and Competitive Positioning in India's Elevator Industry</a:t>
            </a:r>
          </a:p>
        </p:txBody>
      </p:sp>
      <p:sp>
        <p:nvSpPr>
          <p:cNvPr id="426" name="Click here to edit label-400">
            <a:extLst>
              <a:ext uri="{FF2B5EF4-FFF2-40B4-BE49-F238E27FC236}">
                <a16:creationId xmlns:a16="http://schemas.microsoft.com/office/drawing/2014/main" id="{111B4A49-B930-4A89-A1CD-6CA2B3D95AED}"/>
              </a:ext>
            </a:extLst>
          </p:cNvPr>
          <p:cNvSpPr txBox="1"/>
          <p:nvPr/>
        </p:nvSpPr>
        <p:spPr>
          <a:xfrm>
            <a:off x="1219200" y="3771900"/>
            <a:ext cx="4829175" cy="295275"/>
          </a:xfrm>
          <a:prstGeom prst="rect">
            <a:avLst/>
          </a:prstGeom>
          <a:noFill/>
        </p:spPr>
        <p:txBody>
          <a:bodyPr vertOverflow="clip" horzOverflow="clip" wrap="square" lIns="0" tIns="0" rIns="0" bIns="0" rtlCol="0" anchor="ctr">
            <a:spAutoFit/>
          </a:bodyPr>
          <a:lstStyle/>
          <a:p>
            <a:pPr algn="l">
              <a:lnSpc>
                <a:spcPts val="2196"/>
              </a:lnSpc>
            </a:pPr>
            <a:r>
              <a:rPr lang="en-US" sz="1800" spc="990" dirty="0">
                <a:solidFill>
                  <a:srgbClr val="FFFFFF">
                    <a:alpha val="100000"/>
                  </a:srgbClr>
                </a:solidFill>
                <a:latin typeface="Montserrat" panose="00000700000000000000" pitchFamily="2" charset="0"/>
              </a:rPr>
              <a:t>STRATEGY</a:t>
            </a:r>
          </a:p>
        </p:txBody>
      </p:sp>
      <p:pic>
        <p:nvPicPr>
          <p:cNvPr id="427"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8">
            <a:alphaModFix/>
          </a:blip>
          <a:stretch/>
        </p:blipFill>
        <p:spPr>
          <a:xfrm>
            <a:off x="590550" y="3771900"/>
            <a:ext cx="19050" cy="2543175"/>
          </a:xfrm>
          <a:prstGeom prst="rect">
            <a:avLst/>
          </a:prstGeom>
        </p:spPr>
      </p:pic>
    </p:spTree>
    <p:extLst>
      <p:ext uri="{BB962C8B-B14F-4D97-AF65-F5344CB8AC3E}">
        <p14:creationId xmlns:p14="http://schemas.microsoft.com/office/powerpoint/2010/main" val="36480479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0" y="0"/>
            <a:ext cx="18288000" cy="10287000"/>
          </a:xfrm>
          <a:prstGeom prst="rect">
            <a:avLst/>
          </a:prstGeom>
        </p:spPr>
      </p:pic>
      <p:pic>
        <p:nvPicPr>
          <p:cNvPr id="431"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6534150" y="0"/>
            <a:ext cx="28575" cy="10287000"/>
          </a:xfrm>
          <a:prstGeom prst="rect">
            <a:avLst/>
          </a:prstGeom>
        </p:spPr>
      </p:pic>
      <p:pic>
        <p:nvPicPr>
          <p:cNvPr id="43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6457950" y="3162300"/>
            <a:ext cx="190500" cy="190500"/>
          </a:xfrm>
          <a:prstGeom prst="rect">
            <a:avLst/>
          </a:prstGeom>
        </p:spPr>
      </p:pic>
      <p:pic>
        <p:nvPicPr>
          <p:cNvPr id="433" name="Picture 432">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extLst>
              <a:ext uri="{DC6D1309-E234-4C3F-BB8E-EBA87E47A774}">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6477000" y="3238500"/>
            <a:ext cx="476250" cy="28575"/>
          </a:xfrm>
          <a:prstGeom prst="rect">
            <a:avLst/>
          </a:prstGeom>
        </p:spPr>
      </p:pic>
      <p:pic>
        <p:nvPicPr>
          <p:cNvPr id="43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6457950" y="7696200"/>
            <a:ext cx="190500" cy="190500"/>
          </a:xfrm>
          <a:prstGeom prst="rect">
            <a:avLst/>
          </a:prstGeom>
        </p:spPr>
      </p:pic>
      <p:pic>
        <p:nvPicPr>
          <p:cNvPr id="435" name="Picture 434">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extLst>
              <a:ext uri="{BC5F6533-D315-45D8-9383-537CBEC191C1}">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6477000" y="7772400"/>
            <a:ext cx="476250" cy="28575"/>
          </a:xfrm>
          <a:prstGeom prst="rect">
            <a:avLst/>
          </a:prstGeom>
        </p:spPr>
      </p:pic>
      <p:pic>
        <p:nvPicPr>
          <p:cNvPr id="43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6324600" y="3028950"/>
            <a:ext cx="457200" cy="457200"/>
          </a:xfrm>
          <a:prstGeom prst="rect">
            <a:avLst/>
          </a:prstGeom>
        </p:spPr>
      </p:pic>
      <p:sp>
        <p:nvSpPr>
          <p:cNvPr id="437" name="-2">
            <a:extLst>
              <a:ext uri="{FF2B5EF4-FFF2-40B4-BE49-F238E27FC236}">
                <a16:creationId xmlns:a16="http://schemas.microsoft.com/office/drawing/2014/main" id="{111B4A49-B930-4A89-A1CD-6CA2B3D95AED}"/>
              </a:ext>
            </a:extLst>
          </p:cNvPr>
          <p:cNvSpPr txBox="1"/>
          <p:nvPr/>
        </p:nvSpPr>
        <p:spPr>
          <a:xfrm>
            <a:off x="6338697" y="3143250"/>
            <a:ext cx="438150" cy="238125"/>
          </a:xfrm>
          <a:prstGeom prst="rect">
            <a:avLst/>
          </a:prstGeom>
          <a:noFill/>
        </p:spPr>
        <p:txBody>
          <a:bodyPr vertOverflow="clip" horzOverflow="clip" wrap="square" lIns="0" tIns="0" rIns="0" bIns="0" rtlCol="0" anchor="ctr">
            <a:spAutoFit/>
          </a:bodyPr>
          <a:lstStyle/>
          <a:p>
            <a:pPr algn="ctr"/>
            <a:r>
              <a:rPr lang="en-US" sz="1800" b="1" dirty="0">
                <a:solidFill>
                  <a:srgbClr val="15092E">
                    <a:alpha val="100000"/>
                  </a:srgbClr>
                </a:solidFill>
                <a:latin typeface="Montserrat" panose="00000700000000000000" pitchFamily="2" charset="0"/>
              </a:rPr>
              <a:t>#3</a:t>
            </a:r>
          </a:p>
        </p:txBody>
      </p:sp>
      <p:sp>
        <p:nvSpPr>
          <p:cNvPr id="438" name="Primary Heading-2">
            <a:extLst>
              <a:ext uri="{FF2B5EF4-FFF2-40B4-BE49-F238E27FC236}">
                <a16:creationId xmlns:a16="http://schemas.microsoft.com/office/drawing/2014/main" id="{111B4A49-B930-4A89-A1CD-6CA2B3D95AED}"/>
              </a:ext>
            </a:extLst>
          </p:cNvPr>
          <p:cNvSpPr txBox="1"/>
          <p:nvPr/>
        </p:nvSpPr>
        <p:spPr>
          <a:xfrm>
            <a:off x="6972300" y="2725293"/>
            <a:ext cx="10506075" cy="390525"/>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EBEAED">
                    <a:alpha val="100000"/>
                  </a:srgbClr>
                </a:solidFill>
                <a:latin typeface="Montserrat" panose="00000700000000000000" pitchFamily="2" charset="0"/>
              </a:rPr>
              <a:t>After-sales service</a:t>
            </a:r>
          </a:p>
        </p:txBody>
      </p:sp>
      <p:sp>
        <p:nvSpPr>
          <p:cNvPr id="439" name="Description of a primary heading-2">
            <a:extLst>
              <a:ext uri="{FF2B5EF4-FFF2-40B4-BE49-F238E27FC236}">
                <a16:creationId xmlns:a16="http://schemas.microsoft.com/office/drawing/2014/main" id="{111B4A49-B930-4A89-A1CD-6CA2B3D95AED}"/>
              </a:ext>
            </a:extLst>
          </p:cNvPr>
          <p:cNvSpPr txBox="1"/>
          <p:nvPr/>
        </p:nvSpPr>
        <p:spPr>
          <a:xfrm>
            <a:off x="6905625" y="3103912"/>
            <a:ext cx="10506075" cy="695325"/>
          </a:xfrm>
          <a:prstGeom prst="rect">
            <a:avLst/>
          </a:prstGeom>
          <a:noFill/>
        </p:spPr>
        <p:txBody>
          <a:bodyPr vertOverflow="clip" horzOverflow="clip" wrap="square" lIns="0" tIns="0" rIns="0" bIns="0" rtlCol="0" anchor="ctr">
            <a:spAutoFit/>
          </a:bodyPr>
          <a:lstStyle/>
          <a:p>
            <a:pPr algn="l">
              <a:lnSpc>
                <a:spcPts val="2700"/>
              </a:lnSpc>
            </a:pPr>
            <a:r>
              <a:rPr lang="en-US" sz="1800" spc="-18" dirty="0">
                <a:solidFill>
                  <a:srgbClr val="EBEAED">
                    <a:alpha val="100000"/>
                  </a:srgbClr>
                </a:solidFill>
                <a:latin typeface="Montserrat Light" panose="00000700000000000000" pitchFamily="2" charset="0"/>
              </a:rPr>
              <a:t>Provide superior customer support, including maintenance and repairs, addressing a common challenge faced by imported products in the market.</a:t>
            </a:r>
          </a:p>
        </p:txBody>
      </p:sp>
      <p:pic>
        <p:nvPicPr>
          <p:cNvPr id="44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6324600" y="7562850"/>
            <a:ext cx="457200" cy="457200"/>
          </a:xfrm>
          <a:prstGeom prst="rect">
            <a:avLst/>
          </a:prstGeom>
        </p:spPr>
      </p:pic>
      <p:sp>
        <p:nvSpPr>
          <p:cNvPr id="441" name="-3">
            <a:extLst>
              <a:ext uri="{FF2B5EF4-FFF2-40B4-BE49-F238E27FC236}">
                <a16:creationId xmlns:a16="http://schemas.microsoft.com/office/drawing/2014/main" id="{111B4A49-B930-4A89-A1CD-6CA2B3D95AED}"/>
              </a:ext>
            </a:extLst>
          </p:cNvPr>
          <p:cNvSpPr txBox="1"/>
          <p:nvPr/>
        </p:nvSpPr>
        <p:spPr>
          <a:xfrm>
            <a:off x="6327553" y="7677150"/>
            <a:ext cx="457200" cy="238125"/>
          </a:xfrm>
          <a:prstGeom prst="rect">
            <a:avLst/>
          </a:prstGeom>
          <a:noFill/>
        </p:spPr>
        <p:txBody>
          <a:bodyPr vertOverflow="clip" horzOverflow="clip" wrap="square" lIns="0" tIns="0" rIns="0" bIns="0" rtlCol="0" anchor="ctr">
            <a:spAutoFit/>
          </a:bodyPr>
          <a:lstStyle/>
          <a:p>
            <a:pPr algn="ctr"/>
            <a:r>
              <a:rPr lang="en-US" sz="1800" b="1" dirty="0">
                <a:solidFill>
                  <a:srgbClr val="15092E">
                    <a:alpha val="100000"/>
                  </a:srgbClr>
                </a:solidFill>
                <a:latin typeface="Montserrat" panose="00000700000000000000" pitchFamily="2" charset="0"/>
              </a:rPr>
              <a:t>#4</a:t>
            </a:r>
          </a:p>
        </p:txBody>
      </p:sp>
      <p:sp>
        <p:nvSpPr>
          <p:cNvPr id="442" name="Primary Heading-3">
            <a:extLst>
              <a:ext uri="{FF2B5EF4-FFF2-40B4-BE49-F238E27FC236}">
                <a16:creationId xmlns:a16="http://schemas.microsoft.com/office/drawing/2014/main" id="{111B4A49-B930-4A89-A1CD-6CA2B3D95AED}"/>
              </a:ext>
            </a:extLst>
          </p:cNvPr>
          <p:cNvSpPr txBox="1"/>
          <p:nvPr/>
        </p:nvSpPr>
        <p:spPr>
          <a:xfrm>
            <a:off x="6972300" y="7259193"/>
            <a:ext cx="10506075" cy="390525"/>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E5E3E7">
                    <a:alpha val="100000"/>
                  </a:srgbClr>
                </a:solidFill>
                <a:latin typeface="Montserrat" panose="00000700000000000000" pitchFamily="2" charset="0"/>
              </a:rPr>
              <a:t>Quick turnaround</a:t>
            </a:r>
          </a:p>
        </p:txBody>
      </p:sp>
      <p:sp>
        <p:nvSpPr>
          <p:cNvPr id="443" name="Description of a primary heading-3">
            <a:extLst>
              <a:ext uri="{FF2B5EF4-FFF2-40B4-BE49-F238E27FC236}">
                <a16:creationId xmlns:a16="http://schemas.microsoft.com/office/drawing/2014/main" id="{111B4A49-B930-4A89-A1CD-6CA2B3D95AED}"/>
              </a:ext>
            </a:extLst>
          </p:cNvPr>
          <p:cNvSpPr txBox="1"/>
          <p:nvPr/>
        </p:nvSpPr>
        <p:spPr>
          <a:xfrm>
            <a:off x="6905625" y="7637812"/>
            <a:ext cx="10506075" cy="695325"/>
          </a:xfrm>
          <a:prstGeom prst="rect">
            <a:avLst/>
          </a:prstGeom>
          <a:noFill/>
        </p:spPr>
        <p:txBody>
          <a:bodyPr vertOverflow="clip" horzOverflow="clip" wrap="square" lIns="0" tIns="0" rIns="0" bIns="0" rtlCol="0" anchor="ctr">
            <a:spAutoFit/>
          </a:bodyPr>
          <a:lstStyle/>
          <a:p>
            <a:pPr algn="l">
              <a:lnSpc>
                <a:spcPts val="2700"/>
              </a:lnSpc>
            </a:pPr>
            <a:r>
              <a:rPr lang="en-US" sz="1800" spc="-18" dirty="0">
                <a:solidFill>
                  <a:srgbClr val="E5E3E7">
                    <a:alpha val="100000"/>
                  </a:srgbClr>
                </a:solidFill>
                <a:latin typeface="Montserrat Light" panose="00000700000000000000" pitchFamily="2" charset="0"/>
              </a:rPr>
              <a:t>Leverage proximity to the market to ensure faster delivery times compared to overseas suppliers, enhancing customer satisfaction.</a:t>
            </a:r>
          </a:p>
        </p:txBody>
      </p:sp>
      <p:sp>
        <p:nvSpPr>
          <p:cNvPr id="444" name="Click here to edit title-410">
            <a:extLst>
              <a:ext uri="{FF2B5EF4-FFF2-40B4-BE49-F238E27FC236}">
                <a16:creationId xmlns:a16="http://schemas.microsoft.com/office/drawing/2014/main" id="{111B4A49-B930-4A89-A1CD-6CA2B3D95AED}"/>
              </a:ext>
            </a:extLst>
          </p:cNvPr>
          <p:cNvSpPr txBox="1"/>
          <p:nvPr/>
        </p:nvSpPr>
        <p:spPr>
          <a:xfrm>
            <a:off x="1219200" y="4114800"/>
            <a:ext cx="2247900" cy="676275"/>
          </a:xfrm>
          <a:prstGeom prst="rect">
            <a:avLst/>
          </a:prstGeom>
          <a:noFill/>
        </p:spPr>
        <p:txBody>
          <a:bodyPr vertOverflow="clip" horzOverflow="clip" wrap="square" lIns="0" tIns="0" rIns="0" bIns="0" rtlCol="0" anchor="ctr">
            <a:spAutoFit/>
          </a:bodyPr>
          <a:lstStyle/>
          <a:p>
            <a:pPr algn="l">
              <a:lnSpc>
                <a:spcPts val="5250"/>
              </a:lnSpc>
            </a:pPr>
            <a:r>
              <a:rPr lang="en-US" sz="4200" spc="-84" dirty="0">
                <a:solidFill>
                  <a:srgbClr val="FFFFFF">
                    <a:alpha val="100000"/>
                  </a:srgbClr>
                </a:solidFill>
                <a:latin typeface="Montserrat Light" panose="00000700000000000000" pitchFamily="2" charset="0"/>
              </a:rPr>
              <a:t>Solution</a:t>
            </a:r>
          </a:p>
        </p:txBody>
      </p:sp>
      <p:sp>
        <p:nvSpPr>
          <p:cNvPr id="445" name="Click here to edit subtitle-483">
            <a:extLst>
              <a:ext uri="{FF2B5EF4-FFF2-40B4-BE49-F238E27FC236}">
                <a16:creationId xmlns:a16="http://schemas.microsoft.com/office/drawing/2014/main" id="{111B4A49-B930-4A89-A1CD-6CA2B3D95AED}"/>
              </a:ext>
            </a:extLst>
          </p:cNvPr>
          <p:cNvSpPr txBox="1"/>
          <p:nvPr/>
        </p:nvSpPr>
        <p:spPr>
          <a:xfrm>
            <a:off x="1219200" y="5219700"/>
            <a:ext cx="4829175" cy="1104900"/>
          </a:xfrm>
          <a:prstGeom prst="rect">
            <a:avLst/>
          </a:prstGeom>
          <a:noFill/>
        </p:spPr>
        <p:txBody>
          <a:bodyPr vertOverflow="clip" horzOverflow="clip" wrap="square" lIns="0" tIns="0" rIns="0" bIns="0" rtlCol="0" anchor="ctr">
            <a:spAutoFit/>
          </a:bodyPr>
          <a:lstStyle/>
          <a:p>
            <a:pPr algn="l">
              <a:lnSpc>
                <a:spcPts val="2919"/>
              </a:lnSpc>
            </a:pPr>
            <a:r>
              <a:rPr lang="en-US" sz="2100" spc="-21" dirty="0">
                <a:solidFill>
                  <a:srgbClr val="FFFFFF">
                    <a:alpha val="100000"/>
                  </a:srgbClr>
                </a:solidFill>
                <a:latin typeface="Montserrat Light" panose="00000700000000000000" pitchFamily="2" charset="0"/>
              </a:rPr>
              <a:t>Strategies for Market Expansion and Competitive Positioning in India's Elevator Industry</a:t>
            </a:r>
          </a:p>
        </p:txBody>
      </p:sp>
      <p:sp>
        <p:nvSpPr>
          <p:cNvPr id="446" name="Click here to edit label-442">
            <a:extLst>
              <a:ext uri="{FF2B5EF4-FFF2-40B4-BE49-F238E27FC236}">
                <a16:creationId xmlns:a16="http://schemas.microsoft.com/office/drawing/2014/main" id="{111B4A49-B930-4A89-A1CD-6CA2B3D95AED}"/>
              </a:ext>
            </a:extLst>
          </p:cNvPr>
          <p:cNvSpPr txBox="1"/>
          <p:nvPr/>
        </p:nvSpPr>
        <p:spPr>
          <a:xfrm>
            <a:off x="1219200" y="3771900"/>
            <a:ext cx="4829175" cy="295275"/>
          </a:xfrm>
          <a:prstGeom prst="rect">
            <a:avLst/>
          </a:prstGeom>
          <a:noFill/>
        </p:spPr>
        <p:txBody>
          <a:bodyPr vertOverflow="clip" horzOverflow="clip" wrap="square" lIns="0" tIns="0" rIns="0" bIns="0" rtlCol="0" anchor="ctr">
            <a:spAutoFit/>
          </a:bodyPr>
          <a:lstStyle/>
          <a:p>
            <a:pPr algn="l">
              <a:lnSpc>
                <a:spcPts val="2196"/>
              </a:lnSpc>
            </a:pPr>
            <a:r>
              <a:rPr lang="en-US" sz="1800" spc="990" dirty="0">
                <a:solidFill>
                  <a:srgbClr val="FFFFFF">
                    <a:alpha val="100000"/>
                  </a:srgbClr>
                </a:solidFill>
                <a:latin typeface="Montserrat" panose="00000700000000000000" pitchFamily="2" charset="0"/>
              </a:rPr>
              <a:t>STRATEGY</a:t>
            </a:r>
          </a:p>
        </p:txBody>
      </p:sp>
      <p:pic>
        <p:nvPicPr>
          <p:cNvPr id="447"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8">
            <a:alphaModFix/>
          </a:blip>
          <a:stretch/>
        </p:blipFill>
        <p:spPr>
          <a:xfrm>
            <a:off x="590550" y="3771900"/>
            <a:ext cx="19050" cy="2543175"/>
          </a:xfrm>
          <a:prstGeom prst="rect">
            <a:avLst/>
          </a:prstGeom>
        </p:spPr>
      </p:pic>
    </p:spTree>
    <p:extLst>
      <p:ext uri="{BB962C8B-B14F-4D97-AF65-F5344CB8AC3E}">
        <p14:creationId xmlns:p14="http://schemas.microsoft.com/office/powerpoint/2010/main" val="36480479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0" y="0"/>
            <a:ext cx="18288000" cy="10287000"/>
          </a:xfrm>
          <a:prstGeom prst="rect">
            <a:avLst/>
          </a:prstGeom>
        </p:spPr>
      </p:pic>
      <p:pic>
        <p:nvPicPr>
          <p:cNvPr id="451"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6534150" y="0"/>
            <a:ext cx="28575" cy="7791450"/>
          </a:xfrm>
          <a:prstGeom prst="rect">
            <a:avLst/>
          </a:prstGeom>
        </p:spPr>
      </p:pic>
      <p:pic>
        <p:nvPicPr>
          <p:cNvPr id="45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6457950" y="3162300"/>
            <a:ext cx="190500" cy="190500"/>
          </a:xfrm>
          <a:prstGeom prst="rect">
            <a:avLst/>
          </a:prstGeom>
        </p:spPr>
      </p:pic>
      <p:pic>
        <p:nvPicPr>
          <p:cNvPr id="453" name="Picture 452">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extLst>
              <a:ext uri="{9045A99A-0E94-47CC-902B-47D12BA86220}">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6477000" y="3238500"/>
            <a:ext cx="476250" cy="28575"/>
          </a:xfrm>
          <a:prstGeom prst="rect">
            <a:avLst/>
          </a:prstGeom>
        </p:spPr>
      </p:pic>
      <p:pic>
        <p:nvPicPr>
          <p:cNvPr id="45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6457950" y="7696200"/>
            <a:ext cx="190500" cy="190500"/>
          </a:xfrm>
          <a:prstGeom prst="rect">
            <a:avLst/>
          </a:prstGeom>
        </p:spPr>
      </p:pic>
      <p:pic>
        <p:nvPicPr>
          <p:cNvPr id="455" name="Picture 454">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extLst>
              <a:ext uri="{A6E0815F-CF91-4B8A-86EB-30F42ABB4707}">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6477000" y="7772400"/>
            <a:ext cx="476250" cy="28575"/>
          </a:xfrm>
          <a:prstGeom prst="rect">
            <a:avLst/>
          </a:prstGeom>
        </p:spPr>
      </p:pic>
      <p:pic>
        <p:nvPicPr>
          <p:cNvPr id="45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6324600" y="3028950"/>
            <a:ext cx="457200" cy="457200"/>
          </a:xfrm>
          <a:prstGeom prst="rect">
            <a:avLst/>
          </a:prstGeom>
        </p:spPr>
      </p:pic>
      <p:sp>
        <p:nvSpPr>
          <p:cNvPr id="457" name="-4">
            <a:extLst>
              <a:ext uri="{FF2B5EF4-FFF2-40B4-BE49-F238E27FC236}">
                <a16:creationId xmlns:a16="http://schemas.microsoft.com/office/drawing/2014/main" id="{111B4A49-B930-4A89-A1CD-6CA2B3D95AED}"/>
              </a:ext>
            </a:extLst>
          </p:cNvPr>
          <p:cNvSpPr txBox="1"/>
          <p:nvPr/>
        </p:nvSpPr>
        <p:spPr>
          <a:xfrm>
            <a:off x="6338411" y="3143250"/>
            <a:ext cx="438150" cy="238125"/>
          </a:xfrm>
          <a:prstGeom prst="rect">
            <a:avLst/>
          </a:prstGeom>
          <a:noFill/>
        </p:spPr>
        <p:txBody>
          <a:bodyPr vertOverflow="clip" horzOverflow="clip" wrap="square" lIns="0" tIns="0" rIns="0" bIns="0" rtlCol="0" anchor="ctr">
            <a:spAutoFit/>
          </a:bodyPr>
          <a:lstStyle/>
          <a:p>
            <a:pPr algn="ctr"/>
            <a:r>
              <a:rPr lang="en-US" sz="1800" b="1" dirty="0">
                <a:solidFill>
                  <a:srgbClr val="15092E">
                    <a:alpha val="100000"/>
                  </a:srgbClr>
                </a:solidFill>
                <a:latin typeface="Montserrat" panose="00000700000000000000" pitchFamily="2" charset="0"/>
              </a:rPr>
              <a:t>#5</a:t>
            </a:r>
          </a:p>
        </p:txBody>
      </p:sp>
      <p:sp>
        <p:nvSpPr>
          <p:cNvPr id="458" name="Primary Heading-4">
            <a:extLst>
              <a:ext uri="{FF2B5EF4-FFF2-40B4-BE49-F238E27FC236}">
                <a16:creationId xmlns:a16="http://schemas.microsoft.com/office/drawing/2014/main" id="{111B4A49-B930-4A89-A1CD-6CA2B3D95AED}"/>
              </a:ext>
            </a:extLst>
          </p:cNvPr>
          <p:cNvSpPr txBox="1"/>
          <p:nvPr/>
        </p:nvSpPr>
        <p:spPr>
          <a:xfrm>
            <a:off x="6972300" y="2725293"/>
            <a:ext cx="10506075" cy="390525"/>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DEDCE1">
                    <a:alpha val="100000"/>
                  </a:srgbClr>
                </a:solidFill>
                <a:latin typeface="Montserrat" panose="00000700000000000000" pitchFamily="2" charset="0"/>
              </a:rPr>
              <a:t>Sustainability</a:t>
            </a:r>
          </a:p>
        </p:txBody>
      </p:sp>
      <p:sp>
        <p:nvSpPr>
          <p:cNvPr id="459" name="Description of a primary heading-4">
            <a:extLst>
              <a:ext uri="{FF2B5EF4-FFF2-40B4-BE49-F238E27FC236}">
                <a16:creationId xmlns:a16="http://schemas.microsoft.com/office/drawing/2014/main" id="{111B4A49-B930-4A89-A1CD-6CA2B3D95AED}"/>
              </a:ext>
            </a:extLst>
          </p:cNvPr>
          <p:cNvSpPr txBox="1"/>
          <p:nvPr/>
        </p:nvSpPr>
        <p:spPr>
          <a:xfrm>
            <a:off x="6905625" y="3103912"/>
            <a:ext cx="10506075" cy="695325"/>
          </a:xfrm>
          <a:prstGeom prst="rect">
            <a:avLst/>
          </a:prstGeom>
          <a:noFill/>
        </p:spPr>
        <p:txBody>
          <a:bodyPr vertOverflow="clip" horzOverflow="clip" wrap="square" lIns="0" tIns="0" rIns="0" bIns="0" rtlCol="0" anchor="ctr">
            <a:spAutoFit/>
          </a:bodyPr>
          <a:lstStyle/>
          <a:p>
            <a:pPr algn="l">
              <a:lnSpc>
                <a:spcPts val="2700"/>
              </a:lnSpc>
            </a:pPr>
            <a:r>
              <a:rPr lang="en-US" sz="1800" spc="-18" dirty="0">
                <a:solidFill>
                  <a:srgbClr val="DEDCE1">
                    <a:alpha val="100000"/>
                  </a:srgbClr>
                </a:solidFill>
                <a:latin typeface="Montserrat Light" panose="00000700000000000000" pitchFamily="2" charset="0"/>
              </a:rPr>
              <a:t>Highlight eco-friendly materials and processes to attract environmentally conscious consumers and align with sustainable trends in the industry.</a:t>
            </a:r>
          </a:p>
        </p:txBody>
      </p:sp>
      <p:pic>
        <p:nvPicPr>
          <p:cNvPr id="46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6324600" y="7562850"/>
            <a:ext cx="457200" cy="457200"/>
          </a:xfrm>
          <a:prstGeom prst="rect">
            <a:avLst/>
          </a:prstGeom>
        </p:spPr>
      </p:pic>
      <p:sp>
        <p:nvSpPr>
          <p:cNvPr id="461" name="-5">
            <a:extLst>
              <a:ext uri="{FF2B5EF4-FFF2-40B4-BE49-F238E27FC236}">
                <a16:creationId xmlns:a16="http://schemas.microsoft.com/office/drawing/2014/main" id="{111B4A49-B930-4A89-A1CD-6CA2B3D95AED}"/>
              </a:ext>
            </a:extLst>
          </p:cNvPr>
          <p:cNvSpPr txBox="1"/>
          <p:nvPr/>
        </p:nvSpPr>
        <p:spPr>
          <a:xfrm>
            <a:off x="6333554" y="7677150"/>
            <a:ext cx="447675" cy="238125"/>
          </a:xfrm>
          <a:prstGeom prst="rect">
            <a:avLst/>
          </a:prstGeom>
          <a:noFill/>
        </p:spPr>
        <p:txBody>
          <a:bodyPr vertOverflow="clip" horzOverflow="clip" wrap="square" lIns="0" tIns="0" rIns="0" bIns="0" rtlCol="0" anchor="ctr">
            <a:spAutoFit/>
          </a:bodyPr>
          <a:lstStyle/>
          <a:p>
            <a:pPr algn="ctr"/>
            <a:r>
              <a:rPr lang="en-US" sz="1800" b="1" dirty="0">
                <a:solidFill>
                  <a:srgbClr val="15092E">
                    <a:alpha val="100000"/>
                  </a:srgbClr>
                </a:solidFill>
                <a:latin typeface="Montserrat" panose="00000700000000000000" pitchFamily="2" charset="0"/>
              </a:rPr>
              <a:t>#6</a:t>
            </a:r>
          </a:p>
        </p:txBody>
      </p:sp>
      <p:sp>
        <p:nvSpPr>
          <p:cNvPr id="462" name="Primary Heading-5">
            <a:extLst>
              <a:ext uri="{FF2B5EF4-FFF2-40B4-BE49-F238E27FC236}">
                <a16:creationId xmlns:a16="http://schemas.microsoft.com/office/drawing/2014/main" id="{111B4A49-B930-4A89-A1CD-6CA2B3D95AED}"/>
              </a:ext>
            </a:extLst>
          </p:cNvPr>
          <p:cNvSpPr txBox="1"/>
          <p:nvPr/>
        </p:nvSpPr>
        <p:spPr>
          <a:xfrm>
            <a:off x="6972300" y="7259193"/>
            <a:ext cx="10506075" cy="390525"/>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D8D6DC">
                    <a:alpha val="100000"/>
                  </a:srgbClr>
                </a:solidFill>
                <a:latin typeface="Montserrat" panose="00000700000000000000" pitchFamily="2" charset="0"/>
              </a:rPr>
              <a:t>Technology integration</a:t>
            </a:r>
          </a:p>
        </p:txBody>
      </p:sp>
      <p:sp>
        <p:nvSpPr>
          <p:cNvPr id="463" name="Description of a primary heading-5">
            <a:extLst>
              <a:ext uri="{FF2B5EF4-FFF2-40B4-BE49-F238E27FC236}">
                <a16:creationId xmlns:a16="http://schemas.microsoft.com/office/drawing/2014/main" id="{111B4A49-B930-4A89-A1CD-6CA2B3D95AED}"/>
              </a:ext>
            </a:extLst>
          </p:cNvPr>
          <p:cNvSpPr txBox="1"/>
          <p:nvPr/>
        </p:nvSpPr>
        <p:spPr>
          <a:xfrm>
            <a:off x="6905625" y="7637812"/>
            <a:ext cx="10506075" cy="695325"/>
          </a:xfrm>
          <a:prstGeom prst="rect">
            <a:avLst/>
          </a:prstGeom>
          <a:noFill/>
        </p:spPr>
        <p:txBody>
          <a:bodyPr vertOverflow="clip" horzOverflow="clip" wrap="square" lIns="0" tIns="0" rIns="0" bIns="0" rtlCol="0" anchor="ctr">
            <a:spAutoFit/>
          </a:bodyPr>
          <a:lstStyle/>
          <a:p>
            <a:pPr algn="l">
              <a:lnSpc>
                <a:spcPts val="2700"/>
              </a:lnSpc>
            </a:pPr>
            <a:r>
              <a:rPr lang="en-US" sz="1800" spc="-18" dirty="0">
                <a:solidFill>
                  <a:srgbClr val="D8D6DC">
                    <a:alpha val="100000"/>
                  </a:srgbClr>
                </a:solidFill>
                <a:latin typeface="Montserrat Light" panose="00000700000000000000" pitchFamily="2" charset="0"/>
              </a:rPr>
              <a:t>Incorporate smart technologies into products for improved functionality and a modern appeal, meeting the evolving demands of the Indian market.</a:t>
            </a:r>
          </a:p>
        </p:txBody>
      </p:sp>
      <p:sp>
        <p:nvSpPr>
          <p:cNvPr id="464" name="Click here to edit title-440">
            <a:extLst>
              <a:ext uri="{FF2B5EF4-FFF2-40B4-BE49-F238E27FC236}">
                <a16:creationId xmlns:a16="http://schemas.microsoft.com/office/drawing/2014/main" id="{111B4A49-B930-4A89-A1CD-6CA2B3D95AED}"/>
              </a:ext>
            </a:extLst>
          </p:cNvPr>
          <p:cNvSpPr txBox="1"/>
          <p:nvPr/>
        </p:nvSpPr>
        <p:spPr>
          <a:xfrm>
            <a:off x="1219200" y="4114800"/>
            <a:ext cx="2247900" cy="676275"/>
          </a:xfrm>
          <a:prstGeom prst="rect">
            <a:avLst/>
          </a:prstGeom>
          <a:noFill/>
        </p:spPr>
        <p:txBody>
          <a:bodyPr vertOverflow="clip" horzOverflow="clip" wrap="square" lIns="0" tIns="0" rIns="0" bIns="0" rtlCol="0" anchor="ctr">
            <a:spAutoFit/>
          </a:bodyPr>
          <a:lstStyle/>
          <a:p>
            <a:pPr algn="l">
              <a:lnSpc>
                <a:spcPts val="5250"/>
              </a:lnSpc>
            </a:pPr>
            <a:r>
              <a:rPr lang="en-US" sz="4200" spc="-84" dirty="0">
                <a:solidFill>
                  <a:srgbClr val="FFFFFF">
                    <a:alpha val="100000"/>
                  </a:srgbClr>
                </a:solidFill>
                <a:latin typeface="Montserrat Light" panose="00000700000000000000" pitchFamily="2" charset="0"/>
              </a:rPr>
              <a:t>Solution</a:t>
            </a:r>
          </a:p>
        </p:txBody>
      </p:sp>
      <p:sp>
        <p:nvSpPr>
          <p:cNvPr id="465" name="Click here to edit subtitle-490">
            <a:extLst>
              <a:ext uri="{FF2B5EF4-FFF2-40B4-BE49-F238E27FC236}">
                <a16:creationId xmlns:a16="http://schemas.microsoft.com/office/drawing/2014/main" id="{111B4A49-B930-4A89-A1CD-6CA2B3D95AED}"/>
              </a:ext>
            </a:extLst>
          </p:cNvPr>
          <p:cNvSpPr txBox="1"/>
          <p:nvPr/>
        </p:nvSpPr>
        <p:spPr>
          <a:xfrm>
            <a:off x="1219200" y="5219700"/>
            <a:ext cx="4829175" cy="1104900"/>
          </a:xfrm>
          <a:prstGeom prst="rect">
            <a:avLst/>
          </a:prstGeom>
          <a:noFill/>
        </p:spPr>
        <p:txBody>
          <a:bodyPr vertOverflow="clip" horzOverflow="clip" wrap="square" lIns="0" tIns="0" rIns="0" bIns="0" rtlCol="0" anchor="ctr">
            <a:spAutoFit/>
          </a:bodyPr>
          <a:lstStyle/>
          <a:p>
            <a:pPr algn="l">
              <a:lnSpc>
                <a:spcPts val="2919"/>
              </a:lnSpc>
            </a:pPr>
            <a:r>
              <a:rPr lang="en-US" sz="2100" spc="-21" dirty="0">
                <a:solidFill>
                  <a:srgbClr val="FFFFFF">
                    <a:alpha val="100000"/>
                  </a:srgbClr>
                </a:solidFill>
                <a:latin typeface="Montserrat Light" panose="00000700000000000000" pitchFamily="2" charset="0"/>
              </a:rPr>
              <a:t>Strategies for Market Expansion and Competitive Positioning in India's Elevator Industry</a:t>
            </a:r>
          </a:p>
        </p:txBody>
      </p:sp>
      <p:sp>
        <p:nvSpPr>
          <p:cNvPr id="466" name="Click here to edit label-400">
            <a:extLst>
              <a:ext uri="{FF2B5EF4-FFF2-40B4-BE49-F238E27FC236}">
                <a16:creationId xmlns:a16="http://schemas.microsoft.com/office/drawing/2014/main" id="{111B4A49-B930-4A89-A1CD-6CA2B3D95AED}"/>
              </a:ext>
            </a:extLst>
          </p:cNvPr>
          <p:cNvSpPr txBox="1"/>
          <p:nvPr/>
        </p:nvSpPr>
        <p:spPr>
          <a:xfrm>
            <a:off x="1219200" y="3771900"/>
            <a:ext cx="4829175" cy="295275"/>
          </a:xfrm>
          <a:prstGeom prst="rect">
            <a:avLst/>
          </a:prstGeom>
          <a:noFill/>
        </p:spPr>
        <p:txBody>
          <a:bodyPr vertOverflow="clip" horzOverflow="clip" wrap="square" lIns="0" tIns="0" rIns="0" bIns="0" rtlCol="0" anchor="ctr">
            <a:spAutoFit/>
          </a:bodyPr>
          <a:lstStyle/>
          <a:p>
            <a:pPr algn="l">
              <a:lnSpc>
                <a:spcPts val="2196"/>
              </a:lnSpc>
            </a:pPr>
            <a:r>
              <a:rPr lang="en-US" sz="1800" spc="990" dirty="0">
                <a:solidFill>
                  <a:srgbClr val="FFFFFF">
                    <a:alpha val="100000"/>
                  </a:srgbClr>
                </a:solidFill>
                <a:latin typeface="Montserrat" panose="00000700000000000000" pitchFamily="2" charset="0"/>
              </a:rPr>
              <a:t>STRATEGY</a:t>
            </a:r>
          </a:p>
        </p:txBody>
      </p:sp>
      <p:pic>
        <p:nvPicPr>
          <p:cNvPr id="467"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8">
            <a:alphaModFix/>
          </a:blip>
          <a:stretch/>
        </p:blipFill>
        <p:spPr>
          <a:xfrm>
            <a:off x="590550" y="3771900"/>
            <a:ext cx="19050" cy="2543175"/>
          </a:xfrm>
          <a:prstGeom prst="rect">
            <a:avLst/>
          </a:prstGeom>
        </p:spPr>
      </p:pic>
    </p:spTree>
    <p:extLst>
      <p:ext uri="{BB962C8B-B14F-4D97-AF65-F5344CB8AC3E}">
        <p14:creationId xmlns:p14="http://schemas.microsoft.com/office/powerpoint/2010/main" val="36480479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0" y="0"/>
            <a:ext cx="18288000" cy="10287000"/>
          </a:xfrm>
          <a:prstGeom prst="rect">
            <a:avLst/>
          </a:prstGeom>
        </p:spPr>
      </p:pic>
      <p:pic>
        <p:nvPicPr>
          <p:cNvPr id="491"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6534150" y="3257550"/>
            <a:ext cx="28575" cy="7029450"/>
          </a:xfrm>
          <a:prstGeom prst="rect">
            <a:avLst/>
          </a:prstGeom>
        </p:spPr>
      </p:pic>
      <p:pic>
        <p:nvPicPr>
          <p:cNvPr id="49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6457950" y="3162300"/>
            <a:ext cx="190500" cy="190500"/>
          </a:xfrm>
          <a:prstGeom prst="rect">
            <a:avLst/>
          </a:prstGeom>
        </p:spPr>
      </p:pic>
      <p:pic>
        <p:nvPicPr>
          <p:cNvPr id="493" name="Picture 492">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extLst>
              <a:ext uri="{C43F4A4A-6030-4E80-99B8-DF71E4253CD8}">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6477000" y="3238500"/>
            <a:ext cx="476250" cy="28575"/>
          </a:xfrm>
          <a:prstGeom prst="rect">
            <a:avLst/>
          </a:prstGeom>
        </p:spPr>
      </p:pic>
      <p:pic>
        <p:nvPicPr>
          <p:cNvPr id="49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6457950" y="7696200"/>
            <a:ext cx="190500" cy="190500"/>
          </a:xfrm>
          <a:prstGeom prst="rect">
            <a:avLst/>
          </a:prstGeom>
        </p:spPr>
      </p:pic>
      <p:pic>
        <p:nvPicPr>
          <p:cNvPr id="495" name="Picture 494">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extLst>
              <a:ext uri="{436578CE-AF62-42DB-976C-69F64B3FB86D}">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6477000" y="7772400"/>
            <a:ext cx="476250" cy="28575"/>
          </a:xfrm>
          <a:prstGeom prst="rect">
            <a:avLst/>
          </a:prstGeom>
        </p:spPr>
      </p:pic>
      <p:pic>
        <p:nvPicPr>
          <p:cNvPr id="49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6324600" y="3028950"/>
            <a:ext cx="457200" cy="457200"/>
          </a:xfrm>
          <a:prstGeom prst="rect">
            <a:avLst/>
          </a:prstGeom>
        </p:spPr>
      </p:pic>
      <p:sp>
        <p:nvSpPr>
          <p:cNvPr id="497" name="-0">
            <a:extLst>
              <a:ext uri="{FF2B5EF4-FFF2-40B4-BE49-F238E27FC236}">
                <a16:creationId xmlns:a16="http://schemas.microsoft.com/office/drawing/2014/main" id="{111B4A49-B930-4A89-A1CD-6CA2B3D95AED}"/>
              </a:ext>
            </a:extLst>
          </p:cNvPr>
          <p:cNvSpPr txBox="1"/>
          <p:nvPr/>
        </p:nvSpPr>
        <p:spPr>
          <a:xfrm>
            <a:off x="6361652" y="3143250"/>
            <a:ext cx="390525" cy="238125"/>
          </a:xfrm>
          <a:prstGeom prst="rect">
            <a:avLst/>
          </a:prstGeom>
          <a:noFill/>
        </p:spPr>
        <p:txBody>
          <a:bodyPr vertOverflow="clip" horzOverflow="clip" wrap="square" lIns="0" tIns="0" rIns="0" bIns="0" rtlCol="0" anchor="ctr">
            <a:spAutoFit/>
          </a:bodyPr>
          <a:lstStyle/>
          <a:p>
            <a:pPr algn="ctr"/>
            <a:r>
              <a:rPr lang="en-US" sz="1800" b="1" dirty="0">
                <a:solidFill>
                  <a:srgbClr val="15092E">
                    <a:alpha val="100000"/>
                  </a:srgbClr>
                </a:solidFill>
                <a:latin typeface="Montserrat" panose="00000700000000000000" pitchFamily="2" charset="0"/>
              </a:rPr>
              <a:t>#1</a:t>
            </a:r>
          </a:p>
        </p:txBody>
      </p:sp>
      <p:sp>
        <p:nvSpPr>
          <p:cNvPr id="498" name="Primary Heading-0">
            <a:extLst>
              <a:ext uri="{FF2B5EF4-FFF2-40B4-BE49-F238E27FC236}">
                <a16:creationId xmlns:a16="http://schemas.microsoft.com/office/drawing/2014/main" id="{111B4A49-B930-4A89-A1CD-6CA2B3D95AED}"/>
              </a:ext>
            </a:extLst>
          </p:cNvPr>
          <p:cNvSpPr txBox="1"/>
          <p:nvPr/>
        </p:nvSpPr>
        <p:spPr>
          <a:xfrm>
            <a:off x="6972300" y="2725293"/>
            <a:ext cx="10506075" cy="390525"/>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FFFFFF">
                    <a:alpha val="100000"/>
                  </a:srgbClr>
                </a:solidFill>
                <a:latin typeface="Montserrat" panose="00000700000000000000" pitchFamily="2" charset="0"/>
              </a:rPr>
              <a:t>Construction Companies</a:t>
            </a:r>
          </a:p>
        </p:txBody>
      </p:sp>
      <p:sp>
        <p:nvSpPr>
          <p:cNvPr id="499" name="Description of a primary heading-0">
            <a:extLst>
              <a:ext uri="{FF2B5EF4-FFF2-40B4-BE49-F238E27FC236}">
                <a16:creationId xmlns:a16="http://schemas.microsoft.com/office/drawing/2014/main" id="{111B4A49-B930-4A89-A1CD-6CA2B3D95AED}"/>
              </a:ext>
            </a:extLst>
          </p:cNvPr>
          <p:cNvSpPr txBox="1"/>
          <p:nvPr/>
        </p:nvSpPr>
        <p:spPr>
          <a:xfrm>
            <a:off x="6905625" y="3103912"/>
            <a:ext cx="10506075" cy="695325"/>
          </a:xfrm>
          <a:prstGeom prst="rect">
            <a:avLst/>
          </a:prstGeom>
          <a:noFill/>
        </p:spPr>
        <p:txBody>
          <a:bodyPr vertOverflow="clip" horzOverflow="clip" wrap="square" lIns="0" tIns="0" rIns="0" bIns="0" rtlCol="0" anchor="ctr">
            <a:spAutoFit/>
          </a:bodyPr>
          <a:lstStyle/>
          <a:p>
            <a:pPr algn="l">
              <a:lnSpc>
                <a:spcPts val="2700"/>
              </a:lnSpc>
            </a:pPr>
            <a:r>
              <a:rPr lang="en-US" sz="1800" spc="-18" dirty="0">
                <a:solidFill>
                  <a:srgbClr val="FFFFFF">
                    <a:alpha val="100000"/>
                  </a:srgbClr>
                </a:solidFill>
                <a:latin typeface="Montserrat Light" panose="00000700000000000000" pitchFamily="2" charset="0"/>
              </a:rPr>
              <a:t>Engaged in the construction of various properties such as residential, commercial, and industrial buildings that require elevators.</a:t>
            </a:r>
          </a:p>
        </p:txBody>
      </p:sp>
      <p:pic>
        <p:nvPicPr>
          <p:cNvPr id="50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6324600" y="7562850"/>
            <a:ext cx="457200" cy="457200"/>
          </a:xfrm>
          <a:prstGeom prst="rect">
            <a:avLst/>
          </a:prstGeom>
        </p:spPr>
      </p:pic>
      <p:sp>
        <p:nvSpPr>
          <p:cNvPr id="501" name="-1">
            <a:extLst>
              <a:ext uri="{FF2B5EF4-FFF2-40B4-BE49-F238E27FC236}">
                <a16:creationId xmlns:a16="http://schemas.microsoft.com/office/drawing/2014/main" id="{111B4A49-B930-4A89-A1CD-6CA2B3D95AED}"/>
              </a:ext>
            </a:extLst>
          </p:cNvPr>
          <p:cNvSpPr txBox="1"/>
          <p:nvPr/>
        </p:nvSpPr>
        <p:spPr>
          <a:xfrm>
            <a:off x="6338697" y="7677150"/>
            <a:ext cx="438150" cy="238125"/>
          </a:xfrm>
          <a:prstGeom prst="rect">
            <a:avLst/>
          </a:prstGeom>
          <a:noFill/>
        </p:spPr>
        <p:txBody>
          <a:bodyPr vertOverflow="clip" horzOverflow="clip" wrap="square" lIns="0" tIns="0" rIns="0" bIns="0" rtlCol="0" anchor="ctr">
            <a:spAutoFit/>
          </a:bodyPr>
          <a:lstStyle/>
          <a:p>
            <a:pPr algn="ctr"/>
            <a:r>
              <a:rPr lang="en-US" sz="1800" b="1" dirty="0">
                <a:solidFill>
                  <a:srgbClr val="15092E">
                    <a:alpha val="100000"/>
                  </a:srgbClr>
                </a:solidFill>
                <a:latin typeface="Montserrat" panose="00000700000000000000" pitchFamily="2" charset="0"/>
              </a:rPr>
              <a:t>#2</a:t>
            </a:r>
          </a:p>
        </p:txBody>
      </p:sp>
      <p:sp>
        <p:nvSpPr>
          <p:cNvPr id="502" name="Primary Heading-1">
            <a:extLst>
              <a:ext uri="{FF2B5EF4-FFF2-40B4-BE49-F238E27FC236}">
                <a16:creationId xmlns:a16="http://schemas.microsoft.com/office/drawing/2014/main" id="{111B4A49-B930-4A89-A1CD-6CA2B3D95AED}"/>
              </a:ext>
            </a:extLst>
          </p:cNvPr>
          <p:cNvSpPr txBox="1"/>
          <p:nvPr/>
        </p:nvSpPr>
        <p:spPr>
          <a:xfrm>
            <a:off x="6972300" y="7259193"/>
            <a:ext cx="10506075" cy="390525"/>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F2F1F3">
                    <a:alpha val="100000"/>
                  </a:srgbClr>
                </a:solidFill>
                <a:latin typeface="Montserrat" panose="00000700000000000000" pitchFamily="2" charset="0"/>
              </a:rPr>
              <a:t>Real Estate Developers</a:t>
            </a:r>
          </a:p>
        </p:txBody>
      </p:sp>
      <p:sp>
        <p:nvSpPr>
          <p:cNvPr id="503" name="Description of a primary heading-1">
            <a:extLst>
              <a:ext uri="{FF2B5EF4-FFF2-40B4-BE49-F238E27FC236}">
                <a16:creationId xmlns:a16="http://schemas.microsoft.com/office/drawing/2014/main" id="{111B4A49-B930-4A89-A1CD-6CA2B3D95AED}"/>
              </a:ext>
            </a:extLst>
          </p:cNvPr>
          <p:cNvSpPr txBox="1"/>
          <p:nvPr/>
        </p:nvSpPr>
        <p:spPr>
          <a:xfrm>
            <a:off x="6905625" y="7637812"/>
            <a:ext cx="10506075" cy="695325"/>
          </a:xfrm>
          <a:prstGeom prst="rect">
            <a:avLst/>
          </a:prstGeom>
          <a:noFill/>
        </p:spPr>
        <p:txBody>
          <a:bodyPr vertOverflow="clip" horzOverflow="clip" wrap="square" lIns="0" tIns="0" rIns="0" bIns="0" rtlCol="0" anchor="ctr">
            <a:spAutoFit/>
          </a:bodyPr>
          <a:lstStyle/>
          <a:p>
            <a:pPr algn="l">
              <a:lnSpc>
                <a:spcPts val="2700"/>
              </a:lnSpc>
            </a:pPr>
            <a:r>
              <a:rPr lang="en-US" sz="1800" spc="-18" dirty="0">
                <a:solidFill>
                  <a:srgbClr val="F2F1F3">
                    <a:alpha val="100000"/>
                  </a:srgbClr>
                </a:solidFill>
                <a:latin typeface="Montserrat Light" panose="00000700000000000000" pitchFamily="2" charset="0"/>
              </a:rPr>
              <a:t>Require elevators for new property developments or to enhance existing structures, driving demand for elevator solutions.</a:t>
            </a:r>
          </a:p>
        </p:txBody>
      </p:sp>
      <p:sp>
        <p:nvSpPr>
          <p:cNvPr id="504" name="Click here to edit title-481">
            <a:extLst>
              <a:ext uri="{FF2B5EF4-FFF2-40B4-BE49-F238E27FC236}">
                <a16:creationId xmlns:a16="http://schemas.microsoft.com/office/drawing/2014/main" id="{111B4A49-B930-4A89-A1CD-6CA2B3D95AED}"/>
              </a:ext>
            </a:extLst>
          </p:cNvPr>
          <p:cNvSpPr txBox="1"/>
          <p:nvPr/>
        </p:nvSpPr>
        <p:spPr>
          <a:xfrm>
            <a:off x="1219200" y="4305300"/>
            <a:ext cx="3695700" cy="676275"/>
          </a:xfrm>
          <a:prstGeom prst="rect">
            <a:avLst/>
          </a:prstGeom>
          <a:noFill/>
        </p:spPr>
        <p:txBody>
          <a:bodyPr vertOverflow="clip" horzOverflow="clip" wrap="square" lIns="0" tIns="0" rIns="0" bIns="0" rtlCol="0" anchor="ctr">
            <a:spAutoFit/>
          </a:bodyPr>
          <a:lstStyle/>
          <a:p>
            <a:pPr algn="l">
              <a:lnSpc>
                <a:spcPts val="5250"/>
              </a:lnSpc>
            </a:pPr>
            <a:r>
              <a:rPr lang="en-US" sz="4200" spc="-84" dirty="0">
                <a:solidFill>
                  <a:srgbClr val="FFFFFF">
                    <a:alpha val="100000"/>
                  </a:srgbClr>
                </a:solidFill>
                <a:latin typeface="Montserrat Light" panose="00000700000000000000" pitchFamily="2" charset="0"/>
              </a:rPr>
              <a:t>Target Market</a:t>
            </a:r>
          </a:p>
        </p:txBody>
      </p:sp>
      <p:sp>
        <p:nvSpPr>
          <p:cNvPr id="505" name="Click here to edit subtitle-407">
            <a:extLst>
              <a:ext uri="{FF2B5EF4-FFF2-40B4-BE49-F238E27FC236}">
                <a16:creationId xmlns:a16="http://schemas.microsoft.com/office/drawing/2014/main" id="{111B4A49-B930-4A89-A1CD-6CA2B3D95AED}"/>
              </a:ext>
            </a:extLst>
          </p:cNvPr>
          <p:cNvSpPr txBox="1"/>
          <p:nvPr/>
        </p:nvSpPr>
        <p:spPr>
          <a:xfrm>
            <a:off x="1219200" y="5410200"/>
            <a:ext cx="4829175" cy="733425"/>
          </a:xfrm>
          <a:prstGeom prst="rect">
            <a:avLst/>
          </a:prstGeom>
          <a:noFill/>
        </p:spPr>
        <p:txBody>
          <a:bodyPr vertOverflow="clip" horzOverflow="clip" wrap="square" lIns="0" tIns="0" rIns="0" bIns="0" rtlCol="0" anchor="ctr">
            <a:spAutoFit/>
          </a:bodyPr>
          <a:lstStyle/>
          <a:p>
            <a:pPr algn="l">
              <a:lnSpc>
                <a:spcPts val="2919"/>
              </a:lnSpc>
            </a:pPr>
            <a:r>
              <a:rPr lang="en-US" sz="2100" spc="-21" dirty="0">
                <a:solidFill>
                  <a:srgbClr val="FFFFFF">
                    <a:alpha val="100000"/>
                  </a:srgbClr>
                </a:solidFill>
                <a:latin typeface="Montserrat Light" panose="00000700000000000000" pitchFamily="2" charset="0"/>
              </a:rPr>
              <a:t>Key Market Segments for Elevator Industry Expansion in India</a:t>
            </a:r>
          </a:p>
        </p:txBody>
      </p:sp>
      <p:sp>
        <p:nvSpPr>
          <p:cNvPr id="506" name="Click here to edit label-430">
            <a:extLst>
              <a:ext uri="{FF2B5EF4-FFF2-40B4-BE49-F238E27FC236}">
                <a16:creationId xmlns:a16="http://schemas.microsoft.com/office/drawing/2014/main" id="{111B4A49-B930-4A89-A1CD-6CA2B3D95AED}"/>
              </a:ext>
            </a:extLst>
          </p:cNvPr>
          <p:cNvSpPr txBox="1"/>
          <p:nvPr/>
        </p:nvSpPr>
        <p:spPr>
          <a:xfrm>
            <a:off x="1219200" y="3962400"/>
            <a:ext cx="4829175" cy="295275"/>
          </a:xfrm>
          <a:prstGeom prst="rect">
            <a:avLst/>
          </a:prstGeom>
          <a:noFill/>
        </p:spPr>
        <p:txBody>
          <a:bodyPr vertOverflow="clip" horzOverflow="clip" wrap="square" lIns="0" tIns="0" rIns="0" bIns="0" rtlCol="0" anchor="ctr">
            <a:spAutoFit/>
          </a:bodyPr>
          <a:lstStyle/>
          <a:p>
            <a:pPr algn="l">
              <a:lnSpc>
                <a:spcPts val="2196"/>
              </a:lnSpc>
            </a:pPr>
            <a:r>
              <a:rPr lang="en-US" sz="1800" spc="990" dirty="0">
                <a:solidFill>
                  <a:srgbClr val="FFFFFF">
                    <a:alpha val="100000"/>
                  </a:srgbClr>
                </a:solidFill>
                <a:latin typeface="Montserrat" panose="00000700000000000000" pitchFamily="2" charset="0"/>
              </a:rPr>
              <a:t>MARKET SEGMENTS</a:t>
            </a:r>
          </a:p>
        </p:txBody>
      </p:sp>
      <p:pic>
        <p:nvPicPr>
          <p:cNvPr id="507"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8">
            <a:alphaModFix/>
          </a:blip>
          <a:stretch/>
        </p:blipFill>
        <p:spPr>
          <a:xfrm>
            <a:off x="590550" y="3962400"/>
            <a:ext cx="19050" cy="2171700"/>
          </a:xfrm>
          <a:prstGeom prst="rect">
            <a:avLst/>
          </a:prstGeom>
        </p:spPr>
      </p:pic>
    </p:spTree>
    <p:extLst>
      <p:ext uri="{BB962C8B-B14F-4D97-AF65-F5344CB8AC3E}">
        <p14:creationId xmlns:p14="http://schemas.microsoft.com/office/powerpoint/2010/main" val="36480479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0" y="0"/>
            <a:ext cx="18288000" cy="10287000"/>
          </a:xfrm>
          <a:prstGeom prst="rect">
            <a:avLst/>
          </a:prstGeom>
        </p:spPr>
      </p:pic>
      <p:pic>
        <p:nvPicPr>
          <p:cNvPr id="511"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6534150" y="0"/>
            <a:ext cx="28575" cy="10287000"/>
          </a:xfrm>
          <a:prstGeom prst="rect">
            <a:avLst/>
          </a:prstGeom>
        </p:spPr>
      </p:pic>
      <p:pic>
        <p:nvPicPr>
          <p:cNvPr id="51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6457950" y="2409825"/>
            <a:ext cx="190500" cy="190500"/>
          </a:xfrm>
          <a:prstGeom prst="rect">
            <a:avLst/>
          </a:prstGeom>
        </p:spPr>
      </p:pic>
      <p:pic>
        <p:nvPicPr>
          <p:cNvPr id="513" name="Picture 512">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extLst>
              <a:ext uri="{B13D78BD-80D1-40F8-8718-C297EA80CD70}">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6477000" y="2486025"/>
            <a:ext cx="476250" cy="28575"/>
          </a:xfrm>
          <a:prstGeom prst="rect">
            <a:avLst/>
          </a:prstGeom>
        </p:spPr>
      </p:pic>
      <p:pic>
        <p:nvPicPr>
          <p:cNvPr id="51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6457950" y="5429250"/>
            <a:ext cx="190500" cy="190500"/>
          </a:xfrm>
          <a:prstGeom prst="rect">
            <a:avLst/>
          </a:prstGeom>
        </p:spPr>
      </p:pic>
      <p:pic>
        <p:nvPicPr>
          <p:cNvPr id="515" name="Picture 514">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extLst>
              <a:ext uri="{F2FB92B2-3B52-46D4-8239-5356BABBBD85}">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6477000" y="5505450"/>
            <a:ext cx="476250" cy="28575"/>
          </a:xfrm>
          <a:prstGeom prst="rect">
            <a:avLst/>
          </a:prstGeom>
        </p:spPr>
      </p:pic>
      <p:pic>
        <p:nvPicPr>
          <p:cNvPr id="51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6457950" y="8458200"/>
            <a:ext cx="190500" cy="190500"/>
          </a:xfrm>
          <a:prstGeom prst="rect">
            <a:avLst/>
          </a:prstGeom>
        </p:spPr>
      </p:pic>
      <p:pic>
        <p:nvPicPr>
          <p:cNvPr id="517" name="Picture 516">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extLst>
              <a:ext uri="{5B3F712C-5454-4028-B46F-0E7AA2E0ED11}">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6477000" y="8534400"/>
            <a:ext cx="476250" cy="28575"/>
          </a:xfrm>
          <a:prstGeom prst="rect">
            <a:avLst/>
          </a:prstGeom>
        </p:spPr>
      </p:pic>
      <p:pic>
        <p:nvPicPr>
          <p:cNvPr id="51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6324600" y="2276475"/>
            <a:ext cx="457200" cy="457200"/>
          </a:xfrm>
          <a:prstGeom prst="rect">
            <a:avLst/>
          </a:prstGeom>
        </p:spPr>
      </p:pic>
      <p:sp>
        <p:nvSpPr>
          <p:cNvPr id="519" name="-2">
            <a:extLst>
              <a:ext uri="{FF2B5EF4-FFF2-40B4-BE49-F238E27FC236}">
                <a16:creationId xmlns:a16="http://schemas.microsoft.com/office/drawing/2014/main" id="{111B4A49-B930-4A89-A1CD-6CA2B3D95AED}"/>
              </a:ext>
            </a:extLst>
          </p:cNvPr>
          <p:cNvSpPr txBox="1"/>
          <p:nvPr/>
        </p:nvSpPr>
        <p:spPr>
          <a:xfrm>
            <a:off x="6338697" y="2387536"/>
            <a:ext cx="438150" cy="238125"/>
          </a:xfrm>
          <a:prstGeom prst="rect">
            <a:avLst/>
          </a:prstGeom>
          <a:noFill/>
        </p:spPr>
        <p:txBody>
          <a:bodyPr vertOverflow="clip" horzOverflow="clip" wrap="square" lIns="0" tIns="0" rIns="0" bIns="0" rtlCol="0" anchor="ctr">
            <a:spAutoFit/>
          </a:bodyPr>
          <a:lstStyle/>
          <a:p>
            <a:pPr algn="ctr"/>
            <a:r>
              <a:rPr lang="en-US" sz="1800" b="1" dirty="0">
                <a:solidFill>
                  <a:srgbClr val="15092E">
                    <a:alpha val="100000"/>
                  </a:srgbClr>
                </a:solidFill>
                <a:latin typeface="Montserrat" panose="00000700000000000000" pitchFamily="2" charset="0"/>
              </a:rPr>
              <a:t>#3</a:t>
            </a:r>
          </a:p>
        </p:txBody>
      </p:sp>
      <p:sp>
        <p:nvSpPr>
          <p:cNvPr id="520" name="Primary Heading-2">
            <a:extLst>
              <a:ext uri="{FF2B5EF4-FFF2-40B4-BE49-F238E27FC236}">
                <a16:creationId xmlns:a16="http://schemas.microsoft.com/office/drawing/2014/main" id="{111B4A49-B930-4A89-A1CD-6CA2B3D95AED}"/>
              </a:ext>
            </a:extLst>
          </p:cNvPr>
          <p:cNvSpPr txBox="1"/>
          <p:nvPr/>
        </p:nvSpPr>
        <p:spPr>
          <a:xfrm>
            <a:off x="6972300" y="1969675"/>
            <a:ext cx="10506075" cy="390525"/>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EBEAED">
                    <a:alpha val="100000"/>
                  </a:srgbClr>
                </a:solidFill>
                <a:latin typeface="Montserrat" panose="00000700000000000000" pitchFamily="2" charset="0"/>
              </a:rPr>
              <a:t>Elevator Installation Companies</a:t>
            </a:r>
          </a:p>
        </p:txBody>
      </p:sp>
      <p:sp>
        <p:nvSpPr>
          <p:cNvPr id="521" name="Description of a primary heading-2">
            <a:extLst>
              <a:ext uri="{FF2B5EF4-FFF2-40B4-BE49-F238E27FC236}">
                <a16:creationId xmlns:a16="http://schemas.microsoft.com/office/drawing/2014/main" id="{111B4A49-B930-4A89-A1CD-6CA2B3D95AED}"/>
              </a:ext>
            </a:extLst>
          </p:cNvPr>
          <p:cNvSpPr txBox="1"/>
          <p:nvPr/>
        </p:nvSpPr>
        <p:spPr>
          <a:xfrm>
            <a:off x="6905625" y="2348294"/>
            <a:ext cx="10506075" cy="695325"/>
          </a:xfrm>
          <a:prstGeom prst="rect">
            <a:avLst/>
          </a:prstGeom>
          <a:noFill/>
        </p:spPr>
        <p:txBody>
          <a:bodyPr vertOverflow="clip" horzOverflow="clip" wrap="square" lIns="0" tIns="0" rIns="0" bIns="0" rtlCol="0" anchor="ctr">
            <a:spAutoFit/>
          </a:bodyPr>
          <a:lstStyle/>
          <a:p>
            <a:pPr algn="l">
              <a:lnSpc>
                <a:spcPts val="2700"/>
              </a:lnSpc>
            </a:pPr>
            <a:r>
              <a:rPr lang="en-US" sz="1800" spc="-18" dirty="0">
                <a:solidFill>
                  <a:srgbClr val="EBEAED">
                    <a:alpha val="100000"/>
                  </a:srgbClr>
                </a:solidFill>
                <a:latin typeface="Montserrat Light" panose="00000700000000000000" pitchFamily="2" charset="0"/>
              </a:rPr>
              <a:t>Specialized firms focusing on the installation of elevators, necessitating high-quality elevator components and accessories.</a:t>
            </a:r>
          </a:p>
        </p:txBody>
      </p:sp>
      <p:pic>
        <p:nvPicPr>
          <p:cNvPr id="52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6324600" y="5295900"/>
            <a:ext cx="457200" cy="457200"/>
          </a:xfrm>
          <a:prstGeom prst="rect">
            <a:avLst/>
          </a:prstGeom>
        </p:spPr>
      </p:pic>
      <p:sp>
        <p:nvSpPr>
          <p:cNvPr id="523" name="-3">
            <a:extLst>
              <a:ext uri="{FF2B5EF4-FFF2-40B4-BE49-F238E27FC236}">
                <a16:creationId xmlns:a16="http://schemas.microsoft.com/office/drawing/2014/main" id="{111B4A49-B930-4A89-A1CD-6CA2B3D95AED}"/>
              </a:ext>
            </a:extLst>
          </p:cNvPr>
          <p:cNvSpPr txBox="1"/>
          <p:nvPr/>
        </p:nvSpPr>
        <p:spPr>
          <a:xfrm>
            <a:off x="6327553" y="5410105"/>
            <a:ext cx="457200" cy="238125"/>
          </a:xfrm>
          <a:prstGeom prst="rect">
            <a:avLst/>
          </a:prstGeom>
          <a:noFill/>
        </p:spPr>
        <p:txBody>
          <a:bodyPr vertOverflow="clip" horzOverflow="clip" wrap="square" lIns="0" tIns="0" rIns="0" bIns="0" rtlCol="0" anchor="ctr">
            <a:spAutoFit/>
          </a:bodyPr>
          <a:lstStyle/>
          <a:p>
            <a:pPr algn="ctr"/>
            <a:r>
              <a:rPr lang="en-US" sz="1800" b="1" dirty="0">
                <a:solidFill>
                  <a:srgbClr val="15092E">
                    <a:alpha val="100000"/>
                  </a:srgbClr>
                </a:solidFill>
                <a:latin typeface="Montserrat" panose="00000700000000000000" pitchFamily="2" charset="0"/>
              </a:rPr>
              <a:t>#4</a:t>
            </a:r>
          </a:p>
        </p:txBody>
      </p:sp>
      <p:sp>
        <p:nvSpPr>
          <p:cNvPr id="524" name="Primary Heading-3">
            <a:extLst>
              <a:ext uri="{FF2B5EF4-FFF2-40B4-BE49-F238E27FC236}">
                <a16:creationId xmlns:a16="http://schemas.microsoft.com/office/drawing/2014/main" id="{111B4A49-B930-4A89-A1CD-6CA2B3D95AED}"/>
              </a:ext>
            </a:extLst>
          </p:cNvPr>
          <p:cNvSpPr txBox="1"/>
          <p:nvPr/>
        </p:nvSpPr>
        <p:spPr>
          <a:xfrm>
            <a:off x="6972300" y="4992148"/>
            <a:ext cx="10506075" cy="390525"/>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E5E3E7">
                    <a:alpha val="100000"/>
                  </a:srgbClr>
                </a:solidFill>
                <a:latin typeface="Montserrat" panose="00000700000000000000" pitchFamily="2" charset="0"/>
              </a:rPr>
              <a:t>Maintenance and Repair Services</a:t>
            </a:r>
          </a:p>
        </p:txBody>
      </p:sp>
      <p:sp>
        <p:nvSpPr>
          <p:cNvPr id="525" name="Description of a primary heading-3">
            <a:extLst>
              <a:ext uri="{FF2B5EF4-FFF2-40B4-BE49-F238E27FC236}">
                <a16:creationId xmlns:a16="http://schemas.microsoft.com/office/drawing/2014/main" id="{111B4A49-B930-4A89-A1CD-6CA2B3D95AED}"/>
              </a:ext>
            </a:extLst>
          </p:cNvPr>
          <p:cNvSpPr txBox="1"/>
          <p:nvPr/>
        </p:nvSpPr>
        <p:spPr>
          <a:xfrm>
            <a:off x="6905625" y="5370766"/>
            <a:ext cx="10506075" cy="695325"/>
          </a:xfrm>
          <a:prstGeom prst="rect">
            <a:avLst/>
          </a:prstGeom>
          <a:noFill/>
        </p:spPr>
        <p:txBody>
          <a:bodyPr vertOverflow="clip" horzOverflow="clip" wrap="square" lIns="0" tIns="0" rIns="0" bIns="0" rtlCol="0" anchor="ctr">
            <a:spAutoFit/>
          </a:bodyPr>
          <a:lstStyle/>
          <a:p>
            <a:pPr algn="l">
              <a:lnSpc>
                <a:spcPts val="2700"/>
              </a:lnSpc>
            </a:pPr>
            <a:r>
              <a:rPr lang="en-US" sz="1800" spc="-18" dirty="0">
                <a:solidFill>
                  <a:srgbClr val="E5E3E7">
                    <a:alpha val="100000"/>
                  </a:srgbClr>
                </a:solidFill>
                <a:latin typeface="Montserrat Light" panose="00000700000000000000" pitchFamily="2" charset="0"/>
              </a:rPr>
              <a:t>Offer ongoing maintenance and repair services for elevators, requiring reliable elevator parts and components for efficient operations.</a:t>
            </a:r>
          </a:p>
        </p:txBody>
      </p:sp>
      <p:pic>
        <p:nvPicPr>
          <p:cNvPr id="52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8">
            <a:alphaModFix/>
          </a:blip>
          <a:stretch/>
        </p:blipFill>
        <p:spPr>
          <a:xfrm>
            <a:off x="6324600" y="8315325"/>
            <a:ext cx="457200" cy="457200"/>
          </a:xfrm>
          <a:prstGeom prst="rect">
            <a:avLst/>
          </a:prstGeom>
        </p:spPr>
      </p:pic>
      <p:sp>
        <p:nvSpPr>
          <p:cNvPr id="527" name="-4">
            <a:extLst>
              <a:ext uri="{FF2B5EF4-FFF2-40B4-BE49-F238E27FC236}">
                <a16:creationId xmlns:a16="http://schemas.microsoft.com/office/drawing/2014/main" id="{111B4A49-B930-4A89-A1CD-6CA2B3D95AED}"/>
              </a:ext>
            </a:extLst>
          </p:cNvPr>
          <p:cNvSpPr txBox="1"/>
          <p:nvPr/>
        </p:nvSpPr>
        <p:spPr>
          <a:xfrm>
            <a:off x="6338411" y="8432578"/>
            <a:ext cx="438150" cy="238125"/>
          </a:xfrm>
          <a:prstGeom prst="rect">
            <a:avLst/>
          </a:prstGeom>
          <a:noFill/>
        </p:spPr>
        <p:txBody>
          <a:bodyPr vertOverflow="clip" horzOverflow="clip" wrap="square" lIns="0" tIns="0" rIns="0" bIns="0" rtlCol="0" anchor="ctr">
            <a:spAutoFit/>
          </a:bodyPr>
          <a:lstStyle/>
          <a:p>
            <a:pPr algn="ctr"/>
            <a:r>
              <a:rPr lang="en-US" sz="1800" b="1" dirty="0">
                <a:solidFill>
                  <a:srgbClr val="15092E">
                    <a:alpha val="100000"/>
                  </a:srgbClr>
                </a:solidFill>
                <a:latin typeface="Montserrat" panose="00000700000000000000" pitchFamily="2" charset="0"/>
              </a:rPr>
              <a:t>#5</a:t>
            </a:r>
          </a:p>
        </p:txBody>
      </p:sp>
      <p:sp>
        <p:nvSpPr>
          <p:cNvPr id="528" name="Primary Heading-4">
            <a:extLst>
              <a:ext uri="{FF2B5EF4-FFF2-40B4-BE49-F238E27FC236}">
                <a16:creationId xmlns:a16="http://schemas.microsoft.com/office/drawing/2014/main" id="{111B4A49-B930-4A89-A1CD-6CA2B3D95AED}"/>
              </a:ext>
            </a:extLst>
          </p:cNvPr>
          <p:cNvSpPr txBox="1"/>
          <p:nvPr/>
        </p:nvSpPr>
        <p:spPr>
          <a:xfrm>
            <a:off x="6972300" y="8014716"/>
            <a:ext cx="10506075" cy="390525"/>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DEDCE1">
                    <a:alpha val="100000"/>
                  </a:srgbClr>
                </a:solidFill>
                <a:latin typeface="Montserrat" panose="00000700000000000000" pitchFamily="2" charset="0"/>
              </a:rPr>
              <a:t>Architects and Designers</a:t>
            </a:r>
          </a:p>
        </p:txBody>
      </p:sp>
      <p:sp>
        <p:nvSpPr>
          <p:cNvPr id="529" name="Description of a primary heading-4">
            <a:extLst>
              <a:ext uri="{FF2B5EF4-FFF2-40B4-BE49-F238E27FC236}">
                <a16:creationId xmlns:a16="http://schemas.microsoft.com/office/drawing/2014/main" id="{111B4A49-B930-4A89-A1CD-6CA2B3D95AED}"/>
              </a:ext>
            </a:extLst>
          </p:cNvPr>
          <p:cNvSpPr txBox="1"/>
          <p:nvPr/>
        </p:nvSpPr>
        <p:spPr>
          <a:xfrm>
            <a:off x="6905625" y="8393335"/>
            <a:ext cx="10506075" cy="695325"/>
          </a:xfrm>
          <a:prstGeom prst="rect">
            <a:avLst/>
          </a:prstGeom>
          <a:noFill/>
        </p:spPr>
        <p:txBody>
          <a:bodyPr vertOverflow="clip" horzOverflow="clip" wrap="square" lIns="0" tIns="0" rIns="0" bIns="0" rtlCol="0" anchor="ctr">
            <a:spAutoFit/>
          </a:bodyPr>
          <a:lstStyle/>
          <a:p>
            <a:pPr algn="l">
              <a:lnSpc>
                <a:spcPts val="2700"/>
              </a:lnSpc>
            </a:pPr>
            <a:r>
              <a:rPr lang="en-US" sz="1800" spc="-18" dirty="0">
                <a:solidFill>
                  <a:srgbClr val="DEDCE1">
                    <a:alpha val="100000"/>
                  </a:srgbClr>
                </a:solidFill>
                <a:latin typeface="Montserrat Light" panose="00000700000000000000" pitchFamily="2" charset="0"/>
              </a:rPr>
              <a:t>Specify elevator components in their building designs, influencing the choice of elevator solutions used in construction projects.</a:t>
            </a:r>
          </a:p>
        </p:txBody>
      </p:sp>
      <p:sp>
        <p:nvSpPr>
          <p:cNvPr id="530" name="Click here to edit title-417">
            <a:extLst>
              <a:ext uri="{FF2B5EF4-FFF2-40B4-BE49-F238E27FC236}">
                <a16:creationId xmlns:a16="http://schemas.microsoft.com/office/drawing/2014/main" id="{111B4A49-B930-4A89-A1CD-6CA2B3D95AED}"/>
              </a:ext>
            </a:extLst>
          </p:cNvPr>
          <p:cNvSpPr txBox="1"/>
          <p:nvPr/>
        </p:nvSpPr>
        <p:spPr>
          <a:xfrm>
            <a:off x="1219200" y="4305300"/>
            <a:ext cx="3695700" cy="676275"/>
          </a:xfrm>
          <a:prstGeom prst="rect">
            <a:avLst/>
          </a:prstGeom>
          <a:noFill/>
        </p:spPr>
        <p:txBody>
          <a:bodyPr vertOverflow="clip" horzOverflow="clip" wrap="square" lIns="0" tIns="0" rIns="0" bIns="0" rtlCol="0" anchor="ctr">
            <a:spAutoFit/>
          </a:bodyPr>
          <a:lstStyle/>
          <a:p>
            <a:pPr algn="l">
              <a:lnSpc>
                <a:spcPts val="5250"/>
              </a:lnSpc>
            </a:pPr>
            <a:r>
              <a:rPr lang="en-US" sz="4200" spc="-84" dirty="0">
                <a:solidFill>
                  <a:srgbClr val="FFFFFF">
                    <a:alpha val="100000"/>
                  </a:srgbClr>
                </a:solidFill>
                <a:latin typeface="Montserrat Light" panose="00000700000000000000" pitchFamily="2" charset="0"/>
              </a:rPr>
              <a:t>Target Market</a:t>
            </a:r>
          </a:p>
        </p:txBody>
      </p:sp>
      <p:sp>
        <p:nvSpPr>
          <p:cNvPr id="531" name="Click here to edit subtitle-408">
            <a:extLst>
              <a:ext uri="{FF2B5EF4-FFF2-40B4-BE49-F238E27FC236}">
                <a16:creationId xmlns:a16="http://schemas.microsoft.com/office/drawing/2014/main" id="{111B4A49-B930-4A89-A1CD-6CA2B3D95AED}"/>
              </a:ext>
            </a:extLst>
          </p:cNvPr>
          <p:cNvSpPr txBox="1"/>
          <p:nvPr/>
        </p:nvSpPr>
        <p:spPr>
          <a:xfrm>
            <a:off x="1219200" y="5410200"/>
            <a:ext cx="4829175" cy="733425"/>
          </a:xfrm>
          <a:prstGeom prst="rect">
            <a:avLst/>
          </a:prstGeom>
          <a:noFill/>
        </p:spPr>
        <p:txBody>
          <a:bodyPr vertOverflow="clip" horzOverflow="clip" wrap="square" lIns="0" tIns="0" rIns="0" bIns="0" rtlCol="0" anchor="ctr">
            <a:spAutoFit/>
          </a:bodyPr>
          <a:lstStyle/>
          <a:p>
            <a:pPr algn="l">
              <a:lnSpc>
                <a:spcPts val="2919"/>
              </a:lnSpc>
            </a:pPr>
            <a:r>
              <a:rPr lang="en-US" sz="2100" spc="-21" dirty="0">
                <a:solidFill>
                  <a:srgbClr val="FFFFFF">
                    <a:alpha val="100000"/>
                  </a:srgbClr>
                </a:solidFill>
                <a:latin typeface="Montserrat Light" panose="00000700000000000000" pitchFamily="2" charset="0"/>
              </a:rPr>
              <a:t>Key Market Segments for Elevator Industry Expansion in India</a:t>
            </a:r>
          </a:p>
        </p:txBody>
      </p:sp>
      <p:sp>
        <p:nvSpPr>
          <p:cNvPr id="532" name="Click here to edit label-462">
            <a:extLst>
              <a:ext uri="{FF2B5EF4-FFF2-40B4-BE49-F238E27FC236}">
                <a16:creationId xmlns:a16="http://schemas.microsoft.com/office/drawing/2014/main" id="{111B4A49-B930-4A89-A1CD-6CA2B3D95AED}"/>
              </a:ext>
            </a:extLst>
          </p:cNvPr>
          <p:cNvSpPr txBox="1"/>
          <p:nvPr/>
        </p:nvSpPr>
        <p:spPr>
          <a:xfrm>
            <a:off x="1219200" y="3962400"/>
            <a:ext cx="4829175" cy="295275"/>
          </a:xfrm>
          <a:prstGeom prst="rect">
            <a:avLst/>
          </a:prstGeom>
          <a:noFill/>
        </p:spPr>
        <p:txBody>
          <a:bodyPr vertOverflow="clip" horzOverflow="clip" wrap="square" lIns="0" tIns="0" rIns="0" bIns="0" rtlCol="0" anchor="ctr">
            <a:spAutoFit/>
          </a:bodyPr>
          <a:lstStyle/>
          <a:p>
            <a:pPr algn="l">
              <a:lnSpc>
                <a:spcPts val="2196"/>
              </a:lnSpc>
            </a:pPr>
            <a:r>
              <a:rPr lang="en-US" sz="1800" spc="990" dirty="0">
                <a:solidFill>
                  <a:srgbClr val="FFFFFF">
                    <a:alpha val="100000"/>
                  </a:srgbClr>
                </a:solidFill>
                <a:latin typeface="Montserrat" panose="00000700000000000000" pitchFamily="2" charset="0"/>
              </a:rPr>
              <a:t>MARKET SEGMENTS</a:t>
            </a:r>
          </a:p>
        </p:txBody>
      </p:sp>
      <p:pic>
        <p:nvPicPr>
          <p:cNvPr id="53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9">
            <a:alphaModFix/>
          </a:blip>
          <a:stretch/>
        </p:blipFill>
        <p:spPr>
          <a:xfrm>
            <a:off x="590550" y="3962400"/>
            <a:ext cx="19050" cy="2171700"/>
          </a:xfrm>
          <a:prstGeom prst="rect">
            <a:avLst/>
          </a:prstGeom>
        </p:spPr>
      </p:pic>
    </p:spTree>
    <p:extLst>
      <p:ext uri="{BB962C8B-B14F-4D97-AF65-F5344CB8AC3E}">
        <p14:creationId xmlns:p14="http://schemas.microsoft.com/office/powerpoint/2010/main" val="36480479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0" y="0"/>
            <a:ext cx="18288000" cy="10287000"/>
          </a:xfrm>
          <a:prstGeom prst="rect">
            <a:avLst/>
          </a:prstGeom>
        </p:spPr>
      </p:pic>
      <p:pic>
        <p:nvPicPr>
          <p:cNvPr id="537"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6534150" y="0"/>
            <a:ext cx="28575" cy="7791450"/>
          </a:xfrm>
          <a:prstGeom prst="rect">
            <a:avLst/>
          </a:prstGeom>
        </p:spPr>
      </p:pic>
      <p:pic>
        <p:nvPicPr>
          <p:cNvPr id="53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6457950" y="3162300"/>
            <a:ext cx="190500" cy="190500"/>
          </a:xfrm>
          <a:prstGeom prst="rect">
            <a:avLst/>
          </a:prstGeom>
        </p:spPr>
      </p:pic>
      <p:pic>
        <p:nvPicPr>
          <p:cNvPr id="539" name="Picture 538">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extLst>
              <a:ext uri="{B1675B1B-7581-4141-8BF4-6FCA9E275286}">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6477000" y="3238500"/>
            <a:ext cx="476250" cy="28575"/>
          </a:xfrm>
          <a:prstGeom prst="rect">
            <a:avLst/>
          </a:prstGeom>
        </p:spPr>
      </p:pic>
      <p:pic>
        <p:nvPicPr>
          <p:cNvPr id="54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6457950" y="7696200"/>
            <a:ext cx="190500" cy="190500"/>
          </a:xfrm>
          <a:prstGeom prst="rect">
            <a:avLst/>
          </a:prstGeom>
        </p:spPr>
      </p:pic>
      <p:pic>
        <p:nvPicPr>
          <p:cNvPr id="541" name="Picture 540">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extLst>
              <a:ext uri="{4B44E40A-99C2-46E9-8C2A-3A9AB3AA1352}">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6477000" y="7772400"/>
            <a:ext cx="476250" cy="28575"/>
          </a:xfrm>
          <a:prstGeom prst="rect">
            <a:avLst/>
          </a:prstGeom>
        </p:spPr>
      </p:pic>
      <p:pic>
        <p:nvPicPr>
          <p:cNvPr id="54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6324600" y="3028950"/>
            <a:ext cx="457200" cy="457200"/>
          </a:xfrm>
          <a:prstGeom prst="rect">
            <a:avLst/>
          </a:prstGeom>
        </p:spPr>
      </p:pic>
      <p:sp>
        <p:nvSpPr>
          <p:cNvPr id="543" name="-5">
            <a:extLst>
              <a:ext uri="{FF2B5EF4-FFF2-40B4-BE49-F238E27FC236}">
                <a16:creationId xmlns:a16="http://schemas.microsoft.com/office/drawing/2014/main" id="{111B4A49-B930-4A89-A1CD-6CA2B3D95AED}"/>
              </a:ext>
            </a:extLst>
          </p:cNvPr>
          <p:cNvSpPr txBox="1"/>
          <p:nvPr/>
        </p:nvSpPr>
        <p:spPr>
          <a:xfrm>
            <a:off x="6333554" y="3142964"/>
            <a:ext cx="447675" cy="238125"/>
          </a:xfrm>
          <a:prstGeom prst="rect">
            <a:avLst/>
          </a:prstGeom>
          <a:noFill/>
        </p:spPr>
        <p:txBody>
          <a:bodyPr vertOverflow="clip" horzOverflow="clip" wrap="square" lIns="0" tIns="0" rIns="0" bIns="0" rtlCol="0" anchor="ctr">
            <a:spAutoFit/>
          </a:bodyPr>
          <a:lstStyle/>
          <a:p>
            <a:pPr algn="ctr"/>
            <a:r>
              <a:rPr lang="en-US" sz="1800" b="1" dirty="0">
                <a:solidFill>
                  <a:srgbClr val="15092E">
                    <a:alpha val="100000"/>
                  </a:srgbClr>
                </a:solidFill>
                <a:latin typeface="Montserrat" panose="00000700000000000000" pitchFamily="2" charset="0"/>
              </a:rPr>
              <a:t>#6</a:t>
            </a:r>
          </a:p>
        </p:txBody>
      </p:sp>
      <p:sp>
        <p:nvSpPr>
          <p:cNvPr id="544" name="Primary Heading-5">
            <a:extLst>
              <a:ext uri="{FF2B5EF4-FFF2-40B4-BE49-F238E27FC236}">
                <a16:creationId xmlns:a16="http://schemas.microsoft.com/office/drawing/2014/main" id="{111B4A49-B930-4A89-A1CD-6CA2B3D95AED}"/>
              </a:ext>
            </a:extLst>
          </p:cNvPr>
          <p:cNvSpPr txBox="1"/>
          <p:nvPr/>
        </p:nvSpPr>
        <p:spPr>
          <a:xfrm>
            <a:off x="6972300" y="2725102"/>
            <a:ext cx="10506075" cy="390525"/>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D8D6DC">
                    <a:alpha val="100000"/>
                  </a:srgbClr>
                </a:solidFill>
                <a:latin typeface="Montserrat" panose="00000700000000000000" pitchFamily="2" charset="0"/>
              </a:rPr>
              <a:t>Government and Public Infrastructure</a:t>
            </a:r>
          </a:p>
        </p:txBody>
      </p:sp>
      <p:sp>
        <p:nvSpPr>
          <p:cNvPr id="545" name="Description of a primary heading-5">
            <a:extLst>
              <a:ext uri="{FF2B5EF4-FFF2-40B4-BE49-F238E27FC236}">
                <a16:creationId xmlns:a16="http://schemas.microsoft.com/office/drawing/2014/main" id="{111B4A49-B930-4A89-A1CD-6CA2B3D95AED}"/>
              </a:ext>
            </a:extLst>
          </p:cNvPr>
          <p:cNvSpPr txBox="1"/>
          <p:nvPr/>
        </p:nvSpPr>
        <p:spPr>
          <a:xfrm>
            <a:off x="6905625" y="3103721"/>
            <a:ext cx="10506075" cy="695325"/>
          </a:xfrm>
          <a:prstGeom prst="rect">
            <a:avLst/>
          </a:prstGeom>
          <a:noFill/>
        </p:spPr>
        <p:txBody>
          <a:bodyPr vertOverflow="clip" horzOverflow="clip" wrap="square" lIns="0" tIns="0" rIns="0" bIns="0" rtlCol="0" anchor="ctr">
            <a:spAutoFit/>
          </a:bodyPr>
          <a:lstStyle/>
          <a:p>
            <a:pPr algn="l">
              <a:lnSpc>
                <a:spcPts val="2700"/>
              </a:lnSpc>
            </a:pPr>
            <a:r>
              <a:rPr lang="en-US" sz="1800" spc="-18" dirty="0">
                <a:solidFill>
                  <a:srgbClr val="D8D6DC">
                    <a:alpha val="100000"/>
                  </a:srgbClr>
                </a:solidFill>
                <a:latin typeface="Montserrat Light" panose="00000700000000000000" pitchFamily="2" charset="0"/>
              </a:rPr>
              <a:t>Public buildings, transportation hubs, and social housing projects require elevators, creating opportunities for elevator industry growth.</a:t>
            </a:r>
          </a:p>
        </p:txBody>
      </p:sp>
      <p:pic>
        <p:nvPicPr>
          <p:cNvPr id="54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6324600" y="7562850"/>
            <a:ext cx="457200" cy="457200"/>
          </a:xfrm>
          <a:prstGeom prst="rect">
            <a:avLst/>
          </a:prstGeom>
        </p:spPr>
      </p:pic>
      <p:sp>
        <p:nvSpPr>
          <p:cNvPr id="547" name="-6">
            <a:extLst>
              <a:ext uri="{FF2B5EF4-FFF2-40B4-BE49-F238E27FC236}">
                <a16:creationId xmlns:a16="http://schemas.microsoft.com/office/drawing/2014/main" id="{111B4A49-B930-4A89-A1CD-6CA2B3D95AED}"/>
              </a:ext>
            </a:extLst>
          </p:cNvPr>
          <p:cNvSpPr txBox="1"/>
          <p:nvPr/>
        </p:nvSpPr>
        <p:spPr>
          <a:xfrm>
            <a:off x="6335649" y="7676864"/>
            <a:ext cx="447675" cy="238125"/>
          </a:xfrm>
          <a:prstGeom prst="rect">
            <a:avLst/>
          </a:prstGeom>
          <a:noFill/>
        </p:spPr>
        <p:txBody>
          <a:bodyPr vertOverflow="clip" horzOverflow="clip" wrap="square" lIns="0" tIns="0" rIns="0" bIns="0" rtlCol="0" anchor="ctr">
            <a:spAutoFit/>
          </a:bodyPr>
          <a:lstStyle/>
          <a:p>
            <a:pPr algn="ctr"/>
            <a:r>
              <a:rPr lang="en-US" sz="1800" b="1" dirty="0">
                <a:solidFill>
                  <a:srgbClr val="15092E">
                    <a:alpha val="100000"/>
                  </a:srgbClr>
                </a:solidFill>
                <a:latin typeface="Montserrat" panose="00000700000000000000" pitchFamily="2" charset="0"/>
              </a:rPr>
              <a:t>#7</a:t>
            </a:r>
          </a:p>
        </p:txBody>
      </p:sp>
      <p:sp>
        <p:nvSpPr>
          <p:cNvPr id="548" name="Primary Heading-6">
            <a:extLst>
              <a:ext uri="{FF2B5EF4-FFF2-40B4-BE49-F238E27FC236}">
                <a16:creationId xmlns:a16="http://schemas.microsoft.com/office/drawing/2014/main" id="{111B4A49-B930-4A89-A1CD-6CA2B3D95AED}"/>
              </a:ext>
            </a:extLst>
          </p:cNvPr>
          <p:cNvSpPr txBox="1"/>
          <p:nvPr/>
        </p:nvSpPr>
        <p:spPr>
          <a:xfrm>
            <a:off x="6972300" y="7259002"/>
            <a:ext cx="10506075" cy="390525"/>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D1CFD6">
                    <a:alpha val="100000"/>
                  </a:srgbClr>
                </a:solidFill>
                <a:latin typeface="Montserrat" panose="00000700000000000000" pitchFamily="2" charset="0"/>
              </a:rPr>
              <a:t>Export Markets</a:t>
            </a:r>
          </a:p>
        </p:txBody>
      </p:sp>
      <p:sp>
        <p:nvSpPr>
          <p:cNvPr id="549" name="Description of a primary heading-6">
            <a:extLst>
              <a:ext uri="{FF2B5EF4-FFF2-40B4-BE49-F238E27FC236}">
                <a16:creationId xmlns:a16="http://schemas.microsoft.com/office/drawing/2014/main" id="{111B4A49-B930-4A89-A1CD-6CA2B3D95AED}"/>
              </a:ext>
            </a:extLst>
          </p:cNvPr>
          <p:cNvSpPr txBox="1"/>
          <p:nvPr/>
        </p:nvSpPr>
        <p:spPr>
          <a:xfrm>
            <a:off x="6905625" y="7637621"/>
            <a:ext cx="10506075" cy="695325"/>
          </a:xfrm>
          <a:prstGeom prst="rect">
            <a:avLst/>
          </a:prstGeom>
          <a:noFill/>
        </p:spPr>
        <p:txBody>
          <a:bodyPr vertOverflow="clip" horzOverflow="clip" wrap="square" lIns="0" tIns="0" rIns="0" bIns="0" rtlCol="0" anchor="ctr">
            <a:spAutoFit/>
          </a:bodyPr>
          <a:lstStyle/>
          <a:p>
            <a:pPr algn="l">
              <a:lnSpc>
                <a:spcPts val="2700"/>
              </a:lnSpc>
            </a:pPr>
            <a:r>
              <a:rPr lang="en-US" sz="1800" spc="-18" dirty="0">
                <a:solidFill>
                  <a:srgbClr val="D1CFD6">
                    <a:alpha val="100000"/>
                  </a:srgbClr>
                </a:solidFill>
                <a:latin typeface="Montserrat Light" panose="00000700000000000000" pitchFamily="2" charset="0"/>
              </a:rPr>
              <a:t>Countries with expanding construction sectors and increasing demand for elevator components present potential export opportunities for elevator industry players.</a:t>
            </a:r>
          </a:p>
        </p:txBody>
      </p:sp>
      <p:sp>
        <p:nvSpPr>
          <p:cNvPr id="550" name="Click here to edit title-498">
            <a:extLst>
              <a:ext uri="{FF2B5EF4-FFF2-40B4-BE49-F238E27FC236}">
                <a16:creationId xmlns:a16="http://schemas.microsoft.com/office/drawing/2014/main" id="{111B4A49-B930-4A89-A1CD-6CA2B3D95AED}"/>
              </a:ext>
            </a:extLst>
          </p:cNvPr>
          <p:cNvSpPr txBox="1"/>
          <p:nvPr/>
        </p:nvSpPr>
        <p:spPr>
          <a:xfrm>
            <a:off x="1219200" y="4305300"/>
            <a:ext cx="3695700" cy="676275"/>
          </a:xfrm>
          <a:prstGeom prst="rect">
            <a:avLst/>
          </a:prstGeom>
          <a:noFill/>
        </p:spPr>
        <p:txBody>
          <a:bodyPr vertOverflow="clip" horzOverflow="clip" wrap="square" lIns="0" tIns="0" rIns="0" bIns="0" rtlCol="0" anchor="ctr">
            <a:spAutoFit/>
          </a:bodyPr>
          <a:lstStyle/>
          <a:p>
            <a:pPr algn="l">
              <a:lnSpc>
                <a:spcPts val="5250"/>
              </a:lnSpc>
            </a:pPr>
            <a:r>
              <a:rPr lang="en-US" sz="4200" spc="-84" dirty="0">
                <a:solidFill>
                  <a:srgbClr val="FFFFFF">
                    <a:alpha val="100000"/>
                  </a:srgbClr>
                </a:solidFill>
                <a:latin typeface="Montserrat Light" panose="00000700000000000000" pitchFamily="2" charset="0"/>
              </a:rPr>
              <a:t>Target Market</a:t>
            </a:r>
          </a:p>
        </p:txBody>
      </p:sp>
      <p:sp>
        <p:nvSpPr>
          <p:cNvPr id="551" name="Click here to edit subtitle-429">
            <a:extLst>
              <a:ext uri="{FF2B5EF4-FFF2-40B4-BE49-F238E27FC236}">
                <a16:creationId xmlns:a16="http://schemas.microsoft.com/office/drawing/2014/main" id="{111B4A49-B930-4A89-A1CD-6CA2B3D95AED}"/>
              </a:ext>
            </a:extLst>
          </p:cNvPr>
          <p:cNvSpPr txBox="1"/>
          <p:nvPr/>
        </p:nvSpPr>
        <p:spPr>
          <a:xfrm>
            <a:off x="1219200" y="5410200"/>
            <a:ext cx="4829175" cy="733425"/>
          </a:xfrm>
          <a:prstGeom prst="rect">
            <a:avLst/>
          </a:prstGeom>
          <a:noFill/>
        </p:spPr>
        <p:txBody>
          <a:bodyPr vertOverflow="clip" horzOverflow="clip" wrap="square" lIns="0" tIns="0" rIns="0" bIns="0" rtlCol="0" anchor="ctr">
            <a:spAutoFit/>
          </a:bodyPr>
          <a:lstStyle/>
          <a:p>
            <a:pPr algn="l">
              <a:lnSpc>
                <a:spcPts val="2919"/>
              </a:lnSpc>
            </a:pPr>
            <a:r>
              <a:rPr lang="en-US" sz="2100" spc="-21" dirty="0">
                <a:solidFill>
                  <a:srgbClr val="FFFFFF">
                    <a:alpha val="100000"/>
                  </a:srgbClr>
                </a:solidFill>
                <a:latin typeface="Montserrat Light" panose="00000700000000000000" pitchFamily="2" charset="0"/>
              </a:rPr>
              <a:t>Key Market Segments for Elevator Industry Expansion in India</a:t>
            </a:r>
          </a:p>
        </p:txBody>
      </p:sp>
      <p:sp>
        <p:nvSpPr>
          <p:cNvPr id="552" name="Click here to edit label-476">
            <a:extLst>
              <a:ext uri="{FF2B5EF4-FFF2-40B4-BE49-F238E27FC236}">
                <a16:creationId xmlns:a16="http://schemas.microsoft.com/office/drawing/2014/main" id="{111B4A49-B930-4A89-A1CD-6CA2B3D95AED}"/>
              </a:ext>
            </a:extLst>
          </p:cNvPr>
          <p:cNvSpPr txBox="1"/>
          <p:nvPr/>
        </p:nvSpPr>
        <p:spPr>
          <a:xfrm>
            <a:off x="1219200" y="3962400"/>
            <a:ext cx="4829175" cy="295275"/>
          </a:xfrm>
          <a:prstGeom prst="rect">
            <a:avLst/>
          </a:prstGeom>
          <a:noFill/>
        </p:spPr>
        <p:txBody>
          <a:bodyPr vertOverflow="clip" horzOverflow="clip" wrap="square" lIns="0" tIns="0" rIns="0" bIns="0" rtlCol="0" anchor="ctr">
            <a:spAutoFit/>
          </a:bodyPr>
          <a:lstStyle/>
          <a:p>
            <a:pPr algn="l">
              <a:lnSpc>
                <a:spcPts val="2196"/>
              </a:lnSpc>
            </a:pPr>
            <a:r>
              <a:rPr lang="en-US" sz="1800" spc="990" dirty="0">
                <a:solidFill>
                  <a:srgbClr val="FFFFFF">
                    <a:alpha val="100000"/>
                  </a:srgbClr>
                </a:solidFill>
                <a:latin typeface="Montserrat" panose="00000700000000000000" pitchFamily="2" charset="0"/>
              </a:rPr>
              <a:t>MARKET SEGMENTS</a:t>
            </a:r>
          </a:p>
        </p:txBody>
      </p:sp>
      <p:pic>
        <p:nvPicPr>
          <p:cNvPr id="55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8">
            <a:alphaModFix/>
          </a:blip>
          <a:stretch/>
        </p:blipFill>
        <p:spPr>
          <a:xfrm>
            <a:off x="590550" y="3962400"/>
            <a:ext cx="19050" cy="2171700"/>
          </a:xfrm>
          <a:prstGeom prst="rect">
            <a:avLst/>
          </a:prstGeom>
        </p:spPr>
      </p:pic>
    </p:spTree>
    <p:extLst>
      <p:ext uri="{BB962C8B-B14F-4D97-AF65-F5344CB8AC3E}">
        <p14:creationId xmlns:p14="http://schemas.microsoft.com/office/powerpoint/2010/main" val="36480479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0" y="0"/>
            <a:ext cx="18288000" cy="10287000"/>
          </a:xfrm>
          <a:prstGeom prst="rect">
            <a:avLst/>
          </a:prstGeom>
        </p:spPr>
      </p:pic>
      <p:pic>
        <p:nvPicPr>
          <p:cNvPr id="577" name="layoutShapeInnerChild1">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0" y="0"/>
            <a:ext cx="18288000" cy="10287000"/>
          </a:xfrm>
          <a:prstGeom prst="rect">
            <a:avLst/>
          </a:prstGeom>
        </p:spPr>
      </p:pic>
      <p:sp>
        <p:nvSpPr>
          <p:cNvPr id="578" name="Type a Headline-0">
            <a:extLst>
              <a:ext uri="{FF2B5EF4-FFF2-40B4-BE49-F238E27FC236}">
                <a16:creationId xmlns:a16="http://schemas.microsoft.com/office/drawing/2014/main" id="{111B4A49-B930-4A89-A1CD-6CA2B3D95AED}"/>
              </a:ext>
            </a:extLst>
          </p:cNvPr>
          <p:cNvSpPr txBox="1"/>
          <p:nvPr/>
        </p:nvSpPr>
        <p:spPr>
          <a:xfrm>
            <a:off x="609600" y="609600"/>
            <a:ext cx="17211675" cy="1085850"/>
          </a:xfrm>
          <a:prstGeom prst="rect">
            <a:avLst/>
          </a:prstGeom>
          <a:noFill/>
        </p:spPr>
        <p:txBody>
          <a:bodyPr vertOverflow="clip" horzOverflow="clip" wrap="square" lIns="0" tIns="0" rIns="0" bIns="0" rtlCol="0" anchor="ctr">
            <a:spAutoFit/>
          </a:bodyPr>
          <a:lstStyle/>
          <a:p>
            <a:pPr algn="l">
              <a:lnSpc>
                <a:spcPts val="8496"/>
              </a:lnSpc>
            </a:pPr>
            <a:r>
              <a:rPr lang="en-US" sz="7200" spc="-180" dirty="0">
                <a:solidFill>
                  <a:srgbClr val="FFFFFF">
                    <a:alpha val="100000"/>
                  </a:srgbClr>
                </a:solidFill>
                <a:latin typeface="Montserrat Light" panose="00000700000000000000" pitchFamily="2" charset="0"/>
              </a:rPr>
              <a:t>Product Roadmap</a:t>
            </a:r>
          </a:p>
        </p:txBody>
      </p:sp>
      <p:sp>
        <p:nvSpPr>
          <p:cNvPr id="579" name="A brief explanation about the headline-0">
            <a:extLst>
              <a:ext uri="{FF2B5EF4-FFF2-40B4-BE49-F238E27FC236}">
                <a16:creationId xmlns:a16="http://schemas.microsoft.com/office/drawing/2014/main" id="{111B4A49-B930-4A89-A1CD-6CA2B3D95AED}"/>
              </a:ext>
            </a:extLst>
          </p:cNvPr>
          <p:cNvSpPr txBox="1"/>
          <p:nvPr/>
        </p:nvSpPr>
        <p:spPr>
          <a:xfrm>
            <a:off x="542925" y="1688497"/>
            <a:ext cx="17211675" cy="381000"/>
          </a:xfrm>
          <a:prstGeom prst="rect">
            <a:avLst/>
          </a:prstGeom>
          <a:noFill/>
        </p:spPr>
        <p:txBody>
          <a:bodyPr vertOverflow="clip" horzOverflow="clip" wrap="square" lIns="0" tIns="0" rIns="0" bIns="0" rtlCol="0" anchor="ctr">
            <a:spAutoFit/>
          </a:bodyPr>
          <a:lstStyle/>
          <a:p>
            <a:pPr algn="l">
              <a:lnSpc>
                <a:spcPts val="2919"/>
              </a:lnSpc>
            </a:pPr>
            <a:r>
              <a:rPr lang="en-US" sz="2100" spc="-21" dirty="0">
                <a:solidFill>
                  <a:srgbClr val="FFFFFF">
                    <a:alpha val="100000"/>
                  </a:srgbClr>
                </a:solidFill>
                <a:latin typeface="Montserrat Light" panose="00000700000000000000" pitchFamily="2" charset="0"/>
              </a:rPr>
              <a:t>Strategies for Market Expansion and Competitive Positioning in India's Elevator Industry</a:t>
            </a:r>
          </a:p>
        </p:txBody>
      </p:sp>
      <p:pic>
        <p:nvPicPr>
          <p:cNvPr id="58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6286500" y="3952875"/>
            <a:ext cx="5715000" cy="3152775"/>
          </a:xfrm>
          <a:prstGeom prst="rect">
            <a:avLst/>
          </a:prstGeom>
          <a:effectLst>
            <a:outerShdw blurRad="190500" dist="28575" dir="2700000" algn="ctr" rotWithShape="0">
              <a:srgbClr val="000000">
                <a:alpha val="40000"/>
              </a:srgbClr>
            </a:outerShdw>
          </a:effectLst>
        </p:spPr>
      </p:pic>
      <p:sp>
        <p:nvSpPr>
          <p:cNvPr id="581" name="Type a Headline-1">
            <a:extLst>
              <a:ext uri="{FF2B5EF4-FFF2-40B4-BE49-F238E27FC236}">
                <a16:creationId xmlns:a16="http://schemas.microsoft.com/office/drawing/2014/main" id="{111B4A49-B930-4A89-A1CD-6CA2B3D95AED}"/>
              </a:ext>
            </a:extLst>
          </p:cNvPr>
          <p:cNvSpPr txBox="1"/>
          <p:nvPr/>
        </p:nvSpPr>
        <p:spPr>
          <a:xfrm>
            <a:off x="6489668" y="4939665"/>
            <a:ext cx="5448300" cy="390525"/>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FFFFFF">
                    <a:alpha val="100000"/>
                  </a:srgbClr>
                </a:solidFill>
                <a:latin typeface="Montserrat" panose="00000700000000000000" pitchFamily="2" charset="0"/>
              </a:rPr>
              <a:t>Market Analysis</a:t>
            </a:r>
          </a:p>
        </p:txBody>
      </p:sp>
      <p:sp>
        <p:nvSpPr>
          <p:cNvPr id="582" name="A brief explanation about the headline-1">
            <a:extLst>
              <a:ext uri="{FF2B5EF4-FFF2-40B4-BE49-F238E27FC236}">
                <a16:creationId xmlns:a16="http://schemas.microsoft.com/office/drawing/2014/main" id="{111B4A49-B930-4A89-A1CD-6CA2B3D95AED}"/>
              </a:ext>
            </a:extLst>
          </p:cNvPr>
          <p:cNvSpPr txBox="1"/>
          <p:nvPr/>
        </p:nvSpPr>
        <p:spPr>
          <a:xfrm>
            <a:off x="6422993" y="5318284"/>
            <a:ext cx="5448300" cy="1495425"/>
          </a:xfrm>
          <a:prstGeom prst="rect">
            <a:avLst/>
          </a:prstGeom>
          <a:noFill/>
        </p:spPr>
        <p:txBody>
          <a:bodyPr vertOverflow="clip" horzOverflow="clip" wrap="square" lIns="0" tIns="0" rIns="0" bIns="0" rtlCol="0" anchor="ctr">
            <a:spAutoFit/>
          </a:bodyPr>
          <a:lstStyle/>
          <a:p>
            <a:pPr algn="l">
              <a:lnSpc>
                <a:spcPts val="2919"/>
              </a:lnSpc>
            </a:pPr>
            <a:r>
              <a:rPr lang="en-US" sz="2100" spc="-21" dirty="0">
                <a:solidFill>
                  <a:srgbClr val="FFFFFF">
                    <a:alpha val="100000"/>
                  </a:srgbClr>
                </a:solidFill>
                <a:latin typeface="Montserrat Light" panose="00000700000000000000" pitchFamily="2" charset="0"/>
              </a:rPr>
              <a:t>Continuously analyze market trends and customer feedback to adapt product offerings to meet evolving consumer demands in the Indian elevator industry.</a:t>
            </a:r>
          </a:p>
        </p:txBody>
      </p:sp>
      <p:pic>
        <p:nvPicPr>
          <p:cNvPr id="58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5857875" y="4943475"/>
            <a:ext cx="19050" cy="1866900"/>
          </a:xfrm>
          <a:prstGeom prst="rect">
            <a:avLst/>
          </a:prstGeom>
        </p:spPr>
      </p:pic>
      <p:sp>
        <p:nvSpPr>
          <p:cNvPr id="584" name="-401">
            <a:extLst>
              <a:ext uri="{FF2B5EF4-FFF2-40B4-BE49-F238E27FC236}">
                <a16:creationId xmlns:a16="http://schemas.microsoft.com/office/drawing/2014/main" id="{111B4A49-B930-4A89-A1CD-6CA2B3D95AED}"/>
              </a:ext>
            </a:extLst>
          </p:cNvPr>
          <p:cNvSpPr txBox="1"/>
          <p:nvPr/>
        </p:nvSpPr>
        <p:spPr>
          <a:xfrm>
            <a:off x="6489668" y="4253865"/>
            <a:ext cx="552450" cy="466725"/>
          </a:xfrm>
          <a:prstGeom prst="rect">
            <a:avLst/>
          </a:prstGeom>
          <a:noFill/>
        </p:spPr>
        <p:txBody>
          <a:bodyPr vertOverflow="clip" horzOverflow="clip" wrap="square" lIns="0" tIns="0" rIns="0" bIns="0" rtlCol="0" anchor="ctr">
            <a:spAutoFit/>
          </a:bodyPr>
          <a:lstStyle/>
          <a:p>
            <a:pPr algn="ctr"/>
            <a:r>
              <a:rPr lang="en-US" sz="2520" b="1" dirty="0">
                <a:solidFill>
                  <a:srgbClr val="CCCCCC">
                    <a:alpha val="100000"/>
                  </a:srgbClr>
                </a:solidFill>
                <a:latin typeface="Montserrat" panose="00000700000000000000" pitchFamily="2" charset="0"/>
              </a:rPr>
              <a:t>#1</a:t>
            </a:r>
          </a:p>
        </p:txBody>
      </p:sp>
      <p:pic>
        <p:nvPicPr>
          <p:cNvPr id="58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12182475" y="3952875"/>
            <a:ext cx="4286250" cy="1676400"/>
          </a:xfrm>
          <a:prstGeom prst="rect">
            <a:avLst/>
          </a:prstGeom>
          <a:effectLst>
            <a:outerShdw blurRad="190500" dist="28575" dir="2700000" algn="ctr" rotWithShape="0">
              <a:srgbClr val="000000">
                <a:alpha val="40000"/>
              </a:srgbClr>
            </a:outerShdw>
          </a:effectLst>
        </p:spPr>
      </p:pic>
      <p:sp>
        <p:nvSpPr>
          <p:cNvPr id="586" name="Type a Headline-2">
            <a:extLst>
              <a:ext uri="{FF2B5EF4-FFF2-40B4-BE49-F238E27FC236}">
                <a16:creationId xmlns:a16="http://schemas.microsoft.com/office/drawing/2014/main" id="{111B4A49-B930-4A89-A1CD-6CA2B3D95AED}"/>
              </a:ext>
            </a:extLst>
          </p:cNvPr>
          <p:cNvSpPr txBox="1"/>
          <p:nvPr/>
        </p:nvSpPr>
        <p:spPr>
          <a:xfrm>
            <a:off x="12382976" y="4939665"/>
            <a:ext cx="4019550" cy="390525"/>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FFFFFF">
                    <a:alpha val="30000"/>
                  </a:srgbClr>
                </a:solidFill>
                <a:latin typeface="Montserrat" panose="00000700000000000000" pitchFamily="2" charset="0"/>
              </a:rPr>
              <a:t>Product Development</a:t>
            </a:r>
          </a:p>
        </p:txBody>
      </p:sp>
      <p:pic>
        <p:nvPicPr>
          <p:cNvPr id="587"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mt="30000"/>
          </a:blip>
          <a:stretch/>
        </p:blipFill>
        <p:spPr>
          <a:xfrm>
            <a:off x="11753850" y="5057775"/>
            <a:ext cx="19050" cy="152400"/>
          </a:xfrm>
          <a:prstGeom prst="rect">
            <a:avLst/>
          </a:prstGeom>
        </p:spPr>
      </p:pic>
      <p:sp>
        <p:nvSpPr>
          <p:cNvPr id="588" name="-434">
            <a:extLst>
              <a:ext uri="{FF2B5EF4-FFF2-40B4-BE49-F238E27FC236}">
                <a16:creationId xmlns:a16="http://schemas.microsoft.com/office/drawing/2014/main" id="{111B4A49-B930-4A89-A1CD-6CA2B3D95AED}"/>
              </a:ext>
            </a:extLst>
          </p:cNvPr>
          <p:cNvSpPr txBox="1"/>
          <p:nvPr/>
        </p:nvSpPr>
        <p:spPr>
          <a:xfrm>
            <a:off x="12382976" y="4253865"/>
            <a:ext cx="552450" cy="466725"/>
          </a:xfrm>
          <a:prstGeom prst="rect">
            <a:avLst/>
          </a:prstGeom>
          <a:noFill/>
        </p:spPr>
        <p:txBody>
          <a:bodyPr vertOverflow="clip" horzOverflow="clip" wrap="square" lIns="0" tIns="0" rIns="0" bIns="0" rtlCol="0" anchor="ctr">
            <a:spAutoFit/>
          </a:bodyPr>
          <a:lstStyle/>
          <a:p>
            <a:pPr algn="ctr"/>
            <a:r>
              <a:rPr lang="en-US" sz="2520" b="1" dirty="0">
                <a:solidFill>
                  <a:srgbClr val="CCCCCC">
                    <a:alpha val="30000"/>
                  </a:srgbClr>
                </a:solidFill>
                <a:latin typeface="Montserrat" panose="00000700000000000000" pitchFamily="2" charset="0"/>
              </a:rPr>
              <a:t>#2</a:t>
            </a:r>
          </a:p>
        </p:txBody>
      </p:sp>
      <p:pic>
        <p:nvPicPr>
          <p:cNvPr id="58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8">
            <a:alphaModFix/>
          </a:blip>
          <a:stretch/>
        </p:blipFill>
        <p:spPr>
          <a:xfrm>
            <a:off x="16640175" y="3952875"/>
            <a:ext cx="1647825" cy="1676400"/>
          </a:xfrm>
          <a:prstGeom prst="rect">
            <a:avLst/>
          </a:prstGeom>
          <a:effectLst>
            <a:outerShdw blurRad="190500" dist="28575" dir="2700000" algn="ctr" rotWithShape="0">
              <a:srgbClr val="000000">
                <a:alpha val="40000"/>
              </a:srgbClr>
            </a:outerShdw>
          </a:effectLst>
        </p:spPr>
      </p:pic>
      <p:sp>
        <p:nvSpPr>
          <p:cNvPr id="590" name="Type a Headline-3">
            <a:extLst>
              <a:ext uri="{FF2B5EF4-FFF2-40B4-BE49-F238E27FC236}">
                <a16:creationId xmlns:a16="http://schemas.microsoft.com/office/drawing/2014/main" id="{111B4A49-B930-4A89-A1CD-6CA2B3D95AED}"/>
              </a:ext>
            </a:extLst>
          </p:cNvPr>
          <p:cNvSpPr txBox="1"/>
          <p:nvPr/>
        </p:nvSpPr>
        <p:spPr>
          <a:xfrm>
            <a:off x="16845248" y="4939665"/>
            <a:ext cx="4019550" cy="390525"/>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FFFFFF">
                    <a:alpha val="30000"/>
                  </a:srgbClr>
                </a:solidFill>
                <a:latin typeface="Montserrat" panose="00000700000000000000" pitchFamily="2" charset="0"/>
              </a:rPr>
              <a:t>Brand Building</a:t>
            </a:r>
          </a:p>
        </p:txBody>
      </p:sp>
      <p:pic>
        <p:nvPicPr>
          <p:cNvPr id="591"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mt="30000"/>
          </a:blip>
          <a:stretch/>
        </p:blipFill>
        <p:spPr>
          <a:xfrm>
            <a:off x="16221075" y="5057775"/>
            <a:ext cx="19050" cy="152400"/>
          </a:xfrm>
          <a:prstGeom prst="rect">
            <a:avLst/>
          </a:prstGeom>
        </p:spPr>
      </p:pic>
      <p:sp>
        <p:nvSpPr>
          <p:cNvPr id="592" name="-488">
            <a:extLst>
              <a:ext uri="{FF2B5EF4-FFF2-40B4-BE49-F238E27FC236}">
                <a16:creationId xmlns:a16="http://schemas.microsoft.com/office/drawing/2014/main" id="{111B4A49-B930-4A89-A1CD-6CA2B3D95AED}"/>
              </a:ext>
            </a:extLst>
          </p:cNvPr>
          <p:cNvSpPr txBox="1"/>
          <p:nvPr/>
        </p:nvSpPr>
        <p:spPr>
          <a:xfrm>
            <a:off x="16845248" y="4253865"/>
            <a:ext cx="552450" cy="466725"/>
          </a:xfrm>
          <a:prstGeom prst="rect">
            <a:avLst/>
          </a:prstGeom>
          <a:noFill/>
        </p:spPr>
        <p:txBody>
          <a:bodyPr vertOverflow="clip" horzOverflow="clip" wrap="square" lIns="0" tIns="0" rIns="0" bIns="0" rtlCol="0" anchor="ctr">
            <a:spAutoFit/>
          </a:bodyPr>
          <a:lstStyle/>
          <a:p>
            <a:pPr algn="ctr"/>
            <a:r>
              <a:rPr lang="en-US" sz="2520" b="1" dirty="0">
                <a:solidFill>
                  <a:srgbClr val="CCCCCC">
                    <a:alpha val="30000"/>
                  </a:srgbClr>
                </a:solidFill>
                <a:latin typeface="Montserrat" panose="00000700000000000000" pitchFamily="2" charset="0"/>
              </a:rPr>
              <a:t>#3</a:t>
            </a:r>
          </a:p>
        </p:txBody>
      </p:sp>
    </p:spTree>
    <p:extLst>
      <p:ext uri="{BB962C8B-B14F-4D97-AF65-F5344CB8AC3E}">
        <p14:creationId xmlns:p14="http://schemas.microsoft.com/office/powerpoint/2010/main" val="36480479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0" y="0"/>
            <a:ext cx="18288000" cy="10287000"/>
          </a:xfrm>
          <a:prstGeom prst="rect">
            <a:avLst/>
          </a:prstGeom>
        </p:spPr>
      </p:pic>
      <p:pic>
        <p:nvPicPr>
          <p:cNvPr id="596" name="layoutShapeInnerChild1">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0" y="0"/>
            <a:ext cx="18288000" cy="10287000"/>
          </a:xfrm>
          <a:prstGeom prst="rect">
            <a:avLst/>
          </a:prstGeom>
        </p:spPr>
      </p:pic>
      <p:sp>
        <p:nvSpPr>
          <p:cNvPr id="597" name="Type a Headline-0">
            <a:extLst>
              <a:ext uri="{FF2B5EF4-FFF2-40B4-BE49-F238E27FC236}">
                <a16:creationId xmlns:a16="http://schemas.microsoft.com/office/drawing/2014/main" id="{111B4A49-B930-4A89-A1CD-6CA2B3D95AED}"/>
              </a:ext>
            </a:extLst>
          </p:cNvPr>
          <p:cNvSpPr txBox="1"/>
          <p:nvPr/>
        </p:nvSpPr>
        <p:spPr>
          <a:xfrm>
            <a:off x="609600" y="609600"/>
            <a:ext cx="17211675" cy="1085850"/>
          </a:xfrm>
          <a:prstGeom prst="rect">
            <a:avLst/>
          </a:prstGeom>
          <a:noFill/>
        </p:spPr>
        <p:txBody>
          <a:bodyPr vertOverflow="clip" horzOverflow="clip" wrap="square" lIns="0" tIns="0" rIns="0" bIns="0" rtlCol="0" anchor="ctr">
            <a:spAutoFit/>
          </a:bodyPr>
          <a:lstStyle/>
          <a:p>
            <a:pPr algn="l">
              <a:lnSpc>
                <a:spcPts val="8496"/>
              </a:lnSpc>
            </a:pPr>
            <a:r>
              <a:rPr lang="en-US" sz="7200" spc="-180" dirty="0">
                <a:solidFill>
                  <a:srgbClr val="FFFFFF">
                    <a:alpha val="100000"/>
                  </a:srgbClr>
                </a:solidFill>
                <a:latin typeface="Montserrat Light" panose="00000700000000000000" pitchFamily="2" charset="0"/>
              </a:rPr>
              <a:t>Product Roadmap</a:t>
            </a:r>
          </a:p>
        </p:txBody>
      </p:sp>
      <p:sp>
        <p:nvSpPr>
          <p:cNvPr id="598" name="A brief explanation about the headline-0">
            <a:extLst>
              <a:ext uri="{FF2B5EF4-FFF2-40B4-BE49-F238E27FC236}">
                <a16:creationId xmlns:a16="http://schemas.microsoft.com/office/drawing/2014/main" id="{111B4A49-B930-4A89-A1CD-6CA2B3D95AED}"/>
              </a:ext>
            </a:extLst>
          </p:cNvPr>
          <p:cNvSpPr txBox="1"/>
          <p:nvPr/>
        </p:nvSpPr>
        <p:spPr>
          <a:xfrm>
            <a:off x="542925" y="1688497"/>
            <a:ext cx="17211675" cy="381000"/>
          </a:xfrm>
          <a:prstGeom prst="rect">
            <a:avLst/>
          </a:prstGeom>
          <a:noFill/>
        </p:spPr>
        <p:txBody>
          <a:bodyPr vertOverflow="clip" horzOverflow="clip" wrap="square" lIns="0" tIns="0" rIns="0" bIns="0" rtlCol="0" anchor="ctr">
            <a:spAutoFit/>
          </a:bodyPr>
          <a:lstStyle/>
          <a:p>
            <a:pPr algn="l">
              <a:lnSpc>
                <a:spcPts val="2919"/>
              </a:lnSpc>
            </a:pPr>
            <a:r>
              <a:rPr lang="en-US" sz="2100" spc="-21" dirty="0">
                <a:solidFill>
                  <a:srgbClr val="FFFFFF">
                    <a:alpha val="100000"/>
                  </a:srgbClr>
                </a:solidFill>
                <a:latin typeface="Montserrat Light" panose="00000700000000000000" pitchFamily="2" charset="0"/>
              </a:rPr>
              <a:t>Strategies for Market Expansion and Competitive Positioning in India's Elevator Industry</a:t>
            </a:r>
          </a:p>
        </p:txBody>
      </p:sp>
      <p:pic>
        <p:nvPicPr>
          <p:cNvPr id="59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1828800" y="3952875"/>
            <a:ext cx="4286250" cy="1676400"/>
          </a:xfrm>
          <a:prstGeom prst="rect">
            <a:avLst/>
          </a:prstGeom>
          <a:effectLst>
            <a:outerShdw blurRad="190500" dist="28575" dir="2700000" algn="ctr" rotWithShape="0">
              <a:srgbClr val="000000">
                <a:alpha val="40000"/>
              </a:srgbClr>
            </a:outerShdw>
          </a:effectLst>
        </p:spPr>
      </p:pic>
      <p:sp>
        <p:nvSpPr>
          <p:cNvPr id="600" name="Type a Headline-1">
            <a:extLst>
              <a:ext uri="{FF2B5EF4-FFF2-40B4-BE49-F238E27FC236}">
                <a16:creationId xmlns:a16="http://schemas.microsoft.com/office/drawing/2014/main" id="{111B4A49-B930-4A89-A1CD-6CA2B3D95AED}"/>
              </a:ext>
            </a:extLst>
          </p:cNvPr>
          <p:cNvSpPr txBox="1"/>
          <p:nvPr/>
        </p:nvSpPr>
        <p:spPr>
          <a:xfrm>
            <a:off x="2031968" y="4939665"/>
            <a:ext cx="4019550" cy="390525"/>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FFFFFF">
                    <a:alpha val="30000"/>
                  </a:srgbClr>
                </a:solidFill>
                <a:latin typeface="Montserrat" panose="00000700000000000000" pitchFamily="2" charset="0"/>
              </a:rPr>
              <a:t>Market Analysis</a:t>
            </a:r>
          </a:p>
        </p:txBody>
      </p:sp>
      <p:pic>
        <p:nvPicPr>
          <p:cNvPr id="601"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mt="30000"/>
          </a:blip>
          <a:stretch/>
        </p:blipFill>
        <p:spPr>
          <a:xfrm>
            <a:off x="1400175" y="4943475"/>
            <a:ext cx="19050" cy="1866900"/>
          </a:xfrm>
          <a:prstGeom prst="rect">
            <a:avLst/>
          </a:prstGeom>
        </p:spPr>
      </p:pic>
      <p:sp>
        <p:nvSpPr>
          <p:cNvPr id="602" name="-470">
            <a:extLst>
              <a:ext uri="{FF2B5EF4-FFF2-40B4-BE49-F238E27FC236}">
                <a16:creationId xmlns:a16="http://schemas.microsoft.com/office/drawing/2014/main" id="{111B4A49-B930-4A89-A1CD-6CA2B3D95AED}"/>
              </a:ext>
            </a:extLst>
          </p:cNvPr>
          <p:cNvSpPr txBox="1"/>
          <p:nvPr/>
        </p:nvSpPr>
        <p:spPr>
          <a:xfrm>
            <a:off x="2031968" y="4253865"/>
            <a:ext cx="552450" cy="466725"/>
          </a:xfrm>
          <a:prstGeom prst="rect">
            <a:avLst/>
          </a:prstGeom>
          <a:noFill/>
        </p:spPr>
        <p:txBody>
          <a:bodyPr vertOverflow="clip" horzOverflow="clip" wrap="square" lIns="0" tIns="0" rIns="0" bIns="0" rtlCol="0" anchor="ctr">
            <a:spAutoFit/>
          </a:bodyPr>
          <a:lstStyle/>
          <a:p>
            <a:pPr algn="ctr"/>
            <a:r>
              <a:rPr lang="en-US" sz="2520" b="1" dirty="0">
                <a:solidFill>
                  <a:srgbClr val="CCCCCC">
                    <a:alpha val="30000"/>
                  </a:srgbClr>
                </a:solidFill>
                <a:latin typeface="Montserrat" panose="00000700000000000000" pitchFamily="2" charset="0"/>
              </a:rPr>
              <a:t>#1</a:t>
            </a:r>
          </a:p>
        </p:txBody>
      </p:sp>
      <p:pic>
        <p:nvPicPr>
          <p:cNvPr id="60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6286500" y="3952875"/>
            <a:ext cx="5715000" cy="3524250"/>
          </a:xfrm>
          <a:prstGeom prst="rect">
            <a:avLst/>
          </a:prstGeom>
          <a:effectLst>
            <a:outerShdw blurRad="190500" dist="28575" dir="2700000" algn="ctr" rotWithShape="0">
              <a:srgbClr val="000000">
                <a:alpha val="40000"/>
              </a:srgbClr>
            </a:outerShdw>
          </a:effectLst>
        </p:spPr>
      </p:pic>
      <p:sp>
        <p:nvSpPr>
          <p:cNvPr id="604" name="Type a Headline-2">
            <a:extLst>
              <a:ext uri="{FF2B5EF4-FFF2-40B4-BE49-F238E27FC236}">
                <a16:creationId xmlns:a16="http://schemas.microsoft.com/office/drawing/2014/main" id="{111B4A49-B930-4A89-A1CD-6CA2B3D95AED}"/>
              </a:ext>
            </a:extLst>
          </p:cNvPr>
          <p:cNvSpPr txBox="1"/>
          <p:nvPr/>
        </p:nvSpPr>
        <p:spPr>
          <a:xfrm>
            <a:off x="6489668" y="4939665"/>
            <a:ext cx="5448300" cy="390525"/>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FFFFFF">
                    <a:alpha val="100000"/>
                  </a:srgbClr>
                </a:solidFill>
                <a:latin typeface="Montserrat" panose="00000700000000000000" pitchFamily="2" charset="0"/>
              </a:rPr>
              <a:t>Product Development</a:t>
            </a:r>
          </a:p>
        </p:txBody>
      </p:sp>
      <p:sp>
        <p:nvSpPr>
          <p:cNvPr id="605" name="A brief explanation about the headline-2">
            <a:extLst>
              <a:ext uri="{FF2B5EF4-FFF2-40B4-BE49-F238E27FC236}">
                <a16:creationId xmlns:a16="http://schemas.microsoft.com/office/drawing/2014/main" id="{111B4A49-B930-4A89-A1CD-6CA2B3D95AED}"/>
              </a:ext>
            </a:extLst>
          </p:cNvPr>
          <p:cNvSpPr txBox="1"/>
          <p:nvPr/>
        </p:nvSpPr>
        <p:spPr>
          <a:xfrm>
            <a:off x="6422993" y="5318284"/>
            <a:ext cx="5448300" cy="1866900"/>
          </a:xfrm>
          <a:prstGeom prst="rect">
            <a:avLst/>
          </a:prstGeom>
          <a:noFill/>
        </p:spPr>
        <p:txBody>
          <a:bodyPr vertOverflow="clip" horzOverflow="clip" wrap="square" lIns="0" tIns="0" rIns="0" bIns="0" rtlCol="0" anchor="ctr">
            <a:spAutoFit/>
          </a:bodyPr>
          <a:lstStyle/>
          <a:p>
            <a:pPr algn="l">
              <a:lnSpc>
                <a:spcPts val="2919"/>
              </a:lnSpc>
            </a:pPr>
            <a:r>
              <a:rPr lang="en-US" sz="2100" spc="-21" dirty="0">
                <a:solidFill>
                  <a:srgbClr val="FFFFFF">
                    <a:alpha val="100000"/>
                  </a:srgbClr>
                </a:solidFill>
                <a:latin typeface="Montserrat Light" panose="00000700000000000000" pitchFamily="2" charset="0"/>
              </a:rPr>
              <a:t>Invest in R&amp;D to innovate and enhance product quality by focusing on unique features that differentiate your offerings from competitors in the elevator industry.</a:t>
            </a:r>
          </a:p>
        </p:txBody>
      </p:sp>
      <p:pic>
        <p:nvPicPr>
          <p:cNvPr id="60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5857875" y="5057775"/>
            <a:ext cx="19050" cy="152400"/>
          </a:xfrm>
          <a:prstGeom prst="rect">
            <a:avLst/>
          </a:prstGeom>
        </p:spPr>
      </p:pic>
      <p:sp>
        <p:nvSpPr>
          <p:cNvPr id="607" name="-496">
            <a:extLst>
              <a:ext uri="{FF2B5EF4-FFF2-40B4-BE49-F238E27FC236}">
                <a16:creationId xmlns:a16="http://schemas.microsoft.com/office/drawing/2014/main" id="{111B4A49-B930-4A89-A1CD-6CA2B3D95AED}"/>
              </a:ext>
            </a:extLst>
          </p:cNvPr>
          <p:cNvSpPr txBox="1"/>
          <p:nvPr/>
        </p:nvSpPr>
        <p:spPr>
          <a:xfrm>
            <a:off x="6489668" y="4253865"/>
            <a:ext cx="552450" cy="466725"/>
          </a:xfrm>
          <a:prstGeom prst="rect">
            <a:avLst/>
          </a:prstGeom>
          <a:noFill/>
        </p:spPr>
        <p:txBody>
          <a:bodyPr vertOverflow="clip" horzOverflow="clip" wrap="square" lIns="0" tIns="0" rIns="0" bIns="0" rtlCol="0" anchor="ctr">
            <a:spAutoFit/>
          </a:bodyPr>
          <a:lstStyle/>
          <a:p>
            <a:pPr algn="ctr"/>
            <a:r>
              <a:rPr lang="en-US" sz="2520" b="1" dirty="0">
                <a:solidFill>
                  <a:srgbClr val="CCCCCC">
                    <a:alpha val="100000"/>
                  </a:srgbClr>
                </a:solidFill>
                <a:latin typeface="Montserrat" panose="00000700000000000000" pitchFamily="2" charset="0"/>
              </a:rPr>
              <a:t>#2</a:t>
            </a:r>
          </a:p>
        </p:txBody>
      </p:sp>
      <p:pic>
        <p:nvPicPr>
          <p:cNvPr id="60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12182475" y="3952875"/>
            <a:ext cx="4286250" cy="1676400"/>
          </a:xfrm>
          <a:prstGeom prst="rect">
            <a:avLst/>
          </a:prstGeom>
          <a:effectLst>
            <a:outerShdw blurRad="190500" dist="28575" dir="2700000" algn="ctr" rotWithShape="0">
              <a:srgbClr val="000000">
                <a:alpha val="40000"/>
              </a:srgbClr>
            </a:outerShdw>
          </a:effectLst>
        </p:spPr>
      </p:pic>
      <p:sp>
        <p:nvSpPr>
          <p:cNvPr id="609" name="Type a Headline-3">
            <a:extLst>
              <a:ext uri="{FF2B5EF4-FFF2-40B4-BE49-F238E27FC236}">
                <a16:creationId xmlns:a16="http://schemas.microsoft.com/office/drawing/2014/main" id="{111B4A49-B930-4A89-A1CD-6CA2B3D95AED}"/>
              </a:ext>
            </a:extLst>
          </p:cNvPr>
          <p:cNvSpPr txBox="1"/>
          <p:nvPr/>
        </p:nvSpPr>
        <p:spPr>
          <a:xfrm>
            <a:off x="12382976" y="4939665"/>
            <a:ext cx="4019550" cy="390525"/>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FFFFFF">
                    <a:alpha val="30000"/>
                  </a:srgbClr>
                </a:solidFill>
                <a:latin typeface="Montserrat" panose="00000700000000000000" pitchFamily="2" charset="0"/>
              </a:rPr>
              <a:t>Brand Building</a:t>
            </a:r>
          </a:p>
        </p:txBody>
      </p:sp>
      <p:pic>
        <p:nvPicPr>
          <p:cNvPr id="61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8">
            <a:alphaModFix amt="30000"/>
          </a:blip>
          <a:stretch/>
        </p:blipFill>
        <p:spPr>
          <a:xfrm>
            <a:off x="11753850" y="5057775"/>
            <a:ext cx="19050" cy="152400"/>
          </a:xfrm>
          <a:prstGeom prst="rect">
            <a:avLst/>
          </a:prstGeom>
        </p:spPr>
      </p:pic>
      <p:sp>
        <p:nvSpPr>
          <p:cNvPr id="611" name="-406">
            <a:extLst>
              <a:ext uri="{FF2B5EF4-FFF2-40B4-BE49-F238E27FC236}">
                <a16:creationId xmlns:a16="http://schemas.microsoft.com/office/drawing/2014/main" id="{111B4A49-B930-4A89-A1CD-6CA2B3D95AED}"/>
              </a:ext>
            </a:extLst>
          </p:cNvPr>
          <p:cNvSpPr txBox="1"/>
          <p:nvPr/>
        </p:nvSpPr>
        <p:spPr>
          <a:xfrm>
            <a:off x="12382976" y="4253865"/>
            <a:ext cx="552450" cy="466725"/>
          </a:xfrm>
          <a:prstGeom prst="rect">
            <a:avLst/>
          </a:prstGeom>
          <a:noFill/>
        </p:spPr>
        <p:txBody>
          <a:bodyPr vertOverflow="clip" horzOverflow="clip" wrap="square" lIns="0" tIns="0" rIns="0" bIns="0" rtlCol="0" anchor="ctr">
            <a:spAutoFit/>
          </a:bodyPr>
          <a:lstStyle/>
          <a:p>
            <a:pPr algn="ctr"/>
            <a:r>
              <a:rPr lang="en-US" sz="2520" b="1" dirty="0">
                <a:solidFill>
                  <a:srgbClr val="CCCCCC">
                    <a:alpha val="30000"/>
                  </a:srgbClr>
                </a:solidFill>
                <a:latin typeface="Montserrat" panose="00000700000000000000" pitchFamily="2" charset="0"/>
              </a:rPr>
              <a:t>#3</a:t>
            </a:r>
          </a:p>
        </p:txBody>
      </p:sp>
      <p:pic>
        <p:nvPicPr>
          <p:cNvPr id="61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9">
            <a:alphaModFix/>
          </a:blip>
          <a:stretch/>
        </p:blipFill>
        <p:spPr>
          <a:xfrm>
            <a:off x="16640175" y="3952875"/>
            <a:ext cx="1647825" cy="1676400"/>
          </a:xfrm>
          <a:prstGeom prst="rect">
            <a:avLst/>
          </a:prstGeom>
          <a:effectLst>
            <a:outerShdw blurRad="190500" dist="28575" dir="2700000" algn="ctr" rotWithShape="0">
              <a:srgbClr val="000000">
                <a:alpha val="40000"/>
              </a:srgbClr>
            </a:outerShdw>
          </a:effectLst>
        </p:spPr>
      </p:pic>
      <p:sp>
        <p:nvSpPr>
          <p:cNvPr id="613" name="Type a Headline-4">
            <a:extLst>
              <a:ext uri="{FF2B5EF4-FFF2-40B4-BE49-F238E27FC236}">
                <a16:creationId xmlns:a16="http://schemas.microsoft.com/office/drawing/2014/main" id="{111B4A49-B930-4A89-A1CD-6CA2B3D95AED}"/>
              </a:ext>
            </a:extLst>
          </p:cNvPr>
          <p:cNvSpPr txBox="1"/>
          <p:nvPr/>
        </p:nvSpPr>
        <p:spPr>
          <a:xfrm>
            <a:off x="16845248" y="4939665"/>
            <a:ext cx="4019550" cy="390525"/>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FFFFFF">
                    <a:alpha val="30000"/>
                  </a:srgbClr>
                </a:solidFill>
                <a:latin typeface="Montserrat" panose="00000700000000000000" pitchFamily="2" charset="0"/>
              </a:rPr>
              <a:t>Distribution Network</a:t>
            </a:r>
          </a:p>
        </p:txBody>
      </p:sp>
      <p:pic>
        <p:nvPicPr>
          <p:cNvPr id="61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8">
            <a:alphaModFix amt="30000"/>
          </a:blip>
          <a:stretch/>
        </p:blipFill>
        <p:spPr>
          <a:xfrm>
            <a:off x="16221075" y="5057775"/>
            <a:ext cx="19050" cy="152400"/>
          </a:xfrm>
          <a:prstGeom prst="rect">
            <a:avLst/>
          </a:prstGeom>
        </p:spPr>
      </p:pic>
      <p:sp>
        <p:nvSpPr>
          <p:cNvPr id="615" name="-483">
            <a:extLst>
              <a:ext uri="{FF2B5EF4-FFF2-40B4-BE49-F238E27FC236}">
                <a16:creationId xmlns:a16="http://schemas.microsoft.com/office/drawing/2014/main" id="{111B4A49-B930-4A89-A1CD-6CA2B3D95AED}"/>
              </a:ext>
            </a:extLst>
          </p:cNvPr>
          <p:cNvSpPr txBox="1"/>
          <p:nvPr/>
        </p:nvSpPr>
        <p:spPr>
          <a:xfrm>
            <a:off x="16845248" y="4253865"/>
            <a:ext cx="552450" cy="466725"/>
          </a:xfrm>
          <a:prstGeom prst="rect">
            <a:avLst/>
          </a:prstGeom>
          <a:noFill/>
        </p:spPr>
        <p:txBody>
          <a:bodyPr vertOverflow="clip" horzOverflow="clip" wrap="square" lIns="0" tIns="0" rIns="0" bIns="0" rtlCol="0" anchor="ctr">
            <a:spAutoFit/>
          </a:bodyPr>
          <a:lstStyle/>
          <a:p>
            <a:pPr algn="ctr"/>
            <a:r>
              <a:rPr lang="en-US" sz="2520" b="1" dirty="0">
                <a:solidFill>
                  <a:srgbClr val="CCCCCC">
                    <a:alpha val="30000"/>
                  </a:srgbClr>
                </a:solidFill>
                <a:latin typeface="Montserrat" panose="00000700000000000000" pitchFamily="2" charset="0"/>
              </a:rPr>
              <a:t>#4</a:t>
            </a:r>
          </a:p>
        </p:txBody>
      </p:sp>
    </p:spTree>
    <p:extLst>
      <p:ext uri="{BB962C8B-B14F-4D97-AF65-F5344CB8AC3E}">
        <p14:creationId xmlns:p14="http://schemas.microsoft.com/office/powerpoint/2010/main" val="36480479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0" y="0"/>
            <a:ext cx="18288000" cy="10287000"/>
          </a:xfrm>
          <a:prstGeom prst="rect">
            <a:avLst/>
          </a:prstGeom>
        </p:spPr>
      </p:pic>
      <p:pic>
        <p:nvPicPr>
          <p:cNvPr id="619" name="layoutShapeInnerChild1">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0" y="0"/>
            <a:ext cx="18288000" cy="10287000"/>
          </a:xfrm>
          <a:prstGeom prst="rect">
            <a:avLst/>
          </a:prstGeom>
        </p:spPr>
      </p:pic>
      <p:sp>
        <p:nvSpPr>
          <p:cNvPr id="620" name="Type a Headline-0">
            <a:extLst>
              <a:ext uri="{FF2B5EF4-FFF2-40B4-BE49-F238E27FC236}">
                <a16:creationId xmlns:a16="http://schemas.microsoft.com/office/drawing/2014/main" id="{111B4A49-B930-4A89-A1CD-6CA2B3D95AED}"/>
              </a:ext>
            </a:extLst>
          </p:cNvPr>
          <p:cNvSpPr txBox="1"/>
          <p:nvPr/>
        </p:nvSpPr>
        <p:spPr>
          <a:xfrm>
            <a:off x="609600" y="609600"/>
            <a:ext cx="17211675" cy="1085850"/>
          </a:xfrm>
          <a:prstGeom prst="rect">
            <a:avLst/>
          </a:prstGeom>
          <a:noFill/>
        </p:spPr>
        <p:txBody>
          <a:bodyPr vertOverflow="clip" horzOverflow="clip" wrap="square" lIns="0" tIns="0" rIns="0" bIns="0" rtlCol="0" anchor="ctr">
            <a:spAutoFit/>
          </a:bodyPr>
          <a:lstStyle/>
          <a:p>
            <a:pPr algn="l">
              <a:lnSpc>
                <a:spcPts val="8496"/>
              </a:lnSpc>
            </a:pPr>
            <a:r>
              <a:rPr lang="en-US" sz="7200" spc="-180" dirty="0">
                <a:solidFill>
                  <a:srgbClr val="FFFFFF">
                    <a:alpha val="100000"/>
                  </a:srgbClr>
                </a:solidFill>
                <a:latin typeface="Montserrat Light" panose="00000700000000000000" pitchFamily="2" charset="0"/>
              </a:rPr>
              <a:t>Product Roadmap</a:t>
            </a:r>
          </a:p>
        </p:txBody>
      </p:sp>
      <p:sp>
        <p:nvSpPr>
          <p:cNvPr id="621" name="A brief explanation about the headline-0">
            <a:extLst>
              <a:ext uri="{FF2B5EF4-FFF2-40B4-BE49-F238E27FC236}">
                <a16:creationId xmlns:a16="http://schemas.microsoft.com/office/drawing/2014/main" id="{111B4A49-B930-4A89-A1CD-6CA2B3D95AED}"/>
              </a:ext>
            </a:extLst>
          </p:cNvPr>
          <p:cNvSpPr txBox="1"/>
          <p:nvPr/>
        </p:nvSpPr>
        <p:spPr>
          <a:xfrm>
            <a:off x="542925" y="1688497"/>
            <a:ext cx="17211675" cy="381000"/>
          </a:xfrm>
          <a:prstGeom prst="rect">
            <a:avLst/>
          </a:prstGeom>
          <a:noFill/>
        </p:spPr>
        <p:txBody>
          <a:bodyPr vertOverflow="clip" horzOverflow="clip" wrap="square" lIns="0" tIns="0" rIns="0" bIns="0" rtlCol="0" anchor="ctr">
            <a:spAutoFit/>
          </a:bodyPr>
          <a:lstStyle/>
          <a:p>
            <a:pPr algn="l">
              <a:lnSpc>
                <a:spcPts val="2919"/>
              </a:lnSpc>
            </a:pPr>
            <a:r>
              <a:rPr lang="en-US" sz="2100" spc="-21" dirty="0">
                <a:solidFill>
                  <a:srgbClr val="FFFFFF">
                    <a:alpha val="100000"/>
                  </a:srgbClr>
                </a:solidFill>
                <a:latin typeface="Montserrat Light" panose="00000700000000000000" pitchFamily="2" charset="0"/>
              </a:rPr>
              <a:t>Strategies for Market Expansion and Competitive Positioning in India's Elevator Industry</a:t>
            </a:r>
          </a:p>
        </p:txBody>
      </p:sp>
      <p:pic>
        <p:nvPicPr>
          <p:cNvPr id="62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0" y="3952875"/>
            <a:ext cx="1657350" cy="1676400"/>
          </a:xfrm>
          <a:prstGeom prst="rect">
            <a:avLst/>
          </a:prstGeom>
          <a:effectLst>
            <a:outerShdw blurRad="190500" dist="28575" dir="2700000" algn="ctr" rotWithShape="0">
              <a:srgbClr val="000000">
                <a:alpha val="40000"/>
              </a:srgbClr>
            </a:outerShdw>
          </a:effectLst>
        </p:spPr>
      </p:pic>
      <p:sp>
        <p:nvSpPr>
          <p:cNvPr id="623" name="Type a Headline-1">
            <a:extLst>
              <a:ext uri="{FF2B5EF4-FFF2-40B4-BE49-F238E27FC236}">
                <a16:creationId xmlns:a16="http://schemas.microsoft.com/office/drawing/2014/main" id="{111B4A49-B930-4A89-A1CD-6CA2B3D95AED}"/>
              </a:ext>
            </a:extLst>
          </p:cNvPr>
          <p:cNvSpPr txBox="1"/>
          <p:nvPr/>
        </p:nvSpPr>
        <p:spPr>
          <a:xfrm>
            <a:off x="-2430304" y="4939665"/>
            <a:ext cx="4019550" cy="390525"/>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FFFFFF">
                    <a:alpha val="30000"/>
                  </a:srgbClr>
                </a:solidFill>
                <a:latin typeface="Montserrat" panose="00000700000000000000" pitchFamily="2" charset="0"/>
              </a:rPr>
              <a:t>Market Analysis</a:t>
            </a:r>
          </a:p>
        </p:txBody>
      </p:sp>
      <p:pic>
        <p:nvPicPr>
          <p:cNvPr id="62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1828800" y="3952875"/>
            <a:ext cx="4286250" cy="1676400"/>
          </a:xfrm>
          <a:prstGeom prst="rect">
            <a:avLst/>
          </a:prstGeom>
          <a:effectLst>
            <a:outerShdw blurRad="190500" dist="28575" dir="2700000" algn="ctr" rotWithShape="0">
              <a:srgbClr val="000000">
                <a:alpha val="40000"/>
              </a:srgbClr>
            </a:outerShdw>
          </a:effectLst>
        </p:spPr>
      </p:pic>
      <p:sp>
        <p:nvSpPr>
          <p:cNvPr id="625" name="Type a Headline-2">
            <a:extLst>
              <a:ext uri="{FF2B5EF4-FFF2-40B4-BE49-F238E27FC236}">
                <a16:creationId xmlns:a16="http://schemas.microsoft.com/office/drawing/2014/main" id="{111B4A49-B930-4A89-A1CD-6CA2B3D95AED}"/>
              </a:ext>
            </a:extLst>
          </p:cNvPr>
          <p:cNvSpPr txBox="1"/>
          <p:nvPr/>
        </p:nvSpPr>
        <p:spPr>
          <a:xfrm>
            <a:off x="2031968" y="4939665"/>
            <a:ext cx="4019550" cy="390525"/>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FFFFFF">
                    <a:alpha val="30000"/>
                  </a:srgbClr>
                </a:solidFill>
                <a:latin typeface="Montserrat" panose="00000700000000000000" pitchFamily="2" charset="0"/>
              </a:rPr>
              <a:t>Product Development</a:t>
            </a:r>
          </a:p>
        </p:txBody>
      </p:sp>
      <p:pic>
        <p:nvPicPr>
          <p:cNvPr id="62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mt="30000"/>
          </a:blip>
          <a:stretch/>
        </p:blipFill>
        <p:spPr>
          <a:xfrm>
            <a:off x="1400175" y="5057775"/>
            <a:ext cx="19050" cy="152400"/>
          </a:xfrm>
          <a:prstGeom prst="rect">
            <a:avLst/>
          </a:prstGeom>
        </p:spPr>
      </p:pic>
      <p:sp>
        <p:nvSpPr>
          <p:cNvPr id="627" name="-458">
            <a:extLst>
              <a:ext uri="{FF2B5EF4-FFF2-40B4-BE49-F238E27FC236}">
                <a16:creationId xmlns:a16="http://schemas.microsoft.com/office/drawing/2014/main" id="{111B4A49-B930-4A89-A1CD-6CA2B3D95AED}"/>
              </a:ext>
            </a:extLst>
          </p:cNvPr>
          <p:cNvSpPr txBox="1"/>
          <p:nvPr/>
        </p:nvSpPr>
        <p:spPr>
          <a:xfrm>
            <a:off x="2031968" y="4253865"/>
            <a:ext cx="552450" cy="466725"/>
          </a:xfrm>
          <a:prstGeom prst="rect">
            <a:avLst/>
          </a:prstGeom>
          <a:noFill/>
        </p:spPr>
        <p:txBody>
          <a:bodyPr vertOverflow="clip" horzOverflow="clip" wrap="square" lIns="0" tIns="0" rIns="0" bIns="0" rtlCol="0" anchor="ctr">
            <a:spAutoFit/>
          </a:bodyPr>
          <a:lstStyle/>
          <a:p>
            <a:pPr algn="ctr"/>
            <a:r>
              <a:rPr lang="en-US" sz="2520" b="1" dirty="0">
                <a:solidFill>
                  <a:srgbClr val="CCCCCC">
                    <a:alpha val="30000"/>
                  </a:srgbClr>
                </a:solidFill>
                <a:latin typeface="Montserrat" panose="00000700000000000000" pitchFamily="2" charset="0"/>
              </a:rPr>
              <a:t>#2</a:t>
            </a:r>
          </a:p>
        </p:txBody>
      </p:sp>
      <p:pic>
        <p:nvPicPr>
          <p:cNvPr id="62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6286500" y="3952875"/>
            <a:ext cx="5715000" cy="3524250"/>
          </a:xfrm>
          <a:prstGeom prst="rect">
            <a:avLst/>
          </a:prstGeom>
          <a:effectLst>
            <a:outerShdw blurRad="190500" dist="28575" dir="2700000" algn="ctr" rotWithShape="0">
              <a:srgbClr val="000000">
                <a:alpha val="40000"/>
              </a:srgbClr>
            </a:outerShdw>
          </a:effectLst>
        </p:spPr>
      </p:pic>
      <p:sp>
        <p:nvSpPr>
          <p:cNvPr id="629" name="Type a Headline-3">
            <a:extLst>
              <a:ext uri="{FF2B5EF4-FFF2-40B4-BE49-F238E27FC236}">
                <a16:creationId xmlns:a16="http://schemas.microsoft.com/office/drawing/2014/main" id="{111B4A49-B930-4A89-A1CD-6CA2B3D95AED}"/>
              </a:ext>
            </a:extLst>
          </p:cNvPr>
          <p:cNvSpPr txBox="1"/>
          <p:nvPr/>
        </p:nvSpPr>
        <p:spPr>
          <a:xfrm>
            <a:off x="6489668" y="4939665"/>
            <a:ext cx="5448300" cy="390525"/>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FFFFFF">
                    <a:alpha val="100000"/>
                  </a:srgbClr>
                </a:solidFill>
                <a:latin typeface="Montserrat" panose="00000700000000000000" pitchFamily="2" charset="0"/>
              </a:rPr>
              <a:t>Brand Building</a:t>
            </a:r>
          </a:p>
        </p:txBody>
      </p:sp>
      <p:sp>
        <p:nvSpPr>
          <p:cNvPr id="630" name="A brief explanation about the headline-3">
            <a:extLst>
              <a:ext uri="{FF2B5EF4-FFF2-40B4-BE49-F238E27FC236}">
                <a16:creationId xmlns:a16="http://schemas.microsoft.com/office/drawing/2014/main" id="{111B4A49-B930-4A89-A1CD-6CA2B3D95AED}"/>
              </a:ext>
            </a:extLst>
          </p:cNvPr>
          <p:cNvSpPr txBox="1"/>
          <p:nvPr/>
        </p:nvSpPr>
        <p:spPr>
          <a:xfrm>
            <a:off x="6422993" y="5318284"/>
            <a:ext cx="5448300" cy="1866900"/>
          </a:xfrm>
          <a:prstGeom prst="rect">
            <a:avLst/>
          </a:prstGeom>
          <a:noFill/>
        </p:spPr>
        <p:txBody>
          <a:bodyPr vertOverflow="clip" horzOverflow="clip" wrap="square" lIns="0" tIns="0" rIns="0" bIns="0" rtlCol="0" anchor="ctr">
            <a:spAutoFit/>
          </a:bodyPr>
          <a:lstStyle/>
          <a:p>
            <a:pPr algn="l">
              <a:lnSpc>
                <a:spcPts val="2919"/>
              </a:lnSpc>
            </a:pPr>
            <a:r>
              <a:rPr lang="en-US" sz="2100" spc="-21" dirty="0">
                <a:solidFill>
                  <a:srgbClr val="FFFFFF">
                    <a:alpha val="100000"/>
                  </a:srgbClr>
                </a:solidFill>
                <a:latin typeface="Montserrat Light" panose="00000700000000000000" pitchFamily="2" charset="0"/>
              </a:rPr>
              <a:t>Strengthen brand presence through targeted marketing campaigns showcasing superior product quality and industry expertise to increase market share in India's elevator industry.</a:t>
            </a:r>
          </a:p>
        </p:txBody>
      </p:sp>
      <p:pic>
        <p:nvPicPr>
          <p:cNvPr id="631"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8">
            <a:alphaModFix/>
          </a:blip>
          <a:stretch/>
        </p:blipFill>
        <p:spPr>
          <a:xfrm>
            <a:off x="5857875" y="5057775"/>
            <a:ext cx="19050" cy="152400"/>
          </a:xfrm>
          <a:prstGeom prst="rect">
            <a:avLst/>
          </a:prstGeom>
        </p:spPr>
      </p:pic>
      <p:sp>
        <p:nvSpPr>
          <p:cNvPr id="632" name="-499">
            <a:extLst>
              <a:ext uri="{FF2B5EF4-FFF2-40B4-BE49-F238E27FC236}">
                <a16:creationId xmlns:a16="http://schemas.microsoft.com/office/drawing/2014/main" id="{111B4A49-B930-4A89-A1CD-6CA2B3D95AED}"/>
              </a:ext>
            </a:extLst>
          </p:cNvPr>
          <p:cNvSpPr txBox="1"/>
          <p:nvPr/>
        </p:nvSpPr>
        <p:spPr>
          <a:xfrm>
            <a:off x="6489668" y="4253865"/>
            <a:ext cx="552450" cy="466725"/>
          </a:xfrm>
          <a:prstGeom prst="rect">
            <a:avLst/>
          </a:prstGeom>
          <a:noFill/>
        </p:spPr>
        <p:txBody>
          <a:bodyPr vertOverflow="clip" horzOverflow="clip" wrap="square" lIns="0" tIns="0" rIns="0" bIns="0" rtlCol="0" anchor="ctr">
            <a:spAutoFit/>
          </a:bodyPr>
          <a:lstStyle/>
          <a:p>
            <a:pPr algn="ctr"/>
            <a:r>
              <a:rPr lang="en-US" sz="2520" b="1" dirty="0">
                <a:solidFill>
                  <a:srgbClr val="CCCCCC">
                    <a:alpha val="100000"/>
                  </a:srgbClr>
                </a:solidFill>
                <a:latin typeface="Montserrat" panose="00000700000000000000" pitchFamily="2" charset="0"/>
              </a:rPr>
              <a:t>#3</a:t>
            </a:r>
          </a:p>
        </p:txBody>
      </p:sp>
      <p:pic>
        <p:nvPicPr>
          <p:cNvPr id="63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12182475" y="3952875"/>
            <a:ext cx="4286250" cy="1676400"/>
          </a:xfrm>
          <a:prstGeom prst="rect">
            <a:avLst/>
          </a:prstGeom>
          <a:effectLst>
            <a:outerShdw blurRad="190500" dist="28575" dir="2700000" algn="ctr" rotWithShape="0">
              <a:srgbClr val="000000">
                <a:alpha val="40000"/>
              </a:srgbClr>
            </a:outerShdw>
          </a:effectLst>
        </p:spPr>
      </p:pic>
      <p:sp>
        <p:nvSpPr>
          <p:cNvPr id="634" name="Type a Headline-4">
            <a:extLst>
              <a:ext uri="{FF2B5EF4-FFF2-40B4-BE49-F238E27FC236}">
                <a16:creationId xmlns:a16="http://schemas.microsoft.com/office/drawing/2014/main" id="{111B4A49-B930-4A89-A1CD-6CA2B3D95AED}"/>
              </a:ext>
            </a:extLst>
          </p:cNvPr>
          <p:cNvSpPr txBox="1"/>
          <p:nvPr/>
        </p:nvSpPr>
        <p:spPr>
          <a:xfrm>
            <a:off x="12382976" y="4939665"/>
            <a:ext cx="4019550" cy="390525"/>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FFFFFF">
                    <a:alpha val="30000"/>
                  </a:srgbClr>
                </a:solidFill>
                <a:latin typeface="Montserrat" panose="00000700000000000000" pitchFamily="2" charset="0"/>
              </a:rPr>
              <a:t>Distribution Network</a:t>
            </a:r>
          </a:p>
        </p:txBody>
      </p:sp>
      <p:pic>
        <p:nvPicPr>
          <p:cNvPr id="63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mt="30000"/>
          </a:blip>
          <a:stretch/>
        </p:blipFill>
        <p:spPr>
          <a:xfrm>
            <a:off x="11753850" y="5057775"/>
            <a:ext cx="19050" cy="152400"/>
          </a:xfrm>
          <a:prstGeom prst="rect">
            <a:avLst/>
          </a:prstGeom>
        </p:spPr>
      </p:pic>
      <p:sp>
        <p:nvSpPr>
          <p:cNvPr id="636" name="-490">
            <a:extLst>
              <a:ext uri="{FF2B5EF4-FFF2-40B4-BE49-F238E27FC236}">
                <a16:creationId xmlns:a16="http://schemas.microsoft.com/office/drawing/2014/main" id="{111B4A49-B930-4A89-A1CD-6CA2B3D95AED}"/>
              </a:ext>
            </a:extLst>
          </p:cNvPr>
          <p:cNvSpPr txBox="1"/>
          <p:nvPr/>
        </p:nvSpPr>
        <p:spPr>
          <a:xfrm>
            <a:off x="12382976" y="4253865"/>
            <a:ext cx="552450" cy="466725"/>
          </a:xfrm>
          <a:prstGeom prst="rect">
            <a:avLst/>
          </a:prstGeom>
          <a:noFill/>
        </p:spPr>
        <p:txBody>
          <a:bodyPr vertOverflow="clip" horzOverflow="clip" wrap="square" lIns="0" tIns="0" rIns="0" bIns="0" rtlCol="0" anchor="ctr">
            <a:spAutoFit/>
          </a:bodyPr>
          <a:lstStyle/>
          <a:p>
            <a:pPr algn="ctr"/>
            <a:r>
              <a:rPr lang="en-US" sz="2520" b="1" dirty="0">
                <a:solidFill>
                  <a:srgbClr val="CCCCCC">
                    <a:alpha val="30000"/>
                  </a:srgbClr>
                </a:solidFill>
                <a:latin typeface="Montserrat" panose="00000700000000000000" pitchFamily="2" charset="0"/>
              </a:rPr>
              <a:t>#4</a:t>
            </a:r>
          </a:p>
        </p:txBody>
      </p:sp>
      <p:pic>
        <p:nvPicPr>
          <p:cNvPr id="637"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9">
            <a:alphaModFix/>
          </a:blip>
          <a:stretch/>
        </p:blipFill>
        <p:spPr>
          <a:xfrm>
            <a:off x="16640175" y="3952875"/>
            <a:ext cx="1647825" cy="1676400"/>
          </a:xfrm>
          <a:prstGeom prst="rect">
            <a:avLst/>
          </a:prstGeom>
          <a:effectLst>
            <a:outerShdw blurRad="190500" dist="28575" dir="2700000" algn="ctr" rotWithShape="0">
              <a:srgbClr val="000000">
                <a:alpha val="40000"/>
              </a:srgbClr>
            </a:outerShdw>
          </a:effectLst>
        </p:spPr>
      </p:pic>
      <p:sp>
        <p:nvSpPr>
          <p:cNvPr id="638" name="Type a Headline-5">
            <a:extLst>
              <a:ext uri="{FF2B5EF4-FFF2-40B4-BE49-F238E27FC236}">
                <a16:creationId xmlns:a16="http://schemas.microsoft.com/office/drawing/2014/main" id="{111B4A49-B930-4A89-A1CD-6CA2B3D95AED}"/>
              </a:ext>
            </a:extLst>
          </p:cNvPr>
          <p:cNvSpPr txBox="1"/>
          <p:nvPr/>
        </p:nvSpPr>
        <p:spPr>
          <a:xfrm>
            <a:off x="16845248" y="4939665"/>
            <a:ext cx="4019550" cy="390525"/>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FFFFFF">
                    <a:alpha val="30000"/>
                  </a:srgbClr>
                </a:solidFill>
                <a:latin typeface="Montserrat" panose="00000700000000000000" pitchFamily="2" charset="0"/>
              </a:rPr>
              <a:t>Customer Service</a:t>
            </a:r>
          </a:p>
        </p:txBody>
      </p:sp>
      <p:pic>
        <p:nvPicPr>
          <p:cNvPr id="63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mt="30000"/>
          </a:blip>
          <a:stretch/>
        </p:blipFill>
        <p:spPr>
          <a:xfrm>
            <a:off x="16221075" y="5057775"/>
            <a:ext cx="19050" cy="152400"/>
          </a:xfrm>
          <a:prstGeom prst="rect">
            <a:avLst/>
          </a:prstGeom>
        </p:spPr>
      </p:pic>
      <p:sp>
        <p:nvSpPr>
          <p:cNvPr id="640" name="-423">
            <a:extLst>
              <a:ext uri="{FF2B5EF4-FFF2-40B4-BE49-F238E27FC236}">
                <a16:creationId xmlns:a16="http://schemas.microsoft.com/office/drawing/2014/main" id="{111B4A49-B930-4A89-A1CD-6CA2B3D95AED}"/>
              </a:ext>
            </a:extLst>
          </p:cNvPr>
          <p:cNvSpPr txBox="1"/>
          <p:nvPr/>
        </p:nvSpPr>
        <p:spPr>
          <a:xfrm>
            <a:off x="16845248" y="4253865"/>
            <a:ext cx="552450" cy="466725"/>
          </a:xfrm>
          <a:prstGeom prst="rect">
            <a:avLst/>
          </a:prstGeom>
          <a:noFill/>
        </p:spPr>
        <p:txBody>
          <a:bodyPr vertOverflow="clip" horzOverflow="clip" wrap="square" lIns="0" tIns="0" rIns="0" bIns="0" rtlCol="0" anchor="ctr">
            <a:spAutoFit/>
          </a:bodyPr>
          <a:lstStyle/>
          <a:p>
            <a:pPr algn="ctr"/>
            <a:r>
              <a:rPr lang="en-US" sz="2520" b="1" dirty="0">
                <a:solidFill>
                  <a:srgbClr val="CCCCCC">
                    <a:alpha val="30000"/>
                  </a:srgbClr>
                </a:solidFill>
                <a:latin typeface="Montserrat" panose="00000700000000000000" pitchFamily="2" charset="0"/>
              </a:rPr>
              <a:t>#5</a:t>
            </a:r>
          </a:p>
        </p:txBody>
      </p:sp>
    </p:spTree>
    <p:extLst>
      <p:ext uri="{BB962C8B-B14F-4D97-AF65-F5344CB8AC3E}">
        <p14:creationId xmlns:p14="http://schemas.microsoft.com/office/powerpoint/2010/main" val="36480479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0" y="0"/>
            <a:ext cx="18288000" cy="10287000"/>
          </a:xfrm>
          <a:prstGeom prst="rect">
            <a:avLst/>
          </a:prstGeom>
        </p:spPr>
      </p:pic>
      <p:pic>
        <p:nvPicPr>
          <p:cNvPr id="644" name="layoutShapeInnerChild1">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0" y="0"/>
            <a:ext cx="18288000" cy="10287000"/>
          </a:xfrm>
          <a:prstGeom prst="rect">
            <a:avLst/>
          </a:prstGeom>
        </p:spPr>
      </p:pic>
      <p:sp>
        <p:nvSpPr>
          <p:cNvPr id="645" name="Type a Headline-0">
            <a:extLst>
              <a:ext uri="{FF2B5EF4-FFF2-40B4-BE49-F238E27FC236}">
                <a16:creationId xmlns:a16="http://schemas.microsoft.com/office/drawing/2014/main" id="{111B4A49-B930-4A89-A1CD-6CA2B3D95AED}"/>
              </a:ext>
            </a:extLst>
          </p:cNvPr>
          <p:cNvSpPr txBox="1"/>
          <p:nvPr/>
        </p:nvSpPr>
        <p:spPr>
          <a:xfrm>
            <a:off x="609600" y="609600"/>
            <a:ext cx="17211675" cy="1085850"/>
          </a:xfrm>
          <a:prstGeom prst="rect">
            <a:avLst/>
          </a:prstGeom>
          <a:noFill/>
        </p:spPr>
        <p:txBody>
          <a:bodyPr vertOverflow="clip" horzOverflow="clip" wrap="square" lIns="0" tIns="0" rIns="0" bIns="0" rtlCol="0" anchor="ctr">
            <a:spAutoFit/>
          </a:bodyPr>
          <a:lstStyle/>
          <a:p>
            <a:pPr algn="l">
              <a:lnSpc>
                <a:spcPts val="8496"/>
              </a:lnSpc>
            </a:pPr>
            <a:r>
              <a:rPr lang="en-US" sz="7200" spc="-180" dirty="0">
                <a:solidFill>
                  <a:srgbClr val="FFFFFF">
                    <a:alpha val="100000"/>
                  </a:srgbClr>
                </a:solidFill>
                <a:latin typeface="Montserrat Light" panose="00000700000000000000" pitchFamily="2" charset="0"/>
              </a:rPr>
              <a:t>Product Roadmap</a:t>
            </a:r>
          </a:p>
        </p:txBody>
      </p:sp>
      <p:sp>
        <p:nvSpPr>
          <p:cNvPr id="646" name="A brief explanation about the headline-0">
            <a:extLst>
              <a:ext uri="{FF2B5EF4-FFF2-40B4-BE49-F238E27FC236}">
                <a16:creationId xmlns:a16="http://schemas.microsoft.com/office/drawing/2014/main" id="{111B4A49-B930-4A89-A1CD-6CA2B3D95AED}"/>
              </a:ext>
            </a:extLst>
          </p:cNvPr>
          <p:cNvSpPr txBox="1"/>
          <p:nvPr/>
        </p:nvSpPr>
        <p:spPr>
          <a:xfrm>
            <a:off x="542925" y="1688497"/>
            <a:ext cx="17211675" cy="381000"/>
          </a:xfrm>
          <a:prstGeom prst="rect">
            <a:avLst/>
          </a:prstGeom>
          <a:noFill/>
        </p:spPr>
        <p:txBody>
          <a:bodyPr vertOverflow="clip" horzOverflow="clip" wrap="square" lIns="0" tIns="0" rIns="0" bIns="0" rtlCol="0" anchor="ctr">
            <a:spAutoFit/>
          </a:bodyPr>
          <a:lstStyle/>
          <a:p>
            <a:pPr algn="l">
              <a:lnSpc>
                <a:spcPts val="2919"/>
              </a:lnSpc>
            </a:pPr>
            <a:r>
              <a:rPr lang="en-US" sz="2100" spc="-21" dirty="0">
                <a:solidFill>
                  <a:srgbClr val="FFFFFF">
                    <a:alpha val="100000"/>
                  </a:srgbClr>
                </a:solidFill>
                <a:latin typeface="Montserrat Light" panose="00000700000000000000" pitchFamily="2" charset="0"/>
              </a:rPr>
              <a:t>Strategies for Market Expansion and Competitive Positioning in India's Elevator Industry</a:t>
            </a:r>
          </a:p>
        </p:txBody>
      </p:sp>
      <p:pic>
        <p:nvPicPr>
          <p:cNvPr id="647"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0" y="3952875"/>
            <a:ext cx="1657350" cy="1676400"/>
          </a:xfrm>
          <a:prstGeom prst="rect">
            <a:avLst/>
          </a:prstGeom>
          <a:effectLst>
            <a:outerShdw blurRad="190500" dist="28575" dir="2700000" algn="ctr" rotWithShape="0">
              <a:srgbClr val="000000">
                <a:alpha val="40000"/>
              </a:srgbClr>
            </a:outerShdw>
          </a:effectLst>
        </p:spPr>
      </p:pic>
      <p:sp>
        <p:nvSpPr>
          <p:cNvPr id="648" name="Type a Headline-2">
            <a:extLst>
              <a:ext uri="{FF2B5EF4-FFF2-40B4-BE49-F238E27FC236}">
                <a16:creationId xmlns:a16="http://schemas.microsoft.com/office/drawing/2014/main" id="{111B4A49-B930-4A89-A1CD-6CA2B3D95AED}"/>
              </a:ext>
            </a:extLst>
          </p:cNvPr>
          <p:cNvSpPr txBox="1"/>
          <p:nvPr/>
        </p:nvSpPr>
        <p:spPr>
          <a:xfrm>
            <a:off x="-2430304" y="4939665"/>
            <a:ext cx="4019550" cy="390525"/>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FFFFFF">
                    <a:alpha val="30000"/>
                  </a:srgbClr>
                </a:solidFill>
                <a:latin typeface="Montserrat" panose="00000700000000000000" pitchFamily="2" charset="0"/>
              </a:rPr>
              <a:t>Product Development</a:t>
            </a:r>
          </a:p>
        </p:txBody>
      </p:sp>
      <p:pic>
        <p:nvPicPr>
          <p:cNvPr id="64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1828800" y="3952875"/>
            <a:ext cx="4286250" cy="1676400"/>
          </a:xfrm>
          <a:prstGeom prst="rect">
            <a:avLst/>
          </a:prstGeom>
          <a:effectLst>
            <a:outerShdw blurRad="190500" dist="28575" dir="2700000" algn="ctr" rotWithShape="0">
              <a:srgbClr val="000000">
                <a:alpha val="40000"/>
              </a:srgbClr>
            </a:outerShdw>
          </a:effectLst>
        </p:spPr>
      </p:pic>
      <p:sp>
        <p:nvSpPr>
          <p:cNvPr id="650" name="Type a Headline-3">
            <a:extLst>
              <a:ext uri="{FF2B5EF4-FFF2-40B4-BE49-F238E27FC236}">
                <a16:creationId xmlns:a16="http://schemas.microsoft.com/office/drawing/2014/main" id="{111B4A49-B930-4A89-A1CD-6CA2B3D95AED}"/>
              </a:ext>
            </a:extLst>
          </p:cNvPr>
          <p:cNvSpPr txBox="1"/>
          <p:nvPr/>
        </p:nvSpPr>
        <p:spPr>
          <a:xfrm>
            <a:off x="2031968" y="4939665"/>
            <a:ext cx="4019550" cy="390525"/>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FFFFFF">
                    <a:alpha val="30000"/>
                  </a:srgbClr>
                </a:solidFill>
                <a:latin typeface="Montserrat" panose="00000700000000000000" pitchFamily="2" charset="0"/>
              </a:rPr>
              <a:t>Brand Building</a:t>
            </a:r>
          </a:p>
        </p:txBody>
      </p:sp>
      <p:pic>
        <p:nvPicPr>
          <p:cNvPr id="651"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mt="30000"/>
          </a:blip>
          <a:stretch/>
        </p:blipFill>
        <p:spPr>
          <a:xfrm>
            <a:off x="1400175" y="5057775"/>
            <a:ext cx="19050" cy="152400"/>
          </a:xfrm>
          <a:prstGeom prst="rect">
            <a:avLst/>
          </a:prstGeom>
        </p:spPr>
      </p:pic>
      <p:sp>
        <p:nvSpPr>
          <p:cNvPr id="652" name="-452">
            <a:extLst>
              <a:ext uri="{FF2B5EF4-FFF2-40B4-BE49-F238E27FC236}">
                <a16:creationId xmlns:a16="http://schemas.microsoft.com/office/drawing/2014/main" id="{111B4A49-B930-4A89-A1CD-6CA2B3D95AED}"/>
              </a:ext>
            </a:extLst>
          </p:cNvPr>
          <p:cNvSpPr txBox="1"/>
          <p:nvPr/>
        </p:nvSpPr>
        <p:spPr>
          <a:xfrm>
            <a:off x="2031968" y="4253865"/>
            <a:ext cx="552450" cy="466725"/>
          </a:xfrm>
          <a:prstGeom prst="rect">
            <a:avLst/>
          </a:prstGeom>
          <a:noFill/>
        </p:spPr>
        <p:txBody>
          <a:bodyPr vertOverflow="clip" horzOverflow="clip" wrap="square" lIns="0" tIns="0" rIns="0" bIns="0" rtlCol="0" anchor="ctr">
            <a:spAutoFit/>
          </a:bodyPr>
          <a:lstStyle/>
          <a:p>
            <a:pPr algn="ctr"/>
            <a:r>
              <a:rPr lang="en-US" sz="2520" b="1" dirty="0">
                <a:solidFill>
                  <a:srgbClr val="CCCCCC">
                    <a:alpha val="30000"/>
                  </a:srgbClr>
                </a:solidFill>
                <a:latin typeface="Montserrat" panose="00000700000000000000" pitchFamily="2" charset="0"/>
              </a:rPr>
              <a:t>#3</a:t>
            </a:r>
          </a:p>
        </p:txBody>
      </p:sp>
      <p:pic>
        <p:nvPicPr>
          <p:cNvPr id="65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6286500" y="3952875"/>
            <a:ext cx="5715000" cy="3524250"/>
          </a:xfrm>
          <a:prstGeom prst="rect">
            <a:avLst/>
          </a:prstGeom>
          <a:effectLst>
            <a:outerShdw blurRad="190500" dist="28575" dir="2700000" algn="ctr" rotWithShape="0">
              <a:srgbClr val="000000">
                <a:alpha val="40000"/>
              </a:srgbClr>
            </a:outerShdw>
          </a:effectLst>
        </p:spPr>
      </p:pic>
      <p:sp>
        <p:nvSpPr>
          <p:cNvPr id="654" name="Type a Headline-4">
            <a:extLst>
              <a:ext uri="{FF2B5EF4-FFF2-40B4-BE49-F238E27FC236}">
                <a16:creationId xmlns:a16="http://schemas.microsoft.com/office/drawing/2014/main" id="{111B4A49-B930-4A89-A1CD-6CA2B3D95AED}"/>
              </a:ext>
            </a:extLst>
          </p:cNvPr>
          <p:cNvSpPr txBox="1"/>
          <p:nvPr/>
        </p:nvSpPr>
        <p:spPr>
          <a:xfrm>
            <a:off x="6489668" y="4939665"/>
            <a:ext cx="5448300" cy="390525"/>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FFFFFF">
                    <a:alpha val="100000"/>
                  </a:srgbClr>
                </a:solidFill>
                <a:latin typeface="Montserrat" panose="00000700000000000000" pitchFamily="2" charset="0"/>
              </a:rPr>
              <a:t>Distribution Network</a:t>
            </a:r>
          </a:p>
        </p:txBody>
      </p:sp>
      <p:sp>
        <p:nvSpPr>
          <p:cNvPr id="655" name="A brief explanation about the headline-4">
            <a:extLst>
              <a:ext uri="{FF2B5EF4-FFF2-40B4-BE49-F238E27FC236}">
                <a16:creationId xmlns:a16="http://schemas.microsoft.com/office/drawing/2014/main" id="{111B4A49-B930-4A89-A1CD-6CA2B3D95AED}"/>
              </a:ext>
            </a:extLst>
          </p:cNvPr>
          <p:cNvSpPr txBox="1"/>
          <p:nvPr/>
        </p:nvSpPr>
        <p:spPr>
          <a:xfrm>
            <a:off x="6422993" y="5318284"/>
            <a:ext cx="5448300" cy="1866900"/>
          </a:xfrm>
          <a:prstGeom prst="rect">
            <a:avLst/>
          </a:prstGeom>
          <a:noFill/>
        </p:spPr>
        <p:txBody>
          <a:bodyPr vertOverflow="clip" horzOverflow="clip" wrap="square" lIns="0" tIns="0" rIns="0" bIns="0" rtlCol="0" anchor="ctr">
            <a:spAutoFit/>
          </a:bodyPr>
          <a:lstStyle/>
          <a:p>
            <a:pPr algn="l">
              <a:lnSpc>
                <a:spcPts val="2919"/>
              </a:lnSpc>
            </a:pPr>
            <a:r>
              <a:rPr lang="en-US" sz="2100" spc="-21" dirty="0">
                <a:solidFill>
                  <a:srgbClr val="FFFFFF">
                    <a:alpha val="100000"/>
                  </a:srgbClr>
                </a:solidFill>
                <a:latin typeface="Montserrat Light" panose="00000700000000000000" pitchFamily="2" charset="0"/>
              </a:rPr>
              <a:t>Expand distribution channels nationwide to ensure widespread product availability, enabling customers to access your elevator solutions across India.</a:t>
            </a:r>
          </a:p>
        </p:txBody>
      </p:sp>
      <p:pic>
        <p:nvPicPr>
          <p:cNvPr id="65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8">
            <a:alphaModFix/>
          </a:blip>
          <a:stretch/>
        </p:blipFill>
        <p:spPr>
          <a:xfrm>
            <a:off x="5857875" y="5057775"/>
            <a:ext cx="19050" cy="152400"/>
          </a:xfrm>
          <a:prstGeom prst="rect">
            <a:avLst/>
          </a:prstGeom>
        </p:spPr>
      </p:pic>
      <p:sp>
        <p:nvSpPr>
          <p:cNvPr id="657" name="-476">
            <a:extLst>
              <a:ext uri="{FF2B5EF4-FFF2-40B4-BE49-F238E27FC236}">
                <a16:creationId xmlns:a16="http://schemas.microsoft.com/office/drawing/2014/main" id="{111B4A49-B930-4A89-A1CD-6CA2B3D95AED}"/>
              </a:ext>
            </a:extLst>
          </p:cNvPr>
          <p:cNvSpPr txBox="1"/>
          <p:nvPr/>
        </p:nvSpPr>
        <p:spPr>
          <a:xfrm>
            <a:off x="6489668" y="4253865"/>
            <a:ext cx="552450" cy="466725"/>
          </a:xfrm>
          <a:prstGeom prst="rect">
            <a:avLst/>
          </a:prstGeom>
          <a:noFill/>
        </p:spPr>
        <p:txBody>
          <a:bodyPr vertOverflow="clip" horzOverflow="clip" wrap="square" lIns="0" tIns="0" rIns="0" bIns="0" rtlCol="0" anchor="ctr">
            <a:spAutoFit/>
          </a:bodyPr>
          <a:lstStyle/>
          <a:p>
            <a:pPr algn="ctr"/>
            <a:r>
              <a:rPr lang="en-US" sz="2520" b="1" dirty="0">
                <a:solidFill>
                  <a:srgbClr val="CCCCCC">
                    <a:alpha val="100000"/>
                  </a:srgbClr>
                </a:solidFill>
                <a:latin typeface="Montserrat" panose="00000700000000000000" pitchFamily="2" charset="0"/>
              </a:rPr>
              <a:t>#4</a:t>
            </a:r>
          </a:p>
        </p:txBody>
      </p:sp>
      <p:pic>
        <p:nvPicPr>
          <p:cNvPr id="65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12182475" y="3952875"/>
            <a:ext cx="4286250" cy="1676400"/>
          </a:xfrm>
          <a:prstGeom prst="rect">
            <a:avLst/>
          </a:prstGeom>
          <a:effectLst>
            <a:outerShdw blurRad="190500" dist="28575" dir="2700000" algn="ctr" rotWithShape="0">
              <a:srgbClr val="000000">
                <a:alpha val="40000"/>
              </a:srgbClr>
            </a:outerShdw>
          </a:effectLst>
        </p:spPr>
      </p:pic>
      <p:sp>
        <p:nvSpPr>
          <p:cNvPr id="659" name="Type a Headline-5">
            <a:extLst>
              <a:ext uri="{FF2B5EF4-FFF2-40B4-BE49-F238E27FC236}">
                <a16:creationId xmlns:a16="http://schemas.microsoft.com/office/drawing/2014/main" id="{111B4A49-B930-4A89-A1CD-6CA2B3D95AED}"/>
              </a:ext>
            </a:extLst>
          </p:cNvPr>
          <p:cNvSpPr txBox="1"/>
          <p:nvPr/>
        </p:nvSpPr>
        <p:spPr>
          <a:xfrm>
            <a:off x="12382976" y="4939665"/>
            <a:ext cx="4019550" cy="390525"/>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FFFFFF">
                    <a:alpha val="30000"/>
                  </a:srgbClr>
                </a:solidFill>
                <a:latin typeface="Montserrat" panose="00000700000000000000" pitchFamily="2" charset="0"/>
              </a:rPr>
              <a:t>Customer Service</a:t>
            </a:r>
          </a:p>
        </p:txBody>
      </p:sp>
      <p:pic>
        <p:nvPicPr>
          <p:cNvPr id="66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mt="30000"/>
          </a:blip>
          <a:stretch/>
        </p:blipFill>
        <p:spPr>
          <a:xfrm>
            <a:off x="11753850" y="5057775"/>
            <a:ext cx="19050" cy="152400"/>
          </a:xfrm>
          <a:prstGeom prst="rect">
            <a:avLst/>
          </a:prstGeom>
        </p:spPr>
      </p:pic>
      <p:sp>
        <p:nvSpPr>
          <p:cNvPr id="661" name="-480">
            <a:extLst>
              <a:ext uri="{FF2B5EF4-FFF2-40B4-BE49-F238E27FC236}">
                <a16:creationId xmlns:a16="http://schemas.microsoft.com/office/drawing/2014/main" id="{111B4A49-B930-4A89-A1CD-6CA2B3D95AED}"/>
              </a:ext>
            </a:extLst>
          </p:cNvPr>
          <p:cNvSpPr txBox="1"/>
          <p:nvPr/>
        </p:nvSpPr>
        <p:spPr>
          <a:xfrm>
            <a:off x="12382976" y="4253865"/>
            <a:ext cx="552450" cy="466725"/>
          </a:xfrm>
          <a:prstGeom prst="rect">
            <a:avLst/>
          </a:prstGeom>
          <a:noFill/>
        </p:spPr>
        <p:txBody>
          <a:bodyPr vertOverflow="clip" horzOverflow="clip" wrap="square" lIns="0" tIns="0" rIns="0" bIns="0" rtlCol="0" anchor="ctr">
            <a:spAutoFit/>
          </a:bodyPr>
          <a:lstStyle/>
          <a:p>
            <a:pPr algn="ctr"/>
            <a:r>
              <a:rPr lang="en-US" sz="2520" b="1" dirty="0">
                <a:solidFill>
                  <a:srgbClr val="CCCCCC">
                    <a:alpha val="30000"/>
                  </a:srgbClr>
                </a:solidFill>
                <a:latin typeface="Montserrat" panose="00000700000000000000" pitchFamily="2" charset="0"/>
              </a:rPr>
              <a:t>#5</a:t>
            </a:r>
          </a:p>
        </p:txBody>
      </p:sp>
      <p:pic>
        <p:nvPicPr>
          <p:cNvPr id="66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9">
            <a:alphaModFix/>
          </a:blip>
          <a:stretch/>
        </p:blipFill>
        <p:spPr>
          <a:xfrm>
            <a:off x="16640175" y="3952875"/>
            <a:ext cx="1647825" cy="1676400"/>
          </a:xfrm>
          <a:prstGeom prst="rect">
            <a:avLst/>
          </a:prstGeom>
          <a:effectLst>
            <a:outerShdw blurRad="190500" dist="28575" dir="2700000" algn="ctr" rotWithShape="0">
              <a:srgbClr val="000000">
                <a:alpha val="40000"/>
              </a:srgbClr>
            </a:outerShdw>
          </a:effectLst>
        </p:spPr>
      </p:pic>
      <p:sp>
        <p:nvSpPr>
          <p:cNvPr id="663" name="Type a Headline-6">
            <a:extLst>
              <a:ext uri="{FF2B5EF4-FFF2-40B4-BE49-F238E27FC236}">
                <a16:creationId xmlns:a16="http://schemas.microsoft.com/office/drawing/2014/main" id="{111B4A49-B930-4A89-A1CD-6CA2B3D95AED}"/>
              </a:ext>
            </a:extLst>
          </p:cNvPr>
          <p:cNvSpPr txBox="1"/>
          <p:nvPr/>
        </p:nvSpPr>
        <p:spPr>
          <a:xfrm>
            <a:off x="16845248" y="4939665"/>
            <a:ext cx="4019550" cy="390525"/>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FFFFFF">
                    <a:alpha val="30000"/>
                  </a:srgbClr>
                </a:solidFill>
                <a:latin typeface="Montserrat" panose="00000700000000000000" pitchFamily="2" charset="0"/>
              </a:rPr>
              <a:t>Certifications</a:t>
            </a:r>
          </a:p>
        </p:txBody>
      </p:sp>
      <p:pic>
        <p:nvPicPr>
          <p:cNvPr id="66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mt="30000"/>
          </a:blip>
          <a:stretch/>
        </p:blipFill>
        <p:spPr>
          <a:xfrm>
            <a:off x="16221075" y="5057775"/>
            <a:ext cx="19050" cy="152400"/>
          </a:xfrm>
          <a:prstGeom prst="rect">
            <a:avLst/>
          </a:prstGeom>
        </p:spPr>
      </p:pic>
      <p:sp>
        <p:nvSpPr>
          <p:cNvPr id="665" name="-430">
            <a:extLst>
              <a:ext uri="{FF2B5EF4-FFF2-40B4-BE49-F238E27FC236}">
                <a16:creationId xmlns:a16="http://schemas.microsoft.com/office/drawing/2014/main" id="{111B4A49-B930-4A89-A1CD-6CA2B3D95AED}"/>
              </a:ext>
            </a:extLst>
          </p:cNvPr>
          <p:cNvSpPr txBox="1"/>
          <p:nvPr/>
        </p:nvSpPr>
        <p:spPr>
          <a:xfrm>
            <a:off x="16845248" y="4253865"/>
            <a:ext cx="552450" cy="466725"/>
          </a:xfrm>
          <a:prstGeom prst="rect">
            <a:avLst/>
          </a:prstGeom>
          <a:noFill/>
        </p:spPr>
        <p:txBody>
          <a:bodyPr vertOverflow="clip" horzOverflow="clip" wrap="square" lIns="0" tIns="0" rIns="0" bIns="0" rtlCol="0" anchor="ctr">
            <a:spAutoFit/>
          </a:bodyPr>
          <a:lstStyle/>
          <a:p>
            <a:pPr algn="ctr"/>
            <a:r>
              <a:rPr lang="en-US" sz="2520" b="1" dirty="0">
                <a:solidFill>
                  <a:srgbClr val="CCCCCC">
                    <a:alpha val="30000"/>
                  </a:srgbClr>
                </a:solidFill>
                <a:latin typeface="Montserrat" panose="00000700000000000000" pitchFamily="2" charset="0"/>
              </a:rPr>
              <a:t>#6</a:t>
            </a:r>
          </a:p>
        </p:txBody>
      </p:sp>
    </p:spTree>
    <p:extLst>
      <p:ext uri="{BB962C8B-B14F-4D97-AF65-F5344CB8AC3E}">
        <p14:creationId xmlns:p14="http://schemas.microsoft.com/office/powerpoint/2010/main" val="36480479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0" y="0"/>
            <a:ext cx="18288000" cy="10287000"/>
          </a:xfrm>
          <a:prstGeom prst="rect">
            <a:avLst/>
          </a:prstGeom>
        </p:spPr>
      </p:pic>
      <p:pic>
        <p:nvPicPr>
          <p:cNvPr id="669" name="layoutShapeInnerChild1">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0" y="0"/>
            <a:ext cx="18288000" cy="10287000"/>
          </a:xfrm>
          <a:prstGeom prst="rect">
            <a:avLst/>
          </a:prstGeom>
        </p:spPr>
      </p:pic>
      <p:sp>
        <p:nvSpPr>
          <p:cNvPr id="670" name="Type a Headline-0">
            <a:extLst>
              <a:ext uri="{FF2B5EF4-FFF2-40B4-BE49-F238E27FC236}">
                <a16:creationId xmlns:a16="http://schemas.microsoft.com/office/drawing/2014/main" id="{111B4A49-B930-4A89-A1CD-6CA2B3D95AED}"/>
              </a:ext>
            </a:extLst>
          </p:cNvPr>
          <p:cNvSpPr txBox="1"/>
          <p:nvPr/>
        </p:nvSpPr>
        <p:spPr>
          <a:xfrm>
            <a:off x="609600" y="609600"/>
            <a:ext cx="17211675" cy="1085850"/>
          </a:xfrm>
          <a:prstGeom prst="rect">
            <a:avLst/>
          </a:prstGeom>
          <a:noFill/>
        </p:spPr>
        <p:txBody>
          <a:bodyPr vertOverflow="clip" horzOverflow="clip" wrap="square" lIns="0" tIns="0" rIns="0" bIns="0" rtlCol="0" anchor="ctr">
            <a:spAutoFit/>
          </a:bodyPr>
          <a:lstStyle/>
          <a:p>
            <a:pPr algn="l">
              <a:lnSpc>
                <a:spcPts val="8496"/>
              </a:lnSpc>
            </a:pPr>
            <a:r>
              <a:rPr lang="en-US" sz="7200" spc="-180" dirty="0">
                <a:solidFill>
                  <a:srgbClr val="FFFFFF">
                    <a:alpha val="100000"/>
                  </a:srgbClr>
                </a:solidFill>
                <a:latin typeface="Montserrat Light" panose="00000700000000000000" pitchFamily="2" charset="0"/>
              </a:rPr>
              <a:t>Product Roadmap</a:t>
            </a:r>
          </a:p>
        </p:txBody>
      </p:sp>
      <p:sp>
        <p:nvSpPr>
          <p:cNvPr id="671" name="A brief explanation about the headline-0">
            <a:extLst>
              <a:ext uri="{FF2B5EF4-FFF2-40B4-BE49-F238E27FC236}">
                <a16:creationId xmlns:a16="http://schemas.microsoft.com/office/drawing/2014/main" id="{111B4A49-B930-4A89-A1CD-6CA2B3D95AED}"/>
              </a:ext>
            </a:extLst>
          </p:cNvPr>
          <p:cNvSpPr txBox="1"/>
          <p:nvPr/>
        </p:nvSpPr>
        <p:spPr>
          <a:xfrm>
            <a:off x="542925" y="1688497"/>
            <a:ext cx="17211675" cy="381000"/>
          </a:xfrm>
          <a:prstGeom prst="rect">
            <a:avLst/>
          </a:prstGeom>
          <a:noFill/>
        </p:spPr>
        <p:txBody>
          <a:bodyPr vertOverflow="clip" horzOverflow="clip" wrap="square" lIns="0" tIns="0" rIns="0" bIns="0" rtlCol="0" anchor="ctr">
            <a:spAutoFit/>
          </a:bodyPr>
          <a:lstStyle/>
          <a:p>
            <a:pPr algn="l">
              <a:lnSpc>
                <a:spcPts val="2919"/>
              </a:lnSpc>
            </a:pPr>
            <a:r>
              <a:rPr lang="en-US" sz="2100" spc="-21" dirty="0">
                <a:solidFill>
                  <a:srgbClr val="FFFFFF">
                    <a:alpha val="100000"/>
                  </a:srgbClr>
                </a:solidFill>
                <a:latin typeface="Montserrat Light" panose="00000700000000000000" pitchFamily="2" charset="0"/>
              </a:rPr>
              <a:t>Strategies for Market Expansion and Competitive Positioning in India's Elevator Industry</a:t>
            </a:r>
          </a:p>
        </p:txBody>
      </p:sp>
      <p:pic>
        <p:nvPicPr>
          <p:cNvPr id="67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0" y="3952875"/>
            <a:ext cx="1657350" cy="1676400"/>
          </a:xfrm>
          <a:prstGeom prst="rect">
            <a:avLst/>
          </a:prstGeom>
          <a:effectLst>
            <a:outerShdw blurRad="190500" dist="28575" dir="2700000" algn="ctr" rotWithShape="0">
              <a:srgbClr val="000000">
                <a:alpha val="40000"/>
              </a:srgbClr>
            </a:outerShdw>
          </a:effectLst>
        </p:spPr>
      </p:pic>
      <p:sp>
        <p:nvSpPr>
          <p:cNvPr id="673" name="Type a Headline-3">
            <a:extLst>
              <a:ext uri="{FF2B5EF4-FFF2-40B4-BE49-F238E27FC236}">
                <a16:creationId xmlns:a16="http://schemas.microsoft.com/office/drawing/2014/main" id="{111B4A49-B930-4A89-A1CD-6CA2B3D95AED}"/>
              </a:ext>
            </a:extLst>
          </p:cNvPr>
          <p:cNvSpPr txBox="1"/>
          <p:nvPr/>
        </p:nvSpPr>
        <p:spPr>
          <a:xfrm>
            <a:off x="-2430304" y="4939665"/>
            <a:ext cx="4019550" cy="390525"/>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FFFFFF">
                    <a:alpha val="30000"/>
                  </a:srgbClr>
                </a:solidFill>
                <a:latin typeface="Montserrat" panose="00000700000000000000" pitchFamily="2" charset="0"/>
              </a:rPr>
              <a:t>Brand Building</a:t>
            </a:r>
          </a:p>
        </p:txBody>
      </p:sp>
      <p:pic>
        <p:nvPicPr>
          <p:cNvPr id="67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1828800" y="3952875"/>
            <a:ext cx="4286250" cy="1676400"/>
          </a:xfrm>
          <a:prstGeom prst="rect">
            <a:avLst/>
          </a:prstGeom>
          <a:effectLst>
            <a:outerShdw blurRad="190500" dist="28575" dir="2700000" algn="ctr" rotWithShape="0">
              <a:srgbClr val="000000">
                <a:alpha val="40000"/>
              </a:srgbClr>
            </a:outerShdw>
          </a:effectLst>
        </p:spPr>
      </p:pic>
      <p:sp>
        <p:nvSpPr>
          <p:cNvPr id="675" name="Type a Headline-4">
            <a:extLst>
              <a:ext uri="{FF2B5EF4-FFF2-40B4-BE49-F238E27FC236}">
                <a16:creationId xmlns:a16="http://schemas.microsoft.com/office/drawing/2014/main" id="{111B4A49-B930-4A89-A1CD-6CA2B3D95AED}"/>
              </a:ext>
            </a:extLst>
          </p:cNvPr>
          <p:cNvSpPr txBox="1"/>
          <p:nvPr/>
        </p:nvSpPr>
        <p:spPr>
          <a:xfrm>
            <a:off x="2031968" y="4939665"/>
            <a:ext cx="4019550" cy="390525"/>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FFFFFF">
                    <a:alpha val="30000"/>
                  </a:srgbClr>
                </a:solidFill>
                <a:latin typeface="Montserrat" panose="00000700000000000000" pitchFamily="2" charset="0"/>
              </a:rPr>
              <a:t>Distribution Network</a:t>
            </a:r>
          </a:p>
        </p:txBody>
      </p:sp>
      <p:pic>
        <p:nvPicPr>
          <p:cNvPr id="67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mt="30000"/>
          </a:blip>
          <a:stretch/>
        </p:blipFill>
        <p:spPr>
          <a:xfrm>
            <a:off x="1400175" y="5057775"/>
            <a:ext cx="19050" cy="152400"/>
          </a:xfrm>
          <a:prstGeom prst="rect">
            <a:avLst/>
          </a:prstGeom>
        </p:spPr>
      </p:pic>
      <p:sp>
        <p:nvSpPr>
          <p:cNvPr id="677" name="-495">
            <a:extLst>
              <a:ext uri="{FF2B5EF4-FFF2-40B4-BE49-F238E27FC236}">
                <a16:creationId xmlns:a16="http://schemas.microsoft.com/office/drawing/2014/main" id="{111B4A49-B930-4A89-A1CD-6CA2B3D95AED}"/>
              </a:ext>
            </a:extLst>
          </p:cNvPr>
          <p:cNvSpPr txBox="1"/>
          <p:nvPr/>
        </p:nvSpPr>
        <p:spPr>
          <a:xfrm>
            <a:off x="2031968" y="4253865"/>
            <a:ext cx="552450" cy="466725"/>
          </a:xfrm>
          <a:prstGeom prst="rect">
            <a:avLst/>
          </a:prstGeom>
          <a:noFill/>
        </p:spPr>
        <p:txBody>
          <a:bodyPr vertOverflow="clip" horzOverflow="clip" wrap="square" lIns="0" tIns="0" rIns="0" bIns="0" rtlCol="0" anchor="ctr">
            <a:spAutoFit/>
          </a:bodyPr>
          <a:lstStyle/>
          <a:p>
            <a:pPr algn="ctr"/>
            <a:r>
              <a:rPr lang="en-US" sz="2520" b="1" dirty="0">
                <a:solidFill>
                  <a:srgbClr val="CCCCCC">
                    <a:alpha val="30000"/>
                  </a:srgbClr>
                </a:solidFill>
                <a:latin typeface="Montserrat" panose="00000700000000000000" pitchFamily="2" charset="0"/>
              </a:rPr>
              <a:t>#4</a:t>
            </a:r>
          </a:p>
        </p:txBody>
      </p:sp>
      <p:pic>
        <p:nvPicPr>
          <p:cNvPr id="67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6286500" y="3952875"/>
            <a:ext cx="5715000" cy="3895725"/>
          </a:xfrm>
          <a:prstGeom prst="rect">
            <a:avLst/>
          </a:prstGeom>
          <a:effectLst>
            <a:outerShdw blurRad="190500" dist="28575" dir="2700000" algn="ctr" rotWithShape="0">
              <a:srgbClr val="000000">
                <a:alpha val="40000"/>
              </a:srgbClr>
            </a:outerShdw>
          </a:effectLst>
        </p:spPr>
      </p:pic>
      <p:sp>
        <p:nvSpPr>
          <p:cNvPr id="679" name="Type a Headline-5">
            <a:extLst>
              <a:ext uri="{FF2B5EF4-FFF2-40B4-BE49-F238E27FC236}">
                <a16:creationId xmlns:a16="http://schemas.microsoft.com/office/drawing/2014/main" id="{111B4A49-B930-4A89-A1CD-6CA2B3D95AED}"/>
              </a:ext>
            </a:extLst>
          </p:cNvPr>
          <p:cNvSpPr txBox="1"/>
          <p:nvPr/>
        </p:nvSpPr>
        <p:spPr>
          <a:xfrm>
            <a:off x="6489668" y="4939665"/>
            <a:ext cx="5448300" cy="390525"/>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FFFFFF">
                    <a:alpha val="100000"/>
                  </a:srgbClr>
                </a:solidFill>
                <a:latin typeface="Montserrat" panose="00000700000000000000" pitchFamily="2" charset="0"/>
              </a:rPr>
              <a:t>Customer Service</a:t>
            </a:r>
          </a:p>
        </p:txBody>
      </p:sp>
      <p:sp>
        <p:nvSpPr>
          <p:cNvPr id="680" name="A brief explanation about the headline-5">
            <a:extLst>
              <a:ext uri="{FF2B5EF4-FFF2-40B4-BE49-F238E27FC236}">
                <a16:creationId xmlns:a16="http://schemas.microsoft.com/office/drawing/2014/main" id="{111B4A49-B930-4A89-A1CD-6CA2B3D95AED}"/>
              </a:ext>
            </a:extLst>
          </p:cNvPr>
          <p:cNvSpPr txBox="1"/>
          <p:nvPr/>
        </p:nvSpPr>
        <p:spPr>
          <a:xfrm>
            <a:off x="6422993" y="5318284"/>
            <a:ext cx="5448300" cy="2228850"/>
          </a:xfrm>
          <a:prstGeom prst="rect">
            <a:avLst/>
          </a:prstGeom>
          <a:noFill/>
        </p:spPr>
        <p:txBody>
          <a:bodyPr vertOverflow="clip" horzOverflow="clip" wrap="square" lIns="0" tIns="0" rIns="0" bIns="0" rtlCol="0" anchor="ctr">
            <a:spAutoFit/>
          </a:bodyPr>
          <a:lstStyle/>
          <a:p>
            <a:pPr algn="l">
              <a:lnSpc>
                <a:spcPts val="2919"/>
              </a:lnSpc>
            </a:pPr>
            <a:r>
              <a:rPr lang="en-US" sz="2100" spc="-21" dirty="0">
                <a:solidFill>
                  <a:srgbClr val="FFFFFF">
                    <a:alpha val="100000"/>
                  </a:srgbClr>
                </a:solidFill>
                <a:latin typeface="Montserrat Light" panose="00000700000000000000" pitchFamily="2" charset="0"/>
              </a:rPr>
              <a:t>Establish a reputation for exceptional customer service, including comprehensive after-sales support and maintenance services to enhance customer satisfaction and loyalty within the elevator industry.</a:t>
            </a:r>
          </a:p>
        </p:txBody>
      </p:sp>
      <p:pic>
        <p:nvPicPr>
          <p:cNvPr id="681"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8">
            <a:alphaModFix/>
          </a:blip>
          <a:stretch/>
        </p:blipFill>
        <p:spPr>
          <a:xfrm>
            <a:off x="5857875" y="5057775"/>
            <a:ext cx="19050" cy="152400"/>
          </a:xfrm>
          <a:prstGeom prst="rect">
            <a:avLst/>
          </a:prstGeom>
        </p:spPr>
      </p:pic>
      <p:sp>
        <p:nvSpPr>
          <p:cNvPr id="682" name="-490">
            <a:extLst>
              <a:ext uri="{FF2B5EF4-FFF2-40B4-BE49-F238E27FC236}">
                <a16:creationId xmlns:a16="http://schemas.microsoft.com/office/drawing/2014/main" id="{111B4A49-B930-4A89-A1CD-6CA2B3D95AED}"/>
              </a:ext>
            </a:extLst>
          </p:cNvPr>
          <p:cNvSpPr txBox="1"/>
          <p:nvPr/>
        </p:nvSpPr>
        <p:spPr>
          <a:xfrm>
            <a:off x="6489668" y="4253865"/>
            <a:ext cx="552450" cy="466725"/>
          </a:xfrm>
          <a:prstGeom prst="rect">
            <a:avLst/>
          </a:prstGeom>
          <a:noFill/>
        </p:spPr>
        <p:txBody>
          <a:bodyPr vertOverflow="clip" horzOverflow="clip" wrap="square" lIns="0" tIns="0" rIns="0" bIns="0" rtlCol="0" anchor="ctr">
            <a:spAutoFit/>
          </a:bodyPr>
          <a:lstStyle/>
          <a:p>
            <a:pPr algn="ctr"/>
            <a:r>
              <a:rPr lang="en-US" sz="2520" b="1" dirty="0">
                <a:solidFill>
                  <a:srgbClr val="CCCCCC">
                    <a:alpha val="100000"/>
                  </a:srgbClr>
                </a:solidFill>
                <a:latin typeface="Montserrat" panose="00000700000000000000" pitchFamily="2" charset="0"/>
              </a:rPr>
              <a:t>#5</a:t>
            </a:r>
          </a:p>
        </p:txBody>
      </p:sp>
      <p:pic>
        <p:nvPicPr>
          <p:cNvPr id="68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12182475" y="3952875"/>
            <a:ext cx="4286250" cy="1676400"/>
          </a:xfrm>
          <a:prstGeom prst="rect">
            <a:avLst/>
          </a:prstGeom>
          <a:effectLst>
            <a:outerShdw blurRad="190500" dist="28575" dir="2700000" algn="ctr" rotWithShape="0">
              <a:srgbClr val="000000">
                <a:alpha val="40000"/>
              </a:srgbClr>
            </a:outerShdw>
          </a:effectLst>
        </p:spPr>
      </p:pic>
      <p:sp>
        <p:nvSpPr>
          <p:cNvPr id="684" name="Type a Headline-6">
            <a:extLst>
              <a:ext uri="{FF2B5EF4-FFF2-40B4-BE49-F238E27FC236}">
                <a16:creationId xmlns:a16="http://schemas.microsoft.com/office/drawing/2014/main" id="{111B4A49-B930-4A89-A1CD-6CA2B3D95AED}"/>
              </a:ext>
            </a:extLst>
          </p:cNvPr>
          <p:cNvSpPr txBox="1"/>
          <p:nvPr/>
        </p:nvSpPr>
        <p:spPr>
          <a:xfrm>
            <a:off x="12382976" y="4939665"/>
            <a:ext cx="4019550" cy="390525"/>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FFFFFF">
                    <a:alpha val="30000"/>
                  </a:srgbClr>
                </a:solidFill>
                <a:latin typeface="Montserrat" panose="00000700000000000000" pitchFamily="2" charset="0"/>
              </a:rPr>
              <a:t>Certifications</a:t>
            </a:r>
          </a:p>
        </p:txBody>
      </p:sp>
      <p:pic>
        <p:nvPicPr>
          <p:cNvPr id="68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mt="30000"/>
          </a:blip>
          <a:stretch/>
        </p:blipFill>
        <p:spPr>
          <a:xfrm>
            <a:off x="11753850" y="5057775"/>
            <a:ext cx="19050" cy="152400"/>
          </a:xfrm>
          <a:prstGeom prst="rect">
            <a:avLst/>
          </a:prstGeom>
        </p:spPr>
      </p:pic>
      <p:sp>
        <p:nvSpPr>
          <p:cNvPr id="686" name="-405">
            <a:extLst>
              <a:ext uri="{FF2B5EF4-FFF2-40B4-BE49-F238E27FC236}">
                <a16:creationId xmlns:a16="http://schemas.microsoft.com/office/drawing/2014/main" id="{111B4A49-B930-4A89-A1CD-6CA2B3D95AED}"/>
              </a:ext>
            </a:extLst>
          </p:cNvPr>
          <p:cNvSpPr txBox="1"/>
          <p:nvPr/>
        </p:nvSpPr>
        <p:spPr>
          <a:xfrm>
            <a:off x="12382976" y="4253865"/>
            <a:ext cx="552450" cy="466725"/>
          </a:xfrm>
          <a:prstGeom prst="rect">
            <a:avLst/>
          </a:prstGeom>
          <a:noFill/>
        </p:spPr>
        <p:txBody>
          <a:bodyPr vertOverflow="clip" horzOverflow="clip" wrap="square" lIns="0" tIns="0" rIns="0" bIns="0" rtlCol="0" anchor="ctr">
            <a:spAutoFit/>
          </a:bodyPr>
          <a:lstStyle/>
          <a:p>
            <a:pPr algn="ctr"/>
            <a:r>
              <a:rPr lang="en-US" sz="2520" b="1" dirty="0">
                <a:solidFill>
                  <a:srgbClr val="CCCCCC">
                    <a:alpha val="30000"/>
                  </a:srgbClr>
                </a:solidFill>
                <a:latin typeface="Montserrat" panose="00000700000000000000" pitchFamily="2" charset="0"/>
              </a:rPr>
              <a:t>#6</a:t>
            </a:r>
          </a:p>
        </p:txBody>
      </p:sp>
    </p:spTree>
    <p:extLst>
      <p:ext uri="{BB962C8B-B14F-4D97-AF65-F5344CB8AC3E}">
        <p14:creationId xmlns:p14="http://schemas.microsoft.com/office/powerpoint/2010/main" val="36480479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0" y="0"/>
            <a:ext cx="18288000" cy="10287000"/>
          </a:xfrm>
          <a:prstGeom prst="rect">
            <a:avLst/>
          </a:prstGeom>
        </p:spPr>
      </p:pic>
      <p:pic>
        <p:nvPicPr>
          <p:cNvPr id="690" name="layoutShapeInnerChild1">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0" y="0"/>
            <a:ext cx="18288000" cy="10287000"/>
          </a:xfrm>
          <a:prstGeom prst="rect">
            <a:avLst/>
          </a:prstGeom>
        </p:spPr>
      </p:pic>
      <p:sp>
        <p:nvSpPr>
          <p:cNvPr id="691" name="Type a Headline-0">
            <a:extLst>
              <a:ext uri="{FF2B5EF4-FFF2-40B4-BE49-F238E27FC236}">
                <a16:creationId xmlns:a16="http://schemas.microsoft.com/office/drawing/2014/main" id="{111B4A49-B930-4A89-A1CD-6CA2B3D95AED}"/>
              </a:ext>
            </a:extLst>
          </p:cNvPr>
          <p:cNvSpPr txBox="1"/>
          <p:nvPr/>
        </p:nvSpPr>
        <p:spPr>
          <a:xfrm>
            <a:off x="609600" y="609600"/>
            <a:ext cx="17211675" cy="1085850"/>
          </a:xfrm>
          <a:prstGeom prst="rect">
            <a:avLst/>
          </a:prstGeom>
          <a:noFill/>
        </p:spPr>
        <p:txBody>
          <a:bodyPr vertOverflow="clip" horzOverflow="clip" wrap="square" lIns="0" tIns="0" rIns="0" bIns="0" rtlCol="0" anchor="ctr">
            <a:spAutoFit/>
          </a:bodyPr>
          <a:lstStyle/>
          <a:p>
            <a:pPr algn="l">
              <a:lnSpc>
                <a:spcPts val="8496"/>
              </a:lnSpc>
            </a:pPr>
            <a:r>
              <a:rPr lang="en-US" sz="7200" spc="-180" dirty="0">
                <a:solidFill>
                  <a:srgbClr val="FFFFFF">
                    <a:alpha val="100000"/>
                  </a:srgbClr>
                </a:solidFill>
                <a:latin typeface="Montserrat Light" panose="00000700000000000000" pitchFamily="2" charset="0"/>
              </a:rPr>
              <a:t>Product Roadmap</a:t>
            </a:r>
          </a:p>
        </p:txBody>
      </p:sp>
      <p:sp>
        <p:nvSpPr>
          <p:cNvPr id="692" name="A brief explanation about the headline-0">
            <a:extLst>
              <a:ext uri="{FF2B5EF4-FFF2-40B4-BE49-F238E27FC236}">
                <a16:creationId xmlns:a16="http://schemas.microsoft.com/office/drawing/2014/main" id="{111B4A49-B930-4A89-A1CD-6CA2B3D95AED}"/>
              </a:ext>
            </a:extLst>
          </p:cNvPr>
          <p:cNvSpPr txBox="1"/>
          <p:nvPr/>
        </p:nvSpPr>
        <p:spPr>
          <a:xfrm>
            <a:off x="542925" y="1688497"/>
            <a:ext cx="17211675" cy="381000"/>
          </a:xfrm>
          <a:prstGeom prst="rect">
            <a:avLst/>
          </a:prstGeom>
          <a:noFill/>
        </p:spPr>
        <p:txBody>
          <a:bodyPr vertOverflow="clip" horzOverflow="clip" wrap="square" lIns="0" tIns="0" rIns="0" bIns="0" rtlCol="0" anchor="ctr">
            <a:spAutoFit/>
          </a:bodyPr>
          <a:lstStyle/>
          <a:p>
            <a:pPr algn="l">
              <a:lnSpc>
                <a:spcPts val="2919"/>
              </a:lnSpc>
            </a:pPr>
            <a:r>
              <a:rPr lang="en-US" sz="2100" spc="-21" dirty="0">
                <a:solidFill>
                  <a:srgbClr val="FFFFFF">
                    <a:alpha val="100000"/>
                  </a:srgbClr>
                </a:solidFill>
                <a:latin typeface="Montserrat Light" panose="00000700000000000000" pitchFamily="2" charset="0"/>
              </a:rPr>
              <a:t>Strategies for Market Expansion and Competitive Positioning in India's Elevator Industry</a:t>
            </a:r>
          </a:p>
        </p:txBody>
      </p:sp>
      <p:pic>
        <p:nvPicPr>
          <p:cNvPr id="69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0" y="3952875"/>
            <a:ext cx="1657350" cy="1676400"/>
          </a:xfrm>
          <a:prstGeom prst="rect">
            <a:avLst/>
          </a:prstGeom>
          <a:effectLst>
            <a:outerShdw blurRad="190500" dist="28575" dir="2700000" algn="ctr" rotWithShape="0">
              <a:srgbClr val="000000">
                <a:alpha val="40000"/>
              </a:srgbClr>
            </a:outerShdw>
          </a:effectLst>
        </p:spPr>
      </p:pic>
      <p:sp>
        <p:nvSpPr>
          <p:cNvPr id="694" name="Type a Headline-4">
            <a:extLst>
              <a:ext uri="{FF2B5EF4-FFF2-40B4-BE49-F238E27FC236}">
                <a16:creationId xmlns:a16="http://schemas.microsoft.com/office/drawing/2014/main" id="{111B4A49-B930-4A89-A1CD-6CA2B3D95AED}"/>
              </a:ext>
            </a:extLst>
          </p:cNvPr>
          <p:cNvSpPr txBox="1"/>
          <p:nvPr/>
        </p:nvSpPr>
        <p:spPr>
          <a:xfrm>
            <a:off x="-2430304" y="4939665"/>
            <a:ext cx="4019550" cy="390525"/>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FFFFFF">
                    <a:alpha val="30000"/>
                  </a:srgbClr>
                </a:solidFill>
                <a:latin typeface="Montserrat" panose="00000700000000000000" pitchFamily="2" charset="0"/>
              </a:rPr>
              <a:t>Distribution Network</a:t>
            </a:r>
          </a:p>
        </p:txBody>
      </p:sp>
      <p:pic>
        <p:nvPicPr>
          <p:cNvPr id="69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1828800" y="3952875"/>
            <a:ext cx="4286250" cy="1676400"/>
          </a:xfrm>
          <a:prstGeom prst="rect">
            <a:avLst/>
          </a:prstGeom>
          <a:effectLst>
            <a:outerShdw blurRad="190500" dist="28575" dir="2700000" algn="ctr" rotWithShape="0">
              <a:srgbClr val="000000">
                <a:alpha val="40000"/>
              </a:srgbClr>
            </a:outerShdw>
          </a:effectLst>
        </p:spPr>
      </p:pic>
      <p:sp>
        <p:nvSpPr>
          <p:cNvPr id="696" name="Type a Headline-5">
            <a:extLst>
              <a:ext uri="{FF2B5EF4-FFF2-40B4-BE49-F238E27FC236}">
                <a16:creationId xmlns:a16="http://schemas.microsoft.com/office/drawing/2014/main" id="{111B4A49-B930-4A89-A1CD-6CA2B3D95AED}"/>
              </a:ext>
            </a:extLst>
          </p:cNvPr>
          <p:cNvSpPr txBox="1"/>
          <p:nvPr/>
        </p:nvSpPr>
        <p:spPr>
          <a:xfrm>
            <a:off x="2031968" y="4939665"/>
            <a:ext cx="4019550" cy="390525"/>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FFFFFF">
                    <a:alpha val="30000"/>
                  </a:srgbClr>
                </a:solidFill>
                <a:latin typeface="Montserrat" panose="00000700000000000000" pitchFamily="2" charset="0"/>
              </a:rPr>
              <a:t>Customer Service</a:t>
            </a:r>
          </a:p>
        </p:txBody>
      </p:sp>
      <p:pic>
        <p:nvPicPr>
          <p:cNvPr id="697"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mt="30000"/>
          </a:blip>
          <a:stretch/>
        </p:blipFill>
        <p:spPr>
          <a:xfrm>
            <a:off x="1400175" y="5057775"/>
            <a:ext cx="19050" cy="152400"/>
          </a:xfrm>
          <a:prstGeom prst="rect">
            <a:avLst/>
          </a:prstGeom>
        </p:spPr>
      </p:pic>
      <p:sp>
        <p:nvSpPr>
          <p:cNvPr id="698" name="-451">
            <a:extLst>
              <a:ext uri="{FF2B5EF4-FFF2-40B4-BE49-F238E27FC236}">
                <a16:creationId xmlns:a16="http://schemas.microsoft.com/office/drawing/2014/main" id="{111B4A49-B930-4A89-A1CD-6CA2B3D95AED}"/>
              </a:ext>
            </a:extLst>
          </p:cNvPr>
          <p:cNvSpPr txBox="1"/>
          <p:nvPr/>
        </p:nvSpPr>
        <p:spPr>
          <a:xfrm>
            <a:off x="2031968" y="4253865"/>
            <a:ext cx="552450" cy="466725"/>
          </a:xfrm>
          <a:prstGeom prst="rect">
            <a:avLst/>
          </a:prstGeom>
          <a:noFill/>
        </p:spPr>
        <p:txBody>
          <a:bodyPr vertOverflow="clip" horzOverflow="clip" wrap="square" lIns="0" tIns="0" rIns="0" bIns="0" rtlCol="0" anchor="ctr">
            <a:spAutoFit/>
          </a:bodyPr>
          <a:lstStyle/>
          <a:p>
            <a:pPr algn="ctr"/>
            <a:r>
              <a:rPr lang="en-US" sz="2520" b="1" dirty="0">
                <a:solidFill>
                  <a:srgbClr val="CCCCCC">
                    <a:alpha val="30000"/>
                  </a:srgbClr>
                </a:solidFill>
                <a:latin typeface="Montserrat" panose="00000700000000000000" pitchFamily="2" charset="0"/>
              </a:rPr>
              <a:t>#5</a:t>
            </a:r>
          </a:p>
        </p:txBody>
      </p:sp>
      <p:pic>
        <p:nvPicPr>
          <p:cNvPr id="69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6286500" y="3952875"/>
            <a:ext cx="5715000" cy="3524250"/>
          </a:xfrm>
          <a:prstGeom prst="rect">
            <a:avLst/>
          </a:prstGeom>
          <a:effectLst>
            <a:outerShdw blurRad="190500" dist="28575" dir="2700000" algn="ctr" rotWithShape="0">
              <a:srgbClr val="000000">
                <a:alpha val="40000"/>
              </a:srgbClr>
            </a:outerShdw>
          </a:effectLst>
        </p:spPr>
      </p:pic>
      <p:sp>
        <p:nvSpPr>
          <p:cNvPr id="700" name="Type a Headline-6">
            <a:extLst>
              <a:ext uri="{FF2B5EF4-FFF2-40B4-BE49-F238E27FC236}">
                <a16:creationId xmlns:a16="http://schemas.microsoft.com/office/drawing/2014/main" id="{111B4A49-B930-4A89-A1CD-6CA2B3D95AED}"/>
              </a:ext>
            </a:extLst>
          </p:cNvPr>
          <p:cNvSpPr txBox="1"/>
          <p:nvPr/>
        </p:nvSpPr>
        <p:spPr>
          <a:xfrm>
            <a:off x="6489668" y="4939665"/>
            <a:ext cx="5448300" cy="390525"/>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FFFFFF">
                    <a:alpha val="100000"/>
                  </a:srgbClr>
                </a:solidFill>
                <a:latin typeface="Montserrat" panose="00000700000000000000" pitchFamily="2" charset="0"/>
              </a:rPr>
              <a:t>Certifications</a:t>
            </a:r>
          </a:p>
        </p:txBody>
      </p:sp>
      <p:sp>
        <p:nvSpPr>
          <p:cNvPr id="701" name="A brief explanation about the headline-6">
            <a:extLst>
              <a:ext uri="{FF2B5EF4-FFF2-40B4-BE49-F238E27FC236}">
                <a16:creationId xmlns:a16="http://schemas.microsoft.com/office/drawing/2014/main" id="{111B4A49-B930-4A89-A1CD-6CA2B3D95AED}"/>
              </a:ext>
            </a:extLst>
          </p:cNvPr>
          <p:cNvSpPr txBox="1"/>
          <p:nvPr/>
        </p:nvSpPr>
        <p:spPr>
          <a:xfrm>
            <a:off x="6422993" y="5318284"/>
            <a:ext cx="5448300" cy="1866900"/>
          </a:xfrm>
          <a:prstGeom prst="rect">
            <a:avLst/>
          </a:prstGeom>
          <a:noFill/>
        </p:spPr>
        <p:txBody>
          <a:bodyPr vertOverflow="clip" horzOverflow="clip" wrap="square" lIns="0" tIns="0" rIns="0" bIns="0" rtlCol="0" anchor="ctr">
            <a:spAutoFit/>
          </a:bodyPr>
          <a:lstStyle/>
          <a:p>
            <a:pPr algn="l">
              <a:lnSpc>
                <a:spcPts val="2919"/>
              </a:lnSpc>
            </a:pPr>
            <a:r>
              <a:rPr lang="en-US" sz="2100" spc="-21" dirty="0">
                <a:solidFill>
                  <a:srgbClr val="FFFFFF">
                    <a:alpha val="100000"/>
                  </a:srgbClr>
                </a:solidFill>
                <a:latin typeface="Montserrat Light" panose="00000700000000000000" pitchFamily="2" charset="0"/>
              </a:rPr>
              <a:t>Acquire relevant certifications to demonstrate compliance with safety and quality standards, assuring customers of the reliability and credibility of your elevator products in the Indian market.</a:t>
            </a:r>
          </a:p>
        </p:txBody>
      </p:sp>
      <p:pic>
        <p:nvPicPr>
          <p:cNvPr id="70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8">
            <a:alphaModFix/>
          </a:blip>
          <a:stretch/>
        </p:blipFill>
        <p:spPr>
          <a:xfrm>
            <a:off x="5857875" y="5057775"/>
            <a:ext cx="19050" cy="152400"/>
          </a:xfrm>
          <a:prstGeom prst="rect">
            <a:avLst/>
          </a:prstGeom>
        </p:spPr>
      </p:pic>
      <p:sp>
        <p:nvSpPr>
          <p:cNvPr id="703" name="-425">
            <a:extLst>
              <a:ext uri="{FF2B5EF4-FFF2-40B4-BE49-F238E27FC236}">
                <a16:creationId xmlns:a16="http://schemas.microsoft.com/office/drawing/2014/main" id="{111B4A49-B930-4A89-A1CD-6CA2B3D95AED}"/>
              </a:ext>
            </a:extLst>
          </p:cNvPr>
          <p:cNvSpPr txBox="1"/>
          <p:nvPr/>
        </p:nvSpPr>
        <p:spPr>
          <a:xfrm>
            <a:off x="6489668" y="4253865"/>
            <a:ext cx="552450" cy="466725"/>
          </a:xfrm>
          <a:prstGeom prst="rect">
            <a:avLst/>
          </a:prstGeom>
          <a:noFill/>
        </p:spPr>
        <p:txBody>
          <a:bodyPr vertOverflow="clip" horzOverflow="clip" wrap="square" lIns="0" tIns="0" rIns="0" bIns="0" rtlCol="0" anchor="ctr">
            <a:spAutoFit/>
          </a:bodyPr>
          <a:lstStyle/>
          <a:p>
            <a:pPr algn="ctr"/>
            <a:r>
              <a:rPr lang="en-US" sz="2520" b="1" dirty="0">
                <a:solidFill>
                  <a:srgbClr val="CCCCCC">
                    <a:alpha val="100000"/>
                  </a:srgbClr>
                </a:solidFill>
                <a:latin typeface="Montserrat" panose="00000700000000000000" pitchFamily="2" charset="0"/>
              </a:rPr>
              <a:t>#6</a:t>
            </a:r>
          </a:p>
        </p:txBody>
      </p:sp>
    </p:spTree>
    <p:extLst>
      <p:ext uri="{BB962C8B-B14F-4D97-AF65-F5344CB8AC3E}">
        <p14:creationId xmlns:p14="http://schemas.microsoft.com/office/powerpoint/2010/main" val="36480479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0" y="0"/>
            <a:ext cx="18288000" cy="10287000"/>
          </a:xfrm>
          <a:prstGeom prst="rect">
            <a:avLst/>
          </a:prstGeom>
        </p:spPr>
      </p:pic>
      <p:pic>
        <p:nvPicPr>
          <p:cNvPr id="707" name="layoutShapeInnerChild1">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0" y="0"/>
            <a:ext cx="18288000" cy="10287000"/>
          </a:xfrm>
          <a:prstGeom prst="rect">
            <a:avLst/>
          </a:prstGeom>
        </p:spPr>
      </p:pic>
      <p:pic>
        <p:nvPicPr>
          <p:cNvPr id="70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752475" y="2867025"/>
            <a:ext cx="5448300" cy="857250"/>
          </a:xfrm>
          <a:prstGeom prst="rect">
            <a:avLst/>
          </a:prstGeom>
        </p:spPr>
      </p:pic>
      <p:sp>
        <p:nvSpPr>
          <p:cNvPr id="709" name="Primary Heading-0,0">
            <a:extLst>
              <a:ext uri="{FF2B5EF4-FFF2-40B4-BE49-F238E27FC236}">
                <a16:creationId xmlns:a16="http://schemas.microsoft.com/office/drawing/2014/main" id="{111B4A49-B930-4A89-A1CD-6CA2B3D95AED}"/>
              </a:ext>
            </a:extLst>
          </p:cNvPr>
          <p:cNvSpPr txBox="1"/>
          <p:nvPr/>
        </p:nvSpPr>
        <p:spPr>
          <a:xfrm>
            <a:off x="2853309" y="3103245"/>
            <a:ext cx="1371600" cy="390525"/>
          </a:xfrm>
          <a:prstGeom prst="rect">
            <a:avLst/>
          </a:prstGeom>
          <a:noFill/>
        </p:spPr>
        <p:txBody>
          <a:bodyPr vertOverflow="clip" horzOverflow="clip" wrap="square" lIns="0" tIns="0" rIns="0" bIns="0" rtlCol="0" anchor="ctr">
            <a:spAutoFit/>
          </a:bodyPr>
          <a:lstStyle/>
          <a:p>
            <a:pPr algn="ctr">
              <a:lnSpc>
                <a:spcPts val="2982"/>
              </a:lnSpc>
            </a:pPr>
            <a:r>
              <a:rPr lang="en-US" sz="2100" b="1" spc="-32" dirty="0">
                <a:solidFill>
                  <a:srgbClr val="15092E">
                    <a:alpha val="100000"/>
                  </a:srgbClr>
                </a:solidFill>
                <a:latin typeface="Montserrat" panose="00000700000000000000" pitchFamily="2" charset="0"/>
              </a:rPr>
              <a:t>Category</a:t>
            </a:r>
          </a:p>
        </p:txBody>
      </p:sp>
      <p:pic>
        <p:nvPicPr>
          <p:cNvPr id="71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6181725" y="2867025"/>
            <a:ext cx="11353800" cy="857250"/>
          </a:xfrm>
          <a:prstGeom prst="rect">
            <a:avLst/>
          </a:prstGeom>
        </p:spPr>
      </p:pic>
      <p:sp>
        <p:nvSpPr>
          <p:cNvPr id="711" name="Primary Heading-0,1">
            <a:extLst>
              <a:ext uri="{FF2B5EF4-FFF2-40B4-BE49-F238E27FC236}">
                <a16:creationId xmlns:a16="http://schemas.microsoft.com/office/drawing/2014/main" id="{111B4A49-B930-4A89-A1CD-6CA2B3D95AED}"/>
              </a:ext>
            </a:extLst>
          </p:cNvPr>
          <p:cNvSpPr txBox="1"/>
          <p:nvPr/>
        </p:nvSpPr>
        <p:spPr>
          <a:xfrm>
            <a:off x="11201972" y="3103245"/>
            <a:ext cx="1428750" cy="390525"/>
          </a:xfrm>
          <a:prstGeom prst="rect">
            <a:avLst/>
          </a:prstGeom>
          <a:noFill/>
        </p:spPr>
        <p:txBody>
          <a:bodyPr vertOverflow="clip" horzOverflow="clip" wrap="square" lIns="0" tIns="0" rIns="0" bIns="0" rtlCol="0" anchor="ctr">
            <a:spAutoFit/>
          </a:bodyPr>
          <a:lstStyle/>
          <a:p>
            <a:pPr algn="ctr">
              <a:lnSpc>
                <a:spcPts val="2982"/>
              </a:lnSpc>
            </a:pPr>
            <a:r>
              <a:rPr lang="en-US" sz="2100" b="1" spc="-32" dirty="0">
                <a:solidFill>
                  <a:srgbClr val="15092E">
                    <a:alpha val="100000"/>
                  </a:srgbClr>
                </a:solidFill>
                <a:latin typeface="Montserrat" panose="00000700000000000000" pitchFamily="2" charset="0"/>
              </a:rPr>
              <a:t>Company</a:t>
            </a:r>
          </a:p>
        </p:txBody>
      </p:sp>
      <p:pic>
        <p:nvPicPr>
          <p:cNvPr id="71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752475" y="3714750"/>
            <a:ext cx="5448300" cy="819150"/>
          </a:xfrm>
          <a:prstGeom prst="rect">
            <a:avLst/>
          </a:prstGeom>
        </p:spPr>
      </p:pic>
      <p:sp>
        <p:nvSpPr>
          <p:cNvPr id="713" name="Description of a primary heading-1,0">
            <a:extLst>
              <a:ext uri="{FF2B5EF4-FFF2-40B4-BE49-F238E27FC236}">
                <a16:creationId xmlns:a16="http://schemas.microsoft.com/office/drawing/2014/main" id="{111B4A49-B930-4A89-A1CD-6CA2B3D95AED}"/>
              </a:ext>
            </a:extLst>
          </p:cNvPr>
          <p:cNvSpPr txBox="1"/>
          <p:nvPr/>
        </p:nvSpPr>
        <p:spPr>
          <a:xfrm>
            <a:off x="2484882" y="3946684"/>
            <a:ext cx="1971675" cy="352425"/>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F2F1F3">
                    <a:alpha val="100000"/>
                  </a:srgbClr>
                </a:solidFill>
                <a:latin typeface="Montserrat Light" panose="00000700000000000000" pitchFamily="2" charset="0"/>
              </a:rPr>
              <a:t>Premium Priced</a:t>
            </a:r>
          </a:p>
        </p:txBody>
      </p:sp>
      <p:pic>
        <p:nvPicPr>
          <p:cNvPr id="71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6181725" y="3714750"/>
            <a:ext cx="11353800" cy="819150"/>
          </a:xfrm>
          <a:prstGeom prst="rect">
            <a:avLst/>
          </a:prstGeom>
        </p:spPr>
      </p:pic>
      <p:sp>
        <p:nvSpPr>
          <p:cNvPr id="715" name="Description of a primary heading-1,1">
            <a:extLst>
              <a:ext uri="{FF2B5EF4-FFF2-40B4-BE49-F238E27FC236}">
                <a16:creationId xmlns:a16="http://schemas.microsoft.com/office/drawing/2014/main" id="{111B4A49-B930-4A89-A1CD-6CA2B3D95AED}"/>
              </a:ext>
            </a:extLst>
          </p:cNvPr>
          <p:cNvSpPr txBox="1"/>
          <p:nvPr/>
        </p:nvSpPr>
        <p:spPr>
          <a:xfrm>
            <a:off x="9622060" y="3946684"/>
            <a:ext cx="4457700" cy="352425"/>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F2F1F3">
                    <a:alpha val="100000"/>
                  </a:srgbClr>
                </a:solidFill>
                <a:latin typeface="Montserrat Light" panose="00000700000000000000" pitchFamily="2" charset="0"/>
              </a:rPr>
              <a:t>Fermator India (Techno Doors Pvt. Ltd.)</a:t>
            </a:r>
          </a:p>
        </p:txBody>
      </p:sp>
      <p:pic>
        <p:nvPicPr>
          <p:cNvPr id="71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752475" y="4514850"/>
            <a:ext cx="5448300" cy="819150"/>
          </a:xfrm>
          <a:prstGeom prst="rect">
            <a:avLst/>
          </a:prstGeom>
        </p:spPr>
      </p:pic>
      <p:sp>
        <p:nvSpPr>
          <p:cNvPr id="717" name="Description of a primary heading-2,0">
            <a:extLst>
              <a:ext uri="{FF2B5EF4-FFF2-40B4-BE49-F238E27FC236}">
                <a16:creationId xmlns:a16="http://schemas.microsoft.com/office/drawing/2014/main" id="{111B4A49-B930-4A89-A1CD-6CA2B3D95AED}"/>
              </a:ext>
            </a:extLst>
          </p:cNvPr>
          <p:cNvSpPr txBox="1"/>
          <p:nvPr/>
        </p:nvSpPr>
        <p:spPr>
          <a:xfrm>
            <a:off x="2484882" y="4754404"/>
            <a:ext cx="1971675" cy="352425"/>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EBEAED">
                    <a:alpha val="100000"/>
                  </a:srgbClr>
                </a:solidFill>
                <a:latin typeface="Montserrat Light" panose="00000700000000000000" pitchFamily="2" charset="0"/>
              </a:rPr>
              <a:t>Premium Priced</a:t>
            </a:r>
          </a:p>
        </p:txBody>
      </p:sp>
      <p:pic>
        <p:nvPicPr>
          <p:cNvPr id="71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6181725" y="4514850"/>
            <a:ext cx="11353800" cy="819150"/>
          </a:xfrm>
          <a:prstGeom prst="rect">
            <a:avLst/>
          </a:prstGeom>
        </p:spPr>
      </p:pic>
      <p:sp>
        <p:nvSpPr>
          <p:cNvPr id="719" name="Description of a primary heading-2,1">
            <a:extLst>
              <a:ext uri="{FF2B5EF4-FFF2-40B4-BE49-F238E27FC236}">
                <a16:creationId xmlns:a16="http://schemas.microsoft.com/office/drawing/2014/main" id="{111B4A49-B930-4A89-A1CD-6CA2B3D95AED}"/>
              </a:ext>
            </a:extLst>
          </p:cNvPr>
          <p:cNvSpPr txBox="1"/>
          <p:nvPr/>
        </p:nvSpPr>
        <p:spPr>
          <a:xfrm>
            <a:off x="10754582" y="4754404"/>
            <a:ext cx="2190750" cy="352425"/>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EBEAED">
                    <a:alpha val="100000"/>
                  </a:srgbClr>
                </a:solidFill>
                <a:latin typeface="Montserrat Light" panose="00000700000000000000" pitchFamily="2" charset="0"/>
              </a:rPr>
              <a:t>GMV India Pvt. Ltd</a:t>
            </a:r>
          </a:p>
        </p:txBody>
      </p:sp>
      <p:pic>
        <p:nvPicPr>
          <p:cNvPr id="72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752475" y="5324475"/>
            <a:ext cx="5448300" cy="819150"/>
          </a:xfrm>
          <a:prstGeom prst="rect">
            <a:avLst/>
          </a:prstGeom>
        </p:spPr>
      </p:pic>
      <p:sp>
        <p:nvSpPr>
          <p:cNvPr id="721" name="Description of a primary heading-3,0">
            <a:extLst>
              <a:ext uri="{FF2B5EF4-FFF2-40B4-BE49-F238E27FC236}">
                <a16:creationId xmlns:a16="http://schemas.microsoft.com/office/drawing/2014/main" id="{111B4A49-B930-4A89-A1CD-6CA2B3D95AED}"/>
              </a:ext>
            </a:extLst>
          </p:cNvPr>
          <p:cNvSpPr txBox="1"/>
          <p:nvPr/>
        </p:nvSpPr>
        <p:spPr>
          <a:xfrm>
            <a:off x="2484882" y="5562124"/>
            <a:ext cx="1971675" cy="352425"/>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E5E3E7">
                    <a:alpha val="100000"/>
                  </a:srgbClr>
                </a:solidFill>
                <a:latin typeface="Montserrat Light" panose="00000700000000000000" pitchFamily="2" charset="0"/>
              </a:rPr>
              <a:t>Premium Priced</a:t>
            </a:r>
          </a:p>
        </p:txBody>
      </p:sp>
      <p:pic>
        <p:nvPicPr>
          <p:cNvPr id="72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6181725" y="5324475"/>
            <a:ext cx="11353800" cy="819150"/>
          </a:xfrm>
          <a:prstGeom prst="rect">
            <a:avLst/>
          </a:prstGeom>
        </p:spPr>
      </p:pic>
      <p:sp>
        <p:nvSpPr>
          <p:cNvPr id="723" name="Description of a primary heading-3,1">
            <a:extLst>
              <a:ext uri="{FF2B5EF4-FFF2-40B4-BE49-F238E27FC236}">
                <a16:creationId xmlns:a16="http://schemas.microsoft.com/office/drawing/2014/main" id="{111B4A49-B930-4A89-A1CD-6CA2B3D95AED}"/>
              </a:ext>
            </a:extLst>
          </p:cNvPr>
          <p:cNvSpPr txBox="1"/>
          <p:nvPr/>
        </p:nvSpPr>
        <p:spPr>
          <a:xfrm>
            <a:off x="10396156" y="5562124"/>
            <a:ext cx="2914650" cy="352425"/>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E5E3E7">
                    <a:alpha val="100000"/>
                  </a:srgbClr>
                </a:solidFill>
                <a:latin typeface="Montserrat Light" panose="00000700000000000000" pitchFamily="2" charset="0"/>
              </a:rPr>
              <a:t>Klaus Multi Parking India</a:t>
            </a:r>
          </a:p>
        </p:txBody>
      </p:sp>
      <p:pic>
        <p:nvPicPr>
          <p:cNvPr id="72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752475" y="6134100"/>
            <a:ext cx="5448300" cy="819150"/>
          </a:xfrm>
          <a:prstGeom prst="rect">
            <a:avLst/>
          </a:prstGeom>
        </p:spPr>
      </p:pic>
      <p:sp>
        <p:nvSpPr>
          <p:cNvPr id="725" name="Description of a primary heading-4,0">
            <a:extLst>
              <a:ext uri="{FF2B5EF4-FFF2-40B4-BE49-F238E27FC236}">
                <a16:creationId xmlns:a16="http://schemas.microsoft.com/office/drawing/2014/main" id="{111B4A49-B930-4A89-A1CD-6CA2B3D95AED}"/>
              </a:ext>
            </a:extLst>
          </p:cNvPr>
          <p:cNvSpPr txBox="1"/>
          <p:nvPr/>
        </p:nvSpPr>
        <p:spPr>
          <a:xfrm>
            <a:off x="2742248" y="6369844"/>
            <a:ext cx="1457325" cy="352425"/>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DEDCE1">
                    <a:alpha val="100000"/>
                  </a:srgbClr>
                </a:solidFill>
                <a:latin typeface="Montserrat Light" panose="00000700000000000000" pitchFamily="2" charset="0"/>
              </a:rPr>
              <a:t>Economical</a:t>
            </a:r>
          </a:p>
        </p:txBody>
      </p:sp>
      <p:pic>
        <p:nvPicPr>
          <p:cNvPr id="72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6181725" y="6134100"/>
            <a:ext cx="11353800" cy="819150"/>
          </a:xfrm>
          <a:prstGeom prst="rect">
            <a:avLst/>
          </a:prstGeom>
        </p:spPr>
      </p:pic>
      <p:sp>
        <p:nvSpPr>
          <p:cNvPr id="727" name="Description of a primary heading-4,1">
            <a:extLst>
              <a:ext uri="{FF2B5EF4-FFF2-40B4-BE49-F238E27FC236}">
                <a16:creationId xmlns:a16="http://schemas.microsoft.com/office/drawing/2014/main" id="{111B4A49-B930-4A89-A1CD-6CA2B3D95AED}"/>
              </a:ext>
            </a:extLst>
          </p:cNvPr>
          <p:cNvSpPr txBox="1"/>
          <p:nvPr/>
        </p:nvSpPr>
        <p:spPr>
          <a:xfrm>
            <a:off x="9996583" y="6369844"/>
            <a:ext cx="3714750" cy="352425"/>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DEDCE1">
                    <a:alpha val="100000"/>
                  </a:srgbClr>
                </a:solidFill>
                <a:latin typeface="Montserrat Light" panose="00000700000000000000" pitchFamily="2" charset="0"/>
              </a:rPr>
              <a:t>Suzhou Genesis Elevator Sys. Co.</a:t>
            </a:r>
          </a:p>
        </p:txBody>
      </p:sp>
      <p:pic>
        <p:nvPicPr>
          <p:cNvPr id="72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752475" y="6943725"/>
            <a:ext cx="5448300" cy="819150"/>
          </a:xfrm>
          <a:prstGeom prst="rect">
            <a:avLst/>
          </a:prstGeom>
        </p:spPr>
      </p:pic>
      <p:sp>
        <p:nvSpPr>
          <p:cNvPr id="729" name="Description of a primary heading-5,0">
            <a:extLst>
              <a:ext uri="{FF2B5EF4-FFF2-40B4-BE49-F238E27FC236}">
                <a16:creationId xmlns:a16="http://schemas.microsoft.com/office/drawing/2014/main" id="{111B4A49-B930-4A89-A1CD-6CA2B3D95AED}"/>
              </a:ext>
            </a:extLst>
          </p:cNvPr>
          <p:cNvSpPr txBox="1"/>
          <p:nvPr/>
        </p:nvSpPr>
        <p:spPr>
          <a:xfrm>
            <a:off x="2742248" y="7177564"/>
            <a:ext cx="1457325" cy="352425"/>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D8D6DC">
                    <a:alpha val="100000"/>
                  </a:srgbClr>
                </a:solidFill>
                <a:latin typeface="Montserrat Light" panose="00000700000000000000" pitchFamily="2" charset="0"/>
              </a:rPr>
              <a:t>Economical</a:t>
            </a:r>
          </a:p>
        </p:txBody>
      </p:sp>
      <p:pic>
        <p:nvPicPr>
          <p:cNvPr id="73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6181725" y="6943725"/>
            <a:ext cx="11353800" cy="819150"/>
          </a:xfrm>
          <a:prstGeom prst="rect">
            <a:avLst/>
          </a:prstGeom>
        </p:spPr>
      </p:pic>
      <p:sp>
        <p:nvSpPr>
          <p:cNvPr id="731" name="Description of a primary heading-5,1">
            <a:extLst>
              <a:ext uri="{FF2B5EF4-FFF2-40B4-BE49-F238E27FC236}">
                <a16:creationId xmlns:a16="http://schemas.microsoft.com/office/drawing/2014/main" id="{111B4A49-B930-4A89-A1CD-6CA2B3D95AED}"/>
              </a:ext>
            </a:extLst>
          </p:cNvPr>
          <p:cNvSpPr txBox="1"/>
          <p:nvPr/>
        </p:nvSpPr>
        <p:spPr>
          <a:xfrm>
            <a:off x="10519505" y="7177564"/>
            <a:ext cx="2667000" cy="352425"/>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D8D6DC">
                    <a:alpha val="100000"/>
                  </a:srgbClr>
                </a:solidFill>
                <a:latin typeface="Montserrat Light" panose="00000700000000000000" pitchFamily="2" charset="0"/>
              </a:rPr>
              <a:t>Wohr Parking Systems</a:t>
            </a:r>
          </a:p>
        </p:txBody>
      </p:sp>
      <p:pic>
        <p:nvPicPr>
          <p:cNvPr id="73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752475" y="7753350"/>
            <a:ext cx="5448300" cy="819150"/>
          </a:xfrm>
          <a:prstGeom prst="rect">
            <a:avLst/>
          </a:prstGeom>
        </p:spPr>
      </p:pic>
      <p:sp>
        <p:nvSpPr>
          <p:cNvPr id="733" name="Description of a primary heading-6,0">
            <a:extLst>
              <a:ext uri="{FF2B5EF4-FFF2-40B4-BE49-F238E27FC236}">
                <a16:creationId xmlns:a16="http://schemas.microsoft.com/office/drawing/2014/main" id="{111B4A49-B930-4A89-A1CD-6CA2B3D95AED}"/>
              </a:ext>
            </a:extLst>
          </p:cNvPr>
          <p:cNvSpPr txBox="1"/>
          <p:nvPr/>
        </p:nvSpPr>
        <p:spPr>
          <a:xfrm>
            <a:off x="2749963" y="7985284"/>
            <a:ext cx="1438275" cy="352425"/>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D1CFD6">
                    <a:alpha val="100000"/>
                  </a:srgbClr>
                </a:solidFill>
                <a:latin typeface="Montserrat Light" panose="00000700000000000000" pitchFamily="2" charset="0"/>
              </a:rPr>
              <a:t>Contenders</a:t>
            </a:r>
          </a:p>
        </p:txBody>
      </p:sp>
      <p:pic>
        <p:nvPicPr>
          <p:cNvPr id="73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6181725" y="7753350"/>
            <a:ext cx="11353800" cy="819150"/>
          </a:xfrm>
          <a:prstGeom prst="rect">
            <a:avLst/>
          </a:prstGeom>
        </p:spPr>
      </p:pic>
      <p:sp>
        <p:nvSpPr>
          <p:cNvPr id="735" name="Description of a primary heading-6,1">
            <a:extLst>
              <a:ext uri="{FF2B5EF4-FFF2-40B4-BE49-F238E27FC236}">
                <a16:creationId xmlns:a16="http://schemas.microsoft.com/office/drawing/2014/main" id="{111B4A49-B930-4A89-A1CD-6CA2B3D95AED}"/>
              </a:ext>
            </a:extLst>
          </p:cNvPr>
          <p:cNvSpPr txBox="1"/>
          <p:nvPr/>
        </p:nvSpPr>
        <p:spPr>
          <a:xfrm>
            <a:off x="10412825" y="7985284"/>
            <a:ext cx="2876550" cy="352425"/>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D1CFD6">
                    <a:alpha val="100000"/>
                  </a:srgbClr>
                </a:solidFill>
                <a:latin typeface="Montserrat Light" panose="00000700000000000000" pitchFamily="2" charset="0"/>
              </a:rPr>
              <a:t>Aaron Industries Limited</a:t>
            </a:r>
          </a:p>
        </p:txBody>
      </p:sp>
      <p:pic>
        <p:nvPicPr>
          <p:cNvPr id="73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752475" y="8553450"/>
            <a:ext cx="5448300" cy="819150"/>
          </a:xfrm>
          <a:prstGeom prst="rect">
            <a:avLst/>
          </a:prstGeom>
        </p:spPr>
      </p:pic>
      <p:sp>
        <p:nvSpPr>
          <p:cNvPr id="737" name="Description of a primary heading-7,0">
            <a:extLst>
              <a:ext uri="{FF2B5EF4-FFF2-40B4-BE49-F238E27FC236}">
                <a16:creationId xmlns:a16="http://schemas.microsoft.com/office/drawing/2014/main" id="{111B4A49-B930-4A89-A1CD-6CA2B3D95AED}"/>
              </a:ext>
            </a:extLst>
          </p:cNvPr>
          <p:cNvSpPr txBox="1"/>
          <p:nvPr/>
        </p:nvSpPr>
        <p:spPr>
          <a:xfrm>
            <a:off x="2749963" y="8793004"/>
            <a:ext cx="1438275" cy="352425"/>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CBC8D0">
                    <a:alpha val="100000"/>
                  </a:srgbClr>
                </a:solidFill>
                <a:latin typeface="Montserrat Light" panose="00000700000000000000" pitchFamily="2" charset="0"/>
              </a:rPr>
              <a:t>Contenders</a:t>
            </a:r>
          </a:p>
        </p:txBody>
      </p:sp>
      <p:pic>
        <p:nvPicPr>
          <p:cNvPr id="73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6181725" y="8553450"/>
            <a:ext cx="11353800" cy="819150"/>
          </a:xfrm>
          <a:prstGeom prst="rect">
            <a:avLst/>
          </a:prstGeom>
        </p:spPr>
      </p:pic>
      <p:sp>
        <p:nvSpPr>
          <p:cNvPr id="739" name="Description of a primary heading-7,1">
            <a:extLst>
              <a:ext uri="{FF2B5EF4-FFF2-40B4-BE49-F238E27FC236}">
                <a16:creationId xmlns:a16="http://schemas.microsoft.com/office/drawing/2014/main" id="{111B4A49-B930-4A89-A1CD-6CA2B3D95AED}"/>
              </a:ext>
            </a:extLst>
          </p:cNvPr>
          <p:cNvSpPr txBox="1"/>
          <p:nvPr/>
        </p:nvSpPr>
        <p:spPr>
          <a:xfrm>
            <a:off x="10773251" y="8793004"/>
            <a:ext cx="2162175" cy="352425"/>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CBC8D0">
                    <a:alpha val="100000"/>
                  </a:srgbClr>
                </a:solidFill>
                <a:latin typeface="Montserrat Light" panose="00000700000000000000" pitchFamily="2" charset="0"/>
              </a:rPr>
              <a:t>A.V.Cam Corp. Ltd.</a:t>
            </a:r>
          </a:p>
        </p:txBody>
      </p:sp>
      <p:pic>
        <p:nvPicPr>
          <p:cNvPr id="74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752475" y="9363075"/>
            <a:ext cx="5448300" cy="819150"/>
          </a:xfrm>
          <a:prstGeom prst="rect">
            <a:avLst/>
          </a:prstGeom>
        </p:spPr>
      </p:pic>
      <p:sp>
        <p:nvSpPr>
          <p:cNvPr id="741" name="Description of a primary heading-8,0">
            <a:extLst>
              <a:ext uri="{FF2B5EF4-FFF2-40B4-BE49-F238E27FC236}">
                <a16:creationId xmlns:a16="http://schemas.microsoft.com/office/drawing/2014/main" id="{111B4A49-B930-4A89-A1CD-6CA2B3D95AED}"/>
              </a:ext>
            </a:extLst>
          </p:cNvPr>
          <p:cNvSpPr txBox="1"/>
          <p:nvPr/>
        </p:nvSpPr>
        <p:spPr>
          <a:xfrm>
            <a:off x="2749963" y="9600724"/>
            <a:ext cx="1438275" cy="352425"/>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C4C1CA">
                    <a:alpha val="100000"/>
                  </a:srgbClr>
                </a:solidFill>
                <a:latin typeface="Montserrat Light" panose="00000700000000000000" pitchFamily="2" charset="0"/>
              </a:rPr>
              <a:t>Contenders</a:t>
            </a:r>
          </a:p>
        </p:txBody>
      </p:sp>
      <p:pic>
        <p:nvPicPr>
          <p:cNvPr id="74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6181725" y="9363075"/>
            <a:ext cx="11353800" cy="819150"/>
          </a:xfrm>
          <a:prstGeom prst="rect">
            <a:avLst/>
          </a:prstGeom>
        </p:spPr>
      </p:pic>
      <p:sp>
        <p:nvSpPr>
          <p:cNvPr id="743" name="Description of a primary heading-8,1">
            <a:extLst>
              <a:ext uri="{FF2B5EF4-FFF2-40B4-BE49-F238E27FC236}">
                <a16:creationId xmlns:a16="http://schemas.microsoft.com/office/drawing/2014/main" id="{111B4A49-B930-4A89-A1CD-6CA2B3D95AED}"/>
              </a:ext>
            </a:extLst>
          </p:cNvPr>
          <p:cNvSpPr txBox="1"/>
          <p:nvPr/>
        </p:nvSpPr>
        <p:spPr>
          <a:xfrm>
            <a:off x="9769507" y="9600724"/>
            <a:ext cx="4162425" cy="352425"/>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C4C1CA">
                    <a:alpha val="100000"/>
                  </a:srgbClr>
                </a:solidFill>
                <a:latin typeface="Montserrat Light" panose="00000700000000000000" pitchFamily="2" charset="0"/>
              </a:rPr>
              <a:t>Sieger Spintech Equipment Pvt. Ltd.</a:t>
            </a:r>
          </a:p>
        </p:txBody>
      </p:sp>
      <p:pic>
        <p:nvPicPr>
          <p:cNvPr id="74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8">
            <a:alphaModFix/>
          </a:blip>
          <a:stretch/>
        </p:blipFill>
        <p:spPr>
          <a:xfrm>
            <a:off x="752475" y="10172700"/>
            <a:ext cx="5448300" cy="114300"/>
          </a:xfrm>
          <a:prstGeom prst="rect">
            <a:avLst/>
          </a:prstGeom>
        </p:spPr>
      </p:pic>
      <p:pic>
        <p:nvPicPr>
          <p:cNvPr id="74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9">
            <a:alphaModFix/>
          </a:blip>
          <a:stretch/>
        </p:blipFill>
        <p:spPr>
          <a:xfrm>
            <a:off x="6181725" y="10172700"/>
            <a:ext cx="11353800" cy="114300"/>
          </a:xfrm>
          <a:prstGeom prst="rect">
            <a:avLst/>
          </a:prstGeom>
        </p:spPr>
      </p:pic>
      <p:sp>
        <p:nvSpPr>
          <p:cNvPr id="746" name="Click here to edit title-427">
            <a:extLst>
              <a:ext uri="{FF2B5EF4-FFF2-40B4-BE49-F238E27FC236}">
                <a16:creationId xmlns:a16="http://schemas.microsoft.com/office/drawing/2014/main" id="{111B4A49-B930-4A89-A1CD-6CA2B3D95AED}"/>
              </a:ext>
            </a:extLst>
          </p:cNvPr>
          <p:cNvSpPr txBox="1"/>
          <p:nvPr/>
        </p:nvSpPr>
        <p:spPr>
          <a:xfrm>
            <a:off x="1219200" y="923925"/>
            <a:ext cx="15992475" cy="676275"/>
          </a:xfrm>
          <a:prstGeom prst="rect">
            <a:avLst/>
          </a:prstGeom>
          <a:noFill/>
        </p:spPr>
        <p:txBody>
          <a:bodyPr vertOverflow="clip" horzOverflow="clip" wrap="square" lIns="0" tIns="0" rIns="0" bIns="0" rtlCol="0" anchor="ctr">
            <a:spAutoFit/>
          </a:bodyPr>
          <a:lstStyle/>
          <a:p>
            <a:pPr algn="l">
              <a:lnSpc>
                <a:spcPts val="5250"/>
              </a:lnSpc>
            </a:pPr>
            <a:r>
              <a:rPr lang="en-US" sz="4200" spc="-84" dirty="0">
                <a:solidFill>
                  <a:srgbClr val="FFFFFF">
                    <a:alpha val="100000"/>
                  </a:srgbClr>
                </a:solidFill>
                <a:latin typeface="Montserrat Light" panose="00000700000000000000" pitchFamily="2" charset="0"/>
              </a:rPr>
              <a:t>Competitive Landscape</a:t>
            </a:r>
          </a:p>
        </p:txBody>
      </p:sp>
      <p:sp>
        <p:nvSpPr>
          <p:cNvPr id="747" name="Click here to edit subtitle-406">
            <a:extLst>
              <a:ext uri="{FF2B5EF4-FFF2-40B4-BE49-F238E27FC236}">
                <a16:creationId xmlns:a16="http://schemas.microsoft.com/office/drawing/2014/main" id="{111B4A49-B930-4A89-A1CD-6CA2B3D95AED}"/>
              </a:ext>
            </a:extLst>
          </p:cNvPr>
          <p:cNvSpPr txBox="1"/>
          <p:nvPr/>
        </p:nvSpPr>
        <p:spPr>
          <a:xfrm>
            <a:off x="1219200" y="1790700"/>
            <a:ext cx="15992475" cy="381000"/>
          </a:xfrm>
          <a:prstGeom prst="rect">
            <a:avLst/>
          </a:prstGeom>
          <a:noFill/>
        </p:spPr>
        <p:txBody>
          <a:bodyPr vertOverflow="clip" horzOverflow="clip" wrap="square" lIns="0" tIns="0" rIns="0" bIns="0" rtlCol="0" anchor="ctr">
            <a:spAutoFit/>
          </a:bodyPr>
          <a:lstStyle/>
          <a:p>
            <a:pPr algn="l">
              <a:lnSpc>
                <a:spcPts val="2919"/>
              </a:lnSpc>
            </a:pPr>
            <a:r>
              <a:rPr lang="en-US" sz="2100" spc="-21" dirty="0">
                <a:solidFill>
                  <a:srgbClr val="FFFFFF">
                    <a:alpha val="100000"/>
                  </a:srgbClr>
                </a:solidFill>
                <a:latin typeface="Montserrat Light" panose="00000700000000000000" pitchFamily="2" charset="0"/>
              </a:rPr>
              <a:t>Key Players in India's Elevator and Parking Solutions Industry</a:t>
            </a:r>
          </a:p>
        </p:txBody>
      </p:sp>
      <p:sp>
        <p:nvSpPr>
          <p:cNvPr id="748" name="Click here to edit label-437">
            <a:extLst>
              <a:ext uri="{FF2B5EF4-FFF2-40B4-BE49-F238E27FC236}">
                <a16:creationId xmlns:a16="http://schemas.microsoft.com/office/drawing/2014/main" id="{111B4A49-B930-4A89-A1CD-6CA2B3D95AED}"/>
              </a:ext>
            </a:extLst>
          </p:cNvPr>
          <p:cNvSpPr txBox="1"/>
          <p:nvPr/>
        </p:nvSpPr>
        <p:spPr>
          <a:xfrm>
            <a:off x="1219200" y="571500"/>
            <a:ext cx="15992475" cy="295275"/>
          </a:xfrm>
          <a:prstGeom prst="rect">
            <a:avLst/>
          </a:prstGeom>
          <a:noFill/>
        </p:spPr>
        <p:txBody>
          <a:bodyPr vertOverflow="clip" horzOverflow="clip" wrap="square" lIns="0" tIns="0" rIns="0" bIns="0" rtlCol="0" anchor="ctr">
            <a:spAutoFit/>
          </a:bodyPr>
          <a:lstStyle/>
          <a:p>
            <a:pPr algn="l">
              <a:lnSpc>
                <a:spcPts val="2196"/>
              </a:lnSpc>
            </a:pPr>
            <a:r>
              <a:rPr lang="en-US" sz="1800" spc="990" dirty="0">
                <a:solidFill>
                  <a:srgbClr val="FFFFFF">
                    <a:alpha val="100000"/>
                  </a:srgbClr>
                </a:solidFill>
                <a:latin typeface="Montserrat" panose="00000700000000000000" pitchFamily="2" charset="0"/>
              </a:rPr>
              <a:t>KEY PLAYERS IN THE ELEVATOR AND PARKING SOLUTIONS INDUSTRY</a:t>
            </a:r>
          </a:p>
        </p:txBody>
      </p:sp>
      <p:pic>
        <p:nvPicPr>
          <p:cNvPr id="74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0">
            <a:alphaModFix/>
          </a:blip>
          <a:stretch/>
        </p:blipFill>
        <p:spPr>
          <a:xfrm>
            <a:off x="590550" y="571500"/>
            <a:ext cx="19050" cy="1590675"/>
          </a:xfrm>
          <a:prstGeom prst="rect">
            <a:avLst/>
          </a:prstGeom>
        </p:spPr>
      </p:pic>
    </p:spTree>
    <p:extLst>
      <p:ext uri="{BB962C8B-B14F-4D97-AF65-F5344CB8AC3E}">
        <p14:creationId xmlns:p14="http://schemas.microsoft.com/office/powerpoint/2010/main" val="36480479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5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0" y="0"/>
            <a:ext cx="18288000" cy="10287000"/>
          </a:xfrm>
          <a:prstGeom prst="rect">
            <a:avLst/>
          </a:prstGeom>
        </p:spPr>
      </p:pic>
      <p:pic>
        <p:nvPicPr>
          <p:cNvPr id="753" name="layoutShapeInnerChild1">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0" y="0"/>
            <a:ext cx="18288000" cy="10287000"/>
          </a:xfrm>
          <a:prstGeom prst="rect">
            <a:avLst/>
          </a:prstGeom>
        </p:spPr>
      </p:pic>
      <p:pic>
        <p:nvPicPr>
          <p:cNvPr id="754" name="imageNode6a9804ee-fff7-475e-bd01-ca4bdad5c7a3">
            <a:extLst>
              <a:ext uri="{FF2B5EF4-FFF2-40B4-BE49-F238E27FC236}">
                <a16:creationId xmlns:a16="http://schemas.microsoft.com/office/drawing/2014/main" id="{A8642F66-C0BB-4949-9A9C-024B120A5D52}"/>
              </a:ext>
            </a:extLst>
          </p:cNvPr>
          <p:cNvPicPr preferRelativeResize="0">
            <a:picLocks noChangeAspect="1"/>
          </p:cNvPicPr>
          <p:nvPr/>
        </p:nvPicPr>
        <p:blipFill rotWithShape="1">
          <a:blip r:embed="rId4">
            <a:alphaModFix/>
          </a:blip>
          <a:stretch/>
        </p:blipFill>
        <p:spPr>
          <a:xfrm>
            <a:off x="609600" y="2628900"/>
            <a:ext cx="3409950" cy="7086600"/>
          </a:xfrm>
          <a:prstGeom prst="rect">
            <a:avLst/>
          </a:prstGeom>
        </p:spPr>
      </p:pic>
      <p:pic>
        <p:nvPicPr>
          <p:cNvPr id="75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mt="50000"/>
          </a:blip>
          <a:stretch/>
        </p:blipFill>
        <p:spPr>
          <a:xfrm>
            <a:off x="609600" y="2628900"/>
            <a:ext cx="3409950" cy="7086600"/>
          </a:xfrm>
          <a:prstGeom prst="rect">
            <a:avLst/>
          </a:prstGeom>
        </p:spPr>
      </p:pic>
      <p:pic>
        <p:nvPicPr>
          <p:cNvPr id="75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1743075" y="3448050"/>
            <a:ext cx="1143000" cy="1143000"/>
          </a:xfrm>
          <a:prstGeom prst="rect">
            <a:avLst/>
          </a:prstGeom>
        </p:spPr>
      </p:pic>
      <p:pic>
        <p:nvPicPr>
          <p:cNvPr id="757" name="iconNode2e724a10-1a3c-490b-984f-e195579855d1">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extLst>
              <a:ext uri="{152FCD09-3B6B-44A7-9A1E-8DC220FB3C09}">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2028825" y="3733800"/>
            <a:ext cx="571500" cy="571500"/>
          </a:xfrm>
          <a:prstGeom prst="rect">
            <a:avLst/>
          </a:prstGeom>
        </p:spPr>
      </p:pic>
      <p:sp>
        <p:nvSpPr>
          <p:cNvPr id="758" name="Primary Heading-0">
            <a:extLst>
              <a:ext uri="{FF2B5EF4-FFF2-40B4-BE49-F238E27FC236}">
                <a16:creationId xmlns:a16="http://schemas.microsoft.com/office/drawing/2014/main" id="{111B4A49-B930-4A89-A1CD-6CA2B3D95AED}"/>
              </a:ext>
            </a:extLst>
          </p:cNvPr>
          <p:cNvSpPr txBox="1"/>
          <p:nvPr/>
        </p:nvSpPr>
        <p:spPr>
          <a:xfrm>
            <a:off x="853440" y="5204174"/>
            <a:ext cx="3067050" cy="1143000"/>
          </a:xfrm>
          <a:prstGeom prst="rect">
            <a:avLst/>
          </a:prstGeom>
          <a:noFill/>
        </p:spPr>
        <p:txBody>
          <a:bodyPr vertOverflow="clip" horzOverflow="clip" wrap="square" lIns="0" tIns="0" rIns="0" bIns="0" rtlCol="0" anchor="ctr">
            <a:spAutoFit/>
          </a:bodyPr>
          <a:lstStyle/>
          <a:p>
            <a:pPr algn="ctr">
              <a:lnSpc>
                <a:spcPts val="2982"/>
              </a:lnSpc>
            </a:pPr>
            <a:r>
              <a:rPr lang="en-US" sz="2100" b="1" spc="-32" dirty="0">
                <a:solidFill>
                  <a:srgbClr val="FFFFFF">
                    <a:alpha val="100000"/>
                  </a:srgbClr>
                </a:solidFill>
                <a:latin typeface="Montserrat" panose="00000700000000000000" pitchFamily="2" charset="0"/>
              </a:rPr>
              <a:t>Installing High-End Machines with Latest Technologies</a:t>
            </a:r>
          </a:p>
        </p:txBody>
      </p:sp>
      <p:sp>
        <p:nvSpPr>
          <p:cNvPr id="759" name="Description of a primary heading-0">
            <a:extLst>
              <a:ext uri="{FF2B5EF4-FFF2-40B4-BE49-F238E27FC236}">
                <a16:creationId xmlns:a16="http://schemas.microsoft.com/office/drawing/2014/main" id="{111B4A49-B930-4A89-A1CD-6CA2B3D95AED}"/>
              </a:ext>
            </a:extLst>
          </p:cNvPr>
          <p:cNvSpPr txBox="1"/>
          <p:nvPr/>
        </p:nvSpPr>
        <p:spPr>
          <a:xfrm>
            <a:off x="786765" y="6492430"/>
            <a:ext cx="3067050" cy="2409825"/>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FFFFFF">
                    <a:alpha val="100000"/>
                  </a:srgbClr>
                </a:solidFill>
                <a:latin typeface="Montserrat Light" panose="00000700000000000000" pitchFamily="2" charset="0"/>
              </a:rPr>
              <a:t>This will increase productivity significantly, leading to reduced product costs and making it challenging for competitors to match our prices and quality.</a:t>
            </a:r>
          </a:p>
        </p:txBody>
      </p:sp>
      <p:pic>
        <p:nvPicPr>
          <p:cNvPr id="760" name="imageNodea09f329d-c380-4b32-93af-95cd9f5670b7">
            <a:extLst>
              <a:ext uri="{FF2B5EF4-FFF2-40B4-BE49-F238E27FC236}">
                <a16:creationId xmlns:a16="http://schemas.microsoft.com/office/drawing/2014/main" id="{A8642F66-C0BB-4949-9A9C-024B120A5D52}"/>
              </a:ext>
            </a:extLst>
          </p:cNvPr>
          <p:cNvPicPr preferRelativeResize="0">
            <a:picLocks noChangeAspect="1"/>
          </p:cNvPicPr>
          <p:nvPr/>
        </p:nvPicPr>
        <p:blipFill rotWithShape="1">
          <a:blip r:embed="rId8">
            <a:alphaModFix/>
          </a:blip>
          <a:srcRect/>
          <a:stretch/>
        </p:blipFill>
        <p:spPr>
          <a:xfrm>
            <a:off x="4019550" y="2628900"/>
            <a:ext cx="3409950" cy="7086600"/>
          </a:xfrm>
          <a:prstGeom prst="rect">
            <a:avLst/>
          </a:prstGeom>
        </p:spPr>
      </p:pic>
      <p:pic>
        <p:nvPicPr>
          <p:cNvPr id="761"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mt="50000"/>
          </a:blip>
          <a:stretch/>
        </p:blipFill>
        <p:spPr>
          <a:xfrm>
            <a:off x="4019550" y="2628900"/>
            <a:ext cx="3409950" cy="7086600"/>
          </a:xfrm>
          <a:prstGeom prst="rect">
            <a:avLst/>
          </a:prstGeom>
        </p:spPr>
      </p:pic>
      <p:pic>
        <p:nvPicPr>
          <p:cNvPr id="76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9">
            <a:alphaModFix/>
          </a:blip>
          <a:stretch/>
        </p:blipFill>
        <p:spPr>
          <a:xfrm>
            <a:off x="5162550" y="3448050"/>
            <a:ext cx="1143000" cy="1143000"/>
          </a:xfrm>
          <a:prstGeom prst="rect">
            <a:avLst/>
          </a:prstGeom>
        </p:spPr>
      </p:pic>
      <p:pic>
        <p:nvPicPr>
          <p:cNvPr id="763" name="iconNode8e7a1210-e92b-430d-a097-41a52d5c996c">
            <a:extLst>
              <a:ext uri="{FF2B5EF4-FFF2-40B4-BE49-F238E27FC236}">
                <a16:creationId xmlns:a16="http://schemas.microsoft.com/office/drawing/2014/main" id="{A8642F66-C0BB-4949-9A9C-024B120A5D52}"/>
              </a:ext>
            </a:extLst>
          </p:cNvPr>
          <p:cNvPicPr>
            <a:picLocks noChangeAspect="1"/>
          </p:cNvPicPr>
          <p:nvPr/>
        </p:nvPicPr>
        <p:blipFill rotWithShape="1">
          <a:blip r:embed="rId10">
            <a:alphaModFix/>
            <a:extLst>
              <a:ext uri="{9ABDD0F3-5916-4A96-8536-BE50066C068E}">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5448300" y="3733800"/>
            <a:ext cx="571500" cy="571500"/>
          </a:xfrm>
          <a:prstGeom prst="rect">
            <a:avLst/>
          </a:prstGeom>
        </p:spPr>
      </p:pic>
      <p:sp>
        <p:nvSpPr>
          <p:cNvPr id="764" name="Primary Heading-1">
            <a:extLst>
              <a:ext uri="{FF2B5EF4-FFF2-40B4-BE49-F238E27FC236}">
                <a16:creationId xmlns:a16="http://schemas.microsoft.com/office/drawing/2014/main" id="{111B4A49-B930-4A89-A1CD-6CA2B3D95AED}"/>
              </a:ext>
            </a:extLst>
          </p:cNvPr>
          <p:cNvSpPr txBox="1"/>
          <p:nvPr/>
        </p:nvSpPr>
        <p:spPr>
          <a:xfrm>
            <a:off x="4267200" y="5204174"/>
            <a:ext cx="3067050" cy="1143000"/>
          </a:xfrm>
          <a:prstGeom prst="rect">
            <a:avLst/>
          </a:prstGeom>
          <a:noFill/>
        </p:spPr>
        <p:txBody>
          <a:bodyPr vertOverflow="clip" horzOverflow="clip" wrap="square" lIns="0" tIns="0" rIns="0" bIns="0" rtlCol="0" anchor="ctr">
            <a:spAutoFit/>
          </a:bodyPr>
          <a:lstStyle/>
          <a:p>
            <a:pPr algn="ctr">
              <a:lnSpc>
                <a:spcPts val="2982"/>
              </a:lnSpc>
            </a:pPr>
            <a:r>
              <a:rPr lang="en-US" sz="2100" b="1" spc="-32" dirty="0">
                <a:solidFill>
                  <a:srgbClr val="FFFFFF">
                    <a:alpha val="100000"/>
                  </a:srgbClr>
                </a:solidFill>
                <a:latin typeface="Montserrat" panose="00000700000000000000" pitchFamily="2" charset="0"/>
              </a:rPr>
              <a:t>Maintaining Ready Stock at Various Locations</a:t>
            </a:r>
          </a:p>
        </p:txBody>
      </p:sp>
      <p:sp>
        <p:nvSpPr>
          <p:cNvPr id="765" name="Description of a primary heading-1">
            <a:extLst>
              <a:ext uri="{FF2B5EF4-FFF2-40B4-BE49-F238E27FC236}">
                <a16:creationId xmlns:a16="http://schemas.microsoft.com/office/drawing/2014/main" id="{111B4A49-B930-4A89-A1CD-6CA2B3D95AED}"/>
              </a:ext>
            </a:extLst>
          </p:cNvPr>
          <p:cNvSpPr txBox="1"/>
          <p:nvPr/>
        </p:nvSpPr>
        <p:spPr>
          <a:xfrm>
            <a:off x="4200525" y="6492430"/>
            <a:ext cx="3067050" cy="2409825"/>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FFFFFF">
                    <a:alpha val="100000"/>
                  </a:srgbClr>
                </a:solidFill>
                <a:latin typeface="Montserrat Light" panose="00000700000000000000" pitchFamily="2" charset="0"/>
              </a:rPr>
              <a:t>Having fast-moving products readily available at multiple locations will enhance customer attractiveness by saving on inventory and transit time.</a:t>
            </a:r>
          </a:p>
        </p:txBody>
      </p:sp>
      <p:pic>
        <p:nvPicPr>
          <p:cNvPr id="766" name="imageNode2bb5b41e-f824-4236-8e5e-cc76dbd67c43">
            <a:extLst>
              <a:ext uri="{FF2B5EF4-FFF2-40B4-BE49-F238E27FC236}">
                <a16:creationId xmlns:a16="http://schemas.microsoft.com/office/drawing/2014/main" id="{A8642F66-C0BB-4949-9A9C-024B120A5D52}"/>
              </a:ext>
            </a:extLst>
          </p:cNvPr>
          <p:cNvPicPr preferRelativeResize="0">
            <a:picLocks noChangeAspect="1"/>
          </p:cNvPicPr>
          <p:nvPr/>
        </p:nvPicPr>
        <p:blipFill rotWithShape="1">
          <a:blip r:embed="rId11">
            <a:alphaModFix/>
          </a:blip>
          <a:srcRect/>
          <a:stretch/>
        </p:blipFill>
        <p:spPr>
          <a:xfrm>
            <a:off x="7439025" y="2628900"/>
            <a:ext cx="3409950" cy="7086600"/>
          </a:xfrm>
          <a:prstGeom prst="rect">
            <a:avLst/>
          </a:prstGeom>
        </p:spPr>
      </p:pic>
      <p:pic>
        <p:nvPicPr>
          <p:cNvPr id="767"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mt="50000"/>
          </a:blip>
          <a:stretch/>
        </p:blipFill>
        <p:spPr>
          <a:xfrm>
            <a:off x="7439025" y="2628900"/>
            <a:ext cx="3409950" cy="7086600"/>
          </a:xfrm>
          <a:prstGeom prst="rect">
            <a:avLst/>
          </a:prstGeom>
        </p:spPr>
      </p:pic>
      <p:pic>
        <p:nvPicPr>
          <p:cNvPr id="76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2">
            <a:alphaModFix/>
          </a:blip>
          <a:stretch/>
        </p:blipFill>
        <p:spPr>
          <a:xfrm>
            <a:off x="8572500" y="3448050"/>
            <a:ext cx="1143000" cy="1143000"/>
          </a:xfrm>
          <a:prstGeom prst="rect">
            <a:avLst/>
          </a:prstGeom>
        </p:spPr>
      </p:pic>
      <p:pic>
        <p:nvPicPr>
          <p:cNvPr id="769" name="iconNodea053b5b5-341e-4fe8-981b-ef71babd3572">
            <a:extLst>
              <a:ext uri="{FF2B5EF4-FFF2-40B4-BE49-F238E27FC236}">
                <a16:creationId xmlns:a16="http://schemas.microsoft.com/office/drawing/2014/main" id="{A8642F66-C0BB-4949-9A9C-024B120A5D52}"/>
              </a:ext>
            </a:extLst>
          </p:cNvPr>
          <p:cNvPicPr>
            <a:picLocks noChangeAspect="1"/>
          </p:cNvPicPr>
          <p:nvPr/>
        </p:nvPicPr>
        <p:blipFill rotWithShape="1">
          <a:blip r:embed="rId13">
            <a:alphaModFix/>
            <a:extLst>
              <a:ext uri="{1383B4D1-2F5F-4AD5-850B-46CCED4DF88D}">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8858250" y="3733800"/>
            <a:ext cx="571500" cy="571500"/>
          </a:xfrm>
          <a:prstGeom prst="rect">
            <a:avLst/>
          </a:prstGeom>
        </p:spPr>
      </p:pic>
      <p:sp>
        <p:nvSpPr>
          <p:cNvPr id="770" name="Primary Heading-2">
            <a:extLst>
              <a:ext uri="{FF2B5EF4-FFF2-40B4-BE49-F238E27FC236}">
                <a16:creationId xmlns:a16="http://schemas.microsoft.com/office/drawing/2014/main" id="{111B4A49-B930-4A89-A1CD-6CA2B3D95AED}"/>
              </a:ext>
            </a:extLst>
          </p:cNvPr>
          <p:cNvSpPr txBox="1"/>
          <p:nvPr/>
        </p:nvSpPr>
        <p:spPr>
          <a:xfrm>
            <a:off x="7680960" y="5204174"/>
            <a:ext cx="3067050" cy="1143000"/>
          </a:xfrm>
          <a:prstGeom prst="rect">
            <a:avLst/>
          </a:prstGeom>
          <a:noFill/>
        </p:spPr>
        <p:txBody>
          <a:bodyPr vertOverflow="clip" horzOverflow="clip" wrap="square" lIns="0" tIns="0" rIns="0" bIns="0" rtlCol="0" anchor="ctr">
            <a:spAutoFit/>
          </a:bodyPr>
          <a:lstStyle/>
          <a:p>
            <a:pPr algn="ctr">
              <a:lnSpc>
                <a:spcPts val="2982"/>
              </a:lnSpc>
            </a:pPr>
            <a:r>
              <a:rPr lang="en-US" sz="2100" b="1" spc="-32" dirty="0">
                <a:solidFill>
                  <a:srgbClr val="FFFFFF">
                    <a:alpha val="100000"/>
                  </a:srgbClr>
                </a:solidFill>
                <a:latin typeface="Montserrat" panose="00000700000000000000" pitchFamily="2" charset="0"/>
              </a:rPr>
              <a:t>Bulk Purchases for Customized Raw Materials</a:t>
            </a:r>
          </a:p>
        </p:txBody>
      </p:sp>
      <p:sp>
        <p:nvSpPr>
          <p:cNvPr id="771" name="Description of a primary heading-2">
            <a:extLst>
              <a:ext uri="{FF2B5EF4-FFF2-40B4-BE49-F238E27FC236}">
                <a16:creationId xmlns:a16="http://schemas.microsoft.com/office/drawing/2014/main" id="{111B4A49-B930-4A89-A1CD-6CA2B3D95AED}"/>
              </a:ext>
            </a:extLst>
          </p:cNvPr>
          <p:cNvSpPr txBox="1"/>
          <p:nvPr/>
        </p:nvSpPr>
        <p:spPr>
          <a:xfrm>
            <a:off x="7614285" y="6492430"/>
            <a:ext cx="3067050" cy="2409825"/>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FFFFFF">
                    <a:alpha val="100000"/>
                  </a:srgbClr>
                </a:solidFill>
                <a:latin typeface="Montserrat Light" panose="00000700000000000000" pitchFamily="2" charset="0"/>
              </a:rPr>
              <a:t>Procuring raw materials in bulk from mills for customized sizes will decrease scrap costs and provide better pricing advantages over competitors.</a:t>
            </a:r>
          </a:p>
        </p:txBody>
      </p:sp>
      <p:pic>
        <p:nvPicPr>
          <p:cNvPr id="772" name="imageNodebbbfbc40-58cf-4ee0-807b-7a8847c26949">
            <a:extLst>
              <a:ext uri="{FF2B5EF4-FFF2-40B4-BE49-F238E27FC236}">
                <a16:creationId xmlns:a16="http://schemas.microsoft.com/office/drawing/2014/main" id="{A8642F66-C0BB-4949-9A9C-024B120A5D52}"/>
              </a:ext>
            </a:extLst>
          </p:cNvPr>
          <p:cNvPicPr preferRelativeResize="0">
            <a:picLocks noChangeAspect="1"/>
          </p:cNvPicPr>
          <p:nvPr/>
        </p:nvPicPr>
        <p:blipFill rotWithShape="1">
          <a:blip r:embed="rId14">
            <a:alphaModFix/>
          </a:blip>
          <a:srcRect/>
          <a:stretch/>
        </p:blipFill>
        <p:spPr>
          <a:xfrm>
            <a:off x="10848975" y="2628900"/>
            <a:ext cx="3409950" cy="7086600"/>
          </a:xfrm>
          <a:prstGeom prst="rect">
            <a:avLst/>
          </a:prstGeom>
        </p:spPr>
      </p:pic>
      <p:pic>
        <p:nvPicPr>
          <p:cNvPr id="77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mt="50000"/>
          </a:blip>
          <a:stretch/>
        </p:blipFill>
        <p:spPr>
          <a:xfrm>
            <a:off x="10848975" y="2628900"/>
            <a:ext cx="3409950" cy="7086600"/>
          </a:xfrm>
          <a:prstGeom prst="rect">
            <a:avLst/>
          </a:prstGeom>
        </p:spPr>
      </p:pic>
      <p:pic>
        <p:nvPicPr>
          <p:cNvPr id="77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5">
            <a:alphaModFix/>
          </a:blip>
          <a:stretch/>
        </p:blipFill>
        <p:spPr>
          <a:xfrm>
            <a:off x="11982450" y="3257550"/>
            <a:ext cx="1143000" cy="1143000"/>
          </a:xfrm>
          <a:prstGeom prst="rect">
            <a:avLst/>
          </a:prstGeom>
        </p:spPr>
      </p:pic>
      <p:pic>
        <p:nvPicPr>
          <p:cNvPr id="775" name="iconNode86bb7973-c6a6-4be0-bc9d-434786cacbe7">
            <a:extLst>
              <a:ext uri="{FF2B5EF4-FFF2-40B4-BE49-F238E27FC236}">
                <a16:creationId xmlns:a16="http://schemas.microsoft.com/office/drawing/2014/main" id="{A8642F66-C0BB-4949-9A9C-024B120A5D52}"/>
              </a:ext>
            </a:extLst>
          </p:cNvPr>
          <p:cNvPicPr>
            <a:picLocks noChangeAspect="1"/>
          </p:cNvPicPr>
          <p:nvPr/>
        </p:nvPicPr>
        <p:blipFill rotWithShape="1">
          <a:blip r:embed="rId16">
            <a:alphaModFix/>
            <a:extLst>
              <a:ext uri="{CA556BAD-CA15-4206-A0FF-19A209CA6079}">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12268200" y="3543300"/>
            <a:ext cx="571500" cy="571500"/>
          </a:xfrm>
          <a:prstGeom prst="rect">
            <a:avLst/>
          </a:prstGeom>
        </p:spPr>
      </p:pic>
      <p:sp>
        <p:nvSpPr>
          <p:cNvPr id="776" name="Primary Heading-3">
            <a:extLst>
              <a:ext uri="{FF2B5EF4-FFF2-40B4-BE49-F238E27FC236}">
                <a16:creationId xmlns:a16="http://schemas.microsoft.com/office/drawing/2014/main" id="{111B4A49-B930-4A89-A1CD-6CA2B3D95AED}"/>
              </a:ext>
            </a:extLst>
          </p:cNvPr>
          <p:cNvSpPr txBox="1"/>
          <p:nvPr/>
        </p:nvSpPr>
        <p:spPr>
          <a:xfrm>
            <a:off x="11094720" y="5014912"/>
            <a:ext cx="3067050" cy="1524000"/>
          </a:xfrm>
          <a:prstGeom prst="rect">
            <a:avLst/>
          </a:prstGeom>
          <a:noFill/>
        </p:spPr>
        <p:txBody>
          <a:bodyPr vertOverflow="clip" horzOverflow="clip" wrap="square" lIns="0" tIns="0" rIns="0" bIns="0" rtlCol="0" anchor="ctr">
            <a:spAutoFit/>
          </a:bodyPr>
          <a:lstStyle/>
          <a:p>
            <a:pPr algn="ctr">
              <a:lnSpc>
                <a:spcPts val="2982"/>
              </a:lnSpc>
            </a:pPr>
            <a:r>
              <a:rPr lang="en-US" sz="2100" b="1" spc="-32" dirty="0">
                <a:solidFill>
                  <a:srgbClr val="FFFFFF">
                    <a:alpha val="100000"/>
                  </a:srgbClr>
                </a:solidFill>
                <a:latin typeface="Montserrat" panose="00000700000000000000" pitchFamily="2" charset="0"/>
              </a:rPr>
              <a:t>Obtaining Certifications from European/American Agencies</a:t>
            </a:r>
          </a:p>
        </p:txBody>
      </p:sp>
      <p:sp>
        <p:nvSpPr>
          <p:cNvPr id="777" name="Description of a primary heading-3">
            <a:extLst>
              <a:ext uri="{FF2B5EF4-FFF2-40B4-BE49-F238E27FC236}">
                <a16:creationId xmlns:a16="http://schemas.microsoft.com/office/drawing/2014/main" id="{111B4A49-B930-4A89-A1CD-6CA2B3D95AED}"/>
              </a:ext>
            </a:extLst>
          </p:cNvPr>
          <p:cNvSpPr txBox="1"/>
          <p:nvPr/>
        </p:nvSpPr>
        <p:spPr>
          <a:xfrm>
            <a:off x="11028045" y="6681788"/>
            <a:ext cx="3067050" cy="2409825"/>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FFFFFF">
                    <a:alpha val="100000"/>
                  </a:srgbClr>
                </a:solidFill>
                <a:latin typeface="Montserrat Light" panose="00000700000000000000" pitchFamily="2" charset="0"/>
              </a:rPr>
              <a:t>Securing certifications from reputable agencies will lower input costs and help penetrate the market with a cost-effective and robust indigenous brand.</a:t>
            </a:r>
          </a:p>
        </p:txBody>
      </p:sp>
      <p:pic>
        <p:nvPicPr>
          <p:cNvPr id="778" name="imageNodecaa2a01e-c82f-4732-a436-ed8b392bebf2">
            <a:extLst>
              <a:ext uri="{FF2B5EF4-FFF2-40B4-BE49-F238E27FC236}">
                <a16:creationId xmlns:a16="http://schemas.microsoft.com/office/drawing/2014/main" id="{A8642F66-C0BB-4949-9A9C-024B120A5D52}"/>
              </a:ext>
            </a:extLst>
          </p:cNvPr>
          <p:cNvPicPr preferRelativeResize="0">
            <a:picLocks noChangeAspect="1"/>
          </p:cNvPicPr>
          <p:nvPr/>
        </p:nvPicPr>
        <p:blipFill rotWithShape="1">
          <a:blip r:embed="rId17">
            <a:alphaModFix/>
          </a:blip>
          <a:srcRect/>
          <a:stretch/>
        </p:blipFill>
        <p:spPr>
          <a:xfrm>
            <a:off x="14268450" y="2628900"/>
            <a:ext cx="3409950" cy="7086600"/>
          </a:xfrm>
          <a:prstGeom prst="rect">
            <a:avLst/>
          </a:prstGeom>
        </p:spPr>
      </p:pic>
      <p:pic>
        <p:nvPicPr>
          <p:cNvPr id="77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mt="50000"/>
          </a:blip>
          <a:stretch/>
        </p:blipFill>
        <p:spPr>
          <a:xfrm>
            <a:off x="14268450" y="2628900"/>
            <a:ext cx="3409950" cy="7086600"/>
          </a:xfrm>
          <a:prstGeom prst="rect">
            <a:avLst/>
          </a:prstGeom>
        </p:spPr>
      </p:pic>
      <p:pic>
        <p:nvPicPr>
          <p:cNvPr id="78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9">
            <a:alphaModFix/>
          </a:blip>
          <a:stretch/>
        </p:blipFill>
        <p:spPr>
          <a:xfrm>
            <a:off x="15401925" y="3638550"/>
            <a:ext cx="1143000" cy="1143000"/>
          </a:xfrm>
          <a:prstGeom prst="rect">
            <a:avLst/>
          </a:prstGeom>
        </p:spPr>
      </p:pic>
      <p:pic>
        <p:nvPicPr>
          <p:cNvPr id="781" name="iconNode7e76f2e4-1650-4ce9-895a-493c888acf9b">
            <a:extLst>
              <a:ext uri="{FF2B5EF4-FFF2-40B4-BE49-F238E27FC236}">
                <a16:creationId xmlns:a16="http://schemas.microsoft.com/office/drawing/2014/main" id="{A8642F66-C0BB-4949-9A9C-024B120A5D52}"/>
              </a:ext>
            </a:extLst>
          </p:cNvPr>
          <p:cNvPicPr>
            <a:picLocks noChangeAspect="1"/>
          </p:cNvPicPr>
          <p:nvPr/>
        </p:nvPicPr>
        <p:blipFill rotWithShape="1">
          <a:blip r:embed="rId18">
            <a:alphaModFix/>
            <a:extLst>
              <a:ext uri="{8DB59BE5-2130-4664-9228-06BABC56317E}">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15687675" y="3924300"/>
            <a:ext cx="571500" cy="571500"/>
          </a:xfrm>
          <a:prstGeom prst="rect">
            <a:avLst/>
          </a:prstGeom>
        </p:spPr>
      </p:pic>
      <p:sp>
        <p:nvSpPr>
          <p:cNvPr id="782" name="Primary Heading-4">
            <a:extLst>
              <a:ext uri="{FF2B5EF4-FFF2-40B4-BE49-F238E27FC236}">
                <a16:creationId xmlns:a16="http://schemas.microsoft.com/office/drawing/2014/main" id="{111B4A49-B930-4A89-A1CD-6CA2B3D95AED}"/>
              </a:ext>
            </a:extLst>
          </p:cNvPr>
          <p:cNvSpPr txBox="1"/>
          <p:nvPr/>
        </p:nvSpPr>
        <p:spPr>
          <a:xfrm>
            <a:off x="14508480" y="5393531"/>
            <a:ext cx="3067050" cy="771525"/>
          </a:xfrm>
          <a:prstGeom prst="rect">
            <a:avLst/>
          </a:prstGeom>
          <a:noFill/>
        </p:spPr>
        <p:txBody>
          <a:bodyPr vertOverflow="clip" horzOverflow="clip" wrap="square" lIns="0" tIns="0" rIns="0" bIns="0" rtlCol="0" anchor="ctr">
            <a:spAutoFit/>
          </a:bodyPr>
          <a:lstStyle/>
          <a:p>
            <a:pPr algn="ctr">
              <a:lnSpc>
                <a:spcPts val="2982"/>
              </a:lnSpc>
            </a:pPr>
            <a:r>
              <a:rPr lang="en-US" sz="2100" b="1" spc="-32" dirty="0">
                <a:solidFill>
                  <a:srgbClr val="FFFFFF">
                    <a:alpha val="100000"/>
                  </a:srgbClr>
                </a:solidFill>
                <a:latin typeface="Montserrat" panose="00000700000000000000" pitchFamily="2" charset="0"/>
              </a:rPr>
              <a:t>Investing in R&amp;D and Training</a:t>
            </a:r>
          </a:p>
        </p:txBody>
      </p:sp>
      <p:sp>
        <p:nvSpPr>
          <p:cNvPr id="783" name="Description of a primary heading-4">
            <a:extLst>
              <a:ext uri="{FF2B5EF4-FFF2-40B4-BE49-F238E27FC236}">
                <a16:creationId xmlns:a16="http://schemas.microsoft.com/office/drawing/2014/main" id="{111B4A49-B930-4A89-A1CD-6CA2B3D95AED}"/>
              </a:ext>
            </a:extLst>
          </p:cNvPr>
          <p:cNvSpPr txBox="1"/>
          <p:nvPr/>
        </p:nvSpPr>
        <p:spPr>
          <a:xfrm>
            <a:off x="14441805" y="6303169"/>
            <a:ext cx="3067050" cy="2409825"/>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FFFFFF">
                    <a:alpha val="100000"/>
                  </a:srgbClr>
                </a:solidFill>
                <a:latin typeface="Montserrat Light" panose="00000700000000000000" pitchFamily="2" charset="0"/>
              </a:rPr>
              <a:t>Allocating resources towards research and development along with training programs will enable the creation of high-value products not currently offered.</a:t>
            </a:r>
          </a:p>
        </p:txBody>
      </p:sp>
      <p:sp>
        <p:nvSpPr>
          <p:cNvPr id="784" name="Click here to edit title-427">
            <a:extLst>
              <a:ext uri="{FF2B5EF4-FFF2-40B4-BE49-F238E27FC236}">
                <a16:creationId xmlns:a16="http://schemas.microsoft.com/office/drawing/2014/main" id="{111B4A49-B930-4A89-A1CD-6CA2B3D95AED}"/>
              </a:ext>
            </a:extLst>
          </p:cNvPr>
          <p:cNvSpPr txBox="1"/>
          <p:nvPr/>
        </p:nvSpPr>
        <p:spPr>
          <a:xfrm>
            <a:off x="1219200" y="923925"/>
            <a:ext cx="15992475" cy="676275"/>
          </a:xfrm>
          <a:prstGeom prst="rect">
            <a:avLst/>
          </a:prstGeom>
          <a:noFill/>
        </p:spPr>
        <p:txBody>
          <a:bodyPr vertOverflow="clip" horzOverflow="clip" wrap="square" lIns="0" tIns="0" rIns="0" bIns="0" rtlCol="0" anchor="ctr">
            <a:spAutoFit/>
          </a:bodyPr>
          <a:lstStyle/>
          <a:p>
            <a:pPr algn="l">
              <a:lnSpc>
                <a:spcPts val="5250"/>
              </a:lnSpc>
            </a:pPr>
            <a:r>
              <a:rPr lang="en-US" sz="4200" spc="-84" dirty="0">
                <a:solidFill>
                  <a:srgbClr val="FFFFFF">
                    <a:alpha val="100000"/>
                  </a:srgbClr>
                </a:solidFill>
                <a:latin typeface="Montserrat Light" panose="00000700000000000000" pitchFamily="2" charset="0"/>
              </a:rPr>
              <a:t>Business Model</a:t>
            </a:r>
          </a:p>
        </p:txBody>
      </p:sp>
      <p:sp>
        <p:nvSpPr>
          <p:cNvPr id="785" name="Click here to edit subtitle-452">
            <a:extLst>
              <a:ext uri="{FF2B5EF4-FFF2-40B4-BE49-F238E27FC236}">
                <a16:creationId xmlns:a16="http://schemas.microsoft.com/office/drawing/2014/main" id="{111B4A49-B930-4A89-A1CD-6CA2B3D95AED}"/>
              </a:ext>
            </a:extLst>
          </p:cNvPr>
          <p:cNvSpPr txBox="1"/>
          <p:nvPr/>
        </p:nvSpPr>
        <p:spPr>
          <a:xfrm>
            <a:off x="1219200" y="1790700"/>
            <a:ext cx="15992475" cy="381000"/>
          </a:xfrm>
          <a:prstGeom prst="rect">
            <a:avLst/>
          </a:prstGeom>
          <a:noFill/>
        </p:spPr>
        <p:txBody>
          <a:bodyPr vertOverflow="clip" horzOverflow="clip" wrap="square" lIns="0" tIns="0" rIns="0" bIns="0" rtlCol="0" anchor="ctr">
            <a:spAutoFit/>
          </a:bodyPr>
          <a:lstStyle/>
          <a:p>
            <a:pPr algn="l">
              <a:lnSpc>
                <a:spcPts val="2919"/>
              </a:lnSpc>
            </a:pPr>
            <a:r>
              <a:rPr lang="en-US" sz="2100" spc="-21" dirty="0">
                <a:solidFill>
                  <a:srgbClr val="FFFFFF">
                    <a:alpha val="100000"/>
                  </a:srgbClr>
                </a:solidFill>
                <a:latin typeface="Montserrat Light" panose="00000700000000000000" pitchFamily="2" charset="0"/>
              </a:rPr>
              <a:t>Strategies for Market Expansion and Competitive Positioning in India's Elevator Industry</a:t>
            </a:r>
          </a:p>
        </p:txBody>
      </p:sp>
      <p:sp>
        <p:nvSpPr>
          <p:cNvPr id="786" name="Click here to edit label-458">
            <a:extLst>
              <a:ext uri="{FF2B5EF4-FFF2-40B4-BE49-F238E27FC236}">
                <a16:creationId xmlns:a16="http://schemas.microsoft.com/office/drawing/2014/main" id="{111B4A49-B930-4A89-A1CD-6CA2B3D95AED}"/>
              </a:ext>
            </a:extLst>
          </p:cNvPr>
          <p:cNvSpPr txBox="1"/>
          <p:nvPr/>
        </p:nvSpPr>
        <p:spPr>
          <a:xfrm>
            <a:off x="1219200" y="571500"/>
            <a:ext cx="15992475" cy="295275"/>
          </a:xfrm>
          <a:prstGeom prst="rect">
            <a:avLst/>
          </a:prstGeom>
          <a:noFill/>
        </p:spPr>
        <p:txBody>
          <a:bodyPr vertOverflow="clip" horzOverflow="clip" wrap="square" lIns="0" tIns="0" rIns="0" bIns="0" rtlCol="0" anchor="ctr">
            <a:spAutoFit/>
          </a:bodyPr>
          <a:lstStyle/>
          <a:p>
            <a:pPr algn="l">
              <a:lnSpc>
                <a:spcPts val="2196"/>
              </a:lnSpc>
            </a:pPr>
            <a:r>
              <a:rPr lang="en-US" sz="1800" spc="990" dirty="0">
                <a:solidFill>
                  <a:srgbClr val="FFFFFF">
                    <a:alpha val="100000"/>
                  </a:srgbClr>
                </a:solidFill>
                <a:latin typeface="Montserrat" panose="00000700000000000000" pitchFamily="2" charset="0"/>
              </a:rPr>
              <a:t>MARKET EXPANSION STRATEGIES</a:t>
            </a:r>
          </a:p>
        </p:txBody>
      </p:sp>
      <p:pic>
        <p:nvPicPr>
          <p:cNvPr id="787"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9">
            <a:alphaModFix/>
          </a:blip>
          <a:stretch/>
        </p:blipFill>
        <p:spPr>
          <a:xfrm>
            <a:off x="590550" y="571500"/>
            <a:ext cx="19050" cy="1590675"/>
          </a:xfrm>
          <a:prstGeom prst="rect">
            <a:avLst/>
          </a:prstGeom>
        </p:spPr>
      </p:pic>
    </p:spTree>
    <p:extLst>
      <p:ext uri="{BB962C8B-B14F-4D97-AF65-F5344CB8AC3E}">
        <p14:creationId xmlns:p14="http://schemas.microsoft.com/office/powerpoint/2010/main" val="36480479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9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0" y="0"/>
            <a:ext cx="18288000" cy="10287000"/>
          </a:xfrm>
          <a:prstGeom prst="rect">
            <a:avLst/>
          </a:prstGeom>
        </p:spPr>
      </p:pic>
      <p:pic>
        <p:nvPicPr>
          <p:cNvPr id="791" name="layoutShapeInnerChild1">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0" y="0"/>
            <a:ext cx="18288000" cy="10287000"/>
          </a:xfrm>
          <a:prstGeom prst="rect">
            <a:avLst/>
          </a:prstGeom>
        </p:spPr>
      </p:pic>
      <p:pic>
        <p:nvPicPr>
          <p:cNvPr id="79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3457575" y="6134100"/>
            <a:ext cx="14830425" cy="28575"/>
          </a:xfrm>
          <a:prstGeom prst="rect">
            <a:avLst/>
          </a:prstGeom>
        </p:spPr>
      </p:pic>
      <p:pic>
        <p:nvPicPr>
          <p:cNvPr id="79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3362325" y="6057900"/>
            <a:ext cx="190500" cy="190500"/>
          </a:xfrm>
          <a:prstGeom prst="rect">
            <a:avLst/>
          </a:prstGeom>
        </p:spPr>
      </p:pic>
      <p:pic>
        <p:nvPicPr>
          <p:cNvPr id="79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9048750" y="6057900"/>
            <a:ext cx="190500" cy="190500"/>
          </a:xfrm>
          <a:prstGeom prst="rect">
            <a:avLst/>
          </a:prstGeom>
        </p:spPr>
      </p:pic>
      <p:pic>
        <p:nvPicPr>
          <p:cNvPr id="79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14744700" y="6057900"/>
            <a:ext cx="190500" cy="190500"/>
          </a:xfrm>
          <a:prstGeom prst="rect">
            <a:avLst/>
          </a:prstGeom>
        </p:spPr>
      </p:pic>
      <p:pic>
        <p:nvPicPr>
          <p:cNvPr id="79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3114675" y="5810250"/>
            <a:ext cx="685800" cy="685800"/>
          </a:xfrm>
          <a:prstGeom prst="rect">
            <a:avLst/>
          </a:prstGeom>
        </p:spPr>
      </p:pic>
      <p:pic>
        <p:nvPicPr>
          <p:cNvPr id="797" name="iconNode92e7ce08-be29-4627-ba62-d8b3c4d2597b">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extLst>
              <a:ext uri="{A9295C09-0E6F-4C64-BB3E-02517C62F94F}">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3286125" y="5981700"/>
            <a:ext cx="342900" cy="342900"/>
          </a:xfrm>
          <a:prstGeom prst="rect">
            <a:avLst/>
          </a:prstGeom>
        </p:spPr>
      </p:pic>
      <p:sp>
        <p:nvSpPr>
          <p:cNvPr id="798" name="Primary Heading-0">
            <a:extLst>
              <a:ext uri="{FF2B5EF4-FFF2-40B4-BE49-F238E27FC236}">
                <a16:creationId xmlns:a16="http://schemas.microsoft.com/office/drawing/2014/main" id="{111B4A49-B930-4A89-A1CD-6CA2B3D95AED}"/>
              </a:ext>
            </a:extLst>
          </p:cNvPr>
          <p:cNvSpPr txBox="1"/>
          <p:nvPr/>
        </p:nvSpPr>
        <p:spPr>
          <a:xfrm>
            <a:off x="705040" y="5241131"/>
            <a:ext cx="5638800" cy="390525"/>
          </a:xfrm>
          <a:prstGeom prst="rect">
            <a:avLst/>
          </a:prstGeom>
          <a:noFill/>
        </p:spPr>
        <p:txBody>
          <a:bodyPr vertOverflow="clip" horzOverflow="clip" wrap="square" lIns="0" tIns="0" rIns="0" bIns="0" rtlCol="0" anchor="ctr">
            <a:spAutoFit/>
          </a:bodyPr>
          <a:lstStyle/>
          <a:p>
            <a:pPr algn="ctr">
              <a:lnSpc>
                <a:spcPts val="2982"/>
              </a:lnSpc>
            </a:pPr>
            <a:r>
              <a:rPr lang="en-US" sz="2100" b="1" spc="-32" dirty="0">
                <a:solidFill>
                  <a:srgbClr val="FFFFFF">
                    <a:alpha val="100000"/>
                  </a:srgbClr>
                </a:solidFill>
                <a:latin typeface="Montserrat" panose="00000700000000000000" pitchFamily="2" charset="0"/>
              </a:rPr>
              <a:t>Leading Innovator Vision</a:t>
            </a:r>
          </a:p>
        </p:txBody>
      </p:sp>
      <p:sp>
        <p:nvSpPr>
          <p:cNvPr id="799" name="Description of a primary heading-0">
            <a:extLst>
              <a:ext uri="{FF2B5EF4-FFF2-40B4-BE49-F238E27FC236}">
                <a16:creationId xmlns:a16="http://schemas.microsoft.com/office/drawing/2014/main" id="{111B4A49-B930-4A89-A1CD-6CA2B3D95AED}"/>
              </a:ext>
            </a:extLst>
          </p:cNvPr>
          <p:cNvSpPr txBox="1"/>
          <p:nvPr/>
        </p:nvSpPr>
        <p:spPr>
          <a:xfrm>
            <a:off x="638366" y="4555331"/>
            <a:ext cx="5638800" cy="695325"/>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FFFFFF">
                    <a:alpha val="100000"/>
                  </a:srgbClr>
                </a:solidFill>
                <a:latin typeface="Montserrat Light" panose="00000700000000000000" pitchFamily="2" charset="0"/>
              </a:rPr>
              <a:t>Striving to lead India's elevator and parking solutions sector through innovation.</a:t>
            </a:r>
          </a:p>
        </p:txBody>
      </p:sp>
      <p:pic>
        <p:nvPicPr>
          <p:cNvPr id="80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8801100" y="5810250"/>
            <a:ext cx="685800" cy="685800"/>
          </a:xfrm>
          <a:prstGeom prst="rect">
            <a:avLst/>
          </a:prstGeom>
        </p:spPr>
      </p:pic>
      <p:pic>
        <p:nvPicPr>
          <p:cNvPr id="801" name="iconNode6f0a0c54-b7bb-4670-a0aa-2590c0450142">
            <a:extLst>
              <a:ext uri="{FF2B5EF4-FFF2-40B4-BE49-F238E27FC236}">
                <a16:creationId xmlns:a16="http://schemas.microsoft.com/office/drawing/2014/main" id="{A8642F66-C0BB-4949-9A9C-024B120A5D52}"/>
              </a:ext>
            </a:extLst>
          </p:cNvPr>
          <p:cNvPicPr>
            <a:picLocks noChangeAspect="1"/>
          </p:cNvPicPr>
          <p:nvPr/>
        </p:nvPicPr>
        <p:blipFill rotWithShape="1">
          <a:blip r:embed="rId8">
            <a:alphaModFix/>
            <a:extLst>
              <a:ext uri="{06192BD3-F893-4A4C-B196-93598C034F6A}">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8972550" y="5981700"/>
            <a:ext cx="342900" cy="342900"/>
          </a:xfrm>
          <a:prstGeom prst="rect">
            <a:avLst/>
          </a:prstGeom>
        </p:spPr>
      </p:pic>
      <p:sp>
        <p:nvSpPr>
          <p:cNvPr id="802" name="Primary Heading-1">
            <a:extLst>
              <a:ext uri="{FF2B5EF4-FFF2-40B4-BE49-F238E27FC236}">
                <a16:creationId xmlns:a16="http://schemas.microsoft.com/office/drawing/2014/main" id="{111B4A49-B930-4A89-A1CD-6CA2B3D95AED}"/>
              </a:ext>
            </a:extLst>
          </p:cNvPr>
          <p:cNvSpPr txBox="1"/>
          <p:nvPr/>
        </p:nvSpPr>
        <p:spPr>
          <a:xfrm>
            <a:off x="6394609" y="6686550"/>
            <a:ext cx="5638800" cy="390525"/>
          </a:xfrm>
          <a:prstGeom prst="rect">
            <a:avLst/>
          </a:prstGeom>
          <a:noFill/>
        </p:spPr>
        <p:txBody>
          <a:bodyPr vertOverflow="clip" horzOverflow="clip" wrap="square" lIns="0" tIns="0" rIns="0" bIns="0" rtlCol="0" anchor="ctr">
            <a:spAutoFit/>
          </a:bodyPr>
          <a:lstStyle/>
          <a:p>
            <a:pPr algn="ctr">
              <a:lnSpc>
                <a:spcPts val="2982"/>
              </a:lnSpc>
            </a:pPr>
            <a:r>
              <a:rPr lang="en-US" sz="2100" b="1" spc="-32" dirty="0">
                <a:solidFill>
                  <a:srgbClr val="F2F1F3">
                    <a:alpha val="100000"/>
                  </a:srgbClr>
                </a:solidFill>
                <a:latin typeface="Montserrat" panose="00000700000000000000" pitchFamily="2" charset="0"/>
              </a:rPr>
              <a:t>Competitive Market Presence</a:t>
            </a:r>
          </a:p>
        </p:txBody>
      </p:sp>
      <p:sp>
        <p:nvSpPr>
          <p:cNvPr id="803" name="Description of a primary heading-1">
            <a:extLst>
              <a:ext uri="{FF2B5EF4-FFF2-40B4-BE49-F238E27FC236}">
                <a16:creationId xmlns:a16="http://schemas.microsoft.com/office/drawing/2014/main" id="{111B4A49-B930-4A89-A1CD-6CA2B3D95AED}"/>
              </a:ext>
            </a:extLst>
          </p:cNvPr>
          <p:cNvSpPr txBox="1"/>
          <p:nvPr/>
        </p:nvSpPr>
        <p:spPr>
          <a:xfrm>
            <a:off x="6327934" y="7065169"/>
            <a:ext cx="5638800" cy="695325"/>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F2F1F3">
                    <a:alpha val="100000"/>
                  </a:srgbClr>
                </a:solidFill>
                <a:latin typeface="Montserrat Light" panose="00000700000000000000" pitchFamily="2" charset="0"/>
              </a:rPr>
              <a:t>Facing challenges from global competitors while maintaining a strong market foothold.</a:t>
            </a:r>
          </a:p>
        </p:txBody>
      </p:sp>
      <p:pic>
        <p:nvPicPr>
          <p:cNvPr id="80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9">
            <a:alphaModFix/>
          </a:blip>
          <a:stretch/>
        </p:blipFill>
        <p:spPr>
          <a:xfrm>
            <a:off x="14487525" y="5810250"/>
            <a:ext cx="685800" cy="685800"/>
          </a:xfrm>
          <a:prstGeom prst="rect">
            <a:avLst/>
          </a:prstGeom>
        </p:spPr>
      </p:pic>
      <p:pic>
        <p:nvPicPr>
          <p:cNvPr id="805" name="iconNoded17265d3-12e7-40aa-98cf-3c6093e89415">
            <a:extLst>
              <a:ext uri="{FF2B5EF4-FFF2-40B4-BE49-F238E27FC236}">
                <a16:creationId xmlns:a16="http://schemas.microsoft.com/office/drawing/2014/main" id="{A8642F66-C0BB-4949-9A9C-024B120A5D52}"/>
              </a:ext>
            </a:extLst>
          </p:cNvPr>
          <p:cNvPicPr>
            <a:picLocks noChangeAspect="1"/>
          </p:cNvPicPr>
          <p:nvPr/>
        </p:nvPicPr>
        <p:blipFill rotWithShape="1">
          <a:blip r:embed="rId10">
            <a:alphaModFix/>
            <a:extLst>
              <a:ext uri="{1E123FAF-3D66-4EFB-AA78-3C86F7B7CA36}">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14658975" y="5981700"/>
            <a:ext cx="342900" cy="342900"/>
          </a:xfrm>
          <a:prstGeom prst="rect">
            <a:avLst/>
          </a:prstGeom>
        </p:spPr>
      </p:pic>
      <p:sp>
        <p:nvSpPr>
          <p:cNvPr id="806" name="Primary Heading-2">
            <a:extLst>
              <a:ext uri="{FF2B5EF4-FFF2-40B4-BE49-F238E27FC236}">
                <a16:creationId xmlns:a16="http://schemas.microsoft.com/office/drawing/2014/main" id="{111B4A49-B930-4A89-A1CD-6CA2B3D95AED}"/>
              </a:ext>
            </a:extLst>
          </p:cNvPr>
          <p:cNvSpPr txBox="1"/>
          <p:nvPr/>
        </p:nvSpPr>
        <p:spPr>
          <a:xfrm>
            <a:off x="12084177" y="5241131"/>
            <a:ext cx="5638800" cy="390525"/>
          </a:xfrm>
          <a:prstGeom prst="rect">
            <a:avLst/>
          </a:prstGeom>
          <a:noFill/>
        </p:spPr>
        <p:txBody>
          <a:bodyPr vertOverflow="clip" horzOverflow="clip" wrap="square" lIns="0" tIns="0" rIns="0" bIns="0" rtlCol="0" anchor="ctr">
            <a:spAutoFit/>
          </a:bodyPr>
          <a:lstStyle/>
          <a:p>
            <a:pPr algn="ctr">
              <a:lnSpc>
                <a:spcPts val="2982"/>
              </a:lnSpc>
            </a:pPr>
            <a:r>
              <a:rPr lang="en-US" sz="2100" b="1" spc="-32" dirty="0">
                <a:solidFill>
                  <a:srgbClr val="EBEAED">
                    <a:alpha val="100000"/>
                  </a:srgbClr>
                </a:solidFill>
                <a:latin typeface="Montserrat" panose="00000700000000000000" pitchFamily="2" charset="0"/>
              </a:rPr>
              <a:t>Key Solutions Offered</a:t>
            </a:r>
          </a:p>
        </p:txBody>
      </p:sp>
      <p:sp>
        <p:nvSpPr>
          <p:cNvPr id="807" name="Description of a primary heading-2">
            <a:extLst>
              <a:ext uri="{FF2B5EF4-FFF2-40B4-BE49-F238E27FC236}">
                <a16:creationId xmlns:a16="http://schemas.microsoft.com/office/drawing/2014/main" id="{111B4A49-B930-4A89-A1CD-6CA2B3D95AED}"/>
              </a:ext>
            </a:extLst>
          </p:cNvPr>
          <p:cNvSpPr txBox="1"/>
          <p:nvPr/>
        </p:nvSpPr>
        <p:spPr>
          <a:xfrm>
            <a:off x="12017502" y="4555331"/>
            <a:ext cx="5638800" cy="695325"/>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EBEAED">
                    <a:alpha val="100000"/>
                  </a:srgbClr>
                </a:solidFill>
                <a:latin typeface="Montserrat Light" panose="00000700000000000000" pitchFamily="2" charset="0"/>
              </a:rPr>
              <a:t>Providing customized solutions, local expertise, and exceptional after-sales services.</a:t>
            </a:r>
          </a:p>
        </p:txBody>
      </p:sp>
      <p:sp>
        <p:nvSpPr>
          <p:cNvPr id="808" name="Click here to edit title-403">
            <a:extLst>
              <a:ext uri="{FF2B5EF4-FFF2-40B4-BE49-F238E27FC236}">
                <a16:creationId xmlns:a16="http://schemas.microsoft.com/office/drawing/2014/main" id="{111B4A49-B930-4A89-A1CD-6CA2B3D95AED}"/>
              </a:ext>
            </a:extLst>
          </p:cNvPr>
          <p:cNvSpPr txBox="1"/>
          <p:nvPr/>
        </p:nvSpPr>
        <p:spPr>
          <a:xfrm>
            <a:off x="1219200" y="923925"/>
            <a:ext cx="15992475" cy="676275"/>
          </a:xfrm>
          <a:prstGeom prst="rect">
            <a:avLst/>
          </a:prstGeom>
          <a:noFill/>
        </p:spPr>
        <p:txBody>
          <a:bodyPr vertOverflow="clip" horzOverflow="clip" wrap="square" lIns="0" tIns="0" rIns="0" bIns="0" rtlCol="0" anchor="ctr">
            <a:spAutoFit/>
          </a:bodyPr>
          <a:lstStyle/>
          <a:p>
            <a:pPr algn="l">
              <a:lnSpc>
                <a:spcPts val="5250"/>
              </a:lnSpc>
            </a:pPr>
            <a:r>
              <a:rPr lang="en-US" sz="4200" spc="-84" dirty="0">
                <a:solidFill>
                  <a:srgbClr val="FFFFFF">
                    <a:alpha val="100000"/>
                  </a:srgbClr>
                </a:solidFill>
                <a:latin typeface="Montserrat Light" panose="00000700000000000000" pitchFamily="2" charset="0"/>
              </a:rPr>
              <a:t>Summary</a:t>
            </a:r>
          </a:p>
        </p:txBody>
      </p:sp>
      <p:sp>
        <p:nvSpPr>
          <p:cNvPr id="809" name="Click here to edit subtitle-452">
            <a:extLst>
              <a:ext uri="{FF2B5EF4-FFF2-40B4-BE49-F238E27FC236}">
                <a16:creationId xmlns:a16="http://schemas.microsoft.com/office/drawing/2014/main" id="{111B4A49-B930-4A89-A1CD-6CA2B3D95AED}"/>
              </a:ext>
            </a:extLst>
          </p:cNvPr>
          <p:cNvSpPr txBox="1"/>
          <p:nvPr/>
        </p:nvSpPr>
        <p:spPr>
          <a:xfrm>
            <a:off x="1219200" y="1790700"/>
            <a:ext cx="15992475" cy="381000"/>
          </a:xfrm>
          <a:prstGeom prst="rect">
            <a:avLst/>
          </a:prstGeom>
          <a:noFill/>
        </p:spPr>
        <p:txBody>
          <a:bodyPr vertOverflow="clip" horzOverflow="clip" wrap="square" lIns="0" tIns="0" rIns="0" bIns="0" rtlCol="0" anchor="ctr">
            <a:spAutoFit/>
          </a:bodyPr>
          <a:lstStyle/>
          <a:p>
            <a:pPr algn="l">
              <a:lnSpc>
                <a:spcPts val="2919"/>
              </a:lnSpc>
            </a:pPr>
            <a:r>
              <a:rPr lang="en-US" sz="2100" spc="-21" dirty="0">
                <a:solidFill>
                  <a:srgbClr val="FFFFFF">
                    <a:alpha val="100000"/>
                  </a:srgbClr>
                </a:solidFill>
                <a:latin typeface="Montserrat Light" panose="00000700000000000000" pitchFamily="2" charset="0"/>
              </a:rPr>
              <a:t>Strategies for Dominance in India's Elevator and Parking Solutions Market</a:t>
            </a:r>
          </a:p>
        </p:txBody>
      </p:sp>
      <p:sp>
        <p:nvSpPr>
          <p:cNvPr id="810" name="Click here to edit label-421">
            <a:extLst>
              <a:ext uri="{FF2B5EF4-FFF2-40B4-BE49-F238E27FC236}">
                <a16:creationId xmlns:a16="http://schemas.microsoft.com/office/drawing/2014/main" id="{111B4A49-B930-4A89-A1CD-6CA2B3D95AED}"/>
              </a:ext>
            </a:extLst>
          </p:cNvPr>
          <p:cNvSpPr txBox="1"/>
          <p:nvPr/>
        </p:nvSpPr>
        <p:spPr>
          <a:xfrm>
            <a:off x="1219200" y="571500"/>
            <a:ext cx="15992475" cy="295275"/>
          </a:xfrm>
          <a:prstGeom prst="rect">
            <a:avLst/>
          </a:prstGeom>
          <a:noFill/>
        </p:spPr>
        <p:txBody>
          <a:bodyPr vertOverflow="clip" horzOverflow="clip" wrap="square" lIns="0" tIns="0" rIns="0" bIns="0" rtlCol="0" anchor="ctr">
            <a:spAutoFit/>
          </a:bodyPr>
          <a:lstStyle/>
          <a:p>
            <a:pPr algn="l">
              <a:lnSpc>
                <a:spcPts val="2196"/>
              </a:lnSpc>
            </a:pPr>
            <a:r>
              <a:rPr lang="en-US" sz="1800" spc="990" dirty="0">
                <a:solidFill>
                  <a:srgbClr val="FFFFFF">
                    <a:alpha val="100000"/>
                  </a:srgbClr>
                </a:solidFill>
                <a:latin typeface="Montserrat" panose="00000700000000000000" pitchFamily="2" charset="0"/>
              </a:rPr>
              <a:t>STRATEGY</a:t>
            </a:r>
          </a:p>
        </p:txBody>
      </p:sp>
      <p:pic>
        <p:nvPicPr>
          <p:cNvPr id="811"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1">
            <a:alphaModFix/>
          </a:blip>
          <a:stretch/>
        </p:blipFill>
        <p:spPr>
          <a:xfrm>
            <a:off x="590550" y="571500"/>
            <a:ext cx="19050" cy="1590675"/>
          </a:xfrm>
          <a:prstGeom prst="rect">
            <a:avLst/>
          </a:prstGeom>
        </p:spPr>
      </p:pic>
    </p:spTree>
    <p:extLst>
      <p:ext uri="{BB962C8B-B14F-4D97-AF65-F5344CB8AC3E}">
        <p14:creationId xmlns:p14="http://schemas.microsoft.com/office/powerpoint/2010/main" val="36480479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0" y="0"/>
            <a:ext cx="18288000" cy="10287000"/>
          </a:xfrm>
          <a:prstGeom prst="rect">
            <a:avLst/>
          </a:prstGeom>
        </p:spPr>
      </p:pic>
      <p:pic>
        <p:nvPicPr>
          <p:cNvPr id="815" name="layoutShapeInnerChild1">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0" y="0"/>
            <a:ext cx="18288000" cy="10287000"/>
          </a:xfrm>
          <a:prstGeom prst="rect">
            <a:avLst/>
          </a:prstGeom>
        </p:spPr>
      </p:pic>
      <p:pic>
        <p:nvPicPr>
          <p:cNvPr id="81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0" y="6134100"/>
            <a:ext cx="14744700" cy="28575"/>
          </a:xfrm>
          <a:prstGeom prst="rect">
            <a:avLst/>
          </a:prstGeom>
        </p:spPr>
      </p:pic>
      <p:pic>
        <p:nvPicPr>
          <p:cNvPr id="817"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3362325" y="6057900"/>
            <a:ext cx="190500" cy="190500"/>
          </a:xfrm>
          <a:prstGeom prst="rect">
            <a:avLst/>
          </a:prstGeom>
        </p:spPr>
      </p:pic>
      <p:pic>
        <p:nvPicPr>
          <p:cNvPr id="81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9048750" y="6057900"/>
            <a:ext cx="190500" cy="190500"/>
          </a:xfrm>
          <a:prstGeom prst="rect">
            <a:avLst/>
          </a:prstGeom>
        </p:spPr>
      </p:pic>
      <p:pic>
        <p:nvPicPr>
          <p:cNvPr id="81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14744700" y="6057900"/>
            <a:ext cx="190500" cy="190500"/>
          </a:xfrm>
          <a:prstGeom prst="rect">
            <a:avLst/>
          </a:prstGeom>
        </p:spPr>
      </p:pic>
      <p:pic>
        <p:nvPicPr>
          <p:cNvPr id="82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3114675" y="5810250"/>
            <a:ext cx="685800" cy="685800"/>
          </a:xfrm>
          <a:prstGeom prst="rect">
            <a:avLst/>
          </a:prstGeom>
        </p:spPr>
      </p:pic>
      <p:pic>
        <p:nvPicPr>
          <p:cNvPr id="821" name="iconNode2c764039-9a00-42a7-a45e-047586ecc817">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extLst>
              <a:ext uri="{98591A70-DF62-4AD2-9BDD-1CE5AA19B294}">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3286125" y="5981700"/>
            <a:ext cx="342900" cy="342900"/>
          </a:xfrm>
          <a:prstGeom prst="rect">
            <a:avLst/>
          </a:prstGeom>
        </p:spPr>
      </p:pic>
      <p:sp>
        <p:nvSpPr>
          <p:cNvPr id="822" name="Primary Heading-3">
            <a:extLst>
              <a:ext uri="{FF2B5EF4-FFF2-40B4-BE49-F238E27FC236}">
                <a16:creationId xmlns:a16="http://schemas.microsoft.com/office/drawing/2014/main" id="{111B4A49-B930-4A89-A1CD-6CA2B3D95AED}"/>
              </a:ext>
            </a:extLst>
          </p:cNvPr>
          <p:cNvSpPr txBox="1"/>
          <p:nvPr/>
        </p:nvSpPr>
        <p:spPr>
          <a:xfrm>
            <a:off x="704850" y="6686550"/>
            <a:ext cx="5638800" cy="390525"/>
          </a:xfrm>
          <a:prstGeom prst="rect">
            <a:avLst/>
          </a:prstGeom>
          <a:noFill/>
        </p:spPr>
        <p:txBody>
          <a:bodyPr vertOverflow="clip" horzOverflow="clip" wrap="square" lIns="0" tIns="0" rIns="0" bIns="0" rtlCol="0" anchor="ctr">
            <a:spAutoFit/>
          </a:bodyPr>
          <a:lstStyle/>
          <a:p>
            <a:pPr algn="ctr">
              <a:lnSpc>
                <a:spcPts val="2982"/>
              </a:lnSpc>
            </a:pPr>
            <a:r>
              <a:rPr lang="en-US" sz="2100" b="1" spc="-32" dirty="0">
                <a:solidFill>
                  <a:srgbClr val="E5E3E7">
                    <a:alpha val="100000"/>
                  </a:srgbClr>
                </a:solidFill>
                <a:latin typeface="Montserrat" panose="00000700000000000000" pitchFamily="2" charset="0"/>
              </a:rPr>
              <a:t>Strategic Product Focus</a:t>
            </a:r>
          </a:p>
        </p:txBody>
      </p:sp>
      <p:sp>
        <p:nvSpPr>
          <p:cNvPr id="823" name="Description of a primary heading-3">
            <a:extLst>
              <a:ext uri="{FF2B5EF4-FFF2-40B4-BE49-F238E27FC236}">
                <a16:creationId xmlns:a16="http://schemas.microsoft.com/office/drawing/2014/main" id="{111B4A49-B930-4A89-A1CD-6CA2B3D95AED}"/>
              </a:ext>
            </a:extLst>
          </p:cNvPr>
          <p:cNvSpPr txBox="1"/>
          <p:nvPr/>
        </p:nvSpPr>
        <p:spPr>
          <a:xfrm>
            <a:off x="638175" y="7065169"/>
            <a:ext cx="5638800" cy="695325"/>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E5E3E7">
                    <a:alpha val="100000"/>
                  </a:srgbClr>
                </a:solidFill>
                <a:latin typeface="Montserrat Light" panose="00000700000000000000" pitchFamily="2" charset="0"/>
              </a:rPr>
              <a:t>Emphasizing quality, reliability, and user safety in a diverse product portfolio.</a:t>
            </a:r>
          </a:p>
        </p:txBody>
      </p:sp>
      <p:pic>
        <p:nvPicPr>
          <p:cNvPr id="82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8801100" y="5810250"/>
            <a:ext cx="685800" cy="685800"/>
          </a:xfrm>
          <a:prstGeom prst="rect">
            <a:avLst/>
          </a:prstGeom>
        </p:spPr>
      </p:pic>
      <p:pic>
        <p:nvPicPr>
          <p:cNvPr id="825" name="iconNodef0cceb25-9f40-42b6-88ed-06537e4c0c85">
            <a:extLst>
              <a:ext uri="{FF2B5EF4-FFF2-40B4-BE49-F238E27FC236}">
                <a16:creationId xmlns:a16="http://schemas.microsoft.com/office/drawing/2014/main" id="{A8642F66-C0BB-4949-9A9C-024B120A5D52}"/>
              </a:ext>
            </a:extLst>
          </p:cNvPr>
          <p:cNvPicPr>
            <a:picLocks noChangeAspect="1"/>
          </p:cNvPicPr>
          <p:nvPr/>
        </p:nvPicPr>
        <p:blipFill rotWithShape="1">
          <a:blip r:embed="rId8">
            <a:alphaModFix/>
            <a:extLst>
              <a:ext uri="{D07B24EB-BB04-434B-8243-295132665C9B}">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8972550" y="5981700"/>
            <a:ext cx="342900" cy="342900"/>
          </a:xfrm>
          <a:prstGeom prst="rect">
            <a:avLst/>
          </a:prstGeom>
        </p:spPr>
      </p:pic>
      <p:sp>
        <p:nvSpPr>
          <p:cNvPr id="826" name="Primary Heading-4">
            <a:extLst>
              <a:ext uri="{FF2B5EF4-FFF2-40B4-BE49-F238E27FC236}">
                <a16:creationId xmlns:a16="http://schemas.microsoft.com/office/drawing/2014/main" id="{111B4A49-B930-4A89-A1CD-6CA2B3D95AED}"/>
              </a:ext>
            </a:extLst>
          </p:cNvPr>
          <p:cNvSpPr txBox="1"/>
          <p:nvPr/>
        </p:nvSpPr>
        <p:spPr>
          <a:xfrm>
            <a:off x="6394418" y="5241131"/>
            <a:ext cx="5638800" cy="390525"/>
          </a:xfrm>
          <a:prstGeom prst="rect">
            <a:avLst/>
          </a:prstGeom>
          <a:noFill/>
        </p:spPr>
        <p:txBody>
          <a:bodyPr vertOverflow="clip" horzOverflow="clip" wrap="square" lIns="0" tIns="0" rIns="0" bIns="0" rtlCol="0" anchor="ctr">
            <a:spAutoFit/>
          </a:bodyPr>
          <a:lstStyle/>
          <a:p>
            <a:pPr algn="ctr">
              <a:lnSpc>
                <a:spcPts val="2982"/>
              </a:lnSpc>
            </a:pPr>
            <a:r>
              <a:rPr lang="en-US" sz="2100" b="1" spc="-32" dirty="0">
                <a:solidFill>
                  <a:srgbClr val="DEDCE1">
                    <a:alpha val="100000"/>
                  </a:srgbClr>
                </a:solidFill>
                <a:latin typeface="Montserrat" panose="00000700000000000000" pitchFamily="2" charset="0"/>
              </a:rPr>
              <a:t>Target Market Segments</a:t>
            </a:r>
          </a:p>
        </p:txBody>
      </p:sp>
      <p:sp>
        <p:nvSpPr>
          <p:cNvPr id="827" name="Description of a primary heading-4">
            <a:extLst>
              <a:ext uri="{FF2B5EF4-FFF2-40B4-BE49-F238E27FC236}">
                <a16:creationId xmlns:a16="http://schemas.microsoft.com/office/drawing/2014/main" id="{111B4A49-B930-4A89-A1CD-6CA2B3D95AED}"/>
              </a:ext>
            </a:extLst>
          </p:cNvPr>
          <p:cNvSpPr txBox="1"/>
          <p:nvPr/>
        </p:nvSpPr>
        <p:spPr>
          <a:xfrm>
            <a:off x="6327743" y="4212431"/>
            <a:ext cx="5638800" cy="1038225"/>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DEDCE1">
                    <a:alpha val="100000"/>
                  </a:srgbClr>
                </a:solidFill>
                <a:latin typeface="Montserrat Light" panose="00000700000000000000" pitchFamily="2" charset="0"/>
              </a:rPr>
              <a:t>Targeting construction firms, real estate developers, and government infrastructure projects.</a:t>
            </a:r>
          </a:p>
        </p:txBody>
      </p:sp>
      <p:pic>
        <p:nvPicPr>
          <p:cNvPr id="82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9">
            <a:alphaModFix/>
          </a:blip>
          <a:stretch/>
        </p:blipFill>
        <p:spPr>
          <a:xfrm>
            <a:off x="14487525" y="5810250"/>
            <a:ext cx="685800" cy="685800"/>
          </a:xfrm>
          <a:prstGeom prst="rect">
            <a:avLst/>
          </a:prstGeom>
        </p:spPr>
      </p:pic>
      <p:pic>
        <p:nvPicPr>
          <p:cNvPr id="829" name="iconNode24604644-4433-4119-bfcd-526476dae10a">
            <a:extLst>
              <a:ext uri="{FF2B5EF4-FFF2-40B4-BE49-F238E27FC236}">
                <a16:creationId xmlns:a16="http://schemas.microsoft.com/office/drawing/2014/main" id="{A8642F66-C0BB-4949-9A9C-024B120A5D52}"/>
              </a:ext>
            </a:extLst>
          </p:cNvPr>
          <p:cNvPicPr>
            <a:picLocks noChangeAspect="1"/>
          </p:cNvPicPr>
          <p:nvPr/>
        </p:nvPicPr>
        <p:blipFill rotWithShape="1">
          <a:blip r:embed="rId10">
            <a:alphaModFix/>
            <a:extLst>
              <a:ext uri="{86B610EF-A0EE-4789-954F-6113C6767811}">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14658975" y="5981700"/>
            <a:ext cx="342900" cy="342900"/>
          </a:xfrm>
          <a:prstGeom prst="rect">
            <a:avLst/>
          </a:prstGeom>
        </p:spPr>
      </p:pic>
      <p:sp>
        <p:nvSpPr>
          <p:cNvPr id="830" name="Primary Heading-5">
            <a:extLst>
              <a:ext uri="{FF2B5EF4-FFF2-40B4-BE49-F238E27FC236}">
                <a16:creationId xmlns:a16="http://schemas.microsoft.com/office/drawing/2014/main" id="{111B4A49-B930-4A89-A1CD-6CA2B3D95AED}"/>
              </a:ext>
            </a:extLst>
          </p:cNvPr>
          <p:cNvSpPr txBox="1"/>
          <p:nvPr/>
        </p:nvSpPr>
        <p:spPr>
          <a:xfrm>
            <a:off x="12083891" y="6686550"/>
            <a:ext cx="5638800" cy="390525"/>
          </a:xfrm>
          <a:prstGeom prst="rect">
            <a:avLst/>
          </a:prstGeom>
          <a:noFill/>
        </p:spPr>
        <p:txBody>
          <a:bodyPr vertOverflow="clip" horzOverflow="clip" wrap="square" lIns="0" tIns="0" rIns="0" bIns="0" rtlCol="0" anchor="ctr">
            <a:spAutoFit/>
          </a:bodyPr>
          <a:lstStyle/>
          <a:p>
            <a:pPr algn="ctr">
              <a:lnSpc>
                <a:spcPts val="2982"/>
              </a:lnSpc>
            </a:pPr>
            <a:r>
              <a:rPr lang="en-US" sz="2100" b="1" spc="-32" dirty="0">
                <a:solidFill>
                  <a:srgbClr val="D8D6DC">
                    <a:alpha val="100000"/>
                  </a:srgbClr>
                </a:solidFill>
                <a:latin typeface="Montserrat" panose="00000700000000000000" pitchFamily="2" charset="0"/>
              </a:rPr>
              <a:t>Financial Stability and Growth</a:t>
            </a:r>
          </a:p>
        </p:txBody>
      </p:sp>
      <p:sp>
        <p:nvSpPr>
          <p:cNvPr id="831" name="Description of a primary heading-5">
            <a:extLst>
              <a:ext uri="{FF2B5EF4-FFF2-40B4-BE49-F238E27FC236}">
                <a16:creationId xmlns:a16="http://schemas.microsoft.com/office/drawing/2014/main" id="{111B4A49-B930-4A89-A1CD-6CA2B3D95AED}"/>
              </a:ext>
            </a:extLst>
          </p:cNvPr>
          <p:cNvSpPr txBox="1"/>
          <p:nvPr/>
        </p:nvSpPr>
        <p:spPr>
          <a:xfrm>
            <a:off x="12017216" y="7065169"/>
            <a:ext cx="5638800" cy="695325"/>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D8D6DC">
                    <a:alpha val="100000"/>
                  </a:srgbClr>
                </a:solidFill>
                <a:latin typeface="Montserrat Light" panose="00000700000000000000" pitchFamily="2" charset="0"/>
              </a:rPr>
              <a:t>Demonstrating steady financial growth with a robust business model.</a:t>
            </a:r>
          </a:p>
        </p:txBody>
      </p:sp>
      <p:sp>
        <p:nvSpPr>
          <p:cNvPr id="832" name="Click here to edit title-419">
            <a:extLst>
              <a:ext uri="{FF2B5EF4-FFF2-40B4-BE49-F238E27FC236}">
                <a16:creationId xmlns:a16="http://schemas.microsoft.com/office/drawing/2014/main" id="{111B4A49-B930-4A89-A1CD-6CA2B3D95AED}"/>
              </a:ext>
            </a:extLst>
          </p:cNvPr>
          <p:cNvSpPr txBox="1"/>
          <p:nvPr/>
        </p:nvSpPr>
        <p:spPr>
          <a:xfrm>
            <a:off x="1219200" y="923925"/>
            <a:ext cx="15992475" cy="676275"/>
          </a:xfrm>
          <a:prstGeom prst="rect">
            <a:avLst/>
          </a:prstGeom>
          <a:noFill/>
        </p:spPr>
        <p:txBody>
          <a:bodyPr vertOverflow="clip" horzOverflow="clip" wrap="square" lIns="0" tIns="0" rIns="0" bIns="0" rtlCol="0" anchor="ctr">
            <a:spAutoFit/>
          </a:bodyPr>
          <a:lstStyle/>
          <a:p>
            <a:pPr algn="l">
              <a:lnSpc>
                <a:spcPts val="5250"/>
              </a:lnSpc>
            </a:pPr>
            <a:r>
              <a:rPr lang="en-US" sz="4200" spc="-84" dirty="0">
                <a:solidFill>
                  <a:srgbClr val="FFFFFF">
                    <a:alpha val="100000"/>
                  </a:srgbClr>
                </a:solidFill>
                <a:latin typeface="Montserrat Light" panose="00000700000000000000" pitchFamily="2" charset="0"/>
              </a:rPr>
              <a:t>Summary</a:t>
            </a:r>
          </a:p>
        </p:txBody>
      </p:sp>
      <p:sp>
        <p:nvSpPr>
          <p:cNvPr id="833" name="Click here to edit subtitle-463">
            <a:extLst>
              <a:ext uri="{FF2B5EF4-FFF2-40B4-BE49-F238E27FC236}">
                <a16:creationId xmlns:a16="http://schemas.microsoft.com/office/drawing/2014/main" id="{111B4A49-B930-4A89-A1CD-6CA2B3D95AED}"/>
              </a:ext>
            </a:extLst>
          </p:cNvPr>
          <p:cNvSpPr txBox="1"/>
          <p:nvPr/>
        </p:nvSpPr>
        <p:spPr>
          <a:xfrm>
            <a:off x="1219200" y="1790700"/>
            <a:ext cx="15992475" cy="381000"/>
          </a:xfrm>
          <a:prstGeom prst="rect">
            <a:avLst/>
          </a:prstGeom>
          <a:noFill/>
        </p:spPr>
        <p:txBody>
          <a:bodyPr vertOverflow="clip" horzOverflow="clip" wrap="square" lIns="0" tIns="0" rIns="0" bIns="0" rtlCol="0" anchor="ctr">
            <a:spAutoFit/>
          </a:bodyPr>
          <a:lstStyle/>
          <a:p>
            <a:pPr algn="l">
              <a:lnSpc>
                <a:spcPts val="2919"/>
              </a:lnSpc>
            </a:pPr>
            <a:r>
              <a:rPr lang="en-US" sz="2100" spc="-21" dirty="0">
                <a:solidFill>
                  <a:srgbClr val="FFFFFF">
                    <a:alpha val="100000"/>
                  </a:srgbClr>
                </a:solidFill>
                <a:latin typeface="Montserrat Light" panose="00000700000000000000" pitchFamily="2" charset="0"/>
              </a:rPr>
              <a:t>Strategies for Dominance in India's Elevator and Parking Solutions Market</a:t>
            </a:r>
          </a:p>
        </p:txBody>
      </p:sp>
      <p:sp>
        <p:nvSpPr>
          <p:cNvPr id="834" name="Click here to edit label-426">
            <a:extLst>
              <a:ext uri="{FF2B5EF4-FFF2-40B4-BE49-F238E27FC236}">
                <a16:creationId xmlns:a16="http://schemas.microsoft.com/office/drawing/2014/main" id="{111B4A49-B930-4A89-A1CD-6CA2B3D95AED}"/>
              </a:ext>
            </a:extLst>
          </p:cNvPr>
          <p:cNvSpPr txBox="1"/>
          <p:nvPr/>
        </p:nvSpPr>
        <p:spPr>
          <a:xfrm>
            <a:off x="1219200" y="571500"/>
            <a:ext cx="15992475" cy="295275"/>
          </a:xfrm>
          <a:prstGeom prst="rect">
            <a:avLst/>
          </a:prstGeom>
          <a:noFill/>
        </p:spPr>
        <p:txBody>
          <a:bodyPr vertOverflow="clip" horzOverflow="clip" wrap="square" lIns="0" tIns="0" rIns="0" bIns="0" rtlCol="0" anchor="ctr">
            <a:spAutoFit/>
          </a:bodyPr>
          <a:lstStyle/>
          <a:p>
            <a:pPr algn="l">
              <a:lnSpc>
                <a:spcPts val="2196"/>
              </a:lnSpc>
            </a:pPr>
            <a:r>
              <a:rPr lang="en-US" sz="1800" spc="990" dirty="0">
                <a:solidFill>
                  <a:srgbClr val="FFFFFF">
                    <a:alpha val="100000"/>
                  </a:srgbClr>
                </a:solidFill>
                <a:latin typeface="Montserrat" panose="00000700000000000000" pitchFamily="2" charset="0"/>
              </a:rPr>
              <a:t>STRATEGY</a:t>
            </a:r>
          </a:p>
        </p:txBody>
      </p:sp>
      <p:pic>
        <p:nvPicPr>
          <p:cNvPr id="83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1">
            <a:alphaModFix/>
          </a:blip>
          <a:stretch/>
        </p:blipFill>
        <p:spPr>
          <a:xfrm>
            <a:off x="590550" y="571500"/>
            <a:ext cx="19050" cy="1590675"/>
          </a:xfrm>
          <a:prstGeom prst="rect">
            <a:avLst/>
          </a:prstGeom>
        </p:spPr>
      </p:pic>
    </p:spTree>
    <p:extLst>
      <p:ext uri="{BB962C8B-B14F-4D97-AF65-F5344CB8AC3E}">
        <p14:creationId xmlns:p14="http://schemas.microsoft.com/office/powerpoint/2010/main" val="36480479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3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0" y="0"/>
            <a:ext cx="18288000" cy="10287000"/>
          </a:xfrm>
          <a:prstGeom prst="rect">
            <a:avLst/>
          </a:prstGeom>
        </p:spPr>
      </p:pic>
      <p:pic>
        <p:nvPicPr>
          <p:cNvPr id="839" name="layoutShapeInnerChild1">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0" y="-31272"/>
            <a:ext cx="18288000" cy="10287000"/>
          </a:xfrm>
          <a:prstGeom prst="rect">
            <a:avLst/>
          </a:prstGeom>
        </p:spPr>
      </p:pic>
      <p:pic>
        <p:nvPicPr>
          <p:cNvPr id="84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847725" y="2867025"/>
            <a:ext cx="2133600" cy="1238250"/>
          </a:xfrm>
          <a:prstGeom prst="rect">
            <a:avLst/>
          </a:prstGeom>
        </p:spPr>
      </p:pic>
      <p:sp>
        <p:nvSpPr>
          <p:cNvPr id="841" name="Primary Heading-0,0">
            <a:extLst>
              <a:ext uri="{FF2B5EF4-FFF2-40B4-BE49-F238E27FC236}">
                <a16:creationId xmlns:a16="http://schemas.microsoft.com/office/drawing/2014/main" id="{111B4A49-B930-4A89-A1CD-6CA2B3D95AED}"/>
              </a:ext>
            </a:extLst>
          </p:cNvPr>
          <p:cNvSpPr txBox="1"/>
          <p:nvPr/>
        </p:nvSpPr>
        <p:spPr>
          <a:xfrm>
            <a:off x="1076325" y="3103245"/>
            <a:ext cx="1800225" cy="771525"/>
          </a:xfrm>
          <a:prstGeom prst="rect">
            <a:avLst/>
          </a:prstGeom>
          <a:noFill/>
        </p:spPr>
        <p:txBody>
          <a:bodyPr vertOverflow="clip" horzOverflow="clip" wrap="square" lIns="0" tIns="0" rIns="0" bIns="0" rtlCol="0" anchor="ctr">
            <a:spAutoFit/>
          </a:bodyPr>
          <a:lstStyle/>
          <a:p>
            <a:pPr algn="ctr">
              <a:lnSpc>
                <a:spcPts val="2982"/>
              </a:lnSpc>
            </a:pPr>
            <a:r>
              <a:rPr lang="en-US" sz="2100" b="1" spc="-32" dirty="0">
                <a:solidFill>
                  <a:srgbClr val="15092E">
                    <a:alpha val="100000"/>
                  </a:srgbClr>
                </a:solidFill>
                <a:latin typeface="Montserrat" panose="00000700000000000000" pitchFamily="2" charset="0"/>
              </a:rPr>
              <a:t>Financial Year</a:t>
            </a:r>
          </a:p>
        </p:txBody>
      </p:sp>
      <p:pic>
        <p:nvPicPr>
          <p:cNvPr id="84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2962275" y="2867025"/>
            <a:ext cx="2105025" cy="1238250"/>
          </a:xfrm>
          <a:prstGeom prst="rect">
            <a:avLst/>
          </a:prstGeom>
        </p:spPr>
      </p:pic>
      <p:sp>
        <p:nvSpPr>
          <p:cNvPr id="843" name="Primary Heading-0,1">
            <a:extLst>
              <a:ext uri="{FF2B5EF4-FFF2-40B4-BE49-F238E27FC236}">
                <a16:creationId xmlns:a16="http://schemas.microsoft.com/office/drawing/2014/main" id="{111B4A49-B930-4A89-A1CD-6CA2B3D95AED}"/>
              </a:ext>
            </a:extLst>
          </p:cNvPr>
          <p:cNvSpPr txBox="1"/>
          <p:nvPr/>
        </p:nvSpPr>
        <p:spPr>
          <a:xfrm>
            <a:off x="3531203" y="3292507"/>
            <a:ext cx="1095375" cy="390525"/>
          </a:xfrm>
          <a:prstGeom prst="rect">
            <a:avLst/>
          </a:prstGeom>
          <a:noFill/>
        </p:spPr>
        <p:txBody>
          <a:bodyPr vertOverflow="clip" horzOverflow="clip" wrap="square" lIns="0" tIns="0" rIns="0" bIns="0" rtlCol="0" anchor="ctr">
            <a:spAutoFit/>
          </a:bodyPr>
          <a:lstStyle/>
          <a:p>
            <a:pPr algn="ctr">
              <a:lnSpc>
                <a:spcPts val="2982"/>
              </a:lnSpc>
            </a:pPr>
            <a:r>
              <a:rPr lang="en-US" sz="2100" b="1" spc="-32" dirty="0">
                <a:solidFill>
                  <a:srgbClr val="15092E">
                    <a:alpha val="100000"/>
                  </a:srgbClr>
                </a:solidFill>
                <a:latin typeface="Montserrat" panose="00000700000000000000" pitchFamily="2" charset="0"/>
              </a:rPr>
              <a:t>Sales</a:t>
            </a:r>
          </a:p>
        </p:txBody>
      </p:sp>
      <p:sp>
        <p:nvSpPr>
          <p:cNvPr id="845" name="Primary Heading-0,2">
            <a:extLst>
              <a:ext uri="{FF2B5EF4-FFF2-40B4-BE49-F238E27FC236}">
                <a16:creationId xmlns:a16="http://schemas.microsoft.com/office/drawing/2014/main" id="{111B4A49-B930-4A89-A1CD-6CA2B3D95AED}"/>
              </a:ext>
            </a:extLst>
          </p:cNvPr>
          <p:cNvSpPr txBox="1"/>
          <p:nvPr/>
        </p:nvSpPr>
        <p:spPr>
          <a:xfrm>
            <a:off x="5479352" y="3292507"/>
            <a:ext cx="1400175" cy="390525"/>
          </a:xfrm>
          <a:prstGeom prst="rect">
            <a:avLst/>
          </a:prstGeom>
          <a:noFill/>
        </p:spPr>
        <p:txBody>
          <a:bodyPr vertOverflow="clip" horzOverflow="clip" wrap="square" lIns="0" tIns="0" rIns="0" bIns="0" rtlCol="0" anchor="ctr">
            <a:spAutoFit/>
          </a:bodyPr>
          <a:lstStyle/>
          <a:p>
            <a:pPr algn="ctr">
              <a:lnSpc>
                <a:spcPts val="2982"/>
              </a:lnSpc>
            </a:pPr>
            <a:r>
              <a:rPr lang="en-US" sz="2100" b="1" spc="-32" dirty="0">
                <a:solidFill>
                  <a:srgbClr val="15092E">
                    <a:alpha val="100000"/>
                  </a:srgbClr>
                </a:solidFill>
                <a:latin typeface="Montserrat" panose="00000700000000000000" pitchFamily="2" charset="0"/>
              </a:rPr>
              <a:t>Purchase</a:t>
            </a:r>
          </a:p>
        </p:txBody>
      </p:sp>
      <p:pic>
        <p:nvPicPr>
          <p:cNvPr id="84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5070702" y="2867025"/>
            <a:ext cx="1933575" cy="1238250"/>
          </a:xfrm>
          <a:prstGeom prst="rect">
            <a:avLst/>
          </a:prstGeom>
        </p:spPr>
      </p:pic>
      <p:sp>
        <p:nvSpPr>
          <p:cNvPr id="847" name="Primary Heading-0,3">
            <a:extLst>
              <a:ext uri="{FF2B5EF4-FFF2-40B4-BE49-F238E27FC236}">
                <a16:creationId xmlns:a16="http://schemas.microsoft.com/office/drawing/2014/main" id="{111B4A49-B930-4A89-A1CD-6CA2B3D95AED}"/>
              </a:ext>
            </a:extLst>
          </p:cNvPr>
          <p:cNvSpPr txBox="1"/>
          <p:nvPr/>
        </p:nvSpPr>
        <p:spPr>
          <a:xfrm>
            <a:off x="5550762" y="3292507"/>
            <a:ext cx="1095375" cy="390525"/>
          </a:xfrm>
          <a:prstGeom prst="rect">
            <a:avLst/>
          </a:prstGeom>
          <a:noFill/>
        </p:spPr>
        <p:txBody>
          <a:bodyPr vertOverflow="clip" horzOverflow="clip" wrap="square" lIns="0" tIns="0" rIns="0" bIns="0" rtlCol="0" anchor="ctr">
            <a:spAutoFit/>
          </a:bodyPr>
          <a:lstStyle/>
          <a:p>
            <a:pPr algn="ctr">
              <a:lnSpc>
                <a:spcPts val="2982"/>
              </a:lnSpc>
            </a:pPr>
            <a:r>
              <a:rPr lang="en-US" sz="2100" b="1" spc="-32" dirty="0">
                <a:solidFill>
                  <a:srgbClr val="15092E">
                    <a:alpha val="100000"/>
                  </a:srgbClr>
                </a:solidFill>
                <a:latin typeface="Montserrat" panose="00000700000000000000" pitchFamily="2" charset="0"/>
              </a:rPr>
              <a:t>PAT</a:t>
            </a:r>
          </a:p>
        </p:txBody>
      </p:sp>
      <p:sp>
        <p:nvSpPr>
          <p:cNvPr id="849" name="Primary Heading-0,4">
            <a:extLst>
              <a:ext uri="{FF2B5EF4-FFF2-40B4-BE49-F238E27FC236}">
                <a16:creationId xmlns:a16="http://schemas.microsoft.com/office/drawing/2014/main" id="{111B4A49-B930-4A89-A1CD-6CA2B3D95AED}"/>
              </a:ext>
            </a:extLst>
          </p:cNvPr>
          <p:cNvSpPr txBox="1"/>
          <p:nvPr/>
        </p:nvSpPr>
        <p:spPr>
          <a:xfrm>
            <a:off x="9304020" y="3103245"/>
            <a:ext cx="1543050" cy="771525"/>
          </a:xfrm>
          <a:prstGeom prst="rect">
            <a:avLst/>
          </a:prstGeom>
          <a:noFill/>
        </p:spPr>
        <p:txBody>
          <a:bodyPr vertOverflow="clip" horzOverflow="clip" wrap="square" lIns="0" tIns="0" rIns="0" bIns="0" rtlCol="0" anchor="ctr">
            <a:spAutoFit/>
          </a:bodyPr>
          <a:lstStyle/>
          <a:p>
            <a:pPr algn="ctr">
              <a:lnSpc>
                <a:spcPts val="2982"/>
              </a:lnSpc>
            </a:pPr>
            <a:r>
              <a:rPr lang="en-US" sz="2100" b="1" spc="-32" dirty="0">
                <a:solidFill>
                  <a:srgbClr val="15092E">
                    <a:alpha val="100000"/>
                  </a:srgbClr>
                </a:solidFill>
                <a:latin typeface="Montserrat" panose="00000700000000000000" pitchFamily="2" charset="0"/>
              </a:rPr>
              <a:t>Head Count</a:t>
            </a:r>
          </a:p>
        </p:txBody>
      </p:sp>
      <p:sp>
        <p:nvSpPr>
          <p:cNvPr id="851" name="Primary Heading-0,5">
            <a:extLst>
              <a:ext uri="{FF2B5EF4-FFF2-40B4-BE49-F238E27FC236}">
                <a16:creationId xmlns:a16="http://schemas.microsoft.com/office/drawing/2014/main" id="{111B4A49-B930-4A89-A1CD-6CA2B3D95AED}"/>
              </a:ext>
            </a:extLst>
          </p:cNvPr>
          <p:cNvSpPr txBox="1"/>
          <p:nvPr/>
        </p:nvSpPr>
        <p:spPr>
          <a:xfrm>
            <a:off x="11160442" y="3292507"/>
            <a:ext cx="2752725" cy="390525"/>
          </a:xfrm>
          <a:prstGeom prst="rect">
            <a:avLst/>
          </a:prstGeom>
          <a:noFill/>
        </p:spPr>
        <p:txBody>
          <a:bodyPr vertOverflow="clip" horzOverflow="clip" wrap="square" lIns="0" tIns="0" rIns="0" bIns="0" rtlCol="0" anchor="ctr">
            <a:spAutoFit/>
          </a:bodyPr>
          <a:lstStyle/>
          <a:p>
            <a:pPr algn="ctr">
              <a:lnSpc>
                <a:spcPts val="2982"/>
              </a:lnSpc>
            </a:pPr>
            <a:r>
              <a:rPr lang="en-US" sz="2100" b="1" spc="-32" dirty="0">
                <a:solidFill>
                  <a:srgbClr val="15092E">
                    <a:alpha val="100000"/>
                  </a:srgbClr>
                </a:solidFill>
                <a:latin typeface="Montserrat" panose="00000700000000000000" pitchFamily="2" charset="0"/>
              </a:rPr>
              <a:t>Revenue/Employee</a:t>
            </a:r>
          </a:p>
        </p:txBody>
      </p:sp>
      <p:pic>
        <p:nvPicPr>
          <p:cNvPr id="85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7005167" y="2867025"/>
            <a:ext cx="2028825" cy="1238250"/>
          </a:xfrm>
          <a:prstGeom prst="rect">
            <a:avLst/>
          </a:prstGeom>
        </p:spPr>
      </p:pic>
      <p:sp>
        <p:nvSpPr>
          <p:cNvPr id="853" name="Primary Heading-0,6">
            <a:extLst>
              <a:ext uri="{FF2B5EF4-FFF2-40B4-BE49-F238E27FC236}">
                <a16:creationId xmlns:a16="http://schemas.microsoft.com/office/drawing/2014/main" id="{111B4A49-B930-4A89-A1CD-6CA2B3D95AED}"/>
              </a:ext>
            </a:extLst>
          </p:cNvPr>
          <p:cNvSpPr txBox="1"/>
          <p:nvPr/>
        </p:nvSpPr>
        <p:spPr>
          <a:xfrm>
            <a:off x="7495705" y="3292507"/>
            <a:ext cx="1162050" cy="390525"/>
          </a:xfrm>
          <a:prstGeom prst="rect">
            <a:avLst/>
          </a:prstGeom>
          <a:noFill/>
        </p:spPr>
        <p:txBody>
          <a:bodyPr vertOverflow="clip" horzOverflow="clip" wrap="square" lIns="0" tIns="0" rIns="0" bIns="0" rtlCol="0" anchor="ctr">
            <a:spAutoFit/>
          </a:bodyPr>
          <a:lstStyle/>
          <a:p>
            <a:pPr algn="ctr">
              <a:lnSpc>
                <a:spcPts val="2982"/>
              </a:lnSpc>
            </a:pPr>
            <a:r>
              <a:rPr lang="en-US" sz="2100" b="1" spc="-32" dirty="0">
                <a:solidFill>
                  <a:srgbClr val="15092E">
                    <a:alpha val="100000"/>
                  </a:srgbClr>
                </a:solidFill>
                <a:latin typeface="Montserrat" panose="00000700000000000000" pitchFamily="2" charset="0"/>
              </a:rPr>
              <a:t>EBITDA</a:t>
            </a:r>
          </a:p>
        </p:txBody>
      </p:sp>
      <p:pic>
        <p:nvPicPr>
          <p:cNvPr id="85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8">
            <a:alphaModFix/>
          </a:blip>
          <a:stretch/>
        </p:blipFill>
        <p:spPr>
          <a:xfrm>
            <a:off x="9014942" y="2867025"/>
            <a:ext cx="1428750" cy="1238250"/>
          </a:xfrm>
          <a:prstGeom prst="rect">
            <a:avLst/>
          </a:prstGeom>
        </p:spPr>
      </p:pic>
      <p:sp>
        <p:nvSpPr>
          <p:cNvPr id="855" name="Primary Heading-0,7">
            <a:extLst>
              <a:ext uri="{FF2B5EF4-FFF2-40B4-BE49-F238E27FC236}">
                <a16:creationId xmlns:a16="http://schemas.microsoft.com/office/drawing/2014/main" id="{111B4A49-B930-4A89-A1CD-6CA2B3D95AED}"/>
              </a:ext>
            </a:extLst>
          </p:cNvPr>
          <p:cNvSpPr txBox="1"/>
          <p:nvPr/>
        </p:nvSpPr>
        <p:spPr>
          <a:xfrm>
            <a:off x="9239637" y="3292507"/>
            <a:ext cx="1095375" cy="390525"/>
          </a:xfrm>
          <a:prstGeom prst="rect">
            <a:avLst/>
          </a:prstGeom>
          <a:noFill/>
        </p:spPr>
        <p:txBody>
          <a:bodyPr vertOverflow="clip" horzOverflow="clip" wrap="square" lIns="0" tIns="0" rIns="0" bIns="0" rtlCol="0" anchor="ctr">
            <a:spAutoFit/>
          </a:bodyPr>
          <a:lstStyle/>
          <a:p>
            <a:pPr algn="ctr">
              <a:lnSpc>
                <a:spcPts val="2982"/>
              </a:lnSpc>
            </a:pPr>
            <a:r>
              <a:rPr lang="en-US" sz="2100" b="1" spc="-32" dirty="0">
                <a:solidFill>
                  <a:srgbClr val="15092E">
                    <a:alpha val="100000"/>
                  </a:srgbClr>
                </a:solidFill>
                <a:latin typeface="Montserrat" panose="00000700000000000000" pitchFamily="2" charset="0"/>
              </a:rPr>
              <a:t>NPM</a:t>
            </a:r>
          </a:p>
        </p:txBody>
      </p:sp>
      <p:pic>
        <p:nvPicPr>
          <p:cNvPr id="85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9">
            <a:alphaModFix/>
          </a:blip>
          <a:stretch/>
        </p:blipFill>
        <p:spPr>
          <a:xfrm>
            <a:off x="847725" y="4086225"/>
            <a:ext cx="2133600" cy="1162050"/>
          </a:xfrm>
          <a:prstGeom prst="rect">
            <a:avLst/>
          </a:prstGeom>
        </p:spPr>
      </p:pic>
      <p:pic>
        <p:nvPicPr>
          <p:cNvPr id="85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0">
            <a:alphaModFix/>
          </a:blip>
          <a:stretch/>
        </p:blipFill>
        <p:spPr>
          <a:xfrm>
            <a:off x="2962275" y="4086225"/>
            <a:ext cx="2105025" cy="1162050"/>
          </a:xfrm>
          <a:prstGeom prst="rect">
            <a:avLst/>
          </a:prstGeom>
        </p:spPr>
      </p:pic>
      <p:pic>
        <p:nvPicPr>
          <p:cNvPr id="86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1">
            <a:alphaModFix/>
          </a:blip>
          <a:stretch/>
        </p:blipFill>
        <p:spPr>
          <a:xfrm>
            <a:off x="5070702" y="4086225"/>
            <a:ext cx="1933575" cy="1162050"/>
          </a:xfrm>
          <a:prstGeom prst="rect">
            <a:avLst/>
          </a:prstGeom>
        </p:spPr>
      </p:pic>
      <p:pic>
        <p:nvPicPr>
          <p:cNvPr id="86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2">
            <a:alphaModFix/>
          </a:blip>
          <a:stretch/>
        </p:blipFill>
        <p:spPr>
          <a:xfrm>
            <a:off x="7005167" y="4086225"/>
            <a:ext cx="2028825" cy="1162050"/>
          </a:xfrm>
          <a:prstGeom prst="rect">
            <a:avLst/>
          </a:prstGeom>
        </p:spPr>
      </p:pic>
      <p:pic>
        <p:nvPicPr>
          <p:cNvPr id="87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9">
            <a:alphaModFix/>
          </a:blip>
          <a:stretch/>
        </p:blipFill>
        <p:spPr>
          <a:xfrm>
            <a:off x="847725" y="4850810"/>
            <a:ext cx="2133600" cy="1162050"/>
          </a:xfrm>
          <a:prstGeom prst="rect">
            <a:avLst/>
          </a:prstGeom>
        </p:spPr>
      </p:pic>
      <p:pic>
        <p:nvPicPr>
          <p:cNvPr id="87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0">
            <a:alphaModFix/>
          </a:blip>
          <a:stretch/>
        </p:blipFill>
        <p:spPr>
          <a:xfrm>
            <a:off x="2962275" y="4850810"/>
            <a:ext cx="2105025" cy="1162050"/>
          </a:xfrm>
          <a:prstGeom prst="rect">
            <a:avLst/>
          </a:prstGeom>
        </p:spPr>
      </p:pic>
      <p:pic>
        <p:nvPicPr>
          <p:cNvPr id="87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1">
            <a:alphaModFix/>
          </a:blip>
          <a:stretch/>
        </p:blipFill>
        <p:spPr>
          <a:xfrm>
            <a:off x="5070702" y="4850810"/>
            <a:ext cx="1933575" cy="1162050"/>
          </a:xfrm>
          <a:prstGeom prst="rect">
            <a:avLst/>
          </a:prstGeom>
        </p:spPr>
      </p:pic>
      <p:pic>
        <p:nvPicPr>
          <p:cNvPr id="88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2">
            <a:alphaModFix/>
          </a:blip>
          <a:stretch/>
        </p:blipFill>
        <p:spPr>
          <a:xfrm>
            <a:off x="7005167" y="4850810"/>
            <a:ext cx="2028825" cy="1162050"/>
          </a:xfrm>
          <a:prstGeom prst="rect">
            <a:avLst/>
          </a:prstGeom>
        </p:spPr>
      </p:pic>
      <p:pic>
        <p:nvPicPr>
          <p:cNvPr id="88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3">
            <a:alphaModFix/>
          </a:blip>
          <a:stretch/>
        </p:blipFill>
        <p:spPr>
          <a:xfrm>
            <a:off x="9014942" y="4850810"/>
            <a:ext cx="1428750" cy="1162050"/>
          </a:xfrm>
          <a:prstGeom prst="rect">
            <a:avLst/>
          </a:prstGeom>
        </p:spPr>
      </p:pic>
      <p:pic>
        <p:nvPicPr>
          <p:cNvPr id="88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9">
            <a:alphaModFix/>
          </a:blip>
          <a:stretch/>
        </p:blipFill>
        <p:spPr>
          <a:xfrm>
            <a:off x="847725" y="6003335"/>
            <a:ext cx="2133600" cy="1162050"/>
          </a:xfrm>
          <a:prstGeom prst="rect">
            <a:avLst/>
          </a:prstGeom>
        </p:spPr>
      </p:pic>
      <p:sp>
        <p:nvSpPr>
          <p:cNvPr id="889" name="Description of a primary heading-3,0">
            <a:extLst>
              <a:ext uri="{FF2B5EF4-FFF2-40B4-BE49-F238E27FC236}">
                <a16:creationId xmlns:a16="http://schemas.microsoft.com/office/drawing/2014/main" id="{111B4A49-B930-4A89-A1CD-6CA2B3D95AED}"/>
              </a:ext>
            </a:extLst>
          </p:cNvPr>
          <p:cNvSpPr txBox="1"/>
          <p:nvPr/>
        </p:nvSpPr>
        <p:spPr>
          <a:xfrm>
            <a:off x="1306449" y="4331866"/>
            <a:ext cx="1228725" cy="352425"/>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E5E3E7">
                    <a:alpha val="100000"/>
                  </a:srgbClr>
                </a:solidFill>
                <a:latin typeface="Montserrat Light" panose="00000700000000000000" pitchFamily="2" charset="0"/>
              </a:rPr>
              <a:t>2021-2022</a:t>
            </a:r>
          </a:p>
        </p:txBody>
      </p:sp>
      <p:pic>
        <p:nvPicPr>
          <p:cNvPr id="89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0">
            <a:alphaModFix/>
          </a:blip>
          <a:stretch/>
        </p:blipFill>
        <p:spPr>
          <a:xfrm>
            <a:off x="2962275" y="6003335"/>
            <a:ext cx="2105025" cy="1162050"/>
          </a:xfrm>
          <a:prstGeom prst="rect">
            <a:avLst/>
          </a:prstGeom>
        </p:spPr>
      </p:pic>
      <p:sp>
        <p:nvSpPr>
          <p:cNvPr id="891" name="Description of a primary heading-3,1">
            <a:extLst>
              <a:ext uri="{FF2B5EF4-FFF2-40B4-BE49-F238E27FC236}">
                <a16:creationId xmlns:a16="http://schemas.microsoft.com/office/drawing/2014/main" id="{111B4A49-B930-4A89-A1CD-6CA2B3D95AED}"/>
              </a:ext>
            </a:extLst>
          </p:cNvPr>
          <p:cNvSpPr txBox="1"/>
          <p:nvPr/>
        </p:nvSpPr>
        <p:spPr>
          <a:xfrm>
            <a:off x="3137440" y="4349702"/>
            <a:ext cx="1771650" cy="316753"/>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E5E3E7">
                    <a:alpha val="100000"/>
                  </a:srgbClr>
                </a:solidFill>
                <a:latin typeface="Montserrat Light" panose="00000700000000000000" pitchFamily="2" charset="0"/>
              </a:rPr>
              <a:t>₹ 12.39</a:t>
            </a:r>
          </a:p>
        </p:txBody>
      </p:sp>
      <p:pic>
        <p:nvPicPr>
          <p:cNvPr id="89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1">
            <a:alphaModFix/>
          </a:blip>
          <a:stretch/>
        </p:blipFill>
        <p:spPr>
          <a:xfrm>
            <a:off x="5070702" y="6003335"/>
            <a:ext cx="1933575" cy="1162050"/>
          </a:xfrm>
          <a:prstGeom prst="rect">
            <a:avLst/>
          </a:prstGeom>
        </p:spPr>
      </p:pic>
      <p:sp>
        <p:nvSpPr>
          <p:cNvPr id="895" name="Description of a primary heading-3,3">
            <a:extLst>
              <a:ext uri="{FF2B5EF4-FFF2-40B4-BE49-F238E27FC236}">
                <a16:creationId xmlns:a16="http://schemas.microsoft.com/office/drawing/2014/main" id="{111B4A49-B930-4A89-A1CD-6CA2B3D95AED}"/>
              </a:ext>
            </a:extLst>
          </p:cNvPr>
          <p:cNvSpPr txBox="1"/>
          <p:nvPr/>
        </p:nvSpPr>
        <p:spPr>
          <a:xfrm>
            <a:off x="5243200" y="4349702"/>
            <a:ext cx="1600200" cy="316753"/>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E5E3E7">
                    <a:alpha val="100000"/>
                  </a:srgbClr>
                </a:solidFill>
                <a:latin typeface="Montserrat Light" panose="00000700000000000000" pitchFamily="2" charset="0"/>
              </a:rPr>
              <a:t>₹ 0.43</a:t>
            </a:r>
          </a:p>
        </p:txBody>
      </p:sp>
      <p:pic>
        <p:nvPicPr>
          <p:cNvPr id="90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2">
            <a:alphaModFix/>
          </a:blip>
          <a:stretch/>
        </p:blipFill>
        <p:spPr>
          <a:xfrm>
            <a:off x="7005167" y="6003335"/>
            <a:ext cx="2028825" cy="1162050"/>
          </a:xfrm>
          <a:prstGeom prst="rect">
            <a:avLst/>
          </a:prstGeom>
        </p:spPr>
      </p:pic>
      <p:sp>
        <p:nvSpPr>
          <p:cNvPr id="901" name="Description of a primary heading-3,6">
            <a:extLst>
              <a:ext uri="{FF2B5EF4-FFF2-40B4-BE49-F238E27FC236}">
                <a16:creationId xmlns:a16="http://schemas.microsoft.com/office/drawing/2014/main" id="{111B4A49-B930-4A89-A1CD-6CA2B3D95AED}"/>
              </a:ext>
            </a:extLst>
          </p:cNvPr>
          <p:cNvSpPr txBox="1"/>
          <p:nvPr/>
        </p:nvSpPr>
        <p:spPr>
          <a:xfrm>
            <a:off x="7173855" y="4349702"/>
            <a:ext cx="1695450" cy="316753"/>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E5E3E7">
                    <a:alpha val="100000"/>
                  </a:srgbClr>
                </a:solidFill>
                <a:latin typeface="Montserrat Light" panose="00000700000000000000" pitchFamily="2" charset="0"/>
              </a:rPr>
              <a:t>₹ 1.</a:t>
            </a:r>
            <a:r>
              <a:rPr lang="en-US" spc="-18" dirty="0">
                <a:solidFill>
                  <a:srgbClr val="E5E3E7">
                    <a:alpha val="100000"/>
                  </a:srgbClr>
                </a:solidFill>
                <a:latin typeface="Montserrat Light" panose="00000700000000000000" pitchFamily="2" charset="0"/>
              </a:rPr>
              <a:t>39</a:t>
            </a:r>
            <a:endParaRPr lang="en-US" sz="1800" spc="-18" dirty="0">
              <a:solidFill>
                <a:srgbClr val="E5E3E7">
                  <a:alpha val="100000"/>
                </a:srgbClr>
              </a:solidFill>
              <a:latin typeface="Montserrat Light" panose="00000700000000000000" pitchFamily="2" charset="0"/>
            </a:endParaRPr>
          </a:p>
        </p:txBody>
      </p:sp>
      <p:pic>
        <p:nvPicPr>
          <p:cNvPr id="90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3">
            <a:alphaModFix/>
          </a:blip>
          <a:stretch/>
        </p:blipFill>
        <p:spPr>
          <a:xfrm>
            <a:off x="9014942" y="6003335"/>
            <a:ext cx="1428750" cy="1162050"/>
          </a:xfrm>
          <a:prstGeom prst="rect">
            <a:avLst/>
          </a:prstGeom>
        </p:spPr>
      </p:pic>
      <p:sp>
        <p:nvSpPr>
          <p:cNvPr id="903" name="Description of a primary heading-3,7">
            <a:extLst>
              <a:ext uri="{FF2B5EF4-FFF2-40B4-BE49-F238E27FC236}">
                <a16:creationId xmlns:a16="http://schemas.microsoft.com/office/drawing/2014/main" id="{111B4A49-B930-4A89-A1CD-6CA2B3D95AED}"/>
              </a:ext>
            </a:extLst>
          </p:cNvPr>
          <p:cNvSpPr txBox="1"/>
          <p:nvPr/>
        </p:nvSpPr>
        <p:spPr>
          <a:xfrm>
            <a:off x="9421660" y="4331866"/>
            <a:ext cx="619125" cy="352425"/>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E5E3E7">
                    <a:alpha val="100000"/>
                  </a:srgbClr>
                </a:solidFill>
                <a:latin typeface="Montserrat Light" panose="00000700000000000000" pitchFamily="2" charset="0"/>
              </a:rPr>
              <a:t>3.5%</a:t>
            </a:r>
          </a:p>
        </p:txBody>
      </p:sp>
      <p:pic>
        <p:nvPicPr>
          <p:cNvPr id="90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9">
            <a:alphaModFix/>
          </a:blip>
          <a:stretch/>
        </p:blipFill>
        <p:spPr>
          <a:xfrm>
            <a:off x="847725" y="7169715"/>
            <a:ext cx="2133600" cy="1162050"/>
          </a:xfrm>
          <a:prstGeom prst="rect">
            <a:avLst/>
          </a:prstGeom>
        </p:spPr>
      </p:pic>
      <p:sp>
        <p:nvSpPr>
          <p:cNvPr id="905" name="Description of a primary heading-4,0">
            <a:extLst>
              <a:ext uri="{FF2B5EF4-FFF2-40B4-BE49-F238E27FC236}">
                <a16:creationId xmlns:a16="http://schemas.microsoft.com/office/drawing/2014/main" id="{111B4A49-B930-4A89-A1CD-6CA2B3D95AED}"/>
              </a:ext>
            </a:extLst>
          </p:cNvPr>
          <p:cNvSpPr txBox="1"/>
          <p:nvPr/>
        </p:nvSpPr>
        <p:spPr>
          <a:xfrm>
            <a:off x="1283970" y="5330081"/>
            <a:ext cx="1276350" cy="352425"/>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DEDCE1">
                    <a:alpha val="100000"/>
                  </a:srgbClr>
                </a:solidFill>
                <a:latin typeface="Montserrat Light" panose="00000700000000000000" pitchFamily="2" charset="0"/>
              </a:rPr>
              <a:t>2022-2023</a:t>
            </a:r>
          </a:p>
        </p:txBody>
      </p:sp>
      <p:pic>
        <p:nvPicPr>
          <p:cNvPr id="90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0">
            <a:alphaModFix/>
          </a:blip>
          <a:stretch/>
        </p:blipFill>
        <p:spPr>
          <a:xfrm>
            <a:off x="2962275" y="7169716"/>
            <a:ext cx="2105025" cy="1162050"/>
          </a:xfrm>
          <a:prstGeom prst="rect">
            <a:avLst/>
          </a:prstGeom>
        </p:spPr>
      </p:pic>
      <p:sp>
        <p:nvSpPr>
          <p:cNvPr id="907" name="Description of a primary heading-4,1">
            <a:extLst>
              <a:ext uri="{FF2B5EF4-FFF2-40B4-BE49-F238E27FC236}">
                <a16:creationId xmlns:a16="http://schemas.microsoft.com/office/drawing/2014/main" id="{111B4A49-B930-4A89-A1CD-6CA2B3D95AED}"/>
              </a:ext>
            </a:extLst>
          </p:cNvPr>
          <p:cNvSpPr txBox="1"/>
          <p:nvPr/>
        </p:nvSpPr>
        <p:spPr>
          <a:xfrm>
            <a:off x="3126867" y="5347917"/>
            <a:ext cx="1771650" cy="316753"/>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DEDCE1">
                    <a:alpha val="100000"/>
                  </a:srgbClr>
                </a:solidFill>
                <a:latin typeface="Montserrat Light" panose="00000700000000000000" pitchFamily="2" charset="0"/>
              </a:rPr>
              <a:t>₹ 18.40</a:t>
            </a:r>
          </a:p>
        </p:txBody>
      </p:sp>
      <p:pic>
        <p:nvPicPr>
          <p:cNvPr id="91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1">
            <a:alphaModFix/>
          </a:blip>
          <a:stretch/>
        </p:blipFill>
        <p:spPr>
          <a:xfrm>
            <a:off x="5070730" y="7169715"/>
            <a:ext cx="1933575" cy="1162050"/>
          </a:xfrm>
          <a:prstGeom prst="rect">
            <a:avLst/>
          </a:prstGeom>
        </p:spPr>
      </p:pic>
      <p:sp>
        <p:nvSpPr>
          <p:cNvPr id="911" name="Description of a primary heading-4,3">
            <a:extLst>
              <a:ext uri="{FF2B5EF4-FFF2-40B4-BE49-F238E27FC236}">
                <a16:creationId xmlns:a16="http://schemas.microsoft.com/office/drawing/2014/main" id="{111B4A49-B930-4A89-A1CD-6CA2B3D95AED}"/>
              </a:ext>
            </a:extLst>
          </p:cNvPr>
          <p:cNvSpPr txBox="1"/>
          <p:nvPr/>
        </p:nvSpPr>
        <p:spPr>
          <a:xfrm>
            <a:off x="5232627" y="5347917"/>
            <a:ext cx="1600200" cy="316753"/>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DEDCE1">
                    <a:alpha val="100000"/>
                  </a:srgbClr>
                </a:solidFill>
                <a:latin typeface="Montserrat Light" panose="00000700000000000000" pitchFamily="2" charset="0"/>
              </a:rPr>
              <a:t>₹ 0.92</a:t>
            </a:r>
          </a:p>
        </p:txBody>
      </p:sp>
      <p:pic>
        <p:nvPicPr>
          <p:cNvPr id="91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2">
            <a:alphaModFix/>
          </a:blip>
          <a:stretch/>
        </p:blipFill>
        <p:spPr>
          <a:xfrm>
            <a:off x="7005167" y="7169718"/>
            <a:ext cx="2028825" cy="1162050"/>
          </a:xfrm>
          <a:prstGeom prst="rect">
            <a:avLst/>
          </a:prstGeom>
        </p:spPr>
      </p:pic>
      <p:sp>
        <p:nvSpPr>
          <p:cNvPr id="917" name="Description of a primary heading-4,6">
            <a:extLst>
              <a:ext uri="{FF2B5EF4-FFF2-40B4-BE49-F238E27FC236}">
                <a16:creationId xmlns:a16="http://schemas.microsoft.com/office/drawing/2014/main" id="{111B4A49-B930-4A89-A1CD-6CA2B3D95AED}"/>
              </a:ext>
            </a:extLst>
          </p:cNvPr>
          <p:cNvSpPr txBox="1"/>
          <p:nvPr/>
        </p:nvSpPr>
        <p:spPr>
          <a:xfrm>
            <a:off x="7163282" y="5347917"/>
            <a:ext cx="1695450" cy="316753"/>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DEDCE1">
                    <a:alpha val="100000"/>
                  </a:srgbClr>
                </a:solidFill>
                <a:latin typeface="Montserrat Light" panose="00000700000000000000" pitchFamily="2" charset="0"/>
              </a:rPr>
              <a:t>₹ 2.31</a:t>
            </a:r>
          </a:p>
        </p:txBody>
      </p:sp>
      <p:pic>
        <p:nvPicPr>
          <p:cNvPr id="91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3">
            <a:alphaModFix/>
          </a:blip>
          <a:stretch/>
        </p:blipFill>
        <p:spPr>
          <a:xfrm>
            <a:off x="9014942" y="7169718"/>
            <a:ext cx="1428750" cy="1162050"/>
          </a:xfrm>
          <a:prstGeom prst="rect">
            <a:avLst/>
          </a:prstGeom>
        </p:spPr>
      </p:pic>
      <p:sp>
        <p:nvSpPr>
          <p:cNvPr id="919" name="Description of a primary heading-4,7">
            <a:extLst>
              <a:ext uri="{FF2B5EF4-FFF2-40B4-BE49-F238E27FC236}">
                <a16:creationId xmlns:a16="http://schemas.microsoft.com/office/drawing/2014/main" id="{111B4A49-B930-4A89-A1CD-6CA2B3D95AED}"/>
              </a:ext>
            </a:extLst>
          </p:cNvPr>
          <p:cNvSpPr txBox="1"/>
          <p:nvPr/>
        </p:nvSpPr>
        <p:spPr>
          <a:xfrm>
            <a:off x="9399657" y="5330081"/>
            <a:ext cx="638175" cy="352425"/>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DEDCE1">
                    <a:alpha val="100000"/>
                  </a:srgbClr>
                </a:solidFill>
                <a:latin typeface="Montserrat Light" panose="00000700000000000000" pitchFamily="2" charset="0"/>
              </a:rPr>
              <a:t>5.0%</a:t>
            </a:r>
          </a:p>
        </p:txBody>
      </p:sp>
      <p:sp>
        <p:nvSpPr>
          <p:cNvPr id="921" name="Description of a primary heading-5,0">
            <a:extLst>
              <a:ext uri="{FF2B5EF4-FFF2-40B4-BE49-F238E27FC236}">
                <a16:creationId xmlns:a16="http://schemas.microsoft.com/office/drawing/2014/main" id="{111B4A49-B930-4A89-A1CD-6CA2B3D95AED}"/>
              </a:ext>
            </a:extLst>
          </p:cNvPr>
          <p:cNvSpPr txBox="1"/>
          <p:nvPr/>
        </p:nvSpPr>
        <p:spPr>
          <a:xfrm>
            <a:off x="1264920" y="6430471"/>
            <a:ext cx="1295400" cy="352425"/>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D8D6DC">
                    <a:alpha val="100000"/>
                  </a:srgbClr>
                </a:solidFill>
                <a:latin typeface="Montserrat Light" panose="00000700000000000000" pitchFamily="2" charset="0"/>
              </a:rPr>
              <a:t>2023-2024</a:t>
            </a:r>
          </a:p>
        </p:txBody>
      </p:sp>
      <p:sp>
        <p:nvSpPr>
          <p:cNvPr id="923" name="Description of a primary heading-5,1">
            <a:extLst>
              <a:ext uri="{FF2B5EF4-FFF2-40B4-BE49-F238E27FC236}">
                <a16:creationId xmlns:a16="http://schemas.microsoft.com/office/drawing/2014/main" id="{111B4A49-B930-4A89-A1CD-6CA2B3D95AED}"/>
              </a:ext>
            </a:extLst>
          </p:cNvPr>
          <p:cNvSpPr txBox="1"/>
          <p:nvPr/>
        </p:nvSpPr>
        <p:spPr>
          <a:xfrm>
            <a:off x="3126867" y="6448306"/>
            <a:ext cx="1771650" cy="316753"/>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D8D6DC">
                    <a:alpha val="100000"/>
                  </a:srgbClr>
                </a:solidFill>
                <a:latin typeface="Montserrat Light" panose="00000700000000000000" pitchFamily="2" charset="0"/>
              </a:rPr>
              <a:t>₹ 28.70</a:t>
            </a:r>
          </a:p>
        </p:txBody>
      </p:sp>
      <p:sp>
        <p:nvSpPr>
          <p:cNvPr id="927" name="Description of a primary heading-5,3">
            <a:extLst>
              <a:ext uri="{FF2B5EF4-FFF2-40B4-BE49-F238E27FC236}">
                <a16:creationId xmlns:a16="http://schemas.microsoft.com/office/drawing/2014/main" id="{111B4A49-B930-4A89-A1CD-6CA2B3D95AED}"/>
              </a:ext>
            </a:extLst>
          </p:cNvPr>
          <p:cNvSpPr txBox="1"/>
          <p:nvPr/>
        </p:nvSpPr>
        <p:spPr>
          <a:xfrm>
            <a:off x="5232627" y="6448306"/>
            <a:ext cx="1600200" cy="316753"/>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D8D6DC">
                    <a:alpha val="100000"/>
                  </a:srgbClr>
                </a:solidFill>
                <a:latin typeface="Montserrat Light" panose="00000700000000000000" pitchFamily="2" charset="0"/>
              </a:rPr>
              <a:t>₹ 2.12</a:t>
            </a:r>
          </a:p>
        </p:txBody>
      </p:sp>
      <p:sp>
        <p:nvSpPr>
          <p:cNvPr id="933" name="Description of a primary heading-5,6">
            <a:extLst>
              <a:ext uri="{FF2B5EF4-FFF2-40B4-BE49-F238E27FC236}">
                <a16:creationId xmlns:a16="http://schemas.microsoft.com/office/drawing/2014/main" id="{111B4A49-B930-4A89-A1CD-6CA2B3D95AED}"/>
              </a:ext>
            </a:extLst>
          </p:cNvPr>
          <p:cNvSpPr txBox="1"/>
          <p:nvPr/>
        </p:nvSpPr>
        <p:spPr>
          <a:xfrm>
            <a:off x="7163282" y="6420597"/>
            <a:ext cx="1695450" cy="316753"/>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D8D6DC">
                    <a:alpha val="100000"/>
                  </a:srgbClr>
                </a:solidFill>
                <a:latin typeface="Montserrat Light" panose="00000700000000000000" pitchFamily="2" charset="0"/>
              </a:rPr>
              <a:t>₹ 4.50</a:t>
            </a:r>
          </a:p>
        </p:txBody>
      </p:sp>
      <p:sp>
        <p:nvSpPr>
          <p:cNvPr id="935" name="Description of a primary heading-5,7">
            <a:extLst>
              <a:ext uri="{FF2B5EF4-FFF2-40B4-BE49-F238E27FC236}">
                <a16:creationId xmlns:a16="http://schemas.microsoft.com/office/drawing/2014/main" id="{111B4A49-B930-4A89-A1CD-6CA2B3D95AED}"/>
              </a:ext>
            </a:extLst>
          </p:cNvPr>
          <p:cNvSpPr txBox="1"/>
          <p:nvPr/>
        </p:nvSpPr>
        <p:spPr>
          <a:xfrm>
            <a:off x="9410611" y="6375051"/>
            <a:ext cx="619125" cy="352425"/>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D8D6DC">
                    <a:alpha val="100000"/>
                  </a:srgbClr>
                </a:solidFill>
                <a:latin typeface="Montserrat Light" panose="00000700000000000000" pitchFamily="2" charset="0"/>
              </a:rPr>
              <a:t>7.2%</a:t>
            </a:r>
          </a:p>
        </p:txBody>
      </p:sp>
      <p:sp>
        <p:nvSpPr>
          <p:cNvPr id="936" name="Click here to edit title-410">
            <a:extLst>
              <a:ext uri="{FF2B5EF4-FFF2-40B4-BE49-F238E27FC236}">
                <a16:creationId xmlns:a16="http://schemas.microsoft.com/office/drawing/2014/main" id="{111B4A49-B930-4A89-A1CD-6CA2B3D95AED}"/>
              </a:ext>
            </a:extLst>
          </p:cNvPr>
          <p:cNvSpPr txBox="1"/>
          <p:nvPr/>
        </p:nvSpPr>
        <p:spPr>
          <a:xfrm>
            <a:off x="1219200" y="923925"/>
            <a:ext cx="15992475" cy="676275"/>
          </a:xfrm>
          <a:prstGeom prst="rect">
            <a:avLst/>
          </a:prstGeom>
          <a:noFill/>
        </p:spPr>
        <p:txBody>
          <a:bodyPr vertOverflow="clip" horzOverflow="clip" wrap="square" lIns="0" tIns="0" rIns="0" bIns="0" rtlCol="0" anchor="ctr">
            <a:spAutoFit/>
          </a:bodyPr>
          <a:lstStyle/>
          <a:p>
            <a:pPr algn="l">
              <a:lnSpc>
                <a:spcPts val="5250"/>
              </a:lnSpc>
            </a:pPr>
            <a:r>
              <a:rPr lang="en-US" sz="4200" spc="-84" dirty="0">
                <a:solidFill>
                  <a:srgbClr val="FFFFFF">
                    <a:alpha val="100000"/>
                  </a:srgbClr>
                </a:solidFill>
                <a:latin typeface="Montserrat Light" panose="00000700000000000000" pitchFamily="2" charset="0"/>
              </a:rPr>
              <a:t>Financials / P&amp;L Statement</a:t>
            </a:r>
          </a:p>
        </p:txBody>
      </p:sp>
      <p:sp>
        <p:nvSpPr>
          <p:cNvPr id="937" name="Click here to edit subtitle-430">
            <a:extLst>
              <a:ext uri="{FF2B5EF4-FFF2-40B4-BE49-F238E27FC236}">
                <a16:creationId xmlns:a16="http://schemas.microsoft.com/office/drawing/2014/main" id="{111B4A49-B930-4A89-A1CD-6CA2B3D95AED}"/>
              </a:ext>
            </a:extLst>
          </p:cNvPr>
          <p:cNvSpPr txBox="1"/>
          <p:nvPr/>
        </p:nvSpPr>
        <p:spPr>
          <a:xfrm>
            <a:off x="1219200" y="1808460"/>
            <a:ext cx="15992475" cy="345479"/>
          </a:xfrm>
          <a:prstGeom prst="rect">
            <a:avLst/>
          </a:prstGeom>
          <a:noFill/>
        </p:spPr>
        <p:txBody>
          <a:bodyPr vertOverflow="clip" horzOverflow="clip" wrap="square" lIns="0" tIns="0" rIns="0" bIns="0" rtlCol="0" anchor="ctr">
            <a:spAutoFit/>
          </a:bodyPr>
          <a:lstStyle/>
          <a:p>
            <a:pPr algn="l">
              <a:lnSpc>
                <a:spcPts val="2919"/>
              </a:lnSpc>
            </a:pPr>
            <a:r>
              <a:rPr lang="en-US" sz="2100" spc="-21" dirty="0">
                <a:solidFill>
                  <a:srgbClr val="FFFFFF">
                    <a:alpha val="100000"/>
                  </a:srgbClr>
                </a:solidFill>
                <a:latin typeface="Montserrat Light" panose="00000700000000000000" pitchFamily="2" charset="0"/>
              </a:rPr>
              <a:t>Summary of Financial Performance (Amount in Crores)</a:t>
            </a:r>
          </a:p>
        </p:txBody>
      </p:sp>
      <p:sp>
        <p:nvSpPr>
          <p:cNvPr id="938" name="Click here to edit label-476">
            <a:extLst>
              <a:ext uri="{FF2B5EF4-FFF2-40B4-BE49-F238E27FC236}">
                <a16:creationId xmlns:a16="http://schemas.microsoft.com/office/drawing/2014/main" id="{111B4A49-B930-4A89-A1CD-6CA2B3D95AED}"/>
              </a:ext>
            </a:extLst>
          </p:cNvPr>
          <p:cNvSpPr txBox="1"/>
          <p:nvPr/>
        </p:nvSpPr>
        <p:spPr>
          <a:xfrm>
            <a:off x="1219200" y="571500"/>
            <a:ext cx="15992475" cy="295275"/>
          </a:xfrm>
          <a:prstGeom prst="rect">
            <a:avLst/>
          </a:prstGeom>
          <a:noFill/>
        </p:spPr>
        <p:txBody>
          <a:bodyPr vertOverflow="clip" horzOverflow="clip" wrap="square" lIns="0" tIns="0" rIns="0" bIns="0" rtlCol="0" anchor="ctr">
            <a:spAutoFit/>
          </a:bodyPr>
          <a:lstStyle/>
          <a:p>
            <a:pPr algn="l">
              <a:lnSpc>
                <a:spcPts val="2196"/>
              </a:lnSpc>
            </a:pPr>
            <a:r>
              <a:rPr lang="en-US" sz="1800" spc="990" dirty="0">
                <a:solidFill>
                  <a:srgbClr val="FFFFFF">
                    <a:alpha val="100000"/>
                  </a:srgbClr>
                </a:solidFill>
                <a:latin typeface="Montserrat" panose="00000700000000000000" pitchFamily="2" charset="0"/>
              </a:rPr>
              <a:t>FINANCIAL PERFORMANCE OVERVIEW</a:t>
            </a:r>
          </a:p>
        </p:txBody>
      </p:sp>
      <p:pic>
        <p:nvPicPr>
          <p:cNvPr id="93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4">
            <a:alphaModFix/>
          </a:blip>
          <a:stretch/>
        </p:blipFill>
        <p:spPr>
          <a:xfrm>
            <a:off x="590550" y="571500"/>
            <a:ext cx="19050" cy="1590675"/>
          </a:xfrm>
          <a:prstGeom prst="rect">
            <a:avLst/>
          </a:prstGeom>
        </p:spPr>
      </p:pic>
      <p:graphicFrame>
        <p:nvGraphicFramePr>
          <p:cNvPr id="5" name="Chart 4">
            <a:extLst>
              <a:ext uri="{FF2B5EF4-FFF2-40B4-BE49-F238E27FC236}">
                <a16:creationId xmlns:a16="http://schemas.microsoft.com/office/drawing/2014/main" id="{16C77A50-F5C7-6AAF-8652-EA1F9A94C11F}"/>
              </a:ext>
            </a:extLst>
          </p:cNvPr>
          <p:cNvGraphicFramePr>
            <a:graphicFrameLocks/>
          </p:cNvGraphicFramePr>
          <p:nvPr>
            <p:extLst>
              <p:ext uri="{D42A27DB-BD31-4B8C-83A1-F6EECF244321}">
                <p14:modId xmlns:p14="http://schemas.microsoft.com/office/powerpoint/2010/main" val="1239668664"/>
              </p:ext>
            </p:extLst>
          </p:nvPr>
        </p:nvGraphicFramePr>
        <p:xfrm>
          <a:off x="11160442" y="4132070"/>
          <a:ext cx="4572000" cy="2743200"/>
        </p:xfrm>
        <a:graphic>
          <a:graphicData uri="http://schemas.openxmlformats.org/drawingml/2006/chart">
            <c:chart xmlns:c="http://schemas.openxmlformats.org/drawingml/2006/chart" xmlns:r="http://schemas.openxmlformats.org/officeDocument/2006/relationships" r:id="rId15"/>
          </a:graphicData>
        </a:graphic>
      </p:graphicFrame>
      <p:graphicFrame>
        <p:nvGraphicFramePr>
          <p:cNvPr id="6" name="Chart 5">
            <a:extLst>
              <a:ext uri="{FF2B5EF4-FFF2-40B4-BE49-F238E27FC236}">
                <a16:creationId xmlns:a16="http://schemas.microsoft.com/office/drawing/2014/main" id="{0B54D120-10DC-C75C-191F-1260AC970C49}"/>
              </a:ext>
            </a:extLst>
          </p:cNvPr>
          <p:cNvGraphicFramePr>
            <a:graphicFrameLocks/>
          </p:cNvGraphicFramePr>
          <p:nvPr>
            <p:extLst>
              <p:ext uri="{D42A27DB-BD31-4B8C-83A1-F6EECF244321}">
                <p14:modId xmlns:p14="http://schemas.microsoft.com/office/powerpoint/2010/main" val="3186547799"/>
              </p:ext>
            </p:extLst>
          </p:nvPr>
        </p:nvGraphicFramePr>
        <p:xfrm>
          <a:off x="11157623" y="1300676"/>
          <a:ext cx="4572000" cy="2743200"/>
        </p:xfrm>
        <a:graphic>
          <a:graphicData uri="http://schemas.openxmlformats.org/drawingml/2006/chart">
            <c:chart xmlns:c="http://schemas.openxmlformats.org/drawingml/2006/chart" xmlns:r="http://schemas.openxmlformats.org/officeDocument/2006/relationships" r:id="rId16"/>
          </a:graphicData>
        </a:graphic>
      </p:graphicFrame>
      <p:graphicFrame>
        <p:nvGraphicFramePr>
          <p:cNvPr id="7" name="Chart 6">
            <a:extLst>
              <a:ext uri="{FF2B5EF4-FFF2-40B4-BE49-F238E27FC236}">
                <a16:creationId xmlns:a16="http://schemas.microsoft.com/office/drawing/2014/main" id="{EDDD275F-D9F2-B323-4928-69448DDF8668}"/>
              </a:ext>
            </a:extLst>
          </p:cNvPr>
          <p:cNvGraphicFramePr>
            <a:graphicFrameLocks/>
          </p:cNvGraphicFramePr>
          <p:nvPr>
            <p:extLst>
              <p:ext uri="{D42A27DB-BD31-4B8C-83A1-F6EECF244321}">
                <p14:modId xmlns:p14="http://schemas.microsoft.com/office/powerpoint/2010/main" val="3808608044"/>
              </p:ext>
            </p:extLst>
          </p:nvPr>
        </p:nvGraphicFramePr>
        <p:xfrm>
          <a:off x="11158117" y="6922473"/>
          <a:ext cx="4572000" cy="2743200"/>
        </p:xfrm>
        <a:graphic>
          <a:graphicData uri="http://schemas.openxmlformats.org/drawingml/2006/chart">
            <c:chart xmlns:c="http://schemas.openxmlformats.org/drawingml/2006/chart" xmlns:r="http://schemas.openxmlformats.org/officeDocument/2006/relationships" r:id="rId17"/>
          </a:graphicData>
        </a:graphic>
      </p:graphicFrame>
      <p:sp>
        <p:nvSpPr>
          <p:cNvPr id="3" name="Description of a primary heading-5,0">
            <a:extLst>
              <a:ext uri="{FF2B5EF4-FFF2-40B4-BE49-F238E27FC236}">
                <a16:creationId xmlns:a16="http://schemas.microsoft.com/office/drawing/2014/main" id="{CE771B9C-1778-215B-F2B9-AF39EA774CB5}"/>
              </a:ext>
            </a:extLst>
          </p:cNvPr>
          <p:cNvSpPr txBox="1"/>
          <p:nvPr/>
        </p:nvSpPr>
        <p:spPr>
          <a:xfrm>
            <a:off x="1303070" y="7528640"/>
            <a:ext cx="1295400" cy="316753"/>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D8D6DC">
                    <a:alpha val="100000"/>
                  </a:srgbClr>
                </a:solidFill>
                <a:latin typeface="Montserrat Light" panose="00000700000000000000" pitchFamily="2" charset="0"/>
              </a:rPr>
              <a:t>2024-2025</a:t>
            </a:r>
          </a:p>
        </p:txBody>
      </p:sp>
      <p:sp>
        <p:nvSpPr>
          <p:cNvPr id="4" name="Description of a primary heading-5,1">
            <a:extLst>
              <a:ext uri="{FF2B5EF4-FFF2-40B4-BE49-F238E27FC236}">
                <a16:creationId xmlns:a16="http://schemas.microsoft.com/office/drawing/2014/main" id="{A6DDAE67-007E-2EC6-016C-57293DCEF44F}"/>
              </a:ext>
            </a:extLst>
          </p:cNvPr>
          <p:cNvSpPr txBox="1"/>
          <p:nvPr/>
        </p:nvSpPr>
        <p:spPr>
          <a:xfrm>
            <a:off x="3165017" y="7584060"/>
            <a:ext cx="1771650" cy="316753"/>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D8D6DC">
                    <a:alpha val="100000"/>
                  </a:srgbClr>
                </a:solidFill>
                <a:latin typeface="Montserrat Light" panose="00000700000000000000" pitchFamily="2" charset="0"/>
              </a:rPr>
              <a:t>₹ </a:t>
            </a:r>
            <a:r>
              <a:rPr lang="en-US" spc="-18" dirty="0">
                <a:solidFill>
                  <a:srgbClr val="D8D6DC">
                    <a:alpha val="100000"/>
                  </a:srgbClr>
                </a:solidFill>
                <a:latin typeface="Montserrat Light" panose="00000700000000000000" pitchFamily="2" charset="0"/>
              </a:rPr>
              <a:t>35</a:t>
            </a:r>
            <a:r>
              <a:rPr lang="en-US" sz="1800" spc="-18" dirty="0">
                <a:solidFill>
                  <a:srgbClr val="D8D6DC">
                    <a:alpha val="100000"/>
                  </a:srgbClr>
                </a:solidFill>
                <a:latin typeface="Montserrat Light" panose="00000700000000000000" pitchFamily="2" charset="0"/>
              </a:rPr>
              <a:t>.</a:t>
            </a:r>
            <a:r>
              <a:rPr lang="en-US" spc="-18" dirty="0">
                <a:solidFill>
                  <a:srgbClr val="D8D6DC">
                    <a:alpha val="100000"/>
                  </a:srgbClr>
                </a:solidFill>
                <a:latin typeface="Montserrat Light" panose="00000700000000000000" pitchFamily="2" charset="0"/>
              </a:rPr>
              <a:t>3</a:t>
            </a:r>
            <a:r>
              <a:rPr lang="en-US" sz="1800" spc="-18" dirty="0">
                <a:solidFill>
                  <a:srgbClr val="D8D6DC">
                    <a:alpha val="100000"/>
                  </a:srgbClr>
                </a:solidFill>
                <a:latin typeface="Montserrat Light" panose="00000700000000000000" pitchFamily="2" charset="0"/>
              </a:rPr>
              <a:t>0</a:t>
            </a:r>
          </a:p>
        </p:txBody>
      </p:sp>
      <p:sp>
        <p:nvSpPr>
          <p:cNvPr id="8" name="Description of a primary heading-5,3">
            <a:extLst>
              <a:ext uri="{FF2B5EF4-FFF2-40B4-BE49-F238E27FC236}">
                <a16:creationId xmlns:a16="http://schemas.microsoft.com/office/drawing/2014/main" id="{F7760804-563F-77F0-40A6-747981A77F5C}"/>
              </a:ext>
            </a:extLst>
          </p:cNvPr>
          <p:cNvSpPr txBox="1"/>
          <p:nvPr/>
        </p:nvSpPr>
        <p:spPr>
          <a:xfrm>
            <a:off x="5270777" y="7611791"/>
            <a:ext cx="1600200" cy="316753"/>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D8D6DC">
                    <a:alpha val="100000"/>
                  </a:srgbClr>
                </a:solidFill>
                <a:latin typeface="Montserrat Light" panose="00000700000000000000" pitchFamily="2" charset="0"/>
              </a:rPr>
              <a:t>₹ 2.07</a:t>
            </a:r>
          </a:p>
        </p:txBody>
      </p:sp>
      <p:sp>
        <p:nvSpPr>
          <p:cNvPr id="9" name="Description of a primary heading-5,6">
            <a:extLst>
              <a:ext uri="{FF2B5EF4-FFF2-40B4-BE49-F238E27FC236}">
                <a16:creationId xmlns:a16="http://schemas.microsoft.com/office/drawing/2014/main" id="{2EB4C439-C574-F611-3991-C70A7B40A1A5}"/>
              </a:ext>
            </a:extLst>
          </p:cNvPr>
          <p:cNvSpPr txBox="1"/>
          <p:nvPr/>
        </p:nvSpPr>
        <p:spPr>
          <a:xfrm>
            <a:off x="7201432" y="7625625"/>
            <a:ext cx="1695450" cy="316753"/>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D8D6DC">
                    <a:alpha val="100000"/>
                  </a:srgbClr>
                </a:solidFill>
                <a:latin typeface="Montserrat Light" panose="00000700000000000000" pitchFamily="2" charset="0"/>
              </a:rPr>
              <a:t>₹ 4.50</a:t>
            </a:r>
          </a:p>
        </p:txBody>
      </p:sp>
      <p:sp>
        <p:nvSpPr>
          <p:cNvPr id="10" name="Description of a primary heading-5,7">
            <a:extLst>
              <a:ext uri="{FF2B5EF4-FFF2-40B4-BE49-F238E27FC236}">
                <a16:creationId xmlns:a16="http://schemas.microsoft.com/office/drawing/2014/main" id="{8FE83D88-C8DD-4FBB-D2D6-2D1120575619}"/>
              </a:ext>
            </a:extLst>
          </p:cNvPr>
          <p:cNvSpPr txBox="1"/>
          <p:nvPr/>
        </p:nvSpPr>
        <p:spPr>
          <a:xfrm>
            <a:off x="9448761" y="7625625"/>
            <a:ext cx="619125" cy="316753"/>
          </a:xfrm>
          <a:prstGeom prst="rect">
            <a:avLst/>
          </a:prstGeom>
          <a:noFill/>
        </p:spPr>
        <p:txBody>
          <a:bodyPr vertOverflow="clip" horzOverflow="clip" wrap="square" lIns="0" tIns="0" rIns="0" bIns="0" rtlCol="0" anchor="ctr">
            <a:spAutoFit/>
          </a:bodyPr>
          <a:lstStyle/>
          <a:p>
            <a:pPr algn="ctr">
              <a:lnSpc>
                <a:spcPts val="2700"/>
              </a:lnSpc>
            </a:pPr>
            <a:r>
              <a:rPr lang="en-US" spc="-18" dirty="0">
                <a:solidFill>
                  <a:srgbClr val="D8D6DC">
                    <a:alpha val="100000"/>
                  </a:srgbClr>
                </a:solidFill>
                <a:latin typeface="Montserrat Light" panose="00000700000000000000" pitchFamily="2" charset="0"/>
              </a:rPr>
              <a:t>5.2</a:t>
            </a:r>
            <a:r>
              <a:rPr lang="en-US" sz="1800" spc="-18" dirty="0">
                <a:solidFill>
                  <a:srgbClr val="D8D6DC">
                    <a:alpha val="100000"/>
                  </a:srgbClr>
                </a:solidFill>
                <a:latin typeface="Montserrat Light" panose="00000700000000000000" pitchFamily="2" charset="0"/>
              </a:rPr>
              <a:t>%</a:t>
            </a:r>
          </a:p>
        </p:txBody>
      </p:sp>
    </p:spTree>
    <p:extLst>
      <p:ext uri="{BB962C8B-B14F-4D97-AF65-F5344CB8AC3E}">
        <p14:creationId xmlns:p14="http://schemas.microsoft.com/office/powerpoint/2010/main" val="36480479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4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0" y="0"/>
            <a:ext cx="18288000" cy="10287000"/>
          </a:xfrm>
          <a:prstGeom prst="rect">
            <a:avLst/>
          </a:prstGeom>
        </p:spPr>
      </p:pic>
      <p:pic>
        <p:nvPicPr>
          <p:cNvPr id="943" name="b2aa6229-e144-4dcf-afbc-e1e76b1e42da">
            <a:extLst>
              <a:ext uri="{FF2B5EF4-FFF2-40B4-BE49-F238E27FC236}">
                <a16:creationId xmlns:a16="http://schemas.microsoft.com/office/drawing/2014/main" id="{A8642F66-C0BB-4949-9A9C-024B120A5D52}"/>
              </a:ext>
            </a:extLst>
          </p:cNvPr>
          <p:cNvPicPr preferRelativeResize="0">
            <a:picLocks noChangeAspect="1"/>
          </p:cNvPicPr>
          <p:nvPr/>
        </p:nvPicPr>
        <p:blipFill rotWithShape="1">
          <a:blip r:embed="rId3">
            <a:alphaModFix/>
          </a:blip>
          <a:stretch/>
        </p:blipFill>
        <p:spPr>
          <a:xfrm>
            <a:off x="0" y="0"/>
            <a:ext cx="18288000" cy="10287000"/>
          </a:xfrm>
          <a:prstGeom prst="rect">
            <a:avLst/>
          </a:prstGeom>
        </p:spPr>
      </p:pic>
      <p:pic>
        <p:nvPicPr>
          <p:cNvPr id="94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mt="70000"/>
          </a:blip>
          <a:stretch/>
        </p:blipFill>
        <p:spPr>
          <a:xfrm>
            <a:off x="0" y="0"/>
            <a:ext cx="18288000" cy="10287000"/>
          </a:xfrm>
          <a:prstGeom prst="rect">
            <a:avLst/>
          </a:prstGeom>
        </p:spPr>
      </p:pic>
      <p:sp>
        <p:nvSpPr>
          <p:cNvPr id="945" name="Click here to edit title-423">
            <a:extLst>
              <a:ext uri="{FF2B5EF4-FFF2-40B4-BE49-F238E27FC236}">
                <a16:creationId xmlns:a16="http://schemas.microsoft.com/office/drawing/2014/main" id="{111B4A49-B930-4A89-A1CD-6CA2B3D95AED}"/>
              </a:ext>
            </a:extLst>
          </p:cNvPr>
          <p:cNvSpPr txBox="1"/>
          <p:nvPr/>
        </p:nvSpPr>
        <p:spPr>
          <a:xfrm>
            <a:off x="609600" y="914400"/>
            <a:ext cx="17211675" cy="676275"/>
          </a:xfrm>
          <a:prstGeom prst="rect">
            <a:avLst/>
          </a:prstGeom>
          <a:noFill/>
        </p:spPr>
        <p:txBody>
          <a:bodyPr vertOverflow="clip" horzOverflow="clip" wrap="square" lIns="0" tIns="0" rIns="0" bIns="0" rtlCol="0" anchor="ctr">
            <a:spAutoFit/>
          </a:bodyPr>
          <a:lstStyle/>
          <a:p>
            <a:pPr algn="l">
              <a:lnSpc>
                <a:spcPts val="5250"/>
              </a:lnSpc>
            </a:pPr>
            <a:r>
              <a:rPr lang="en-US" sz="4200" spc="-84" dirty="0">
                <a:solidFill>
                  <a:srgbClr val="FFFFFF">
                    <a:alpha val="100000"/>
                  </a:srgbClr>
                </a:solidFill>
                <a:latin typeface="Montserrat Light" panose="00000700000000000000" pitchFamily="2" charset="0"/>
              </a:rPr>
              <a:t>Ask and Use of Funds</a:t>
            </a:r>
          </a:p>
        </p:txBody>
      </p:sp>
      <p:sp>
        <p:nvSpPr>
          <p:cNvPr id="946" name="Click here to edit subtitle-407">
            <a:extLst>
              <a:ext uri="{FF2B5EF4-FFF2-40B4-BE49-F238E27FC236}">
                <a16:creationId xmlns:a16="http://schemas.microsoft.com/office/drawing/2014/main" id="{111B4A49-B930-4A89-A1CD-6CA2B3D95AED}"/>
              </a:ext>
            </a:extLst>
          </p:cNvPr>
          <p:cNvSpPr txBox="1"/>
          <p:nvPr/>
        </p:nvSpPr>
        <p:spPr>
          <a:xfrm>
            <a:off x="609600" y="2037060"/>
            <a:ext cx="17211675" cy="345479"/>
          </a:xfrm>
          <a:prstGeom prst="rect">
            <a:avLst/>
          </a:prstGeom>
          <a:noFill/>
        </p:spPr>
        <p:txBody>
          <a:bodyPr vertOverflow="clip" horzOverflow="clip" wrap="square" lIns="0" tIns="0" rIns="0" bIns="0" rtlCol="0" anchor="ctr">
            <a:spAutoFit/>
          </a:bodyPr>
          <a:lstStyle/>
          <a:p>
            <a:pPr algn="l">
              <a:lnSpc>
                <a:spcPts val="2919"/>
              </a:lnSpc>
            </a:pPr>
            <a:r>
              <a:rPr lang="en-US" sz="2100" spc="-21" dirty="0">
                <a:solidFill>
                  <a:srgbClr val="FFFFFF">
                    <a:alpha val="100000"/>
                  </a:srgbClr>
                </a:solidFill>
                <a:latin typeface="Montserrat Light" panose="00000700000000000000" pitchFamily="2" charset="0"/>
              </a:rPr>
              <a:t>Allocation of INR 23.75 Crores for Expansion</a:t>
            </a:r>
          </a:p>
        </p:txBody>
      </p:sp>
      <p:sp>
        <p:nvSpPr>
          <p:cNvPr id="947" name="Click here to edit label-479">
            <a:extLst>
              <a:ext uri="{FF2B5EF4-FFF2-40B4-BE49-F238E27FC236}">
                <a16:creationId xmlns:a16="http://schemas.microsoft.com/office/drawing/2014/main" id="{111B4A49-B930-4A89-A1CD-6CA2B3D95AED}"/>
              </a:ext>
            </a:extLst>
          </p:cNvPr>
          <p:cNvSpPr txBox="1"/>
          <p:nvPr/>
        </p:nvSpPr>
        <p:spPr>
          <a:xfrm>
            <a:off x="609600" y="571500"/>
            <a:ext cx="17211675" cy="295275"/>
          </a:xfrm>
          <a:prstGeom prst="rect">
            <a:avLst/>
          </a:prstGeom>
          <a:noFill/>
        </p:spPr>
        <p:txBody>
          <a:bodyPr vertOverflow="clip" horzOverflow="clip" wrap="square" lIns="0" tIns="0" rIns="0" bIns="0" rtlCol="0" anchor="ctr">
            <a:spAutoFit/>
          </a:bodyPr>
          <a:lstStyle/>
          <a:p>
            <a:pPr algn="l">
              <a:lnSpc>
                <a:spcPts val="2196"/>
              </a:lnSpc>
            </a:pPr>
            <a:r>
              <a:rPr lang="en-US" sz="1800" spc="990" dirty="0">
                <a:solidFill>
                  <a:srgbClr val="FFFFFF">
                    <a:alpha val="100000"/>
                  </a:srgbClr>
                </a:solidFill>
                <a:latin typeface="Montserrat" panose="00000700000000000000" pitchFamily="2" charset="0"/>
              </a:rPr>
              <a:t>FUNDS ALLOCATION BREAKDOWN</a:t>
            </a:r>
          </a:p>
        </p:txBody>
      </p:sp>
      <p:pic>
        <p:nvPicPr>
          <p:cNvPr id="94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609600" y="3162300"/>
            <a:ext cx="8439150" cy="3181350"/>
          </a:xfrm>
          <a:prstGeom prst="rect">
            <a:avLst/>
          </a:prstGeom>
          <a:effectLst>
            <a:outerShdw blurRad="285750" dir="2700000" algn="ctr" rotWithShape="0">
              <a:srgbClr val="000000">
                <a:alpha val="40000"/>
              </a:srgbClr>
            </a:outerShdw>
          </a:effectLst>
        </p:spPr>
      </p:pic>
      <p:pic>
        <p:nvPicPr>
          <p:cNvPr id="94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609600" y="3162300"/>
            <a:ext cx="8439150" cy="762000"/>
          </a:xfrm>
          <a:prstGeom prst="rect">
            <a:avLst/>
          </a:prstGeom>
        </p:spPr>
      </p:pic>
      <p:sp>
        <p:nvSpPr>
          <p:cNvPr id="950" name="Primary Heading-0">
            <a:extLst>
              <a:ext uri="{FF2B5EF4-FFF2-40B4-BE49-F238E27FC236}">
                <a16:creationId xmlns:a16="http://schemas.microsoft.com/office/drawing/2014/main" id="{111B4A49-B930-4A89-A1CD-6CA2B3D95AED}"/>
              </a:ext>
            </a:extLst>
          </p:cNvPr>
          <p:cNvSpPr txBox="1"/>
          <p:nvPr/>
        </p:nvSpPr>
        <p:spPr>
          <a:xfrm>
            <a:off x="914400" y="3332414"/>
            <a:ext cx="7972425" cy="355097"/>
          </a:xfrm>
          <a:prstGeom prst="rect">
            <a:avLst/>
          </a:prstGeom>
          <a:noFill/>
        </p:spPr>
        <p:txBody>
          <a:bodyPr vertOverflow="clip" horzOverflow="clip" wrap="square" lIns="0" tIns="0" rIns="0" bIns="0" rtlCol="0" anchor="ctr">
            <a:spAutoFit/>
          </a:bodyPr>
          <a:lstStyle/>
          <a:p>
            <a:pPr algn="ctr">
              <a:lnSpc>
                <a:spcPts val="2982"/>
              </a:lnSpc>
            </a:pPr>
            <a:r>
              <a:rPr lang="en-US" sz="2100" b="1" spc="-32" dirty="0">
                <a:solidFill>
                  <a:srgbClr val="15092E">
                    <a:alpha val="100000"/>
                  </a:srgbClr>
                </a:solidFill>
                <a:latin typeface="Montserrat" panose="00000700000000000000" pitchFamily="2" charset="0"/>
              </a:rPr>
              <a:t>Factory Land &amp; Building in </a:t>
            </a:r>
            <a:r>
              <a:rPr lang="en-US" sz="2100" b="1" spc="-32" dirty="0" err="1">
                <a:solidFill>
                  <a:srgbClr val="15092E">
                    <a:alpha val="100000"/>
                  </a:srgbClr>
                </a:solidFill>
                <a:latin typeface="Montserrat" panose="00000700000000000000" pitchFamily="2" charset="0"/>
              </a:rPr>
              <a:t>Ambernath</a:t>
            </a:r>
            <a:r>
              <a:rPr lang="en-US" sz="2100" b="1" spc="-32" dirty="0">
                <a:solidFill>
                  <a:srgbClr val="15092E">
                    <a:alpha val="100000"/>
                  </a:srgbClr>
                </a:solidFill>
                <a:latin typeface="Montserrat" panose="00000700000000000000" pitchFamily="2" charset="0"/>
              </a:rPr>
              <a:t> (8.9 Crores)</a:t>
            </a:r>
          </a:p>
        </p:txBody>
      </p:sp>
      <p:pic>
        <p:nvPicPr>
          <p:cNvPr id="951"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895350" y="4343400"/>
            <a:ext cx="1504950" cy="1504950"/>
          </a:xfrm>
          <a:prstGeom prst="rect">
            <a:avLst/>
          </a:prstGeom>
        </p:spPr>
      </p:pic>
      <p:pic>
        <p:nvPicPr>
          <p:cNvPr id="95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8">
            <a:alphaModFix/>
          </a:blip>
          <a:stretch/>
        </p:blipFill>
        <p:spPr>
          <a:xfrm>
            <a:off x="914400" y="4362450"/>
            <a:ext cx="1466850" cy="1466850"/>
          </a:xfrm>
          <a:prstGeom prst="rect">
            <a:avLst/>
          </a:prstGeom>
        </p:spPr>
      </p:pic>
      <p:pic>
        <p:nvPicPr>
          <p:cNvPr id="953" name="imageNode3d9aca69-cecb-4ae0-8934-b0370c131bce">
            <a:extLst>
              <a:ext uri="{FF2B5EF4-FFF2-40B4-BE49-F238E27FC236}">
                <a16:creationId xmlns:a16="http://schemas.microsoft.com/office/drawing/2014/main" id="{A8642F66-C0BB-4949-9A9C-024B120A5D52}"/>
              </a:ext>
            </a:extLst>
          </p:cNvPr>
          <p:cNvPicPr preferRelativeResize="0">
            <a:picLocks noChangeAspect="1"/>
          </p:cNvPicPr>
          <p:nvPr/>
        </p:nvPicPr>
        <p:blipFill rotWithShape="1">
          <a:blip r:embed="rId9">
            <a:alphaModFix/>
          </a:blip>
          <a:srcRect/>
          <a:stretch/>
        </p:blipFill>
        <p:spPr>
          <a:xfrm>
            <a:off x="1066800" y="4514850"/>
            <a:ext cx="1162050" cy="1162050"/>
          </a:xfrm>
          <a:prstGeom prst="rect">
            <a:avLst/>
          </a:prstGeom>
        </p:spPr>
      </p:pic>
      <p:sp>
        <p:nvSpPr>
          <p:cNvPr id="954" name="Description of a primary heading-0">
            <a:extLst>
              <a:ext uri="{FF2B5EF4-FFF2-40B4-BE49-F238E27FC236}">
                <a16:creationId xmlns:a16="http://schemas.microsoft.com/office/drawing/2014/main" id="{111B4A49-B930-4A89-A1CD-6CA2B3D95AED}"/>
              </a:ext>
            </a:extLst>
          </p:cNvPr>
          <p:cNvSpPr txBox="1"/>
          <p:nvPr/>
        </p:nvSpPr>
        <p:spPr>
          <a:xfrm>
            <a:off x="2691764" y="4508768"/>
            <a:ext cx="5288453" cy="1254511"/>
          </a:xfrm>
          <a:prstGeom prst="rect">
            <a:avLst/>
          </a:prstGeom>
          <a:noFill/>
        </p:spPr>
        <p:txBody>
          <a:bodyPr vertOverflow="clip" horzOverflow="clip" wrap="square" lIns="0" tIns="0" rIns="0" bIns="0" rtlCol="0" anchor="ctr">
            <a:spAutoFit/>
          </a:bodyPr>
          <a:lstStyle/>
          <a:p>
            <a:pPr algn="l">
              <a:lnSpc>
                <a:spcPts val="2475"/>
              </a:lnSpc>
            </a:pPr>
            <a:r>
              <a:rPr lang="en-US" sz="1650" spc="-15" dirty="0">
                <a:solidFill>
                  <a:srgbClr val="FFFFFF">
                    <a:alpha val="100000"/>
                  </a:srgbClr>
                </a:solidFill>
                <a:latin typeface="Montserrat Light" panose="00000700000000000000" pitchFamily="2" charset="0"/>
              </a:rPr>
              <a:t>Construction + Debt Reduction</a:t>
            </a:r>
          </a:p>
          <a:p>
            <a:pPr algn="l">
              <a:lnSpc>
                <a:spcPts val="2475"/>
              </a:lnSpc>
            </a:pPr>
            <a:endParaRPr lang="en-US" sz="1650" spc="-15" dirty="0">
              <a:solidFill>
                <a:srgbClr val="FFFFFF">
                  <a:alpha val="100000"/>
                </a:srgbClr>
              </a:solidFill>
              <a:latin typeface="Montserrat Light" panose="00000700000000000000" pitchFamily="2" charset="0"/>
            </a:endParaRPr>
          </a:p>
          <a:p>
            <a:pPr algn="l">
              <a:lnSpc>
                <a:spcPts val="2475"/>
              </a:lnSpc>
            </a:pPr>
            <a:r>
              <a:rPr lang="en-US" sz="1650" spc="-15" dirty="0">
                <a:solidFill>
                  <a:srgbClr val="FFFFFF">
                    <a:alpha val="100000"/>
                  </a:srgbClr>
                </a:solidFill>
                <a:latin typeface="Montserrat Light" panose="00000700000000000000" pitchFamily="2" charset="0"/>
              </a:rPr>
              <a:t>* Potential impact on bottom-line – 2 Crores / Year.</a:t>
            </a:r>
          </a:p>
          <a:p>
            <a:pPr algn="l">
              <a:lnSpc>
                <a:spcPts val="2475"/>
              </a:lnSpc>
            </a:pPr>
            <a:endParaRPr lang="en-US" sz="1650" spc="-15" dirty="0">
              <a:solidFill>
                <a:srgbClr val="FFFFFF">
                  <a:alpha val="100000"/>
                </a:srgbClr>
              </a:solidFill>
              <a:latin typeface="Montserrat Light" panose="00000700000000000000" pitchFamily="2" charset="0"/>
            </a:endParaRPr>
          </a:p>
        </p:txBody>
      </p:sp>
      <p:pic>
        <p:nvPicPr>
          <p:cNvPr id="95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9239250" y="3162300"/>
            <a:ext cx="8439150" cy="3181350"/>
          </a:xfrm>
          <a:prstGeom prst="rect">
            <a:avLst/>
          </a:prstGeom>
          <a:effectLst>
            <a:outerShdw blurRad="285750" dir="2700000" algn="ctr" rotWithShape="0">
              <a:srgbClr val="000000">
                <a:alpha val="40000"/>
              </a:srgbClr>
            </a:outerShdw>
          </a:effectLst>
        </p:spPr>
      </p:pic>
      <p:pic>
        <p:nvPicPr>
          <p:cNvPr id="95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0">
            <a:alphaModFix/>
          </a:blip>
          <a:stretch/>
        </p:blipFill>
        <p:spPr>
          <a:xfrm>
            <a:off x="9239250" y="3162300"/>
            <a:ext cx="8439150" cy="762000"/>
          </a:xfrm>
          <a:prstGeom prst="rect">
            <a:avLst/>
          </a:prstGeom>
        </p:spPr>
      </p:pic>
      <p:sp>
        <p:nvSpPr>
          <p:cNvPr id="957" name="Primary Heading-1">
            <a:extLst>
              <a:ext uri="{FF2B5EF4-FFF2-40B4-BE49-F238E27FC236}">
                <a16:creationId xmlns:a16="http://schemas.microsoft.com/office/drawing/2014/main" id="{111B4A49-B930-4A89-A1CD-6CA2B3D95AED}"/>
              </a:ext>
            </a:extLst>
          </p:cNvPr>
          <p:cNvSpPr txBox="1"/>
          <p:nvPr/>
        </p:nvSpPr>
        <p:spPr>
          <a:xfrm>
            <a:off x="9544050" y="3332414"/>
            <a:ext cx="7972425" cy="355097"/>
          </a:xfrm>
          <a:prstGeom prst="rect">
            <a:avLst/>
          </a:prstGeom>
          <a:noFill/>
        </p:spPr>
        <p:txBody>
          <a:bodyPr vertOverflow="clip" horzOverflow="clip" wrap="square" lIns="0" tIns="0" rIns="0" bIns="0" rtlCol="0" anchor="ctr">
            <a:spAutoFit/>
          </a:bodyPr>
          <a:lstStyle/>
          <a:p>
            <a:pPr algn="ctr">
              <a:lnSpc>
                <a:spcPts val="2982"/>
              </a:lnSpc>
            </a:pPr>
            <a:r>
              <a:rPr lang="en-US" sz="2100" b="1" spc="-32" dirty="0">
                <a:solidFill>
                  <a:srgbClr val="15092E">
                    <a:alpha val="100000"/>
                  </a:srgbClr>
                </a:solidFill>
                <a:latin typeface="Montserrat" panose="00000700000000000000" pitchFamily="2" charset="0"/>
              </a:rPr>
              <a:t>Investment in Machinery (7.8 Crores)</a:t>
            </a:r>
          </a:p>
        </p:txBody>
      </p:sp>
      <p:pic>
        <p:nvPicPr>
          <p:cNvPr id="95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1">
            <a:alphaModFix/>
          </a:blip>
          <a:stretch/>
        </p:blipFill>
        <p:spPr>
          <a:xfrm>
            <a:off x="9525000" y="4343400"/>
            <a:ext cx="1504950" cy="1504950"/>
          </a:xfrm>
          <a:prstGeom prst="rect">
            <a:avLst/>
          </a:prstGeom>
        </p:spPr>
      </p:pic>
      <p:pic>
        <p:nvPicPr>
          <p:cNvPr id="95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2">
            <a:alphaModFix/>
          </a:blip>
          <a:stretch/>
        </p:blipFill>
        <p:spPr>
          <a:xfrm>
            <a:off x="9544050" y="4362450"/>
            <a:ext cx="1466850" cy="1466850"/>
          </a:xfrm>
          <a:prstGeom prst="rect">
            <a:avLst/>
          </a:prstGeom>
        </p:spPr>
      </p:pic>
      <p:pic>
        <p:nvPicPr>
          <p:cNvPr id="960" name="imageNode68eca17f-e072-44a9-a66d-5db161c8b18a">
            <a:extLst>
              <a:ext uri="{FF2B5EF4-FFF2-40B4-BE49-F238E27FC236}">
                <a16:creationId xmlns:a16="http://schemas.microsoft.com/office/drawing/2014/main" id="{A8642F66-C0BB-4949-9A9C-024B120A5D52}"/>
              </a:ext>
            </a:extLst>
          </p:cNvPr>
          <p:cNvPicPr preferRelativeResize="0">
            <a:picLocks noChangeAspect="1"/>
          </p:cNvPicPr>
          <p:nvPr/>
        </p:nvPicPr>
        <p:blipFill rotWithShape="1">
          <a:blip r:embed="rId13">
            <a:alphaModFix/>
          </a:blip>
          <a:srcRect/>
          <a:stretch/>
        </p:blipFill>
        <p:spPr>
          <a:xfrm>
            <a:off x="9696450" y="4514850"/>
            <a:ext cx="1162050" cy="1162050"/>
          </a:xfrm>
          <a:prstGeom prst="rect">
            <a:avLst/>
          </a:prstGeom>
        </p:spPr>
      </p:pic>
      <p:sp>
        <p:nvSpPr>
          <p:cNvPr id="961" name="Description of a primary heading-1">
            <a:extLst>
              <a:ext uri="{FF2B5EF4-FFF2-40B4-BE49-F238E27FC236}">
                <a16:creationId xmlns:a16="http://schemas.microsoft.com/office/drawing/2014/main" id="{111B4A49-B930-4A89-A1CD-6CA2B3D95AED}"/>
              </a:ext>
            </a:extLst>
          </p:cNvPr>
          <p:cNvSpPr txBox="1"/>
          <p:nvPr/>
        </p:nvSpPr>
        <p:spPr>
          <a:xfrm>
            <a:off x="11321415" y="4150401"/>
            <a:ext cx="6124575" cy="1895712"/>
          </a:xfrm>
          <a:prstGeom prst="rect">
            <a:avLst/>
          </a:prstGeom>
          <a:noFill/>
        </p:spPr>
        <p:txBody>
          <a:bodyPr vertOverflow="clip" horzOverflow="clip" wrap="square" lIns="0" tIns="0" rIns="0" bIns="0" rtlCol="0" anchor="ctr">
            <a:spAutoFit/>
          </a:bodyPr>
          <a:lstStyle/>
          <a:p>
            <a:pPr algn="l">
              <a:lnSpc>
                <a:spcPts val="2475"/>
              </a:lnSpc>
            </a:pPr>
            <a:r>
              <a:rPr lang="en-US" sz="1650" spc="-15" dirty="0">
                <a:solidFill>
                  <a:srgbClr val="F2F1F3">
                    <a:alpha val="100000"/>
                  </a:srgbClr>
                </a:solidFill>
                <a:latin typeface="Montserrat Light" panose="00000700000000000000" pitchFamily="2" charset="0"/>
              </a:rPr>
              <a:t>Procure key equipment: Material Handling Cranes/Forklifts (INR 0.5 Crores), Amada Make Turret Punching Machine (INR 2.3 Crores), DMG-Mori Make 5 Axis VMC (1.5 Crores), Powder Coating Plant (1 Crore), Shot Blasting &amp; Hard Chrome Plating Plant (1 Crore), Tool Room Machines (1.5 Crores)</a:t>
            </a:r>
          </a:p>
        </p:txBody>
      </p:sp>
      <p:pic>
        <p:nvPicPr>
          <p:cNvPr id="96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4">
            <a:alphaModFix/>
          </a:blip>
          <a:stretch/>
        </p:blipFill>
        <p:spPr>
          <a:xfrm>
            <a:off x="609600" y="6534150"/>
            <a:ext cx="8439150" cy="3181350"/>
          </a:xfrm>
          <a:prstGeom prst="rect">
            <a:avLst/>
          </a:prstGeom>
          <a:effectLst>
            <a:outerShdw blurRad="285750" dir="2700000" algn="ctr" rotWithShape="0">
              <a:srgbClr val="000000">
                <a:alpha val="40000"/>
              </a:srgbClr>
            </a:outerShdw>
          </a:effectLst>
        </p:spPr>
      </p:pic>
      <p:pic>
        <p:nvPicPr>
          <p:cNvPr id="96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5">
            <a:alphaModFix/>
          </a:blip>
          <a:stretch/>
        </p:blipFill>
        <p:spPr>
          <a:xfrm>
            <a:off x="609600" y="6534150"/>
            <a:ext cx="8439150" cy="762000"/>
          </a:xfrm>
          <a:prstGeom prst="rect">
            <a:avLst/>
          </a:prstGeom>
        </p:spPr>
      </p:pic>
      <p:sp>
        <p:nvSpPr>
          <p:cNvPr id="964" name="Primary Heading-2">
            <a:extLst>
              <a:ext uri="{FF2B5EF4-FFF2-40B4-BE49-F238E27FC236}">
                <a16:creationId xmlns:a16="http://schemas.microsoft.com/office/drawing/2014/main" id="{111B4A49-B930-4A89-A1CD-6CA2B3D95AED}"/>
              </a:ext>
            </a:extLst>
          </p:cNvPr>
          <p:cNvSpPr txBox="1"/>
          <p:nvPr/>
        </p:nvSpPr>
        <p:spPr>
          <a:xfrm>
            <a:off x="914400" y="6704264"/>
            <a:ext cx="7972425" cy="355097"/>
          </a:xfrm>
          <a:prstGeom prst="rect">
            <a:avLst/>
          </a:prstGeom>
          <a:noFill/>
        </p:spPr>
        <p:txBody>
          <a:bodyPr vertOverflow="clip" horzOverflow="clip" wrap="square" lIns="0" tIns="0" rIns="0" bIns="0" rtlCol="0" anchor="ctr">
            <a:spAutoFit/>
          </a:bodyPr>
          <a:lstStyle/>
          <a:p>
            <a:pPr algn="ctr">
              <a:lnSpc>
                <a:spcPts val="2982"/>
              </a:lnSpc>
            </a:pPr>
            <a:r>
              <a:rPr lang="en-US" sz="2100" b="1" spc="-32" dirty="0">
                <a:solidFill>
                  <a:srgbClr val="15092E">
                    <a:alpha val="100000"/>
                  </a:srgbClr>
                </a:solidFill>
                <a:latin typeface="Montserrat" panose="00000700000000000000" pitchFamily="2" charset="0"/>
              </a:rPr>
              <a:t>Inventory &amp; Certifications (5.55 Crores)</a:t>
            </a:r>
          </a:p>
        </p:txBody>
      </p:sp>
      <p:pic>
        <p:nvPicPr>
          <p:cNvPr id="96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6">
            <a:alphaModFix/>
          </a:blip>
          <a:stretch/>
        </p:blipFill>
        <p:spPr>
          <a:xfrm>
            <a:off x="895350" y="7715250"/>
            <a:ext cx="1504950" cy="1504950"/>
          </a:xfrm>
          <a:prstGeom prst="rect">
            <a:avLst/>
          </a:prstGeom>
        </p:spPr>
      </p:pic>
      <p:pic>
        <p:nvPicPr>
          <p:cNvPr id="96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7">
            <a:alphaModFix/>
          </a:blip>
          <a:stretch/>
        </p:blipFill>
        <p:spPr>
          <a:xfrm>
            <a:off x="914400" y="7734300"/>
            <a:ext cx="1466850" cy="1466850"/>
          </a:xfrm>
          <a:prstGeom prst="rect">
            <a:avLst/>
          </a:prstGeom>
        </p:spPr>
      </p:pic>
      <p:pic>
        <p:nvPicPr>
          <p:cNvPr id="967" name="imageNode3ca5edfe-7474-4530-9c5e-a7871053972a">
            <a:extLst>
              <a:ext uri="{FF2B5EF4-FFF2-40B4-BE49-F238E27FC236}">
                <a16:creationId xmlns:a16="http://schemas.microsoft.com/office/drawing/2014/main" id="{A8642F66-C0BB-4949-9A9C-024B120A5D52}"/>
              </a:ext>
            </a:extLst>
          </p:cNvPr>
          <p:cNvPicPr preferRelativeResize="0">
            <a:picLocks noChangeAspect="1"/>
          </p:cNvPicPr>
          <p:nvPr/>
        </p:nvPicPr>
        <p:blipFill rotWithShape="1">
          <a:blip r:embed="rId18">
            <a:alphaModFix/>
          </a:blip>
          <a:srcRect/>
          <a:stretch/>
        </p:blipFill>
        <p:spPr>
          <a:xfrm>
            <a:off x="1066800" y="7886700"/>
            <a:ext cx="1162050" cy="1162050"/>
          </a:xfrm>
          <a:prstGeom prst="rect">
            <a:avLst/>
          </a:prstGeom>
        </p:spPr>
      </p:pic>
      <p:sp>
        <p:nvSpPr>
          <p:cNvPr id="968" name="Description of a primary heading-2">
            <a:extLst>
              <a:ext uri="{FF2B5EF4-FFF2-40B4-BE49-F238E27FC236}">
                <a16:creationId xmlns:a16="http://schemas.microsoft.com/office/drawing/2014/main" id="{111B4A49-B930-4A89-A1CD-6CA2B3D95AED}"/>
              </a:ext>
            </a:extLst>
          </p:cNvPr>
          <p:cNvSpPr txBox="1"/>
          <p:nvPr/>
        </p:nvSpPr>
        <p:spPr>
          <a:xfrm>
            <a:off x="2691765" y="8163452"/>
            <a:ext cx="6124575" cy="613309"/>
          </a:xfrm>
          <a:prstGeom prst="rect">
            <a:avLst/>
          </a:prstGeom>
          <a:noFill/>
        </p:spPr>
        <p:txBody>
          <a:bodyPr vertOverflow="clip" horzOverflow="clip" wrap="square" lIns="0" tIns="0" rIns="0" bIns="0" rtlCol="0" anchor="ctr">
            <a:spAutoFit/>
          </a:bodyPr>
          <a:lstStyle/>
          <a:p>
            <a:pPr algn="l">
              <a:lnSpc>
                <a:spcPts val="2475"/>
              </a:lnSpc>
            </a:pPr>
            <a:r>
              <a:rPr lang="en-US" sz="1650" spc="-15" dirty="0">
                <a:solidFill>
                  <a:srgbClr val="EBEAED">
                    <a:alpha val="100000"/>
                  </a:srgbClr>
                </a:solidFill>
                <a:latin typeface="Montserrat Light" panose="00000700000000000000" pitchFamily="2" charset="0"/>
              </a:rPr>
              <a:t>Allocate funds for Inventory (INR 5 Crores) and Certifications (INR 0.55 Crores)</a:t>
            </a:r>
          </a:p>
        </p:txBody>
      </p:sp>
      <p:pic>
        <p:nvPicPr>
          <p:cNvPr id="96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4">
            <a:alphaModFix/>
          </a:blip>
          <a:stretch/>
        </p:blipFill>
        <p:spPr>
          <a:xfrm>
            <a:off x="9239250" y="6534150"/>
            <a:ext cx="8439150" cy="3181350"/>
          </a:xfrm>
          <a:prstGeom prst="rect">
            <a:avLst/>
          </a:prstGeom>
          <a:effectLst>
            <a:outerShdw blurRad="285750" dir="2700000" algn="ctr" rotWithShape="0">
              <a:srgbClr val="000000">
                <a:alpha val="40000"/>
              </a:srgbClr>
            </a:outerShdw>
          </a:effectLst>
        </p:spPr>
      </p:pic>
      <p:pic>
        <p:nvPicPr>
          <p:cNvPr id="97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9">
            <a:alphaModFix/>
          </a:blip>
          <a:stretch/>
        </p:blipFill>
        <p:spPr>
          <a:xfrm>
            <a:off x="9239250" y="6534150"/>
            <a:ext cx="8439150" cy="762000"/>
          </a:xfrm>
          <a:prstGeom prst="rect">
            <a:avLst/>
          </a:prstGeom>
        </p:spPr>
      </p:pic>
      <p:sp>
        <p:nvSpPr>
          <p:cNvPr id="971" name="Primary Heading-3">
            <a:extLst>
              <a:ext uri="{FF2B5EF4-FFF2-40B4-BE49-F238E27FC236}">
                <a16:creationId xmlns:a16="http://schemas.microsoft.com/office/drawing/2014/main" id="{111B4A49-B930-4A89-A1CD-6CA2B3D95AED}"/>
              </a:ext>
            </a:extLst>
          </p:cNvPr>
          <p:cNvSpPr txBox="1"/>
          <p:nvPr/>
        </p:nvSpPr>
        <p:spPr>
          <a:xfrm>
            <a:off x="9544050" y="6704264"/>
            <a:ext cx="7972425" cy="355097"/>
          </a:xfrm>
          <a:prstGeom prst="rect">
            <a:avLst/>
          </a:prstGeom>
          <a:noFill/>
        </p:spPr>
        <p:txBody>
          <a:bodyPr vertOverflow="clip" horzOverflow="clip" wrap="square" lIns="0" tIns="0" rIns="0" bIns="0" rtlCol="0" anchor="ctr">
            <a:spAutoFit/>
          </a:bodyPr>
          <a:lstStyle/>
          <a:p>
            <a:pPr algn="ctr">
              <a:lnSpc>
                <a:spcPts val="2982"/>
              </a:lnSpc>
            </a:pPr>
            <a:r>
              <a:rPr lang="en-US" sz="2100" b="1" spc="-32" dirty="0">
                <a:solidFill>
                  <a:srgbClr val="15092E">
                    <a:alpha val="100000"/>
                  </a:srgbClr>
                </a:solidFill>
                <a:latin typeface="Montserrat" panose="00000700000000000000" pitchFamily="2" charset="0"/>
              </a:rPr>
              <a:t>Branding &amp; Promotions (1.5 Crores)</a:t>
            </a:r>
          </a:p>
        </p:txBody>
      </p:sp>
      <p:pic>
        <p:nvPicPr>
          <p:cNvPr id="97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0">
            <a:alphaModFix/>
          </a:blip>
          <a:stretch/>
        </p:blipFill>
        <p:spPr>
          <a:xfrm>
            <a:off x="9525000" y="7715250"/>
            <a:ext cx="1504950" cy="1504950"/>
          </a:xfrm>
          <a:prstGeom prst="rect">
            <a:avLst/>
          </a:prstGeom>
        </p:spPr>
      </p:pic>
      <p:pic>
        <p:nvPicPr>
          <p:cNvPr id="97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1">
            <a:alphaModFix/>
          </a:blip>
          <a:stretch/>
        </p:blipFill>
        <p:spPr>
          <a:xfrm>
            <a:off x="9544050" y="7734300"/>
            <a:ext cx="1466850" cy="1466850"/>
          </a:xfrm>
          <a:prstGeom prst="rect">
            <a:avLst/>
          </a:prstGeom>
        </p:spPr>
      </p:pic>
      <p:pic>
        <p:nvPicPr>
          <p:cNvPr id="974" name="imageNodeb546b43e-0314-40ed-9e38-24268c94664b">
            <a:extLst>
              <a:ext uri="{FF2B5EF4-FFF2-40B4-BE49-F238E27FC236}">
                <a16:creationId xmlns:a16="http://schemas.microsoft.com/office/drawing/2014/main" id="{A8642F66-C0BB-4949-9A9C-024B120A5D52}"/>
              </a:ext>
            </a:extLst>
          </p:cNvPr>
          <p:cNvPicPr preferRelativeResize="0">
            <a:picLocks noChangeAspect="1"/>
          </p:cNvPicPr>
          <p:nvPr/>
        </p:nvPicPr>
        <p:blipFill rotWithShape="1">
          <a:blip r:embed="rId22">
            <a:alphaModFix/>
          </a:blip>
          <a:srcRect/>
          <a:stretch/>
        </p:blipFill>
        <p:spPr>
          <a:xfrm>
            <a:off x="9696450" y="7886700"/>
            <a:ext cx="1162050" cy="1162050"/>
          </a:xfrm>
          <a:prstGeom prst="rect">
            <a:avLst/>
          </a:prstGeom>
        </p:spPr>
      </p:pic>
      <p:sp>
        <p:nvSpPr>
          <p:cNvPr id="975" name="Description of a primary heading-3">
            <a:extLst>
              <a:ext uri="{FF2B5EF4-FFF2-40B4-BE49-F238E27FC236}">
                <a16:creationId xmlns:a16="http://schemas.microsoft.com/office/drawing/2014/main" id="{111B4A49-B930-4A89-A1CD-6CA2B3D95AED}"/>
              </a:ext>
            </a:extLst>
          </p:cNvPr>
          <p:cNvSpPr txBox="1"/>
          <p:nvPr/>
        </p:nvSpPr>
        <p:spPr>
          <a:xfrm>
            <a:off x="11321415" y="8163452"/>
            <a:ext cx="6124575" cy="613309"/>
          </a:xfrm>
          <a:prstGeom prst="rect">
            <a:avLst/>
          </a:prstGeom>
          <a:noFill/>
        </p:spPr>
        <p:txBody>
          <a:bodyPr vertOverflow="clip" horzOverflow="clip" wrap="square" lIns="0" tIns="0" rIns="0" bIns="0" rtlCol="0" anchor="ctr">
            <a:spAutoFit/>
          </a:bodyPr>
          <a:lstStyle/>
          <a:p>
            <a:pPr algn="l">
              <a:lnSpc>
                <a:spcPts val="2475"/>
              </a:lnSpc>
            </a:pPr>
            <a:r>
              <a:rPr lang="en-US" sz="1650" spc="-15" dirty="0">
                <a:solidFill>
                  <a:srgbClr val="E5E3E7">
                    <a:alpha val="100000"/>
                  </a:srgbClr>
                </a:solidFill>
                <a:latin typeface="Montserrat Light" panose="00000700000000000000" pitchFamily="2" charset="0"/>
              </a:rPr>
              <a:t>Invest INR 1.5 Crores for branding and promotional activities in the first year</a:t>
            </a:r>
          </a:p>
        </p:txBody>
      </p:sp>
    </p:spTree>
    <p:extLst>
      <p:ext uri="{BB962C8B-B14F-4D97-AF65-F5344CB8AC3E}">
        <p14:creationId xmlns:p14="http://schemas.microsoft.com/office/powerpoint/2010/main" val="36480479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7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0" y="0"/>
            <a:ext cx="18288000" cy="10287000"/>
          </a:xfrm>
          <a:prstGeom prst="rect">
            <a:avLst/>
          </a:prstGeom>
        </p:spPr>
      </p:pic>
      <p:pic>
        <p:nvPicPr>
          <p:cNvPr id="979" name="layoutShapeInnerChild1">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0" y="0"/>
            <a:ext cx="18288000" cy="10287000"/>
          </a:xfrm>
          <a:prstGeom prst="rect">
            <a:avLst/>
          </a:prstGeom>
        </p:spPr>
      </p:pic>
      <p:pic>
        <p:nvPicPr>
          <p:cNvPr id="980" name="Picture 979">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extLst>
              <a:ext uri="{24458D32-3AAB-4B4D-BEF6-77F4AB195387}">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609600" y="3467100"/>
            <a:ext cx="2476500" cy="2476500"/>
          </a:xfrm>
          <a:prstGeom prst="rect">
            <a:avLst/>
          </a:prstGeom>
        </p:spPr>
      </p:pic>
      <p:sp>
        <p:nvSpPr>
          <p:cNvPr id="981" name="-0">
            <a:extLst>
              <a:ext uri="{FF2B5EF4-FFF2-40B4-BE49-F238E27FC236}">
                <a16:creationId xmlns:a16="http://schemas.microsoft.com/office/drawing/2014/main" id="{111B4A49-B930-4A89-A1CD-6CA2B3D95AED}"/>
              </a:ext>
            </a:extLst>
          </p:cNvPr>
          <p:cNvSpPr txBox="1"/>
          <p:nvPr/>
        </p:nvSpPr>
        <p:spPr>
          <a:xfrm>
            <a:off x="1206722" y="4335011"/>
            <a:ext cx="1428750" cy="750205"/>
          </a:xfrm>
          <a:prstGeom prst="rect">
            <a:avLst/>
          </a:prstGeom>
          <a:noFill/>
        </p:spPr>
        <p:txBody>
          <a:bodyPr vertOverflow="clip" horzOverflow="clip" wrap="square" lIns="0" tIns="0" rIns="0" bIns="0" rtlCol="0" anchor="ctr">
            <a:spAutoFit/>
          </a:bodyPr>
          <a:lstStyle/>
          <a:p>
            <a:pPr algn="ctr"/>
            <a:r>
              <a:rPr lang="en-US" sz="4875" b="1" dirty="0">
                <a:solidFill>
                  <a:srgbClr val="FFFFFF">
                    <a:alpha val="100000"/>
                  </a:srgbClr>
                </a:solidFill>
                <a:latin typeface="Montserrat" panose="00000700000000000000" pitchFamily="2" charset="0"/>
              </a:rPr>
              <a:t>52%</a:t>
            </a:r>
          </a:p>
        </p:txBody>
      </p:sp>
      <p:sp>
        <p:nvSpPr>
          <p:cNvPr id="982" name="Primary Heading-0">
            <a:extLst>
              <a:ext uri="{FF2B5EF4-FFF2-40B4-BE49-F238E27FC236}">
                <a16:creationId xmlns:a16="http://schemas.microsoft.com/office/drawing/2014/main" id="{111B4A49-B930-4A89-A1CD-6CA2B3D95AED}"/>
              </a:ext>
            </a:extLst>
          </p:cNvPr>
          <p:cNvSpPr txBox="1"/>
          <p:nvPr/>
        </p:nvSpPr>
        <p:spPr>
          <a:xfrm>
            <a:off x="609600" y="6570914"/>
            <a:ext cx="5200650" cy="355097"/>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FFFFFF">
                    <a:alpha val="100000"/>
                  </a:srgbClr>
                </a:solidFill>
                <a:latin typeface="Montserrat" panose="00000700000000000000" pitchFamily="2" charset="0"/>
              </a:rPr>
              <a:t>Revenue Growth</a:t>
            </a:r>
          </a:p>
        </p:txBody>
      </p:sp>
      <p:sp>
        <p:nvSpPr>
          <p:cNvPr id="983" name="Description of a primary heading-0">
            <a:extLst>
              <a:ext uri="{FF2B5EF4-FFF2-40B4-BE49-F238E27FC236}">
                <a16:creationId xmlns:a16="http://schemas.microsoft.com/office/drawing/2014/main" id="{111B4A49-B930-4A89-A1CD-6CA2B3D95AED}"/>
              </a:ext>
            </a:extLst>
          </p:cNvPr>
          <p:cNvSpPr txBox="1"/>
          <p:nvPr/>
        </p:nvSpPr>
        <p:spPr>
          <a:xfrm>
            <a:off x="542925" y="7271831"/>
            <a:ext cx="5200650" cy="663002"/>
          </a:xfrm>
          <a:prstGeom prst="rect">
            <a:avLst/>
          </a:prstGeom>
          <a:noFill/>
        </p:spPr>
        <p:txBody>
          <a:bodyPr vertOverflow="clip" horzOverflow="clip" wrap="square" lIns="0" tIns="0" rIns="0" bIns="0" rtlCol="0" anchor="ctr">
            <a:spAutoFit/>
          </a:bodyPr>
          <a:lstStyle/>
          <a:p>
            <a:pPr algn="l">
              <a:lnSpc>
                <a:spcPts val="2700"/>
              </a:lnSpc>
            </a:pPr>
            <a:r>
              <a:rPr lang="en-US" spc="-18" dirty="0">
                <a:solidFill>
                  <a:srgbClr val="FFFFFF">
                    <a:alpha val="100000"/>
                  </a:srgbClr>
                </a:solidFill>
                <a:latin typeface="Montserrat Light" panose="00000700000000000000" pitchFamily="2" charset="0"/>
              </a:rPr>
              <a:t>Strong Revenue Growth of ~52% Y-O-Y for past 3 Years</a:t>
            </a:r>
            <a:endParaRPr lang="en-US" sz="1800" spc="-18" dirty="0">
              <a:solidFill>
                <a:srgbClr val="FFFFFF">
                  <a:alpha val="100000"/>
                </a:srgbClr>
              </a:solidFill>
              <a:latin typeface="Montserrat Light" panose="00000700000000000000" pitchFamily="2" charset="0"/>
            </a:endParaRPr>
          </a:p>
        </p:txBody>
      </p:sp>
      <p:pic>
        <p:nvPicPr>
          <p:cNvPr id="98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6134100" y="3467100"/>
            <a:ext cx="9525" cy="4648200"/>
          </a:xfrm>
          <a:prstGeom prst="rect">
            <a:avLst/>
          </a:prstGeom>
        </p:spPr>
      </p:pic>
      <p:pic>
        <p:nvPicPr>
          <p:cNvPr id="985" name="Picture 984">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extLst>
              <a:ext uri="{9E2A1A47-1ED5-415B-A077-E0EBDD4E39D4}">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6619875" y="3467100"/>
            <a:ext cx="2476500" cy="2476500"/>
          </a:xfrm>
          <a:prstGeom prst="rect">
            <a:avLst/>
          </a:prstGeom>
        </p:spPr>
      </p:pic>
      <p:sp>
        <p:nvSpPr>
          <p:cNvPr id="986" name="-1">
            <a:extLst>
              <a:ext uri="{FF2B5EF4-FFF2-40B4-BE49-F238E27FC236}">
                <a16:creationId xmlns:a16="http://schemas.microsoft.com/office/drawing/2014/main" id="{111B4A49-B930-4A89-A1CD-6CA2B3D95AED}"/>
              </a:ext>
            </a:extLst>
          </p:cNvPr>
          <p:cNvSpPr txBox="1"/>
          <p:nvPr/>
        </p:nvSpPr>
        <p:spPr>
          <a:xfrm>
            <a:off x="6957179" y="4335011"/>
            <a:ext cx="1760792" cy="750205"/>
          </a:xfrm>
          <a:prstGeom prst="rect">
            <a:avLst/>
          </a:prstGeom>
          <a:noFill/>
        </p:spPr>
        <p:txBody>
          <a:bodyPr vertOverflow="clip" horzOverflow="clip" wrap="square" lIns="0" tIns="0" rIns="0" bIns="0" rtlCol="0" anchor="ctr">
            <a:spAutoFit/>
          </a:bodyPr>
          <a:lstStyle/>
          <a:p>
            <a:pPr algn="ctr"/>
            <a:r>
              <a:rPr lang="en-US" sz="4875" b="1" dirty="0">
                <a:solidFill>
                  <a:srgbClr val="FFFFFF">
                    <a:alpha val="100000"/>
                  </a:srgbClr>
                </a:solidFill>
                <a:latin typeface="Montserrat" panose="00000700000000000000" pitchFamily="2" charset="0"/>
              </a:rPr>
              <a:t>100%</a:t>
            </a:r>
          </a:p>
        </p:txBody>
      </p:sp>
      <p:sp>
        <p:nvSpPr>
          <p:cNvPr id="987" name="Primary Heading-1">
            <a:extLst>
              <a:ext uri="{FF2B5EF4-FFF2-40B4-BE49-F238E27FC236}">
                <a16:creationId xmlns:a16="http://schemas.microsoft.com/office/drawing/2014/main" id="{111B4A49-B930-4A89-A1CD-6CA2B3D95AED}"/>
              </a:ext>
            </a:extLst>
          </p:cNvPr>
          <p:cNvSpPr txBox="1"/>
          <p:nvPr/>
        </p:nvSpPr>
        <p:spPr>
          <a:xfrm>
            <a:off x="6616636" y="6570914"/>
            <a:ext cx="5200650" cy="355097"/>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F2F1F3">
                    <a:alpha val="100000"/>
                  </a:srgbClr>
                </a:solidFill>
                <a:latin typeface="Montserrat" panose="00000700000000000000" pitchFamily="2" charset="0"/>
              </a:rPr>
              <a:t>Profit Growth</a:t>
            </a:r>
          </a:p>
        </p:txBody>
      </p:sp>
      <p:sp>
        <p:nvSpPr>
          <p:cNvPr id="988" name="Description of a primary heading-1">
            <a:extLst>
              <a:ext uri="{FF2B5EF4-FFF2-40B4-BE49-F238E27FC236}">
                <a16:creationId xmlns:a16="http://schemas.microsoft.com/office/drawing/2014/main" id="{111B4A49-B930-4A89-A1CD-6CA2B3D95AED}"/>
              </a:ext>
            </a:extLst>
          </p:cNvPr>
          <p:cNvSpPr txBox="1"/>
          <p:nvPr/>
        </p:nvSpPr>
        <p:spPr>
          <a:xfrm>
            <a:off x="6549962" y="7273505"/>
            <a:ext cx="5200650" cy="316753"/>
          </a:xfrm>
          <a:prstGeom prst="rect">
            <a:avLst/>
          </a:prstGeom>
          <a:noFill/>
        </p:spPr>
        <p:txBody>
          <a:bodyPr vertOverflow="clip" horzOverflow="clip" wrap="square" lIns="0" tIns="0" rIns="0" bIns="0" rtlCol="0" anchor="ctr">
            <a:spAutoFit/>
          </a:bodyPr>
          <a:lstStyle/>
          <a:p>
            <a:pPr algn="l">
              <a:lnSpc>
                <a:spcPts val="2700"/>
              </a:lnSpc>
            </a:pPr>
            <a:r>
              <a:rPr lang="en-US" sz="1800" spc="-18" dirty="0">
                <a:solidFill>
                  <a:srgbClr val="F2F1F3">
                    <a:alpha val="100000"/>
                  </a:srgbClr>
                </a:solidFill>
                <a:latin typeface="Montserrat Light" panose="00000700000000000000" pitchFamily="2" charset="0"/>
              </a:rPr>
              <a:t>100% plus growth in past 2 years</a:t>
            </a:r>
          </a:p>
        </p:txBody>
      </p:sp>
      <p:pic>
        <p:nvPicPr>
          <p:cNvPr id="98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12144375" y="3467100"/>
            <a:ext cx="9525" cy="4648200"/>
          </a:xfrm>
          <a:prstGeom prst="rect">
            <a:avLst/>
          </a:prstGeom>
        </p:spPr>
      </p:pic>
      <p:pic>
        <p:nvPicPr>
          <p:cNvPr id="990" name="Picture 989">
            <a:extLst>
              <a:ext uri="{FF2B5EF4-FFF2-40B4-BE49-F238E27FC236}">
                <a16:creationId xmlns:a16="http://schemas.microsoft.com/office/drawing/2014/main" id="{A8642F66-C0BB-4949-9A9C-024B120A5D52}"/>
              </a:ext>
            </a:extLst>
          </p:cNvPr>
          <p:cNvPicPr>
            <a:picLocks noChangeAspect="1"/>
          </p:cNvPicPr>
          <p:nvPr/>
        </p:nvPicPr>
        <p:blipFill rotWithShape="1">
          <a:blip r:embed="rId8">
            <a:alphaModFix/>
            <a:extLst>
              <a:ext uri="{E8332892-4178-490E-9ABC-550E5E516897}">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12620625" y="3467100"/>
            <a:ext cx="2476500" cy="2476500"/>
          </a:xfrm>
          <a:prstGeom prst="rect">
            <a:avLst/>
          </a:prstGeom>
        </p:spPr>
      </p:pic>
      <p:sp>
        <p:nvSpPr>
          <p:cNvPr id="991" name="-2">
            <a:extLst>
              <a:ext uri="{FF2B5EF4-FFF2-40B4-BE49-F238E27FC236}">
                <a16:creationId xmlns:a16="http://schemas.microsoft.com/office/drawing/2014/main" id="{111B4A49-B930-4A89-A1CD-6CA2B3D95AED}"/>
              </a:ext>
            </a:extLst>
          </p:cNvPr>
          <p:cNvSpPr txBox="1"/>
          <p:nvPr/>
        </p:nvSpPr>
        <p:spPr>
          <a:xfrm>
            <a:off x="13236892" y="4335011"/>
            <a:ext cx="1390650" cy="750205"/>
          </a:xfrm>
          <a:prstGeom prst="rect">
            <a:avLst/>
          </a:prstGeom>
          <a:noFill/>
        </p:spPr>
        <p:txBody>
          <a:bodyPr vertOverflow="clip" horzOverflow="clip" wrap="square" lIns="0" tIns="0" rIns="0" bIns="0" rtlCol="0" anchor="ctr">
            <a:spAutoFit/>
          </a:bodyPr>
          <a:lstStyle/>
          <a:p>
            <a:pPr algn="ctr"/>
            <a:r>
              <a:rPr lang="en-US" sz="4875" b="1" dirty="0">
                <a:solidFill>
                  <a:srgbClr val="FFFFFF">
                    <a:alpha val="100000"/>
                  </a:srgbClr>
                </a:solidFill>
                <a:latin typeface="Montserrat" panose="00000700000000000000" pitchFamily="2" charset="0"/>
              </a:rPr>
              <a:t>78%</a:t>
            </a:r>
          </a:p>
        </p:txBody>
      </p:sp>
      <p:sp>
        <p:nvSpPr>
          <p:cNvPr id="992" name="Primary Heading-2">
            <a:extLst>
              <a:ext uri="{FF2B5EF4-FFF2-40B4-BE49-F238E27FC236}">
                <a16:creationId xmlns:a16="http://schemas.microsoft.com/office/drawing/2014/main" id="{111B4A49-B930-4A89-A1CD-6CA2B3D95AED}"/>
              </a:ext>
            </a:extLst>
          </p:cNvPr>
          <p:cNvSpPr txBox="1"/>
          <p:nvPr/>
        </p:nvSpPr>
        <p:spPr>
          <a:xfrm>
            <a:off x="12623768" y="6570914"/>
            <a:ext cx="5200650" cy="355097"/>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EBEAED">
                    <a:alpha val="100000"/>
                  </a:srgbClr>
                </a:solidFill>
                <a:latin typeface="Montserrat" panose="00000700000000000000" pitchFamily="2" charset="0"/>
              </a:rPr>
              <a:t>EBITDA Growth</a:t>
            </a:r>
          </a:p>
        </p:txBody>
      </p:sp>
      <p:sp>
        <p:nvSpPr>
          <p:cNvPr id="993" name="Description of a primary heading-2">
            <a:extLst>
              <a:ext uri="{FF2B5EF4-FFF2-40B4-BE49-F238E27FC236}">
                <a16:creationId xmlns:a16="http://schemas.microsoft.com/office/drawing/2014/main" id="{111B4A49-B930-4A89-A1CD-6CA2B3D95AED}"/>
              </a:ext>
            </a:extLst>
          </p:cNvPr>
          <p:cNvSpPr txBox="1"/>
          <p:nvPr/>
        </p:nvSpPr>
        <p:spPr>
          <a:xfrm>
            <a:off x="12557093" y="7271831"/>
            <a:ext cx="5200650" cy="663002"/>
          </a:xfrm>
          <a:prstGeom prst="rect">
            <a:avLst/>
          </a:prstGeom>
          <a:noFill/>
        </p:spPr>
        <p:txBody>
          <a:bodyPr vertOverflow="clip" horzOverflow="clip" wrap="square" lIns="0" tIns="0" rIns="0" bIns="0" rtlCol="0" anchor="ctr">
            <a:spAutoFit/>
          </a:bodyPr>
          <a:lstStyle/>
          <a:p>
            <a:pPr algn="l">
              <a:lnSpc>
                <a:spcPts val="2700"/>
              </a:lnSpc>
            </a:pPr>
            <a:r>
              <a:rPr lang="en-US" spc="-18" dirty="0">
                <a:solidFill>
                  <a:srgbClr val="EBEAED">
                    <a:alpha val="100000"/>
                  </a:srgbClr>
                </a:solidFill>
                <a:latin typeface="Montserrat Light" panose="00000700000000000000" pitchFamily="2" charset="0"/>
              </a:rPr>
              <a:t>Consistent 78% plus growth in EBITA growth  Y-O-Y for past 3 years</a:t>
            </a:r>
            <a:endParaRPr lang="en-US" sz="1800" spc="-18" dirty="0">
              <a:solidFill>
                <a:srgbClr val="EBEAED">
                  <a:alpha val="100000"/>
                </a:srgbClr>
              </a:solidFill>
              <a:latin typeface="Montserrat Light" panose="00000700000000000000" pitchFamily="2" charset="0"/>
            </a:endParaRPr>
          </a:p>
        </p:txBody>
      </p:sp>
      <p:sp>
        <p:nvSpPr>
          <p:cNvPr id="994" name="Click here to edit title-450">
            <a:extLst>
              <a:ext uri="{FF2B5EF4-FFF2-40B4-BE49-F238E27FC236}">
                <a16:creationId xmlns:a16="http://schemas.microsoft.com/office/drawing/2014/main" id="{111B4A49-B930-4A89-A1CD-6CA2B3D95AED}"/>
              </a:ext>
            </a:extLst>
          </p:cNvPr>
          <p:cNvSpPr txBox="1"/>
          <p:nvPr/>
        </p:nvSpPr>
        <p:spPr>
          <a:xfrm>
            <a:off x="1219200" y="750160"/>
            <a:ext cx="15992475" cy="642805"/>
          </a:xfrm>
          <a:prstGeom prst="rect">
            <a:avLst/>
          </a:prstGeom>
          <a:noFill/>
        </p:spPr>
        <p:txBody>
          <a:bodyPr vertOverflow="clip" horzOverflow="clip" wrap="square" lIns="0" tIns="0" rIns="0" bIns="0" rtlCol="0" anchor="ctr">
            <a:spAutoFit/>
          </a:bodyPr>
          <a:lstStyle/>
          <a:p>
            <a:pPr algn="l">
              <a:lnSpc>
                <a:spcPts val="5250"/>
              </a:lnSpc>
            </a:pPr>
            <a:r>
              <a:rPr lang="en-US" sz="4200" spc="-84" dirty="0">
                <a:solidFill>
                  <a:srgbClr val="FFFFFF">
                    <a:alpha val="100000"/>
                  </a:srgbClr>
                </a:solidFill>
                <a:latin typeface="Montserrat Light" panose="00000700000000000000" pitchFamily="2" charset="0"/>
              </a:rPr>
              <a:t>Supporting Evidence 2022-2025</a:t>
            </a:r>
          </a:p>
        </p:txBody>
      </p:sp>
      <p:pic>
        <p:nvPicPr>
          <p:cNvPr id="99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9">
            <a:alphaModFix/>
          </a:blip>
          <a:stretch/>
        </p:blipFill>
        <p:spPr>
          <a:xfrm>
            <a:off x="590550" y="733425"/>
            <a:ext cx="19050" cy="666750"/>
          </a:xfrm>
          <a:prstGeom prst="rect">
            <a:avLst/>
          </a:prstGeom>
        </p:spPr>
      </p:pic>
      <p:sp>
        <p:nvSpPr>
          <p:cNvPr id="2" name="TextBox 1">
            <a:extLst>
              <a:ext uri="{FF2B5EF4-FFF2-40B4-BE49-F238E27FC236}">
                <a16:creationId xmlns:a16="http://schemas.microsoft.com/office/drawing/2014/main" id="{520EB2B0-DABB-A945-4A64-27C7A1EA54A6}"/>
              </a:ext>
            </a:extLst>
          </p:cNvPr>
          <p:cNvSpPr txBox="1"/>
          <p:nvPr/>
        </p:nvSpPr>
        <p:spPr>
          <a:xfrm>
            <a:off x="1685837" y="1982844"/>
            <a:ext cx="14916326" cy="1200329"/>
          </a:xfrm>
          <a:prstGeom prst="rect">
            <a:avLst/>
          </a:prstGeom>
          <a:noFill/>
        </p:spPr>
        <p:txBody>
          <a:bodyPr wrap="square" rtlCol="0">
            <a:spAutoFit/>
          </a:bodyPr>
          <a:lstStyle/>
          <a:p>
            <a:r>
              <a:rPr lang="en-IN" sz="2400" dirty="0">
                <a:solidFill>
                  <a:srgbClr val="FF0000"/>
                </a:solidFill>
              </a:rPr>
              <a:t>Financial Years 2024- 2025-2026 was a capex heavy year due to land acquisition and construction along with product developments. We don’t use it for benchmarking as we had already factored in the flat to a negative year in terms of revenue as well as profit margins. This period was utilised for capacity addition and product development.</a:t>
            </a:r>
          </a:p>
        </p:txBody>
      </p:sp>
    </p:spTree>
    <p:extLst>
      <p:ext uri="{BB962C8B-B14F-4D97-AF65-F5344CB8AC3E}">
        <p14:creationId xmlns:p14="http://schemas.microsoft.com/office/powerpoint/2010/main" val="36480479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0" y="0"/>
            <a:ext cx="18288000" cy="10287000"/>
          </a:xfrm>
          <a:prstGeom prst="rect">
            <a:avLst/>
          </a:prstGeom>
        </p:spPr>
      </p:pic>
      <p:pic>
        <p:nvPicPr>
          <p:cNvPr id="1035" name="layoutShapeInnerChild1">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0" y="0"/>
            <a:ext cx="18288000" cy="10287000"/>
          </a:xfrm>
          <a:prstGeom prst="rect">
            <a:avLst/>
          </a:prstGeom>
        </p:spPr>
      </p:pic>
      <p:pic>
        <p:nvPicPr>
          <p:cNvPr id="103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609600" y="1866900"/>
            <a:ext cx="5057775" cy="6477000"/>
          </a:xfrm>
          <a:prstGeom prst="rect">
            <a:avLst/>
          </a:prstGeom>
          <a:effectLst>
            <a:outerShdw blurRad="114300" dir="2700000" algn="ctr" rotWithShape="0">
              <a:srgbClr val="000000">
                <a:alpha val="40000"/>
              </a:srgbClr>
            </a:outerShdw>
          </a:effectLst>
        </p:spPr>
      </p:pic>
      <p:sp>
        <p:nvSpPr>
          <p:cNvPr id="1038" name="Name-0">
            <a:extLst>
              <a:ext uri="{FF2B5EF4-FFF2-40B4-BE49-F238E27FC236}">
                <a16:creationId xmlns:a16="http://schemas.microsoft.com/office/drawing/2014/main" id="{111B4A49-B930-4A89-A1CD-6CA2B3D95AED}"/>
              </a:ext>
            </a:extLst>
          </p:cNvPr>
          <p:cNvSpPr txBox="1"/>
          <p:nvPr/>
        </p:nvSpPr>
        <p:spPr>
          <a:xfrm>
            <a:off x="609600" y="8971214"/>
            <a:ext cx="2133600" cy="355097"/>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FFFFFF">
                    <a:alpha val="100000"/>
                  </a:srgbClr>
                </a:solidFill>
                <a:latin typeface="Montserrat" panose="00000700000000000000" pitchFamily="2" charset="0"/>
              </a:rPr>
              <a:t>K. Ravishankar</a:t>
            </a:r>
          </a:p>
        </p:txBody>
      </p:sp>
      <p:sp>
        <p:nvSpPr>
          <p:cNvPr id="1039" name="Designation-0">
            <a:extLst>
              <a:ext uri="{FF2B5EF4-FFF2-40B4-BE49-F238E27FC236}">
                <a16:creationId xmlns:a16="http://schemas.microsoft.com/office/drawing/2014/main" id="{111B4A49-B930-4A89-A1CD-6CA2B3D95AED}"/>
              </a:ext>
            </a:extLst>
          </p:cNvPr>
          <p:cNvSpPr txBox="1"/>
          <p:nvPr/>
        </p:nvSpPr>
        <p:spPr>
          <a:xfrm>
            <a:off x="609600" y="9388055"/>
            <a:ext cx="2133600" cy="316753"/>
          </a:xfrm>
          <a:prstGeom prst="rect">
            <a:avLst/>
          </a:prstGeom>
          <a:noFill/>
        </p:spPr>
        <p:txBody>
          <a:bodyPr vertOverflow="clip" horzOverflow="clip" wrap="square" lIns="0" tIns="0" rIns="0" bIns="0" rtlCol="0" anchor="ctr">
            <a:spAutoFit/>
          </a:bodyPr>
          <a:lstStyle/>
          <a:p>
            <a:pPr algn="l">
              <a:lnSpc>
                <a:spcPts val="2700"/>
              </a:lnSpc>
            </a:pPr>
            <a:r>
              <a:rPr lang="en-US" sz="1800" spc="-18" dirty="0">
                <a:solidFill>
                  <a:srgbClr val="A7A7A7">
                    <a:alpha val="100000"/>
                  </a:srgbClr>
                </a:solidFill>
                <a:latin typeface="Montserrat Light" panose="00000700000000000000" pitchFamily="2" charset="0"/>
              </a:rPr>
              <a:t>Founder </a:t>
            </a:r>
            <a:r>
              <a:rPr lang="en-US" spc="-18" dirty="0">
                <a:solidFill>
                  <a:srgbClr val="A7A7A7">
                    <a:alpha val="100000"/>
                  </a:srgbClr>
                </a:solidFill>
                <a:latin typeface="Montserrat Light" panose="00000700000000000000" pitchFamily="2" charset="0"/>
              </a:rPr>
              <a:t>Director</a:t>
            </a:r>
            <a:endParaRPr lang="en-US" sz="1800" spc="-18" dirty="0">
              <a:solidFill>
                <a:srgbClr val="A7A7A7">
                  <a:alpha val="100000"/>
                </a:srgbClr>
              </a:solidFill>
              <a:latin typeface="Montserrat Light" panose="00000700000000000000" pitchFamily="2" charset="0"/>
            </a:endParaRPr>
          </a:p>
        </p:txBody>
      </p:sp>
      <p:pic>
        <p:nvPicPr>
          <p:cNvPr id="104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6134100" y="1866900"/>
            <a:ext cx="9525" cy="7848600"/>
          </a:xfrm>
          <a:prstGeom prst="rect">
            <a:avLst/>
          </a:prstGeom>
        </p:spPr>
      </p:pic>
      <p:pic>
        <p:nvPicPr>
          <p:cNvPr id="1041"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6619875" y="1866900"/>
            <a:ext cx="5057775" cy="6477000"/>
          </a:xfrm>
          <a:prstGeom prst="rect">
            <a:avLst/>
          </a:prstGeom>
          <a:effectLst>
            <a:outerShdw blurRad="114300" dir="2700000" algn="ctr" rotWithShape="0">
              <a:srgbClr val="000000">
                <a:alpha val="40000"/>
              </a:srgbClr>
            </a:outerShdw>
          </a:effectLst>
        </p:spPr>
      </p:pic>
      <p:sp>
        <p:nvSpPr>
          <p:cNvPr id="1043" name="Name-1">
            <a:extLst>
              <a:ext uri="{FF2B5EF4-FFF2-40B4-BE49-F238E27FC236}">
                <a16:creationId xmlns:a16="http://schemas.microsoft.com/office/drawing/2014/main" id="{111B4A49-B930-4A89-A1CD-6CA2B3D95AED}"/>
              </a:ext>
            </a:extLst>
          </p:cNvPr>
          <p:cNvSpPr txBox="1"/>
          <p:nvPr/>
        </p:nvSpPr>
        <p:spPr>
          <a:xfrm>
            <a:off x="6616636" y="8971214"/>
            <a:ext cx="3209925" cy="355097"/>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F2F1F3">
                    <a:alpha val="100000"/>
                  </a:srgbClr>
                </a:solidFill>
                <a:latin typeface="Montserrat" panose="00000700000000000000" pitchFamily="2" charset="0"/>
              </a:rPr>
              <a:t>Vishal Kulkarni</a:t>
            </a:r>
          </a:p>
        </p:txBody>
      </p:sp>
      <p:sp>
        <p:nvSpPr>
          <p:cNvPr id="1044" name="Designation-1">
            <a:extLst>
              <a:ext uri="{FF2B5EF4-FFF2-40B4-BE49-F238E27FC236}">
                <a16:creationId xmlns:a16="http://schemas.microsoft.com/office/drawing/2014/main" id="{111B4A49-B930-4A89-A1CD-6CA2B3D95AED}"/>
              </a:ext>
            </a:extLst>
          </p:cNvPr>
          <p:cNvSpPr txBox="1"/>
          <p:nvPr/>
        </p:nvSpPr>
        <p:spPr>
          <a:xfrm>
            <a:off x="6616636" y="9388055"/>
            <a:ext cx="3209925" cy="316753"/>
          </a:xfrm>
          <a:prstGeom prst="rect">
            <a:avLst/>
          </a:prstGeom>
          <a:noFill/>
        </p:spPr>
        <p:txBody>
          <a:bodyPr vertOverflow="clip" horzOverflow="clip" wrap="square" lIns="0" tIns="0" rIns="0" bIns="0" rtlCol="0" anchor="ctr">
            <a:spAutoFit/>
          </a:bodyPr>
          <a:lstStyle/>
          <a:p>
            <a:pPr algn="l">
              <a:lnSpc>
                <a:spcPts val="2700"/>
              </a:lnSpc>
            </a:pPr>
            <a:r>
              <a:rPr lang="en-US" spc="-18" dirty="0">
                <a:solidFill>
                  <a:srgbClr val="A7A7A7">
                    <a:alpha val="100000"/>
                  </a:srgbClr>
                </a:solidFill>
                <a:latin typeface="Montserrat Light" panose="00000700000000000000" pitchFamily="2" charset="0"/>
              </a:rPr>
              <a:t>Director</a:t>
            </a:r>
            <a:endParaRPr lang="en-US" sz="1800" spc="-18" dirty="0">
              <a:solidFill>
                <a:srgbClr val="A7A7A7">
                  <a:alpha val="100000"/>
                </a:srgbClr>
              </a:solidFill>
              <a:latin typeface="Montserrat Light" panose="00000700000000000000" pitchFamily="2" charset="0"/>
            </a:endParaRPr>
          </a:p>
        </p:txBody>
      </p:sp>
      <p:pic>
        <p:nvPicPr>
          <p:cNvPr id="104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12144375" y="1866900"/>
            <a:ext cx="9525" cy="7848600"/>
          </a:xfrm>
          <a:prstGeom prst="rect">
            <a:avLst/>
          </a:prstGeom>
        </p:spPr>
      </p:pic>
      <p:pic>
        <p:nvPicPr>
          <p:cNvPr id="104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12620625" y="1866900"/>
            <a:ext cx="5057775" cy="6477000"/>
          </a:xfrm>
          <a:prstGeom prst="rect">
            <a:avLst/>
          </a:prstGeom>
          <a:effectLst>
            <a:outerShdw blurRad="114300" dir="2700000" algn="ctr" rotWithShape="0">
              <a:srgbClr val="000000">
                <a:alpha val="40000"/>
              </a:srgbClr>
            </a:outerShdw>
          </a:effectLst>
        </p:spPr>
      </p:pic>
      <p:sp>
        <p:nvSpPr>
          <p:cNvPr id="1048" name="Name-2">
            <a:extLst>
              <a:ext uri="{FF2B5EF4-FFF2-40B4-BE49-F238E27FC236}">
                <a16:creationId xmlns:a16="http://schemas.microsoft.com/office/drawing/2014/main" id="{111B4A49-B930-4A89-A1CD-6CA2B3D95AED}"/>
              </a:ext>
            </a:extLst>
          </p:cNvPr>
          <p:cNvSpPr txBox="1"/>
          <p:nvPr/>
        </p:nvSpPr>
        <p:spPr>
          <a:xfrm>
            <a:off x="12623768" y="8971214"/>
            <a:ext cx="2823184" cy="355097"/>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EBEAED">
                    <a:alpha val="100000"/>
                  </a:srgbClr>
                </a:solidFill>
                <a:latin typeface="Montserrat" panose="00000700000000000000" pitchFamily="2" charset="0"/>
              </a:rPr>
              <a:t>Pushpa Ravishankar</a:t>
            </a:r>
          </a:p>
        </p:txBody>
      </p:sp>
      <p:sp>
        <p:nvSpPr>
          <p:cNvPr id="1049" name="Designation-2">
            <a:extLst>
              <a:ext uri="{FF2B5EF4-FFF2-40B4-BE49-F238E27FC236}">
                <a16:creationId xmlns:a16="http://schemas.microsoft.com/office/drawing/2014/main" id="{111B4A49-B930-4A89-A1CD-6CA2B3D95AED}"/>
              </a:ext>
            </a:extLst>
          </p:cNvPr>
          <p:cNvSpPr txBox="1"/>
          <p:nvPr/>
        </p:nvSpPr>
        <p:spPr>
          <a:xfrm>
            <a:off x="12623768" y="9388055"/>
            <a:ext cx="2752725" cy="316753"/>
          </a:xfrm>
          <a:prstGeom prst="rect">
            <a:avLst/>
          </a:prstGeom>
          <a:noFill/>
        </p:spPr>
        <p:txBody>
          <a:bodyPr vertOverflow="clip" horzOverflow="clip" wrap="square" lIns="0" tIns="0" rIns="0" bIns="0" rtlCol="0" anchor="ctr">
            <a:spAutoFit/>
          </a:bodyPr>
          <a:lstStyle/>
          <a:p>
            <a:pPr algn="l">
              <a:lnSpc>
                <a:spcPts val="2700"/>
              </a:lnSpc>
            </a:pPr>
            <a:r>
              <a:rPr lang="en-US" spc="-18">
                <a:solidFill>
                  <a:srgbClr val="A7A7A7">
                    <a:alpha val="100000"/>
                  </a:srgbClr>
                </a:solidFill>
                <a:latin typeface="Montserrat Light" panose="00000700000000000000" pitchFamily="2" charset="0"/>
              </a:rPr>
              <a:t>Director</a:t>
            </a:r>
            <a:endParaRPr lang="en-US" sz="1800" spc="-18" dirty="0">
              <a:solidFill>
                <a:srgbClr val="A7A7A7">
                  <a:alpha val="100000"/>
                </a:srgbClr>
              </a:solidFill>
              <a:latin typeface="Montserrat Light" panose="00000700000000000000" pitchFamily="2" charset="0"/>
            </a:endParaRPr>
          </a:p>
        </p:txBody>
      </p:sp>
      <p:sp>
        <p:nvSpPr>
          <p:cNvPr id="1050" name="Click here to edit title-436">
            <a:extLst>
              <a:ext uri="{FF2B5EF4-FFF2-40B4-BE49-F238E27FC236}">
                <a16:creationId xmlns:a16="http://schemas.microsoft.com/office/drawing/2014/main" id="{111B4A49-B930-4A89-A1CD-6CA2B3D95AED}"/>
              </a:ext>
            </a:extLst>
          </p:cNvPr>
          <p:cNvSpPr txBox="1"/>
          <p:nvPr/>
        </p:nvSpPr>
        <p:spPr>
          <a:xfrm>
            <a:off x="1219200" y="733425"/>
            <a:ext cx="15992475" cy="676275"/>
          </a:xfrm>
          <a:prstGeom prst="rect">
            <a:avLst/>
          </a:prstGeom>
          <a:noFill/>
        </p:spPr>
        <p:txBody>
          <a:bodyPr vertOverflow="clip" horzOverflow="clip" wrap="square" lIns="0" tIns="0" rIns="0" bIns="0" rtlCol="0" anchor="ctr">
            <a:spAutoFit/>
          </a:bodyPr>
          <a:lstStyle/>
          <a:p>
            <a:pPr algn="l">
              <a:lnSpc>
                <a:spcPts val="5250"/>
              </a:lnSpc>
            </a:pPr>
            <a:r>
              <a:rPr lang="en-US" sz="4200" spc="-84" dirty="0">
                <a:solidFill>
                  <a:srgbClr val="FFFFFF">
                    <a:alpha val="100000"/>
                  </a:srgbClr>
                </a:solidFill>
                <a:latin typeface="Montserrat Light" panose="00000700000000000000" pitchFamily="2" charset="0"/>
              </a:rPr>
              <a:t>The Team</a:t>
            </a:r>
          </a:p>
        </p:txBody>
      </p:sp>
      <p:pic>
        <p:nvPicPr>
          <p:cNvPr id="1051"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590550" y="733425"/>
            <a:ext cx="19050" cy="666750"/>
          </a:xfrm>
          <a:prstGeom prst="rect">
            <a:avLst/>
          </a:prstGeom>
        </p:spPr>
      </p:pic>
      <p:sp>
        <p:nvSpPr>
          <p:cNvPr id="5" name="TextBox 4">
            <a:extLst>
              <a:ext uri="{FF2B5EF4-FFF2-40B4-BE49-F238E27FC236}">
                <a16:creationId xmlns:a16="http://schemas.microsoft.com/office/drawing/2014/main" id="{FC98A541-3A75-F951-B64F-C5F3F7BF9133}"/>
              </a:ext>
            </a:extLst>
          </p:cNvPr>
          <p:cNvSpPr txBox="1"/>
          <p:nvPr/>
        </p:nvSpPr>
        <p:spPr>
          <a:xfrm>
            <a:off x="609600" y="2826327"/>
            <a:ext cx="5048250" cy="4555093"/>
          </a:xfrm>
          <a:prstGeom prst="rect">
            <a:avLst/>
          </a:prstGeom>
          <a:noFill/>
        </p:spPr>
        <p:txBody>
          <a:bodyPr wrap="square" rtlCol="0">
            <a:spAutoFit/>
          </a:bodyPr>
          <a:lstStyle/>
          <a:p>
            <a:r>
              <a:rPr lang="en-US" sz="2400" b="1" spc="-32" dirty="0">
                <a:solidFill>
                  <a:srgbClr val="F2F1F3">
                    <a:alpha val="100000"/>
                  </a:srgbClr>
                </a:solidFill>
                <a:latin typeface="Montserrat" panose="00000700000000000000" pitchFamily="2" charset="0"/>
              </a:rPr>
              <a:t>With over 35 years of experience in mechanical design and manufacturing, Mr. Ravishankar is a seasoned mechanical engineer. His expertise lies in creating complex machines that push the boundaries of innovation. His passion for precision and attention to detail have been instrumental in our success.</a:t>
            </a:r>
          </a:p>
          <a:p>
            <a:endParaRPr lang="en-IN" sz="2600" dirty="0"/>
          </a:p>
        </p:txBody>
      </p:sp>
      <p:sp>
        <p:nvSpPr>
          <p:cNvPr id="6" name="TextBox 5">
            <a:extLst>
              <a:ext uri="{FF2B5EF4-FFF2-40B4-BE49-F238E27FC236}">
                <a16:creationId xmlns:a16="http://schemas.microsoft.com/office/drawing/2014/main" id="{25F6D5AA-2089-7B45-9F08-8E4BEB244C38}"/>
              </a:ext>
            </a:extLst>
          </p:cNvPr>
          <p:cNvSpPr txBox="1"/>
          <p:nvPr/>
        </p:nvSpPr>
        <p:spPr>
          <a:xfrm>
            <a:off x="6686550" y="2826326"/>
            <a:ext cx="5048250" cy="6001643"/>
          </a:xfrm>
          <a:prstGeom prst="rect">
            <a:avLst/>
          </a:prstGeom>
          <a:noFill/>
        </p:spPr>
        <p:txBody>
          <a:bodyPr wrap="square" rtlCol="0">
            <a:spAutoFit/>
          </a:bodyPr>
          <a:lstStyle/>
          <a:p>
            <a:pPr algn="l"/>
            <a:r>
              <a:rPr lang="en-US" sz="2400" b="1" spc="-32" dirty="0">
                <a:solidFill>
                  <a:srgbClr val="F2F1F3">
                    <a:alpha val="100000"/>
                  </a:srgbClr>
                </a:solidFill>
                <a:latin typeface="Montserrat" panose="00000700000000000000" pitchFamily="2" charset="0"/>
              </a:rPr>
              <a:t>Also a qualified mechanical engineer with 22 years of experience in Design, manufacturing, process planning &amp; operations, Vishal brings a wealth of knowledge to our team. His 15-year long business partnership with Mr. Ravishankar has been the cornerstone of our achievements. Together, they’ve navigated challenges, celebrated victories, and built a legacy of excellence.</a:t>
            </a:r>
          </a:p>
          <a:p>
            <a:endParaRPr lang="en-IN" sz="2400" b="1" spc="-32" dirty="0">
              <a:solidFill>
                <a:srgbClr val="F2F1F3">
                  <a:alpha val="100000"/>
                </a:srgbClr>
              </a:solidFill>
              <a:latin typeface="Montserrat" panose="00000700000000000000" pitchFamily="2" charset="0"/>
            </a:endParaRPr>
          </a:p>
        </p:txBody>
      </p:sp>
      <p:sp>
        <p:nvSpPr>
          <p:cNvPr id="9" name="TextBox 8">
            <a:extLst>
              <a:ext uri="{FF2B5EF4-FFF2-40B4-BE49-F238E27FC236}">
                <a16:creationId xmlns:a16="http://schemas.microsoft.com/office/drawing/2014/main" id="{653106FB-CCF8-6034-B11C-48132DB70602}"/>
              </a:ext>
            </a:extLst>
          </p:cNvPr>
          <p:cNvSpPr txBox="1"/>
          <p:nvPr/>
        </p:nvSpPr>
        <p:spPr>
          <a:xfrm>
            <a:off x="12687300" y="2826326"/>
            <a:ext cx="4367645" cy="2308324"/>
          </a:xfrm>
          <a:prstGeom prst="rect">
            <a:avLst/>
          </a:prstGeom>
          <a:noFill/>
        </p:spPr>
        <p:txBody>
          <a:bodyPr wrap="square" rtlCol="0">
            <a:spAutoFit/>
          </a:bodyPr>
          <a:lstStyle/>
          <a:p>
            <a:pPr marL="0" indent="0" algn="l">
              <a:buNone/>
            </a:pPr>
            <a:r>
              <a:rPr lang="en-US" sz="2400" b="1" spc="-32" dirty="0">
                <a:solidFill>
                  <a:srgbClr val="F2F1F3">
                    <a:alpha val="100000"/>
                  </a:srgbClr>
                </a:solidFill>
                <a:latin typeface="Montserrat" panose="00000700000000000000" pitchFamily="2" charset="0"/>
              </a:rPr>
              <a:t>Looking after administration, Mrs. Pushpa has a keen interest in the growth of the business.</a:t>
            </a:r>
          </a:p>
          <a:p>
            <a:endParaRPr lang="en-IN" sz="2400" b="1" spc="-32" dirty="0">
              <a:solidFill>
                <a:srgbClr val="F2F1F3">
                  <a:alpha val="100000"/>
                </a:srgbClr>
              </a:solidFill>
              <a:latin typeface="Montserrat" panose="00000700000000000000" pitchFamily="2" charset="0"/>
            </a:endParaRPr>
          </a:p>
        </p:txBody>
      </p:sp>
    </p:spTree>
    <p:extLst>
      <p:ext uri="{BB962C8B-B14F-4D97-AF65-F5344CB8AC3E}">
        <p14:creationId xmlns:p14="http://schemas.microsoft.com/office/powerpoint/2010/main" val="36480479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5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0" y="0"/>
            <a:ext cx="18288000" cy="10287000"/>
          </a:xfrm>
          <a:prstGeom prst="rect">
            <a:avLst/>
          </a:prstGeom>
        </p:spPr>
      </p:pic>
      <p:pic>
        <p:nvPicPr>
          <p:cNvPr id="1055" name="layoutShapeInnerChild1">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0" y="0"/>
            <a:ext cx="18288000" cy="10287000"/>
          </a:xfrm>
          <a:prstGeom prst="rect">
            <a:avLst/>
          </a:prstGeom>
        </p:spPr>
      </p:pic>
      <p:pic>
        <p:nvPicPr>
          <p:cNvPr id="105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762000" y="1981200"/>
            <a:ext cx="2314575" cy="1581150"/>
          </a:xfrm>
          <a:prstGeom prst="rect">
            <a:avLst/>
          </a:prstGeom>
        </p:spPr>
      </p:pic>
      <p:sp>
        <p:nvSpPr>
          <p:cNvPr id="1057" name="Primary Heading-0,0">
            <a:extLst>
              <a:ext uri="{FF2B5EF4-FFF2-40B4-BE49-F238E27FC236}">
                <a16:creationId xmlns:a16="http://schemas.microsoft.com/office/drawing/2014/main" id="{111B4A49-B930-4A89-A1CD-6CA2B3D95AED}"/>
              </a:ext>
            </a:extLst>
          </p:cNvPr>
          <p:cNvSpPr txBox="1"/>
          <p:nvPr/>
        </p:nvSpPr>
        <p:spPr>
          <a:xfrm>
            <a:off x="1383982" y="2577179"/>
            <a:ext cx="1181100" cy="390525"/>
          </a:xfrm>
          <a:prstGeom prst="rect">
            <a:avLst/>
          </a:prstGeom>
          <a:noFill/>
        </p:spPr>
        <p:txBody>
          <a:bodyPr vertOverflow="clip" horzOverflow="clip" wrap="square" lIns="0" tIns="0" rIns="0" bIns="0" rtlCol="0" anchor="ctr">
            <a:spAutoFit/>
          </a:bodyPr>
          <a:lstStyle/>
          <a:p>
            <a:pPr algn="ctr">
              <a:lnSpc>
                <a:spcPts val="2982"/>
              </a:lnSpc>
            </a:pPr>
            <a:r>
              <a:rPr lang="en-US" sz="2100" b="1" spc="-32" dirty="0">
                <a:solidFill>
                  <a:srgbClr val="15092E">
                    <a:alpha val="100000"/>
                  </a:srgbClr>
                </a:solidFill>
                <a:latin typeface="Montserrat" panose="00000700000000000000" pitchFamily="2" charset="0"/>
              </a:rPr>
              <a:t>Quarter</a:t>
            </a:r>
          </a:p>
        </p:txBody>
      </p:sp>
      <p:pic>
        <p:nvPicPr>
          <p:cNvPr id="105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3048000" y="1981200"/>
            <a:ext cx="3648075" cy="1581150"/>
          </a:xfrm>
          <a:prstGeom prst="rect">
            <a:avLst/>
          </a:prstGeom>
        </p:spPr>
      </p:pic>
      <p:sp>
        <p:nvSpPr>
          <p:cNvPr id="1059" name="Primary Heading-0,1">
            <a:extLst>
              <a:ext uri="{FF2B5EF4-FFF2-40B4-BE49-F238E27FC236}">
                <a16:creationId xmlns:a16="http://schemas.microsoft.com/office/drawing/2014/main" id="{111B4A49-B930-4A89-A1CD-6CA2B3D95AED}"/>
              </a:ext>
            </a:extLst>
          </p:cNvPr>
          <p:cNvSpPr txBox="1"/>
          <p:nvPr/>
        </p:nvSpPr>
        <p:spPr>
          <a:xfrm>
            <a:off x="3910489" y="2594893"/>
            <a:ext cx="2047875" cy="355097"/>
          </a:xfrm>
          <a:prstGeom prst="rect">
            <a:avLst/>
          </a:prstGeom>
          <a:noFill/>
        </p:spPr>
        <p:txBody>
          <a:bodyPr vertOverflow="clip" horzOverflow="clip" wrap="square" lIns="0" tIns="0" rIns="0" bIns="0" rtlCol="0" anchor="ctr">
            <a:spAutoFit/>
          </a:bodyPr>
          <a:lstStyle/>
          <a:p>
            <a:pPr algn="ctr">
              <a:lnSpc>
                <a:spcPts val="2982"/>
              </a:lnSpc>
            </a:pPr>
            <a:r>
              <a:rPr lang="en-US" sz="2100" b="1" spc="-32" dirty="0">
                <a:solidFill>
                  <a:srgbClr val="15092E">
                    <a:alpha val="100000"/>
                  </a:srgbClr>
                </a:solidFill>
                <a:latin typeface="Montserrat" panose="00000700000000000000" pitchFamily="2" charset="0"/>
              </a:rPr>
              <a:t>Revenue</a:t>
            </a:r>
          </a:p>
        </p:txBody>
      </p:sp>
      <p:pic>
        <p:nvPicPr>
          <p:cNvPr id="106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6677025" y="1981200"/>
            <a:ext cx="3790950" cy="1581150"/>
          </a:xfrm>
          <a:prstGeom prst="rect">
            <a:avLst/>
          </a:prstGeom>
        </p:spPr>
      </p:pic>
      <p:sp>
        <p:nvSpPr>
          <p:cNvPr id="1061" name="Primary Heading-0,2">
            <a:extLst>
              <a:ext uri="{FF2B5EF4-FFF2-40B4-BE49-F238E27FC236}">
                <a16:creationId xmlns:a16="http://schemas.microsoft.com/office/drawing/2014/main" id="{111B4A49-B930-4A89-A1CD-6CA2B3D95AED}"/>
              </a:ext>
            </a:extLst>
          </p:cNvPr>
          <p:cNvSpPr txBox="1"/>
          <p:nvPr/>
        </p:nvSpPr>
        <p:spPr>
          <a:xfrm>
            <a:off x="7561898" y="2594893"/>
            <a:ext cx="2143125" cy="355097"/>
          </a:xfrm>
          <a:prstGeom prst="rect">
            <a:avLst/>
          </a:prstGeom>
          <a:noFill/>
        </p:spPr>
        <p:txBody>
          <a:bodyPr vertOverflow="clip" horzOverflow="clip" wrap="square" lIns="0" tIns="0" rIns="0" bIns="0" rtlCol="0" anchor="ctr">
            <a:spAutoFit/>
          </a:bodyPr>
          <a:lstStyle/>
          <a:p>
            <a:pPr algn="ctr">
              <a:lnSpc>
                <a:spcPts val="2982"/>
              </a:lnSpc>
            </a:pPr>
            <a:r>
              <a:rPr lang="en-US" sz="2100" b="1" spc="-32" dirty="0">
                <a:solidFill>
                  <a:srgbClr val="15092E">
                    <a:alpha val="100000"/>
                  </a:srgbClr>
                </a:solidFill>
                <a:latin typeface="Montserrat" panose="00000700000000000000" pitchFamily="2" charset="0"/>
              </a:rPr>
              <a:t>Expenses</a:t>
            </a:r>
          </a:p>
        </p:txBody>
      </p:sp>
      <p:pic>
        <p:nvPicPr>
          <p:cNvPr id="106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10448925" y="1981200"/>
            <a:ext cx="2971800" cy="1581150"/>
          </a:xfrm>
          <a:prstGeom prst="rect">
            <a:avLst/>
          </a:prstGeom>
        </p:spPr>
      </p:pic>
      <p:sp>
        <p:nvSpPr>
          <p:cNvPr id="1063" name="Primary Heading-0,3">
            <a:extLst>
              <a:ext uri="{FF2B5EF4-FFF2-40B4-BE49-F238E27FC236}">
                <a16:creationId xmlns:a16="http://schemas.microsoft.com/office/drawing/2014/main" id="{111B4A49-B930-4A89-A1CD-6CA2B3D95AED}"/>
              </a:ext>
            </a:extLst>
          </p:cNvPr>
          <p:cNvSpPr txBox="1"/>
          <p:nvPr/>
        </p:nvSpPr>
        <p:spPr>
          <a:xfrm>
            <a:off x="11189780" y="2594893"/>
            <a:ext cx="1609725" cy="355097"/>
          </a:xfrm>
          <a:prstGeom prst="rect">
            <a:avLst/>
          </a:prstGeom>
          <a:noFill/>
        </p:spPr>
        <p:txBody>
          <a:bodyPr vertOverflow="clip" horzOverflow="clip" wrap="square" lIns="0" tIns="0" rIns="0" bIns="0" rtlCol="0" anchor="ctr">
            <a:spAutoFit/>
          </a:bodyPr>
          <a:lstStyle/>
          <a:p>
            <a:pPr algn="ctr">
              <a:lnSpc>
                <a:spcPts val="2982"/>
              </a:lnSpc>
            </a:pPr>
            <a:r>
              <a:rPr lang="en-US" sz="2100" b="1" spc="-32" dirty="0">
                <a:solidFill>
                  <a:srgbClr val="15092E">
                    <a:alpha val="100000"/>
                  </a:srgbClr>
                </a:solidFill>
                <a:latin typeface="Montserrat" panose="00000700000000000000" pitchFamily="2" charset="0"/>
              </a:rPr>
              <a:t>Profit-PAT</a:t>
            </a:r>
          </a:p>
        </p:txBody>
      </p:sp>
      <p:pic>
        <p:nvPicPr>
          <p:cNvPr id="106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8">
            <a:alphaModFix/>
          </a:blip>
          <a:stretch/>
        </p:blipFill>
        <p:spPr>
          <a:xfrm>
            <a:off x="13401675" y="1981200"/>
            <a:ext cx="4124325" cy="1581150"/>
          </a:xfrm>
          <a:prstGeom prst="rect">
            <a:avLst/>
          </a:prstGeom>
        </p:spPr>
      </p:pic>
      <p:sp>
        <p:nvSpPr>
          <p:cNvPr id="1065" name="Primary Heading-0,4">
            <a:extLst>
              <a:ext uri="{FF2B5EF4-FFF2-40B4-BE49-F238E27FC236}">
                <a16:creationId xmlns:a16="http://schemas.microsoft.com/office/drawing/2014/main" id="{111B4A49-B930-4A89-A1CD-6CA2B3D95AED}"/>
              </a:ext>
            </a:extLst>
          </p:cNvPr>
          <p:cNvSpPr txBox="1"/>
          <p:nvPr/>
        </p:nvSpPr>
        <p:spPr>
          <a:xfrm>
            <a:off x="14343698" y="2594893"/>
            <a:ext cx="2362200" cy="355097"/>
          </a:xfrm>
          <a:prstGeom prst="rect">
            <a:avLst/>
          </a:prstGeom>
          <a:noFill/>
        </p:spPr>
        <p:txBody>
          <a:bodyPr vertOverflow="clip" horzOverflow="clip" wrap="square" lIns="0" tIns="0" rIns="0" bIns="0" rtlCol="0" anchor="ctr">
            <a:spAutoFit/>
          </a:bodyPr>
          <a:lstStyle/>
          <a:p>
            <a:pPr algn="ctr">
              <a:lnSpc>
                <a:spcPts val="2982"/>
              </a:lnSpc>
            </a:pPr>
            <a:r>
              <a:rPr lang="en-US" sz="2100" b="1" spc="-32" dirty="0">
                <a:solidFill>
                  <a:srgbClr val="15092E">
                    <a:alpha val="100000"/>
                  </a:srgbClr>
                </a:solidFill>
                <a:latin typeface="Montserrat" panose="00000700000000000000" pitchFamily="2" charset="0"/>
              </a:rPr>
              <a:t>PAT Margin (%)</a:t>
            </a:r>
          </a:p>
        </p:txBody>
      </p:sp>
      <p:pic>
        <p:nvPicPr>
          <p:cNvPr id="106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9">
            <a:alphaModFix/>
          </a:blip>
          <a:stretch/>
        </p:blipFill>
        <p:spPr>
          <a:xfrm>
            <a:off x="762000" y="3592960"/>
            <a:ext cx="2314575" cy="1514475"/>
          </a:xfrm>
          <a:prstGeom prst="rect">
            <a:avLst/>
          </a:prstGeom>
        </p:spPr>
      </p:pic>
      <p:sp>
        <p:nvSpPr>
          <p:cNvPr id="1067" name="Description of a primary heading-1,0">
            <a:extLst>
              <a:ext uri="{FF2B5EF4-FFF2-40B4-BE49-F238E27FC236}">
                <a16:creationId xmlns:a16="http://schemas.microsoft.com/office/drawing/2014/main" id="{111B4A49-B930-4A89-A1CD-6CA2B3D95AED}"/>
              </a:ext>
            </a:extLst>
          </p:cNvPr>
          <p:cNvSpPr txBox="1"/>
          <p:nvPr/>
        </p:nvSpPr>
        <p:spPr>
          <a:xfrm>
            <a:off x="1705832" y="4132421"/>
            <a:ext cx="409575" cy="352425"/>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F2F1F3">
                    <a:alpha val="100000"/>
                  </a:srgbClr>
                </a:solidFill>
                <a:latin typeface="Montserrat Light" panose="00000700000000000000" pitchFamily="2" charset="0"/>
              </a:rPr>
              <a:t>Q1</a:t>
            </a:r>
          </a:p>
        </p:txBody>
      </p:sp>
      <p:pic>
        <p:nvPicPr>
          <p:cNvPr id="106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0">
            <a:alphaModFix/>
          </a:blip>
          <a:stretch/>
        </p:blipFill>
        <p:spPr>
          <a:xfrm>
            <a:off x="3048000" y="3552825"/>
            <a:ext cx="3648075" cy="1514475"/>
          </a:xfrm>
          <a:prstGeom prst="rect">
            <a:avLst/>
          </a:prstGeom>
        </p:spPr>
      </p:pic>
      <p:sp>
        <p:nvSpPr>
          <p:cNvPr id="1069" name="Description of a primary heading-1,1">
            <a:extLst>
              <a:ext uri="{FF2B5EF4-FFF2-40B4-BE49-F238E27FC236}">
                <a16:creationId xmlns:a16="http://schemas.microsoft.com/office/drawing/2014/main" id="{111B4A49-B930-4A89-A1CD-6CA2B3D95AED}"/>
              </a:ext>
            </a:extLst>
          </p:cNvPr>
          <p:cNvSpPr txBox="1"/>
          <p:nvPr/>
        </p:nvSpPr>
        <p:spPr>
          <a:xfrm>
            <a:off x="4333875" y="4150257"/>
            <a:ext cx="1066800" cy="316753"/>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E5E3E7">
                    <a:alpha val="100000"/>
                  </a:srgbClr>
                </a:solidFill>
                <a:latin typeface="Montserrat Light" panose="00000700000000000000" pitchFamily="2" charset="0"/>
              </a:rPr>
              <a:t>₹ </a:t>
            </a:r>
            <a:r>
              <a:rPr lang="en-US" spc="-18" dirty="0">
                <a:solidFill>
                  <a:srgbClr val="F2F1F3">
                    <a:alpha val="100000"/>
                  </a:srgbClr>
                </a:solidFill>
                <a:latin typeface="Montserrat Light" panose="00000700000000000000" pitchFamily="2" charset="0"/>
              </a:rPr>
              <a:t>10.0</a:t>
            </a:r>
            <a:endParaRPr lang="en-US" sz="1800" spc="-18" dirty="0">
              <a:solidFill>
                <a:srgbClr val="F2F1F3">
                  <a:alpha val="100000"/>
                </a:srgbClr>
              </a:solidFill>
              <a:latin typeface="Montserrat Light" panose="00000700000000000000" pitchFamily="2" charset="0"/>
            </a:endParaRPr>
          </a:p>
        </p:txBody>
      </p:sp>
      <p:pic>
        <p:nvPicPr>
          <p:cNvPr id="107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1">
            <a:alphaModFix/>
          </a:blip>
          <a:stretch/>
        </p:blipFill>
        <p:spPr>
          <a:xfrm>
            <a:off x="6677025" y="3552825"/>
            <a:ext cx="3790950" cy="1514475"/>
          </a:xfrm>
          <a:prstGeom prst="rect">
            <a:avLst/>
          </a:prstGeom>
        </p:spPr>
      </p:pic>
      <p:sp>
        <p:nvSpPr>
          <p:cNvPr id="1071" name="Description of a primary heading-1,2">
            <a:extLst>
              <a:ext uri="{FF2B5EF4-FFF2-40B4-BE49-F238E27FC236}">
                <a16:creationId xmlns:a16="http://schemas.microsoft.com/office/drawing/2014/main" id="{111B4A49-B930-4A89-A1CD-6CA2B3D95AED}"/>
              </a:ext>
            </a:extLst>
          </p:cNvPr>
          <p:cNvSpPr txBox="1"/>
          <p:nvPr/>
        </p:nvSpPr>
        <p:spPr>
          <a:xfrm>
            <a:off x="8047101" y="4150257"/>
            <a:ext cx="1106424" cy="316753"/>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E5E3E7">
                    <a:alpha val="100000"/>
                  </a:srgbClr>
                </a:solidFill>
                <a:latin typeface="Montserrat Light" panose="00000700000000000000" pitchFamily="2" charset="0"/>
              </a:rPr>
              <a:t>₹ </a:t>
            </a:r>
            <a:r>
              <a:rPr lang="en-US" spc="-18" dirty="0">
                <a:solidFill>
                  <a:srgbClr val="F2F1F3">
                    <a:alpha val="100000"/>
                  </a:srgbClr>
                </a:solidFill>
                <a:latin typeface="Montserrat Light" panose="00000700000000000000" pitchFamily="2" charset="0"/>
              </a:rPr>
              <a:t>2.20</a:t>
            </a:r>
            <a:endParaRPr lang="en-US" sz="1800" spc="-18" dirty="0">
              <a:solidFill>
                <a:srgbClr val="F2F1F3">
                  <a:alpha val="100000"/>
                </a:srgbClr>
              </a:solidFill>
              <a:latin typeface="Montserrat Light" panose="00000700000000000000" pitchFamily="2" charset="0"/>
            </a:endParaRPr>
          </a:p>
        </p:txBody>
      </p:sp>
      <p:pic>
        <p:nvPicPr>
          <p:cNvPr id="107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2">
            <a:alphaModFix/>
          </a:blip>
          <a:stretch/>
        </p:blipFill>
        <p:spPr>
          <a:xfrm>
            <a:off x="10448925" y="3552825"/>
            <a:ext cx="2971800" cy="1514475"/>
          </a:xfrm>
          <a:prstGeom prst="rect">
            <a:avLst/>
          </a:prstGeom>
        </p:spPr>
      </p:pic>
      <p:sp>
        <p:nvSpPr>
          <p:cNvPr id="1073" name="Description of a primary heading-1,3">
            <a:extLst>
              <a:ext uri="{FF2B5EF4-FFF2-40B4-BE49-F238E27FC236}">
                <a16:creationId xmlns:a16="http://schemas.microsoft.com/office/drawing/2014/main" id="{111B4A49-B930-4A89-A1CD-6CA2B3D95AED}"/>
              </a:ext>
            </a:extLst>
          </p:cNvPr>
          <p:cNvSpPr txBox="1"/>
          <p:nvPr/>
        </p:nvSpPr>
        <p:spPr>
          <a:xfrm>
            <a:off x="11478672" y="4150257"/>
            <a:ext cx="1059691" cy="316753"/>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E5E3E7">
                    <a:alpha val="100000"/>
                  </a:srgbClr>
                </a:solidFill>
                <a:latin typeface="Montserrat Light" panose="00000700000000000000" pitchFamily="2" charset="0"/>
              </a:rPr>
              <a:t>₹ </a:t>
            </a:r>
            <a:r>
              <a:rPr lang="en-US" spc="-18" dirty="0">
                <a:solidFill>
                  <a:srgbClr val="F2F1F3">
                    <a:alpha val="100000"/>
                  </a:srgbClr>
                </a:solidFill>
                <a:latin typeface="Montserrat Light" panose="00000700000000000000" pitchFamily="2" charset="0"/>
              </a:rPr>
              <a:t>1.00</a:t>
            </a:r>
            <a:endParaRPr lang="en-US" sz="1800" spc="-18" dirty="0">
              <a:solidFill>
                <a:srgbClr val="F2F1F3">
                  <a:alpha val="100000"/>
                </a:srgbClr>
              </a:solidFill>
              <a:latin typeface="Montserrat Light" panose="00000700000000000000" pitchFamily="2" charset="0"/>
            </a:endParaRPr>
          </a:p>
        </p:txBody>
      </p:sp>
      <p:pic>
        <p:nvPicPr>
          <p:cNvPr id="107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3">
            <a:alphaModFix/>
          </a:blip>
          <a:stretch/>
        </p:blipFill>
        <p:spPr>
          <a:xfrm>
            <a:off x="13401675" y="3552825"/>
            <a:ext cx="4124325" cy="1514475"/>
          </a:xfrm>
          <a:prstGeom prst="rect">
            <a:avLst/>
          </a:prstGeom>
        </p:spPr>
      </p:pic>
      <p:sp>
        <p:nvSpPr>
          <p:cNvPr id="1075" name="Description of a primary heading-1,4">
            <a:extLst>
              <a:ext uri="{FF2B5EF4-FFF2-40B4-BE49-F238E27FC236}">
                <a16:creationId xmlns:a16="http://schemas.microsoft.com/office/drawing/2014/main" id="{111B4A49-B930-4A89-A1CD-6CA2B3D95AED}"/>
              </a:ext>
            </a:extLst>
          </p:cNvPr>
          <p:cNvSpPr txBox="1"/>
          <p:nvPr/>
        </p:nvSpPr>
        <p:spPr>
          <a:xfrm>
            <a:off x="15161419" y="4150257"/>
            <a:ext cx="590550" cy="316753"/>
          </a:xfrm>
          <a:prstGeom prst="rect">
            <a:avLst/>
          </a:prstGeom>
          <a:noFill/>
        </p:spPr>
        <p:txBody>
          <a:bodyPr vertOverflow="clip" horzOverflow="clip" wrap="square" lIns="0" tIns="0" rIns="0" bIns="0" rtlCol="0" anchor="ctr">
            <a:spAutoFit/>
          </a:bodyPr>
          <a:lstStyle/>
          <a:p>
            <a:pPr algn="ctr">
              <a:lnSpc>
                <a:spcPts val="2700"/>
              </a:lnSpc>
            </a:pPr>
            <a:r>
              <a:rPr lang="en-US" spc="-18" dirty="0">
                <a:solidFill>
                  <a:srgbClr val="F2F1F3">
                    <a:alpha val="100000"/>
                  </a:srgbClr>
                </a:solidFill>
                <a:latin typeface="Montserrat Light" panose="00000700000000000000" pitchFamily="2" charset="0"/>
              </a:rPr>
              <a:t>10</a:t>
            </a:r>
            <a:r>
              <a:rPr lang="en-US" sz="1800" spc="-18" dirty="0">
                <a:solidFill>
                  <a:srgbClr val="F2F1F3">
                    <a:alpha val="100000"/>
                  </a:srgbClr>
                </a:solidFill>
                <a:latin typeface="Montserrat Light" panose="00000700000000000000" pitchFamily="2" charset="0"/>
              </a:rPr>
              <a:t>%</a:t>
            </a:r>
          </a:p>
        </p:txBody>
      </p:sp>
      <p:pic>
        <p:nvPicPr>
          <p:cNvPr id="107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9">
            <a:alphaModFix/>
          </a:blip>
          <a:stretch/>
        </p:blipFill>
        <p:spPr>
          <a:xfrm>
            <a:off x="762000" y="5048250"/>
            <a:ext cx="2314575" cy="1514475"/>
          </a:xfrm>
          <a:prstGeom prst="rect">
            <a:avLst/>
          </a:prstGeom>
        </p:spPr>
      </p:pic>
      <p:sp>
        <p:nvSpPr>
          <p:cNvPr id="1077" name="Description of a primary heading-2,0">
            <a:extLst>
              <a:ext uri="{FF2B5EF4-FFF2-40B4-BE49-F238E27FC236}">
                <a16:creationId xmlns:a16="http://schemas.microsoft.com/office/drawing/2014/main" id="{111B4A49-B930-4A89-A1CD-6CA2B3D95AED}"/>
              </a:ext>
            </a:extLst>
          </p:cNvPr>
          <p:cNvSpPr txBox="1"/>
          <p:nvPr/>
        </p:nvSpPr>
        <p:spPr>
          <a:xfrm>
            <a:off x="1681734" y="5634609"/>
            <a:ext cx="457200" cy="352425"/>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EBEAED">
                    <a:alpha val="100000"/>
                  </a:srgbClr>
                </a:solidFill>
                <a:latin typeface="Montserrat Light" panose="00000700000000000000" pitchFamily="2" charset="0"/>
              </a:rPr>
              <a:t>Q2</a:t>
            </a:r>
          </a:p>
        </p:txBody>
      </p:sp>
      <p:pic>
        <p:nvPicPr>
          <p:cNvPr id="107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0">
            <a:alphaModFix/>
          </a:blip>
          <a:stretch/>
        </p:blipFill>
        <p:spPr>
          <a:xfrm>
            <a:off x="3048000" y="5048250"/>
            <a:ext cx="3648075" cy="1514475"/>
          </a:xfrm>
          <a:prstGeom prst="rect">
            <a:avLst/>
          </a:prstGeom>
        </p:spPr>
      </p:pic>
      <p:sp>
        <p:nvSpPr>
          <p:cNvPr id="1079" name="Description of a primary heading-2,1">
            <a:extLst>
              <a:ext uri="{FF2B5EF4-FFF2-40B4-BE49-F238E27FC236}">
                <a16:creationId xmlns:a16="http://schemas.microsoft.com/office/drawing/2014/main" id="{111B4A49-B930-4A89-A1CD-6CA2B3D95AED}"/>
              </a:ext>
            </a:extLst>
          </p:cNvPr>
          <p:cNvSpPr txBox="1"/>
          <p:nvPr/>
        </p:nvSpPr>
        <p:spPr>
          <a:xfrm>
            <a:off x="4324255" y="5652445"/>
            <a:ext cx="1095375" cy="316753"/>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E5E3E7">
                    <a:alpha val="100000"/>
                  </a:srgbClr>
                </a:solidFill>
                <a:latin typeface="Montserrat Light" panose="00000700000000000000" pitchFamily="2" charset="0"/>
              </a:rPr>
              <a:t>₹ </a:t>
            </a:r>
            <a:r>
              <a:rPr lang="en-US" sz="1800" spc="-18" dirty="0">
                <a:solidFill>
                  <a:srgbClr val="EBEAED">
                    <a:alpha val="100000"/>
                  </a:srgbClr>
                </a:solidFill>
                <a:latin typeface="Montserrat Light" panose="00000700000000000000" pitchFamily="2" charset="0"/>
              </a:rPr>
              <a:t>12.00</a:t>
            </a:r>
          </a:p>
        </p:txBody>
      </p:sp>
      <p:pic>
        <p:nvPicPr>
          <p:cNvPr id="108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1">
            <a:alphaModFix/>
          </a:blip>
          <a:stretch/>
        </p:blipFill>
        <p:spPr>
          <a:xfrm>
            <a:off x="6677025" y="5048250"/>
            <a:ext cx="3790950" cy="1514475"/>
          </a:xfrm>
          <a:prstGeom prst="rect">
            <a:avLst/>
          </a:prstGeom>
        </p:spPr>
      </p:pic>
      <p:sp>
        <p:nvSpPr>
          <p:cNvPr id="1081" name="Description of a primary heading-2,2">
            <a:extLst>
              <a:ext uri="{FF2B5EF4-FFF2-40B4-BE49-F238E27FC236}">
                <a16:creationId xmlns:a16="http://schemas.microsoft.com/office/drawing/2014/main" id="{111B4A49-B930-4A89-A1CD-6CA2B3D95AED}"/>
              </a:ext>
            </a:extLst>
          </p:cNvPr>
          <p:cNvSpPr txBox="1"/>
          <p:nvPr/>
        </p:nvSpPr>
        <p:spPr>
          <a:xfrm>
            <a:off x="8021384" y="5652445"/>
            <a:ext cx="1095375" cy="316753"/>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E5E3E7">
                    <a:alpha val="100000"/>
                  </a:srgbClr>
                </a:solidFill>
                <a:latin typeface="Montserrat Light" panose="00000700000000000000" pitchFamily="2" charset="0"/>
              </a:rPr>
              <a:t>₹ </a:t>
            </a:r>
            <a:r>
              <a:rPr lang="en-US" spc="-18" dirty="0">
                <a:solidFill>
                  <a:srgbClr val="EBEAED">
                    <a:alpha val="100000"/>
                  </a:srgbClr>
                </a:solidFill>
                <a:latin typeface="Montserrat Light" panose="00000700000000000000" pitchFamily="2" charset="0"/>
              </a:rPr>
              <a:t>2.80</a:t>
            </a:r>
            <a:endParaRPr lang="en-US" sz="1800" spc="-18" dirty="0">
              <a:solidFill>
                <a:srgbClr val="EBEAED">
                  <a:alpha val="100000"/>
                </a:srgbClr>
              </a:solidFill>
              <a:latin typeface="Montserrat Light" panose="00000700000000000000" pitchFamily="2" charset="0"/>
            </a:endParaRPr>
          </a:p>
        </p:txBody>
      </p:sp>
      <p:pic>
        <p:nvPicPr>
          <p:cNvPr id="108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2">
            <a:alphaModFix/>
          </a:blip>
          <a:stretch/>
        </p:blipFill>
        <p:spPr>
          <a:xfrm>
            <a:off x="10448925" y="5048250"/>
            <a:ext cx="2971800" cy="1514475"/>
          </a:xfrm>
          <a:prstGeom prst="rect">
            <a:avLst/>
          </a:prstGeom>
        </p:spPr>
      </p:pic>
      <p:sp>
        <p:nvSpPr>
          <p:cNvPr id="1083" name="Description of a primary heading-2,3">
            <a:extLst>
              <a:ext uri="{FF2B5EF4-FFF2-40B4-BE49-F238E27FC236}">
                <a16:creationId xmlns:a16="http://schemas.microsoft.com/office/drawing/2014/main" id="{111B4A49-B930-4A89-A1CD-6CA2B3D95AED}"/>
              </a:ext>
            </a:extLst>
          </p:cNvPr>
          <p:cNvSpPr txBox="1"/>
          <p:nvPr/>
        </p:nvSpPr>
        <p:spPr>
          <a:xfrm>
            <a:off x="11470576" y="5652445"/>
            <a:ext cx="914400" cy="316753"/>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E5E3E7">
                    <a:alpha val="100000"/>
                  </a:srgbClr>
                </a:solidFill>
                <a:latin typeface="Montserrat Light" panose="00000700000000000000" pitchFamily="2" charset="0"/>
              </a:rPr>
              <a:t>₹ </a:t>
            </a:r>
            <a:r>
              <a:rPr lang="en-US" spc="-18" dirty="0">
                <a:solidFill>
                  <a:srgbClr val="EBEAED">
                    <a:alpha val="100000"/>
                  </a:srgbClr>
                </a:solidFill>
                <a:latin typeface="Montserrat Light" panose="00000700000000000000" pitchFamily="2" charset="0"/>
              </a:rPr>
              <a:t>1.64</a:t>
            </a:r>
            <a:endParaRPr lang="en-US" sz="1800" spc="-18" dirty="0">
              <a:solidFill>
                <a:srgbClr val="EBEAED">
                  <a:alpha val="100000"/>
                </a:srgbClr>
              </a:solidFill>
              <a:latin typeface="Montserrat Light" panose="00000700000000000000" pitchFamily="2" charset="0"/>
            </a:endParaRPr>
          </a:p>
        </p:txBody>
      </p:sp>
      <p:pic>
        <p:nvPicPr>
          <p:cNvPr id="108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3">
            <a:alphaModFix/>
          </a:blip>
          <a:stretch/>
        </p:blipFill>
        <p:spPr>
          <a:xfrm>
            <a:off x="13401675" y="5048250"/>
            <a:ext cx="4124325" cy="1514475"/>
          </a:xfrm>
          <a:prstGeom prst="rect">
            <a:avLst/>
          </a:prstGeom>
        </p:spPr>
      </p:pic>
      <p:sp>
        <p:nvSpPr>
          <p:cNvPr id="1085" name="Description of a primary heading-2,4">
            <a:extLst>
              <a:ext uri="{FF2B5EF4-FFF2-40B4-BE49-F238E27FC236}">
                <a16:creationId xmlns:a16="http://schemas.microsoft.com/office/drawing/2014/main" id="{111B4A49-B930-4A89-A1CD-6CA2B3D95AED}"/>
              </a:ext>
            </a:extLst>
          </p:cNvPr>
          <p:cNvSpPr txBox="1"/>
          <p:nvPr/>
        </p:nvSpPr>
        <p:spPr>
          <a:xfrm>
            <a:off x="15163800" y="5652445"/>
            <a:ext cx="590550" cy="316753"/>
          </a:xfrm>
          <a:prstGeom prst="rect">
            <a:avLst/>
          </a:prstGeom>
          <a:noFill/>
        </p:spPr>
        <p:txBody>
          <a:bodyPr vertOverflow="clip" horzOverflow="clip" wrap="square" lIns="0" tIns="0" rIns="0" bIns="0" rtlCol="0" anchor="ctr">
            <a:spAutoFit/>
          </a:bodyPr>
          <a:lstStyle/>
          <a:p>
            <a:pPr algn="ctr">
              <a:lnSpc>
                <a:spcPts val="2700"/>
              </a:lnSpc>
            </a:pPr>
            <a:r>
              <a:rPr lang="en-US" spc="-18" dirty="0">
                <a:solidFill>
                  <a:srgbClr val="EBEAED">
                    <a:alpha val="100000"/>
                  </a:srgbClr>
                </a:solidFill>
                <a:latin typeface="Montserrat Light" panose="00000700000000000000" pitchFamily="2" charset="0"/>
              </a:rPr>
              <a:t>14</a:t>
            </a:r>
            <a:r>
              <a:rPr lang="en-US" sz="1800" spc="-18" dirty="0">
                <a:solidFill>
                  <a:srgbClr val="EBEAED">
                    <a:alpha val="100000"/>
                  </a:srgbClr>
                </a:solidFill>
                <a:latin typeface="Montserrat Light" panose="00000700000000000000" pitchFamily="2" charset="0"/>
              </a:rPr>
              <a:t>%</a:t>
            </a:r>
          </a:p>
        </p:txBody>
      </p:sp>
      <p:pic>
        <p:nvPicPr>
          <p:cNvPr id="108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9">
            <a:alphaModFix/>
          </a:blip>
          <a:stretch/>
        </p:blipFill>
        <p:spPr>
          <a:xfrm>
            <a:off x="762000" y="6553200"/>
            <a:ext cx="2314575" cy="1514475"/>
          </a:xfrm>
          <a:prstGeom prst="rect">
            <a:avLst/>
          </a:prstGeom>
        </p:spPr>
      </p:pic>
      <p:sp>
        <p:nvSpPr>
          <p:cNvPr id="1087" name="Description of a primary heading-3,0">
            <a:extLst>
              <a:ext uri="{FF2B5EF4-FFF2-40B4-BE49-F238E27FC236}">
                <a16:creationId xmlns:a16="http://schemas.microsoft.com/office/drawing/2014/main" id="{111B4A49-B930-4A89-A1CD-6CA2B3D95AED}"/>
              </a:ext>
            </a:extLst>
          </p:cNvPr>
          <p:cNvSpPr txBox="1"/>
          <p:nvPr/>
        </p:nvSpPr>
        <p:spPr>
          <a:xfrm>
            <a:off x="1682496" y="7136797"/>
            <a:ext cx="457200" cy="352425"/>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E5E3E7">
                    <a:alpha val="100000"/>
                  </a:srgbClr>
                </a:solidFill>
                <a:latin typeface="Montserrat Light" panose="00000700000000000000" pitchFamily="2" charset="0"/>
              </a:rPr>
              <a:t>Q3</a:t>
            </a:r>
          </a:p>
        </p:txBody>
      </p:sp>
      <p:pic>
        <p:nvPicPr>
          <p:cNvPr id="108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0">
            <a:alphaModFix/>
          </a:blip>
          <a:stretch/>
        </p:blipFill>
        <p:spPr>
          <a:xfrm>
            <a:off x="3048000" y="6553200"/>
            <a:ext cx="3648075" cy="1514475"/>
          </a:xfrm>
          <a:prstGeom prst="rect">
            <a:avLst/>
          </a:prstGeom>
        </p:spPr>
      </p:pic>
      <p:sp>
        <p:nvSpPr>
          <p:cNvPr id="1089" name="Description of a primary heading-3,1">
            <a:extLst>
              <a:ext uri="{FF2B5EF4-FFF2-40B4-BE49-F238E27FC236}">
                <a16:creationId xmlns:a16="http://schemas.microsoft.com/office/drawing/2014/main" id="{111B4A49-B930-4A89-A1CD-6CA2B3D95AED}"/>
              </a:ext>
            </a:extLst>
          </p:cNvPr>
          <p:cNvSpPr txBox="1"/>
          <p:nvPr/>
        </p:nvSpPr>
        <p:spPr>
          <a:xfrm>
            <a:off x="4325302" y="7154633"/>
            <a:ext cx="1085850" cy="316753"/>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E5E3E7">
                    <a:alpha val="100000"/>
                  </a:srgbClr>
                </a:solidFill>
                <a:latin typeface="Montserrat Light" panose="00000700000000000000" pitchFamily="2" charset="0"/>
              </a:rPr>
              <a:t>₹ </a:t>
            </a:r>
            <a:r>
              <a:rPr lang="en-US" spc="-18" dirty="0">
                <a:solidFill>
                  <a:srgbClr val="E5E3E7">
                    <a:alpha val="100000"/>
                  </a:srgbClr>
                </a:solidFill>
                <a:latin typeface="Montserrat Light" panose="00000700000000000000" pitchFamily="2" charset="0"/>
              </a:rPr>
              <a:t>17.00</a:t>
            </a:r>
            <a:endParaRPr lang="en-US" sz="1800" spc="-18" dirty="0">
              <a:solidFill>
                <a:srgbClr val="E5E3E7">
                  <a:alpha val="100000"/>
                </a:srgbClr>
              </a:solidFill>
              <a:latin typeface="Montserrat Light" panose="00000700000000000000" pitchFamily="2" charset="0"/>
            </a:endParaRPr>
          </a:p>
        </p:txBody>
      </p:sp>
      <p:pic>
        <p:nvPicPr>
          <p:cNvPr id="109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1">
            <a:alphaModFix/>
          </a:blip>
          <a:stretch/>
        </p:blipFill>
        <p:spPr>
          <a:xfrm>
            <a:off x="6677025" y="6553200"/>
            <a:ext cx="3790950" cy="1514475"/>
          </a:xfrm>
          <a:prstGeom prst="rect">
            <a:avLst/>
          </a:prstGeom>
        </p:spPr>
      </p:pic>
      <p:sp>
        <p:nvSpPr>
          <p:cNvPr id="1091" name="Description of a primary heading-3,2">
            <a:extLst>
              <a:ext uri="{FF2B5EF4-FFF2-40B4-BE49-F238E27FC236}">
                <a16:creationId xmlns:a16="http://schemas.microsoft.com/office/drawing/2014/main" id="{111B4A49-B930-4A89-A1CD-6CA2B3D95AED}"/>
              </a:ext>
            </a:extLst>
          </p:cNvPr>
          <p:cNvSpPr txBox="1"/>
          <p:nvPr/>
        </p:nvSpPr>
        <p:spPr>
          <a:xfrm>
            <a:off x="8056245" y="7154633"/>
            <a:ext cx="1212446" cy="316753"/>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E5E3E7">
                    <a:alpha val="100000"/>
                  </a:srgbClr>
                </a:solidFill>
                <a:latin typeface="Montserrat Light" panose="00000700000000000000" pitchFamily="2" charset="0"/>
              </a:rPr>
              <a:t>₹ 3.50</a:t>
            </a:r>
          </a:p>
        </p:txBody>
      </p:sp>
      <p:pic>
        <p:nvPicPr>
          <p:cNvPr id="109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2">
            <a:alphaModFix/>
          </a:blip>
          <a:stretch/>
        </p:blipFill>
        <p:spPr>
          <a:xfrm>
            <a:off x="10448925" y="6553200"/>
            <a:ext cx="2971800" cy="1514475"/>
          </a:xfrm>
          <a:prstGeom prst="rect">
            <a:avLst/>
          </a:prstGeom>
        </p:spPr>
      </p:pic>
      <p:sp>
        <p:nvSpPr>
          <p:cNvPr id="1093" name="Description of a primary heading-3,3">
            <a:extLst>
              <a:ext uri="{FF2B5EF4-FFF2-40B4-BE49-F238E27FC236}">
                <a16:creationId xmlns:a16="http://schemas.microsoft.com/office/drawing/2014/main" id="{111B4A49-B930-4A89-A1CD-6CA2B3D95AED}"/>
              </a:ext>
            </a:extLst>
          </p:cNvPr>
          <p:cNvSpPr txBox="1"/>
          <p:nvPr/>
        </p:nvSpPr>
        <p:spPr>
          <a:xfrm>
            <a:off x="11474006" y="7154633"/>
            <a:ext cx="904875" cy="316753"/>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E5E3E7">
                    <a:alpha val="100000"/>
                  </a:srgbClr>
                </a:solidFill>
                <a:latin typeface="Montserrat Light" panose="00000700000000000000" pitchFamily="2" charset="0"/>
              </a:rPr>
              <a:t>₹ 2.04</a:t>
            </a:r>
          </a:p>
        </p:txBody>
      </p:sp>
      <p:pic>
        <p:nvPicPr>
          <p:cNvPr id="109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3">
            <a:alphaModFix/>
          </a:blip>
          <a:stretch/>
        </p:blipFill>
        <p:spPr>
          <a:xfrm>
            <a:off x="13401675" y="6553200"/>
            <a:ext cx="4124325" cy="1514475"/>
          </a:xfrm>
          <a:prstGeom prst="rect">
            <a:avLst/>
          </a:prstGeom>
        </p:spPr>
      </p:pic>
      <p:sp>
        <p:nvSpPr>
          <p:cNvPr id="1095" name="Description of a primary heading-3,4">
            <a:extLst>
              <a:ext uri="{FF2B5EF4-FFF2-40B4-BE49-F238E27FC236}">
                <a16:creationId xmlns:a16="http://schemas.microsoft.com/office/drawing/2014/main" id="{111B4A49-B930-4A89-A1CD-6CA2B3D95AED}"/>
              </a:ext>
            </a:extLst>
          </p:cNvPr>
          <p:cNvSpPr txBox="1"/>
          <p:nvPr/>
        </p:nvSpPr>
        <p:spPr>
          <a:xfrm>
            <a:off x="15157990" y="7154633"/>
            <a:ext cx="600075" cy="316753"/>
          </a:xfrm>
          <a:prstGeom prst="rect">
            <a:avLst/>
          </a:prstGeom>
          <a:noFill/>
        </p:spPr>
        <p:txBody>
          <a:bodyPr vertOverflow="clip" horzOverflow="clip" wrap="square" lIns="0" tIns="0" rIns="0" bIns="0" rtlCol="0" anchor="ctr">
            <a:spAutoFit/>
          </a:bodyPr>
          <a:lstStyle/>
          <a:p>
            <a:pPr algn="ctr">
              <a:lnSpc>
                <a:spcPts val="2700"/>
              </a:lnSpc>
            </a:pPr>
            <a:r>
              <a:rPr lang="en-US" spc="-18" dirty="0">
                <a:solidFill>
                  <a:srgbClr val="E5E3E7">
                    <a:alpha val="100000"/>
                  </a:srgbClr>
                </a:solidFill>
                <a:latin typeface="Montserrat Light" panose="00000700000000000000" pitchFamily="2" charset="0"/>
              </a:rPr>
              <a:t>12</a:t>
            </a:r>
            <a:r>
              <a:rPr lang="en-US" sz="1800" spc="-18" dirty="0">
                <a:solidFill>
                  <a:srgbClr val="E5E3E7">
                    <a:alpha val="100000"/>
                  </a:srgbClr>
                </a:solidFill>
                <a:latin typeface="Montserrat Light" panose="00000700000000000000" pitchFamily="2" charset="0"/>
              </a:rPr>
              <a:t>%</a:t>
            </a:r>
          </a:p>
        </p:txBody>
      </p:sp>
      <p:pic>
        <p:nvPicPr>
          <p:cNvPr id="109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4">
            <a:alphaModFix/>
          </a:blip>
          <a:stretch/>
        </p:blipFill>
        <p:spPr>
          <a:xfrm>
            <a:off x="762000" y="8058150"/>
            <a:ext cx="2314575" cy="1533525"/>
          </a:xfrm>
          <a:prstGeom prst="rect">
            <a:avLst/>
          </a:prstGeom>
        </p:spPr>
      </p:pic>
      <p:sp>
        <p:nvSpPr>
          <p:cNvPr id="1097" name="Description of a primary heading-4,0">
            <a:extLst>
              <a:ext uri="{FF2B5EF4-FFF2-40B4-BE49-F238E27FC236}">
                <a16:creationId xmlns:a16="http://schemas.microsoft.com/office/drawing/2014/main" id="{111B4A49-B930-4A89-A1CD-6CA2B3D95AED}"/>
              </a:ext>
            </a:extLst>
          </p:cNvPr>
          <p:cNvSpPr txBox="1"/>
          <p:nvPr/>
        </p:nvSpPr>
        <p:spPr>
          <a:xfrm>
            <a:off x="1670209" y="8647843"/>
            <a:ext cx="476250" cy="352425"/>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DEDCE1">
                    <a:alpha val="100000"/>
                  </a:srgbClr>
                </a:solidFill>
                <a:latin typeface="Montserrat Light" panose="00000700000000000000" pitchFamily="2" charset="0"/>
              </a:rPr>
              <a:t>Q4</a:t>
            </a:r>
          </a:p>
        </p:txBody>
      </p:sp>
      <p:pic>
        <p:nvPicPr>
          <p:cNvPr id="109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5">
            <a:alphaModFix/>
          </a:blip>
          <a:stretch/>
        </p:blipFill>
        <p:spPr>
          <a:xfrm>
            <a:off x="3048000" y="8058150"/>
            <a:ext cx="3648075" cy="1533525"/>
          </a:xfrm>
          <a:prstGeom prst="rect">
            <a:avLst/>
          </a:prstGeom>
        </p:spPr>
      </p:pic>
      <p:sp>
        <p:nvSpPr>
          <p:cNvPr id="1099" name="Description of a primary heading-4,1">
            <a:extLst>
              <a:ext uri="{FF2B5EF4-FFF2-40B4-BE49-F238E27FC236}">
                <a16:creationId xmlns:a16="http://schemas.microsoft.com/office/drawing/2014/main" id="{111B4A49-B930-4A89-A1CD-6CA2B3D95AED}"/>
              </a:ext>
            </a:extLst>
          </p:cNvPr>
          <p:cNvSpPr txBox="1"/>
          <p:nvPr/>
        </p:nvSpPr>
        <p:spPr>
          <a:xfrm>
            <a:off x="4334256" y="8665679"/>
            <a:ext cx="1066800" cy="316753"/>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E5E3E7">
                    <a:alpha val="100000"/>
                  </a:srgbClr>
                </a:solidFill>
                <a:latin typeface="Montserrat Light" panose="00000700000000000000" pitchFamily="2" charset="0"/>
              </a:rPr>
              <a:t>₹ </a:t>
            </a:r>
            <a:r>
              <a:rPr lang="en-US" spc="-18" dirty="0">
                <a:solidFill>
                  <a:srgbClr val="DEDCE1">
                    <a:alpha val="100000"/>
                  </a:srgbClr>
                </a:solidFill>
                <a:latin typeface="Montserrat Light" panose="00000700000000000000" pitchFamily="2" charset="0"/>
              </a:rPr>
              <a:t>19.00</a:t>
            </a:r>
            <a:endParaRPr lang="en-US" sz="1800" spc="-18" dirty="0">
              <a:solidFill>
                <a:srgbClr val="DEDCE1">
                  <a:alpha val="100000"/>
                </a:srgbClr>
              </a:solidFill>
              <a:latin typeface="Montserrat Light" panose="00000700000000000000" pitchFamily="2" charset="0"/>
            </a:endParaRPr>
          </a:p>
        </p:txBody>
      </p:sp>
      <p:pic>
        <p:nvPicPr>
          <p:cNvPr id="110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6">
            <a:alphaModFix/>
          </a:blip>
          <a:stretch/>
        </p:blipFill>
        <p:spPr>
          <a:xfrm>
            <a:off x="6677025" y="8058150"/>
            <a:ext cx="3790950" cy="1533525"/>
          </a:xfrm>
          <a:prstGeom prst="rect">
            <a:avLst/>
          </a:prstGeom>
        </p:spPr>
      </p:pic>
      <p:sp>
        <p:nvSpPr>
          <p:cNvPr id="1101" name="Description of a primary heading-4,2">
            <a:extLst>
              <a:ext uri="{FF2B5EF4-FFF2-40B4-BE49-F238E27FC236}">
                <a16:creationId xmlns:a16="http://schemas.microsoft.com/office/drawing/2014/main" id="{111B4A49-B930-4A89-A1CD-6CA2B3D95AED}"/>
              </a:ext>
            </a:extLst>
          </p:cNvPr>
          <p:cNvSpPr txBox="1"/>
          <p:nvPr/>
        </p:nvSpPr>
        <p:spPr>
          <a:xfrm>
            <a:off x="8030146" y="8665679"/>
            <a:ext cx="1123379" cy="316753"/>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E5E3E7">
                    <a:alpha val="100000"/>
                  </a:srgbClr>
                </a:solidFill>
                <a:latin typeface="Montserrat Light" panose="00000700000000000000" pitchFamily="2" charset="0"/>
              </a:rPr>
              <a:t>₹ </a:t>
            </a:r>
            <a:r>
              <a:rPr lang="en-US" spc="-18" dirty="0">
                <a:solidFill>
                  <a:srgbClr val="DEDCE1">
                    <a:alpha val="100000"/>
                  </a:srgbClr>
                </a:solidFill>
                <a:latin typeface="Montserrat Light" panose="00000700000000000000" pitchFamily="2" charset="0"/>
              </a:rPr>
              <a:t>4.00</a:t>
            </a:r>
            <a:endParaRPr lang="en-US" sz="1800" spc="-18" dirty="0">
              <a:solidFill>
                <a:srgbClr val="DEDCE1">
                  <a:alpha val="100000"/>
                </a:srgbClr>
              </a:solidFill>
              <a:latin typeface="Montserrat Light" panose="00000700000000000000" pitchFamily="2" charset="0"/>
            </a:endParaRPr>
          </a:p>
        </p:txBody>
      </p:sp>
      <p:pic>
        <p:nvPicPr>
          <p:cNvPr id="110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7">
            <a:alphaModFix/>
          </a:blip>
          <a:stretch/>
        </p:blipFill>
        <p:spPr>
          <a:xfrm>
            <a:off x="10448925" y="8058150"/>
            <a:ext cx="2971800" cy="1533525"/>
          </a:xfrm>
          <a:prstGeom prst="rect">
            <a:avLst/>
          </a:prstGeom>
        </p:spPr>
      </p:pic>
      <p:sp>
        <p:nvSpPr>
          <p:cNvPr id="1103" name="Description of a primary heading-4,3">
            <a:extLst>
              <a:ext uri="{FF2B5EF4-FFF2-40B4-BE49-F238E27FC236}">
                <a16:creationId xmlns:a16="http://schemas.microsoft.com/office/drawing/2014/main" id="{111B4A49-B930-4A89-A1CD-6CA2B3D95AED}"/>
              </a:ext>
            </a:extLst>
          </p:cNvPr>
          <p:cNvSpPr txBox="1"/>
          <p:nvPr/>
        </p:nvSpPr>
        <p:spPr>
          <a:xfrm>
            <a:off x="11428476" y="8665679"/>
            <a:ext cx="1000125" cy="316753"/>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E5E3E7">
                    <a:alpha val="100000"/>
                  </a:srgbClr>
                </a:solidFill>
                <a:latin typeface="Montserrat Light" panose="00000700000000000000" pitchFamily="2" charset="0"/>
              </a:rPr>
              <a:t>₹ </a:t>
            </a:r>
            <a:r>
              <a:rPr lang="en-US" sz="1800" spc="-18" dirty="0">
                <a:solidFill>
                  <a:srgbClr val="DEDCE1">
                    <a:alpha val="100000"/>
                  </a:srgbClr>
                </a:solidFill>
                <a:latin typeface="Montserrat Light" panose="00000700000000000000" pitchFamily="2" charset="0"/>
              </a:rPr>
              <a:t>2.30</a:t>
            </a:r>
          </a:p>
        </p:txBody>
      </p:sp>
      <p:pic>
        <p:nvPicPr>
          <p:cNvPr id="110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8">
            <a:alphaModFix/>
          </a:blip>
          <a:stretch/>
        </p:blipFill>
        <p:spPr>
          <a:xfrm>
            <a:off x="13420725" y="8058735"/>
            <a:ext cx="4124325" cy="1533525"/>
          </a:xfrm>
          <a:prstGeom prst="rect">
            <a:avLst/>
          </a:prstGeom>
        </p:spPr>
      </p:pic>
      <p:sp>
        <p:nvSpPr>
          <p:cNvPr id="1105" name="Description of a primary heading-4,4">
            <a:extLst>
              <a:ext uri="{FF2B5EF4-FFF2-40B4-BE49-F238E27FC236}">
                <a16:creationId xmlns:a16="http://schemas.microsoft.com/office/drawing/2014/main" id="{111B4A49-B930-4A89-A1CD-6CA2B3D95AED}"/>
              </a:ext>
            </a:extLst>
          </p:cNvPr>
          <p:cNvSpPr txBox="1"/>
          <p:nvPr/>
        </p:nvSpPr>
        <p:spPr>
          <a:xfrm>
            <a:off x="15192756" y="8665679"/>
            <a:ext cx="533400" cy="316753"/>
          </a:xfrm>
          <a:prstGeom prst="rect">
            <a:avLst/>
          </a:prstGeom>
          <a:noFill/>
        </p:spPr>
        <p:txBody>
          <a:bodyPr vertOverflow="clip" horzOverflow="clip" wrap="square" lIns="0" tIns="0" rIns="0" bIns="0" rtlCol="0" anchor="ctr">
            <a:spAutoFit/>
          </a:bodyPr>
          <a:lstStyle/>
          <a:p>
            <a:pPr algn="ctr">
              <a:lnSpc>
                <a:spcPts val="2700"/>
              </a:lnSpc>
            </a:pPr>
            <a:r>
              <a:rPr lang="en-US" spc="-18" dirty="0">
                <a:solidFill>
                  <a:srgbClr val="DEDCE1">
                    <a:alpha val="100000"/>
                  </a:srgbClr>
                </a:solidFill>
                <a:latin typeface="Montserrat Light" panose="00000700000000000000" pitchFamily="2" charset="0"/>
              </a:rPr>
              <a:t>12</a:t>
            </a:r>
            <a:r>
              <a:rPr lang="en-US" sz="1800" spc="-18" dirty="0">
                <a:solidFill>
                  <a:srgbClr val="DEDCE1">
                    <a:alpha val="100000"/>
                  </a:srgbClr>
                </a:solidFill>
                <a:latin typeface="Montserrat Light" panose="00000700000000000000" pitchFamily="2" charset="0"/>
              </a:rPr>
              <a:t>%</a:t>
            </a:r>
          </a:p>
        </p:txBody>
      </p:sp>
      <p:sp>
        <p:nvSpPr>
          <p:cNvPr id="1106" name="Click here to edit title-453">
            <a:extLst>
              <a:ext uri="{FF2B5EF4-FFF2-40B4-BE49-F238E27FC236}">
                <a16:creationId xmlns:a16="http://schemas.microsoft.com/office/drawing/2014/main" id="{111B4A49-B930-4A89-A1CD-6CA2B3D95AED}"/>
              </a:ext>
            </a:extLst>
          </p:cNvPr>
          <p:cNvSpPr txBox="1"/>
          <p:nvPr/>
        </p:nvSpPr>
        <p:spPr>
          <a:xfrm>
            <a:off x="1219200" y="750160"/>
            <a:ext cx="15992475" cy="642805"/>
          </a:xfrm>
          <a:prstGeom prst="rect">
            <a:avLst/>
          </a:prstGeom>
          <a:noFill/>
        </p:spPr>
        <p:txBody>
          <a:bodyPr vertOverflow="clip" horzOverflow="clip" wrap="square" lIns="0" tIns="0" rIns="0" bIns="0" rtlCol="0" anchor="ctr">
            <a:spAutoFit/>
          </a:bodyPr>
          <a:lstStyle/>
          <a:p>
            <a:pPr algn="l">
              <a:lnSpc>
                <a:spcPts val="5250"/>
              </a:lnSpc>
            </a:pPr>
            <a:r>
              <a:rPr lang="en-US" sz="4200" spc="-84" dirty="0">
                <a:solidFill>
                  <a:srgbClr val="FFFFFF">
                    <a:alpha val="100000"/>
                  </a:srgbClr>
                </a:solidFill>
                <a:latin typeface="Montserrat Light" panose="00000700000000000000" pitchFamily="2" charset="0"/>
              </a:rPr>
              <a:t>Quarterly Projections for FY 26-27</a:t>
            </a:r>
          </a:p>
        </p:txBody>
      </p:sp>
      <p:pic>
        <p:nvPicPr>
          <p:cNvPr id="1107"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9">
            <a:alphaModFix/>
          </a:blip>
          <a:stretch/>
        </p:blipFill>
        <p:spPr>
          <a:xfrm>
            <a:off x="590550" y="733425"/>
            <a:ext cx="19050" cy="666750"/>
          </a:xfrm>
          <a:prstGeom prst="rect">
            <a:avLst/>
          </a:prstGeom>
        </p:spPr>
      </p:pic>
      <p:sp>
        <p:nvSpPr>
          <p:cNvPr id="2" name="Description of a primary heading-1,1">
            <a:extLst>
              <a:ext uri="{FF2B5EF4-FFF2-40B4-BE49-F238E27FC236}">
                <a16:creationId xmlns:a16="http://schemas.microsoft.com/office/drawing/2014/main" id="{8341183B-20E4-02B0-43C3-A44E9EAFAF00}"/>
              </a:ext>
            </a:extLst>
          </p:cNvPr>
          <p:cNvSpPr txBox="1"/>
          <p:nvPr/>
        </p:nvSpPr>
        <p:spPr>
          <a:xfrm>
            <a:off x="14362748" y="1396055"/>
            <a:ext cx="2343150" cy="316753"/>
          </a:xfrm>
          <a:prstGeom prst="rect">
            <a:avLst/>
          </a:prstGeom>
          <a:noFill/>
        </p:spPr>
        <p:txBody>
          <a:bodyPr vertOverflow="clip" horzOverflow="clip" wrap="square" lIns="0" tIns="0" rIns="0" bIns="0" rtlCol="0" anchor="ctr">
            <a:spAutoFit/>
          </a:bodyPr>
          <a:lstStyle/>
          <a:p>
            <a:pPr algn="ctr">
              <a:lnSpc>
                <a:spcPts val="2700"/>
              </a:lnSpc>
            </a:pPr>
            <a:r>
              <a:rPr lang="en-US" spc="-18" dirty="0">
                <a:solidFill>
                  <a:srgbClr val="E5E3E7">
                    <a:alpha val="100000"/>
                  </a:srgbClr>
                </a:solidFill>
                <a:latin typeface="Montserrat Light" panose="00000700000000000000" pitchFamily="2" charset="0"/>
              </a:rPr>
              <a:t>Amount in Crores</a:t>
            </a:r>
            <a:endParaRPr lang="en-US" sz="1800" spc="-18" dirty="0">
              <a:solidFill>
                <a:srgbClr val="F2F1F3">
                  <a:alpha val="100000"/>
                </a:srgbClr>
              </a:solidFill>
              <a:latin typeface="Montserrat Light" panose="00000700000000000000" pitchFamily="2" charset="0"/>
            </a:endParaRPr>
          </a:p>
        </p:txBody>
      </p:sp>
    </p:spTree>
    <p:extLst>
      <p:ext uri="{BB962C8B-B14F-4D97-AF65-F5344CB8AC3E}">
        <p14:creationId xmlns:p14="http://schemas.microsoft.com/office/powerpoint/2010/main" val="36480479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00" name="Rect"/>
          <p:cNvPicPr>
            <a:picLocks noChangeAspect="1"/>
          </p:cNvPicPr>
          <p:nvPr/>
        </p:nvPicPr>
        <p:blipFill rotWithShape="1">
          <a:blip r:embed="rId2">
            <a:alphaModFix/>
          </a:blip>
          <a:stretch/>
        </p:blipFill>
        <p:spPr>
          <a:xfrm>
            <a:off x="0" y="0"/>
            <a:ext cx="18288000" cy="10287000"/>
          </a:xfrm>
          <a:prstGeom prst="rect">
            <a:avLst/>
          </a:prstGeom>
        </p:spPr>
      </p:pic>
      <p:pic>
        <p:nvPicPr>
          <p:cNvPr id="2001" name="layoutShapeInnerChild1"/>
          <p:cNvPicPr>
            <a:picLocks noChangeAspect="1"/>
          </p:cNvPicPr>
          <p:nvPr/>
        </p:nvPicPr>
        <p:blipFill rotWithShape="1">
          <a:blip r:embed="rId3">
            <a:alphaModFix/>
          </a:blip>
          <a:stretch/>
        </p:blipFill>
        <p:spPr>
          <a:xfrm>
            <a:off x="0" y="0"/>
            <a:ext cx="18288000" cy="10287000"/>
          </a:xfrm>
          <a:prstGeom prst="rect">
            <a:avLst/>
          </a:prstGeom>
        </p:spPr>
      </p:pic>
      <p:sp>
        <p:nvSpPr>
          <p:cNvPr id="2002" name="slide-title"/>
          <p:cNvSpPr txBox="1"/>
          <p:nvPr/>
        </p:nvSpPr>
        <p:spPr>
          <a:xfrm>
            <a:off x="1219200" y="750160"/>
            <a:ext cx="15992475" cy="642805"/>
          </a:xfrm>
          <a:prstGeom prst="rect">
            <a:avLst/>
          </a:prstGeom>
          <a:noFill/>
        </p:spPr>
        <p:txBody>
          <a:bodyPr vertOverflow="clip" horzOverflow="clip" wrap="square" lIns="0" tIns="0" rIns="0" bIns="0" rtlCol="0" anchor="ctr">
            <a:spAutoFit/>
          </a:bodyPr>
          <a:lstStyle/>
          <a:p>
            <a:pPr algn="l">
              <a:lnSpc>
                <a:spcPts val="5250"/>
              </a:lnSpc>
            </a:pPr>
            <a:r>
              <a:rPr lang="en-US" sz="4200" spc="-84" dirty="0">
                <a:solidFill>
                  <a:srgbClr val="FFFFFF">
                    <a:alpha val="100000"/>
                  </a:srgbClr>
                </a:solidFill>
                <a:latin typeface="Montserrat Light" panose="00000700000000000000" pitchFamily="2" charset="0"/>
              </a:rPr>
              <a:t>Annual Projections</a:t>
            </a:r>
          </a:p>
        </p:txBody>
      </p:sp>
      <p:pic>
        <p:nvPicPr>
          <p:cNvPr id="2003" name="Rect-accent"/>
          <p:cNvPicPr>
            <a:picLocks noChangeAspect="1"/>
          </p:cNvPicPr>
          <p:nvPr/>
        </p:nvPicPr>
        <p:blipFill rotWithShape="1">
          <a:blip r:embed="rId4">
            <a:alphaModFix/>
          </a:blip>
          <a:stretch/>
        </p:blipFill>
        <p:spPr>
          <a:xfrm>
            <a:off x="590550" y="733425"/>
            <a:ext cx="19050" cy="666750"/>
          </a:xfrm>
          <a:prstGeom prst="rect">
            <a:avLst/>
          </a:prstGeom>
        </p:spPr>
      </p:pic>
      <p:sp>
        <p:nvSpPr>
          <p:cNvPr id="2004" name="amount-label"/>
          <p:cNvSpPr txBox="1"/>
          <p:nvPr/>
        </p:nvSpPr>
        <p:spPr>
          <a:xfrm>
            <a:off x="14500000" y="1460394"/>
            <a:ext cx="2500000" cy="316753"/>
          </a:xfrm>
          <a:prstGeom prst="rect">
            <a:avLst/>
          </a:prstGeom>
          <a:noFill/>
        </p:spPr>
        <p:txBody>
          <a:bodyPr vertOverflow="clip" horzOverflow="clip" wrap="square" lIns="0" tIns="0" rIns="0" bIns="0" rtlCol="0" anchor="ctr">
            <a:spAutoFit/>
          </a:bodyPr>
          <a:lstStyle/>
          <a:p>
            <a:pPr algn="l">
              <a:lnSpc>
                <a:spcPts val="2700"/>
              </a:lnSpc>
            </a:pPr>
            <a:r>
              <a:rPr lang="en-US" sz="1600" spc="-18" dirty="0">
                <a:solidFill>
                  <a:srgbClr val="F2F1F3">
                    <a:alpha val="100000"/>
                  </a:srgbClr>
                </a:solidFill>
                <a:latin typeface="Montserrat Light" panose="00000700000000000000" pitchFamily="2" charset="0"/>
              </a:rPr>
              <a:t>Amount in Crores</a:t>
            </a:r>
          </a:p>
        </p:txBody>
      </p:sp>
      <p:pic>
        <p:nvPicPr>
          <p:cNvPr id="2005" name="hdr-bg-metric"/>
          <p:cNvPicPr>
            <a:picLocks noChangeAspect="1"/>
          </p:cNvPicPr>
          <p:nvPr/>
        </p:nvPicPr>
        <p:blipFill rotWithShape="1">
          <a:blip r:embed="rId5">
            <a:alphaModFix/>
          </a:blip>
          <a:stretch/>
        </p:blipFill>
        <p:spPr>
          <a:xfrm>
            <a:off x="752475" y="1962150"/>
            <a:ext cx="2800000" cy="1323975"/>
          </a:xfrm>
          <a:prstGeom prst="rect">
            <a:avLst/>
          </a:prstGeom>
        </p:spPr>
      </p:pic>
      <p:sp>
        <p:nvSpPr>
          <p:cNvPr id="2006" name="hdr-txt-metric"/>
          <p:cNvSpPr txBox="1"/>
          <p:nvPr/>
        </p:nvSpPr>
        <p:spPr>
          <a:xfrm>
            <a:off x="952475" y="2392150"/>
            <a:ext cx="2600000" cy="400000"/>
          </a:xfrm>
          <a:prstGeom prst="rect">
            <a:avLst/>
          </a:prstGeom>
          <a:noFill/>
        </p:spPr>
        <p:txBody>
          <a:bodyPr vertOverflow="clip" horzOverflow="clip" wrap="square" lIns="0" tIns="0" rIns="0" bIns="0" rtlCol="0" anchor="ctr">
            <a:spAutoFit/>
          </a:bodyPr>
          <a:lstStyle/>
          <a:p>
            <a:pPr algn="l">
              <a:lnSpc>
                <a:spcPts val="2400"/>
              </a:lnSpc>
            </a:pPr>
            <a:r>
              <a:rPr lang="en-US" sz="1600" b="1" spc="-32" dirty="0">
                <a:solidFill>
                  <a:srgbClr val="15092E">
                    <a:alpha val="100000"/>
                  </a:srgbClr>
                </a:solidFill>
                <a:latin typeface="Montserrat" panose="00000700000000000000" pitchFamily="2" charset="0"/>
              </a:rPr>
              <a:t>Metric</a:t>
            </a:r>
          </a:p>
        </p:txBody>
      </p:sp>
      <p:pic>
        <p:nvPicPr>
          <p:cNvPr id="2007" name="hdr-bg-0"/>
          <p:cNvPicPr>
            <a:picLocks noChangeAspect="1"/>
          </p:cNvPicPr>
          <p:nvPr/>
        </p:nvPicPr>
        <p:blipFill rotWithShape="1">
          <a:blip r:embed="rId6">
            <a:alphaModFix/>
          </a:blip>
          <a:stretch/>
        </p:blipFill>
        <p:spPr>
          <a:xfrm>
            <a:off x="3552475" y="1962150"/>
            <a:ext cx="3495000" cy="1323975"/>
          </a:xfrm>
          <a:prstGeom prst="rect">
            <a:avLst/>
          </a:prstGeom>
        </p:spPr>
      </p:pic>
      <p:sp>
        <p:nvSpPr>
          <p:cNvPr id="2008" name="hdr-txt-0"/>
          <p:cNvSpPr txBox="1"/>
          <p:nvPr/>
        </p:nvSpPr>
        <p:spPr>
          <a:xfrm>
            <a:off x="3702475" y="2392150"/>
            <a:ext cx="3345000" cy="420000"/>
          </a:xfrm>
          <a:prstGeom prst="rect">
            <a:avLst/>
          </a:prstGeom>
          <a:noFill/>
        </p:spPr>
        <p:txBody>
          <a:bodyPr vertOverflow="clip" horzOverflow="clip" wrap="square" lIns="0" tIns="0" rIns="0" bIns="0" rtlCol="0" anchor="ctr">
            <a:spAutoFit/>
          </a:bodyPr>
          <a:lstStyle/>
          <a:p>
            <a:pPr algn="l">
              <a:lnSpc>
                <a:spcPts val="2400"/>
              </a:lnSpc>
            </a:pPr>
            <a:r>
              <a:rPr lang="en-US" sz="1600" b="1" spc="-32" dirty="0">
                <a:solidFill>
                  <a:srgbClr val="15092E">
                    <a:alpha val="100000"/>
                  </a:srgbClr>
                </a:solidFill>
                <a:latin typeface="Montserrat" panose="00000700000000000000" pitchFamily="2" charset="0"/>
              </a:rPr>
              <a:t>Mar-2027 (FY 26-27)</a:t>
            </a:r>
          </a:p>
        </p:txBody>
      </p:sp>
      <p:pic>
        <p:nvPicPr>
          <p:cNvPr id="2009" name="hdr-bg-1"/>
          <p:cNvPicPr>
            <a:picLocks noChangeAspect="1"/>
          </p:cNvPicPr>
          <p:nvPr/>
        </p:nvPicPr>
        <p:blipFill rotWithShape="1">
          <a:blip r:embed="rId7">
            <a:alphaModFix/>
          </a:blip>
          <a:stretch/>
        </p:blipFill>
        <p:spPr>
          <a:xfrm>
            <a:off x="7047475" y="1962150"/>
            <a:ext cx="3495000" cy="1323975"/>
          </a:xfrm>
          <a:prstGeom prst="rect">
            <a:avLst/>
          </a:prstGeom>
        </p:spPr>
      </p:pic>
      <p:sp>
        <p:nvSpPr>
          <p:cNvPr id="2010" name="hdr-txt-1"/>
          <p:cNvSpPr txBox="1"/>
          <p:nvPr/>
        </p:nvSpPr>
        <p:spPr>
          <a:xfrm>
            <a:off x="7197475" y="2392150"/>
            <a:ext cx="3345000" cy="420000"/>
          </a:xfrm>
          <a:prstGeom prst="rect">
            <a:avLst/>
          </a:prstGeom>
          <a:noFill/>
        </p:spPr>
        <p:txBody>
          <a:bodyPr vertOverflow="clip" horzOverflow="clip" wrap="square" lIns="0" tIns="0" rIns="0" bIns="0" rtlCol="0" anchor="ctr">
            <a:spAutoFit/>
          </a:bodyPr>
          <a:lstStyle/>
          <a:p>
            <a:pPr algn="l">
              <a:lnSpc>
                <a:spcPts val="2400"/>
              </a:lnSpc>
            </a:pPr>
            <a:r>
              <a:rPr lang="en-US" sz="1600" b="1" spc="-32" dirty="0">
                <a:solidFill>
                  <a:srgbClr val="15092E">
                    <a:alpha val="100000"/>
                  </a:srgbClr>
                </a:solidFill>
                <a:latin typeface="Montserrat" panose="00000700000000000000" pitchFamily="2" charset="0"/>
              </a:rPr>
              <a:t>Mar-2028 (FY 27-28)</a:t>
            </a:r>
          </a:p>
        </p:txBody>
      </p:sp>
      <p:pic>
        <p:nvPicPr>
          <p:cNvPr id="2011" name="hdr-bg-2"/>
          <p:cNvPicPr>
            <a:picLocks noChangeAspect="1"/>
          </p:cNvPicPr>
          <p:nvPr/>
        </p:nvPicPr>
        <p:blipFill rotWithShape="1">
          <a:blip r:embed="rId8">
            <a:alphaModFix/>
          </a:blip>
          <a:stretch/>
        </p:blipFill>
        <p:spPr>
          <a:xfrm>
            <a:off x="10542475" y="1962150"/>
            <a:ext cx="3495000" cy="1323975"/>
          </a:xfrm>
          <a:prstGeom prst="rect">
            <a:avLst/>
          </a:prstGeom>
        </p:spPr>
      </p:pic>
      <p:sp>
        <p:nvSpPr>
          <p:cNvPr id="2012" name="hdr-txt-2"/>
          <p:cNvSpPr txBox="1"/>
          <p:nvPr/>
        </p:nvSpPr>
        <p:spPr>
          <a:xfrm>
            <a:off x="10692475" y="2392150"/>
            <a:ext cx="3345000" cy="420000"/>
          </a:xfrm>
          <a:prstGeom prst="rect">
            <a:avLst/>
          </a:prstGeom>
          <a:noFill/>
        </p:spPr>
        <p:txBody>
          <a:bodyPr vertOverflow="clip" horzOverflow="clip" wrap="square" lIns="0" tIns="0" rIns="0" bIns="0" rtlCol="0" anchor="ctr">
            <a:spAutoFit/>
          </a:bodyPr>
          <a:lstStyle/>
          <a:p>
            <a:pPr algn="l">
              <a:lnSpc>
                <a:spcPts val="2400"/>
              </a:lnSpc>
            </a:pPr>
            <a:r>
              <a:rPr lang="en-US" sz="1600" b="1" spc="-32" dirty="0">
                <a:solidFill>
                  <a:srgbClr val="15092E">
                    <a:alpha val="100000"/>
                  </a:srgbClr>
                </a:solidFill>
                <a:latin typeface="Montserrat" panose="00000700000000000000" pitchFamily="2" charset="0"/>
              </a:rPr>
              <a:t>Mar-2029 (FY 28-29)</a:t>
            </a:r>
          </a:p>
        </p:txBody>
      </p:sp>
      <p:pic>
        <p:nvPicPr>
          <p:cNvPr id="2013" name="hdr-bg-3"/>
          <p:cNvPicPr>
            <a:picLocks noChangeAspect="1"/>
          </p:cNvPicPr>
          <p:nvPr/>
        </p:nvPicPr>
        <p:blipFill rotWithShape="1">
          <a:blip r:embed="rId8">
            <a:alphaModFix/>
          </a:blip>
          <a:stretch/>
        </p:blipFill>
        <p:spPr>
          <a:xfrm>
            <a:off x="14037475" y="1962150"/>
            <a:ext cx="3498050" cy="1323975"/>
          </a:xfrm>
          <a:prstGeom prst="rect">
            <a:avLst/>
          </a:prstGeom>
        </p:spPr>
      </p:pic>
      <p:sp>
        <p:nvSpPr>
          <p:cNvPr id="2014" name="hdr-txt-3"/>
          <p:cNvSpPr txBox="1"/>
          <p:nvPr/>
        </p:nvSpPr>
        <p:spPr>
          <a:xfrm>
            <a:off x="14187475" y="2392150"/>
            <a:ext cx="3348050" cy="420000"/>
          </a:xfrm>
          <a:prstGeom prst="rect">
            <a:avLst/>
          </a:prstGeom>
          <a:noFill/>
        </p:spPr>
        <p:txBody>
          <a:bodyPr vertOverflow="clip" horzOverflow="clip" wrap="square" lIns="0" tIns="0" rIns="0" bIns="0" rtlCol="0" anchor="ctr">
            <a:spAutoFit/>
          </a:bodyPr>
          <a:lstStyle/>
          <a:p>
            <a:pPr algn="l">
              <a:lnSpc>
                <a:spcPts val="2400"/>
              </a:lnSpc>
            </a:pPr>
            <a:r>
              <a:rPr lang="en-US" sz="1600" b="1" spc="-32" dirty="0">
                <a:solidFill>
                  <a:srgbClr val="15092E">
                    <a:alpha val="100000"/>
                  </a:srgbClr>
                </a:solidFill>
                <a:latin typeface="Montserrat" panose="00000700000000000000" pitchFamily="2" charset="0"/>
              </a:rPr>
              <a:t>Mar-2030 (FY 29-30)</a:t>
            </a:r>
          </a:p>
        </p:txBody>
      </p:sp>
      <p:pic>
        <p:nvPicPr>
          <p:cNvPr id="2015" name="row0-bg-metric"/>
          <p:cNvPicPr>
            <a:picLocks noChangeAspect="1"/>
          </p:cNvPicPr>
          <p:nvPr/>
        </p:nvPicPr>
        <p:blipFill rotWithShape="1">
          <a:blip r:embed="rId9">
            <a:alphaModFix/>
          </a:blip>
          <a:stretch/>
        </p:blipFill>
        <p:spPr>
          <a:xfrm>
            <a:off x="752475" y="3286125"/>
            <a:ext cx="2800000" cy="1257300"/>
          </a:xfrm>
          <a:prstGeom prst="rect">
            <a:avLst/>
          </a:prstGeom>
        </p:spPr>
      </p:pic>
      <p:sp>
        <p:nvSpPr>
          <p:cNvPr id="2016" name="row0-label"/>
          <p:cNvSpPr txBox="1"/>
          <p:nvPr/>
        </p:nvSpPr>
        <p:spPr>
          <a:xfrm>
            <a:off x="922475" y="3764775"/>
            <a:ext cx="2630000" cy="350000"/>
          </a:xfrm>
          <a:prstGeom prst="rect">
            <a:avLst/>
          </a:prstGeom>
          <a:noFill/>
        </p:spPr>
        <p:txBody>
          <a:bodyPr vertOverflow="clip" horzOverflow="clip" wrap="square" lIns="0" tIns="0" rIns="0" bIns="0" rtlCol="0" anchor="ctr">
            <a:spAutoFit/>
          </a:bodyPr>
          <a:lstStyle/>
          <a:p>
            <a:pPr algn="l">
              <a:lnSpc>
                <a:spcPts val="2130"/>
              </a:lnSpc>
            </a:pPr>
            <a:r>
              <a:rPr lang="en-US" sz="1700" spc="-18" dirty="0">
                <a:solidFill>
                  <a:srgbClr val="F2F1F3">
                    <a:alpha val="100000"/>
                  </a:srgbClr>
                </a:solidFill>
                <a:latin typeface="Montserrat Light" panose="00000700000000000000" pitchFamily="2" charset="0"/>
              </a:rPr>
              <a:t>Revenue</a:t>
            </a:r>
          </a:p>
        </p:txBody>
      </p:sp>
      <p:pic>
        <p:nvPicPr>
          <p:cNvPr id="2017" name="row0-bg-0"/>
          <p:cNvPicPr>
            <a:picLocks noChangeAspect="1"/>
          </p:cNvPicPr>
          <p:nvPr/>
        </p:nvPicPr>
        <p:blipFill rotWithShape="1">
          <a:blip r:embed="rId10">
            <a:alphaModFix/>
          </a:blip>
          <a:stretch/>
        </p:blipFill>
        <p:spPr>
          <a:xfrm>
            <a:off x="3552475" y="3286125"/>
            <a:ext cx="3495000" cy="1257300"/>
          </a:xfrm>
          <a:prstGeom prst="rect">
            <a:avLst/>
          </a:prstGeom>
        </p:spPr>
      </p:pic>
      <p:sp>
        <p:nvSpPr>
          <p:cNvPr id="2018" name="row0-val-0"/>
          <p:cNvSpPr txBox="1"/>
          <p:nvPr/>
        </p:nvSpPr>
        <p:spPr>
          <a:xfrm>
            <a:off x="3702475" y="3811855"/>
            <a:ext cx="3345000" cy="255839"/>
          </a:xfrm>
          <a:prstGeom prst="rect">
            <a:avLst/>
          </a:prstGeom>
          <a:noFill/>
        </p:spPr>
        <p:txBody>
          <a:bodyPr vertOverflow="clip" horzOverflow="clip" wrap="square" lIns="0" tIns="0" rIns="0" bIns="0" rtlCol="0" anchor="ctr">
            <a:spAutoFit/>
          </a:bodyPr>
          <a:lstStyle/>
          <a:p>
            <a:pPr algn="l">
              <a:lnSpc>
                <a:spcPts val="2130"/>
              </a:lnSpc>
            </a:pPr>
            <a:r>
              <a:rPr lang="en-US" sz="1700" b="1" spc="-18" dirty="0">
                <a:solidFill>
                  <a:schemeClr val="bg1"/>
                </a:solidFill>
                <a:latin typeface="Montserrat Light" panose="00000700000000000000" pitchFamily="2" charset="0"/>
              </a:rPr>
              <a:t>₹ 53.0</a:t>
            </a:r>
          </a:p>
        </p:txBody>
      </p:sp>
      <p:pic>
        <p:nvPicPr>
          <p:cNvPr id="2019" name="row0-bg-1"/>
          <p:cNvPicPr>
            <a:picLocks noChangeAspect="1"/>
          </p:cNvPicPr>
          <p:nvPr/>
        </p:nvPicPr>
        <p:blipFill rotWithShape="1">
          <a:blip r:embed="rId11">
            <a:alphaModFix/>
          </a:blip>
          <a:stretch/>
        </p:blipFill>
        <p:spPr>
          <a:xfrm>
            <a:off x="7047475" y="3286125"/>
            <a:ext cx="3495000" cy="1257300"/>
          </a:xfrm>
          <a:prstGeom prst="rect">
            <a:avLst/>
          </a:prstGeom>
        </p:spPr>
      </p:pic>
      <p:sp>
        <p:nvSpPr>
          <p:cNvPr id="2020" name="row0-val-1"/>
          <p:cNvSpPr txBox="1"/>
          <p:nvPr/>
        </p:nvSpPr>
        <p:spPr>
          <a:xfrm>
            <a:off x="7197475" y="3811855"/>
            <a:ext cx="3345000" cy="255839"/>
          </a:xfrm>
          <a:prstGeom prst="rect">
            <a:avLst/>
          </a:prstGeom>
          <a:noFill/>
        </p:spPr>
        <p:txBody>
          <a:bodyPr vertOverflow="clip" horzOverflow="clip" wrap="square" lIns="0" tIns="0" rIns="0" bIns="0" rtlCol="0" anchor="ctr">
            <a:spAutoFit/>
          </a:bodyPr>
          <a:lstStyle/>
          <a:p>
            <a:pPr algn="l">
              <a:lnSpc>
                <a:spcPts val="2130"/>
              </a:lnSpc>
            </a:pPr>
            <a:r>
              <a:rPr lang="en-US" sz="1700" b="1" spc="-18" dirty="0">
                <a:solidFill>
                  <a:schemeClr val="bg1"/>
                </a:solidFill>
                <a:latin typeface="Montserrat Light" panose="00000700000000000000" pitchFamily="2" charset="0"/>
              </a:rPr>
              <a:t>₹ 89.0</a:t>
            </a:r>
          </a:p>
        </p:txBody>
      </p:sp>
      <p:pic>
        <p:nvPicPr>
          <p:cNvPr id="2021" name="row0-bg-2"/>
          <p:cNvPicPr>
            <a:picLocks noChangeAspect="1"/>
          </p:cNvPicPr>
          <p:nvPr/>
        </p:nvPicPr>
        <p:blipFill rotWithShape="1">
          <a:blip r:embed="rId12">
            <a:alphaModFix/>
          </a:blip>
          <a:stretch/>
        </p:blipFill>
        <p:spPr>
          <a:xfrm>
            <a:off x="10542475" y="3286125"/>
            <a:ext cx="3495000" cy="1257300"/>
          </a:xfrm>
          <a:prstGeom prst="rect">
            <a:avLst/>
          </a:prstGeom>
        </p:spPr>
      </p:pic>
      <p:sp>
        <p:nvSpPr>
          <p:cNvPr id="2022" name="row0-val-2"/>
          <p:cNvSpPr txBox="1"/>
          <p:nvPr/>
        </p:nvSpPr>
        <p:spPr>
          <a:xfrm>
            <a:off x="10692475" y="3811855"/>
            <a:ext cx="3345000" cy="255839"/>
          </a:xfrm>
          <a:prstGeom prst="rect">
            <a:avLst/>
          </a:prstGeom>
          <a:noFill/>
        </p:spPr>
        <p:txBody>
          <a:bodyPr vertOverflow="clip" horzOverflow="clip" wrap="square" lIns="0" tIns="0" rIns="0" bIns="0" rtlCol="0" anchor="ctr">
            <a:spAutoFit/>
          </a:bodyPr>
          <a:lstStyle/>
          <a:p>
            <a:pPr algn="l">
              <a:lnSpc>
                <a:spcPts val="2130"/>
              </a:lnSpc>
            </a:pPr>
            <a:r>
              <a:rPr lang="en-US" sz="1700" b="1" spc="-18" dirty="0">
                <a:solidFill>
                  <a:schemeClr val="bg1"/>
                </a:solidFill>
                <a:latin typeface="Montserrat Light" panose="00000700000000000000" pitchFamily="2" charset="0"/>
              </a:rPr>
              <a:t>₹ 160.0</a:t>
            </a:r>
          </a:p>
        </p:txBody>
      </p:sp>
      <p:pic>
        <p:nvPicPr>
          <p:cNvPr id="2023" name="row0-bg-3"/>
          <p:cNvPicPr>
            <a:picLocks noChangeAspect="1"/>
          </p:cNvPicPr>
          <p:nvPr/>
        </p:nvPicPr>
        <p:blipFill rotWithShape="1">
          <a:blip r:embed="rId12">
            <a:alphaModFix/>
          </a:blip>
          <a:stretch/>
        </p:blipFill>
        <p:spPr>
          <a:xfrm>
            <a:off x="14037475" y="3286125"/>
            <a:ext cx="3498050" cy="1257300"/>
          </a:xfrm>
          <a:prstGeom prst="rect">
            <a:avLst/>
          </a:prstGeom>
        </p:spPr>
      </p:pic>
      <p:sp>
        <p:nvSpPr>
          <p:cNvPr id="2024" name="row0-val-3"/>
          <p:cNvSpPr txBox="1"/>
          <p:nvPr/>
        </p:nvSpPr>
        <p:spPr>
          <a:xfrm>
            <a:off x="14187475" y="3764775"/>
            <a:ext cx="3348050" cy="350000"/>
          </a:xfrm>
          <a:prstGeom prst="rect">
            <a:avLst/>
          </a:prstGeom>
          <a:noFill/>
        </p:spPr>
        <p:txBody>
          <a:bodyPr vertOverflow="clip" horzOverflow="clip" wrap="square" lIns="0" tIns="0" rIns="0" bIns="0" rtlCol="0" anchor="ctr">
            <a:spAutoFit/>
          </a:bodyPr>
          <a:lstStyle/>
          <a:p>
            <a:pPr algn="l">
              <a:lnSpc>
                <a:spcPts val="2130"/>
              </a:lnSpc>
            </a:pPr>
            <a:r>
              <a:rPr lang="en-US" sz="1700" b="1" spc="-18" dirty="0">
                <a:solidFill>
                  <a:schemeClr val="bg1"/>
                </a:solidFill>
                <a:latin typeface="Montserrat Light" panose="00000700000000000000" pitchFamily="2" charset="0"/>
              </a:rPr>
              <a:t>₹ 280.0</a:t>
            </a:r>
          </a:p>
        </p:txBody>
      </p:sp>
      <p:pic>
        <p:nvPicPr>
          <p:cNvPr id="2025" name="row1-bg-metric"/>
          <p:cNvPicPr>
            <a:picLocks noChangeAspect="1"/>
          </p:cNvPicPr>
          <p:nvPr/>
        </p:nvPicPr>
        <p:blipFill rotWithShape="1">
          <a:blip r:embed="rId9">
            <a:alphaModFix/>
          </a:blip>
          <a:stretch/>
        </p:blipFill>
        <p:spPr>
          <a:xfrm>
            <a:off x="752475" y="4543425"/>
            <a:ext cx="2800000" cy="1257300"/>
          </a:xfrm>
          <a:prstGeom prst="rect">
            <a:avLst/>
          </a:prstGeom>
        </p:spPr>
      </p:pic>
      <p:sp>
        <p:nvSpPr>
          <p:cNvPr id="2026" name="row1-label"/>
          <p:cNvSpPr txBox="1"/>
          <p:nvPr/>
        </p:nvSpPr>
        <p:spPr>
          <a:xfrm>
            <a:off x="922475" y="5022075"/>
            <a:ext cx="2630000" cy="350000"/>
          </a:xfrm>
          <a:prstGeom prst="rect">
            <a:avLst/>
          </a:prstGeom>
          <a:noFill/>
        </p:spPr>
        <p:txBody>
          <a:bodyPr vertOverflow="clip" horzOverflow="clip" wrap="square" lIns="0" tIns="0" rIns="0" bIns="0" rtlCol="0" anchor="ctr">
            <a:spAutoFit/>
          </a:bodyPr>
          <a:lstStyle/>
          <a:p>
            <a:pPr algn="l">
              <a:lnSpc>
                <a:spcPts val="2130"/>
              </a:lnSpc>
            </a:pPr>
            <a:r>
              <a:rPr lang="en-US" sz="1700" spc="-18" dirty="0">
                <a:solidFill>
                  <a:srgbClr val="EBEAED">
                    <a:alpha val="100000"/>
                  </a:srgbClr>
                </a:solidFill>
                <a:latin typeface="Montserrat Light" panose="00000700000000000000" pitchFamily="2" charset="0"/>
              </a:rPr>
              <a:t>PAT</a:t>
            </a:r>
          </a:p>
        </p:txBody>
      </p:sp>
      <p:pic>
        <p:nvPicPr>
          <p:cNvPr id="2027" name="row1-bg-0"/>
          <p:cNvPicPr>
            <a:picLocks noChangeAspect="1"/>
          </p:cNvPicPr>
          <p:nvPr/>
        </p:nvPicPr>
        <p:blipFill rotWithShape="1">
          <a:blip r:embed="rId10">
            <a:alphaModFix/>
          </a:blip>
          <a:stretch/>
        </p:blipFill>
        <p:spPr>
          <a:xfrm>
            <a:off x="3552475" y="4543425"/>
            <a:ext cx="3495000" cy="1257300"/>
          </a:xfrm>
          <a:prstGeom prst="rect">
            <a:avLst/>
          </a:prstGeom>
        </p:spPr>
      </p:pic>
      <p:sp>
        <p:nvSpPr>
          <p:cNvPr id="2028" name="row1-val-0"/>
          <p:cNvSpPr txBox="1"/>
          <p:nvPr/>
        </p:nvSpPr>
        <p:spPr>
          <a:xfrm>
            <a:off x="3702475" y="5069155"/>
            <a:ext cx="3345000" cy="255839"/>
          </a:xfrm>
          <a:prstGeom prst="rect">
            <a:avLst/>
          </a:prstGeom>
          <a:noFill/>
        </p:spPr>
        <p:txBody>
          <a:bodyPr vertOverflow="clip" horzOverflow="clip" wrap="square" lIns="0" tIns="0" rIns="0" bIns="0" rtlCol="0" anchor="ctr">
            <a:spAutoFit/>
          </a:bodyPr>
          <a:lstStyle/>
          <a:p>
            <a:pPr algn="l">
              <a:lnSpc>
                <a:spcPts val="2130"/>
              </a:lnSpc>
            </a:pPr>
            <a:r>
              <a:rPr lang="en-US" sz="1700" b="1" spc="-18" dirty="0">
                <a:solidFill>
                  <a:schemeClr val="bg1"/>
                </a:solidFill>
                <a:latin typeface="Montserrat Light" panose="00000700000000000000" pitchFamily="2" charset="0"/>
              </a:rPr>
              <a:t>₹ 5.4</a:t>
            </a:r>
          </a:p>
        </p:txBody>
      </p:sp>
      <p:pic>
        <p:nvPicPr>
          <p:cNvPr id="2029" name="row1-bg-1"/>
          <p:cNvPicPr>
            <a:picLocks noChangeAspect="1"/>
          </p:cNvPicPr>
          <p:nvPr/>
        </p:nvPicPr>
        <p:blipFill rotWithShape="1">
          <a:blip r:embed="rId11">
            <a:alphaModFix/>
          </a:blip>
          <a:stretch/>
        </p:blipFill>
        <p:spPr>
          <a:xfrm>
            <a:off x="7047475" y="4543425"/>
            <a:ext cx="3495000" cy="1257300"/>
          </a:xfrm>
          <a:prstGeom prst="rect">
            <a:avLst/>
          </a:prstGeom>
        </p:spPr>
      </p:pic>
      <p:sp>
        <p:nvSpPr>
          <p:cNvPr id="2030" name="row1-val-1"/>
          <p:cNvSpPr txBox="1"/>
          <p:nvPr/>
        </p:nvSpPr>
        <p:spPr>
          <a:xfrm>
            <a:off x="7197475" y="5069155"/>
            <a:ext cx="3345000" cy="255839"/>
          </a:xfrm>
          <a:prstGeom prst="rect">
            <a:avLst/>
          </a:prstGeom>
          <a:noFill/>
        </p:spPr>
        <p:txBody>
          <a:bodyPr vertOverflow="clip" horzOverflow="clip" wrap="square" lIns="0" tIns="0" rIns="0" bIns="0" rtlCol="0" anchor="ctr">
            <a:spAutoFit/>
          </a:bodyPr>
          <a:lstStyle/>
          <a:p>
            <a:pPr algn="l">
              <a:lnSpc>
                <a:spcPts val="2130"/>
              </a:lnSpc>
            </a:pPr>
            <a:r>
              <a:rPr lang="en-US" sz="1700" b="1" spc="-18" dirty="0">
                <a:solidFill>
                  <a:schemeClr val="bg1"/>
                </a:solidFill>
                <a:latin typeface="Montserrat Light" panose="00000700000000000000" pitchFamily="2" charset="0"/>
              </a:rPr>
              <a:t>₹ 10.2</a:t>
            </a:r>
          </a:p>
        </p:txBody>
      </p:sp>
      <p:pic>
        <p:nvPicPr>
          <p:cNvPr id="2031" name="row1-bg-2"/>
          <p:cNvPicPr>
            <a:picLocks noChangeAspect="1"/>
          </p:cNvPicPr>
          <p:nvPr/>
        </p:nvPicPr>
        <p:blipFill rotWithShape="1">
          <a:blip r:embed="rId12">
            <a:alphaModFix/>
          </a:blip>
          <a:stretch/>
        </p:blipFill>
        <p:spPr>
          <a:xfrm>
            <a:off x="10542475" y="4543425"/>
            <a:ext cx="3495000" cy="1257300"/>
          </a:xfrm>
          <a:prstGeom prst="rect">
            <a:avLst/>
          </a:prstGeom>
        </p:spPr>
      </p:pic>
      <p:sp>
        <p:nvSpPr>
          <p:cNvPr id="2032" name="row1-val-2"/>
          <p:cNvSpPr txBox="1"/>
          <p:nvPr/>
        </p:nvSpPr>
        <p:spPr>
          <a:xfrm>
            <a:off x="10692475" y="5022075"/>
            <a:ext cx="3345000" cy="350000"/>
          </a:xfrm>
          <a:prstGeom prst="rect">
            <a:avLst/>
          </a:prstGeom>
          <a:noFill/>
        </p:spPr>
        <p:txBody>
          <a:bodyPr vertOverflow="clip" horzOverflow="clip" wrap="square" lIns="0" tIns="0" rIns="0" bIns="0" rtlCol="0" anchor="ctr">
            <a:spAutoFit/>
          </a:bodyPr>
          <a:lstStyle/>
          <a:p>
            <a:pPr algn="l">
              <a:lnSpc>
                <a:spcPts val="2130"/>
              </a:lnSpc>
            </a:pPr>
            <a:r>
              <a:rPr lang="en-US" sz="1700" b="1" spc="-18" dirty="0">
                <a:solidFill>
                  <a:schemeClr val="bg1"/>
                </a:solidFill>
                <a:latin typeface="Montserrat Light" panose="00000700000000000000" pitchFamily="2" charset="0"/>
              </a:rPr>
              <a:t>₹ 22.75</a:t>
            </a:r>
          </a:p>
        </p:txBody>
      </p:sp>
      <p:pic>
        <p:nvPicPr>
          <p:cNvPr id="2033" name="row1-bg-3"/>
          <p:cNvPicPr>
            <a:picLocks noChangeAspect="1"/>
          </p:cNvPicPr>
          <p:nvPr/>
        </p:nvPicPr>
        <p:blipFill rotWithShape="1">
          <a:blip r:embed="rId12">
            <a:alphaModFix/>
          </a:blip>
          <a:stretch/>
        </p:blipFill>
        <p:spPr>
          <a:xfrm>
            <a:off x="14037475" y="4543425"/>
            <a:ext cx="3498050" cy="1257300"/>
          </a:xfrm>
          <a:prstGeom prst="rect">
            <a:avLst/>
          </a:prstGeom>
        </p:spPr>
      </p:pic>
      <p:sp>
        <p:nvSpPr>
          <p:cNvPr id="2034" name="row1-val-3"/>
          <p:cNvSpPr txBox="1"/>
          <p:nvPr/>
        </p:nvSpPr>
        <p:spPr>
          <a:xfrm>
            <a:off x="14187475" y="5022075"/>
            <a:ext cx="3348050" cy="350000"/>
          </a:xfrm>
          <a:prstGeom prst="rect">
            <a:avLst/>
          </a:prstGeom>
          <a:noFill/>
        </p:spPr>
        <p:txBody>
          <a:bodyPr vertOverflow="clip" horzOverflow="clip" wrap="square" lIns="0" tIns="0" rIns="0" bIns="0" rtlCol="0" anchor="ctr">
            <a:spAutoFit/>
          </a:bodyPr>
          <a:lstStyle/>
          <a:p>
            <a:pPr algn="l">
              <a:lnSpc>
                <a:spcPts val="2130"/>
              </a:lnSpc>
            </a:pPr>
            <a:r>
              <a:rPr lang="en-US" sz="1700" b="1" spc="-18" dirty="0">
                <a:solidFill>
                  <a:schemeClr val="bg1"/>
                </a:solidFill>
                <a:latin typeface="Montserrat Light" panose="00000700000000000000" pitchFamily="2" charset="0"/>
              </a:rPr>
              <a:t>₹ 39.2</a:t>
            </a:r>
          </a:p>
        </p:txBody>
      </p:sp>
      <p:pic>
        <p:nvPicPr>
          <p:cNvPr id="2035" name="row2-bg-metric"/>
          <p:cNvPicPr>
            <a:picLocks noChangeAspect="1"/>
          </p:cNvPicPr>
          <p:nvPr/>
        </p:nvPicPr>
        <p:blipFill rotWithShape="1">
          <a:blip r:embed="rId9">
            <a:alphaModFix/>
          </a:blip>
          <a:stretch/>
        </p:blipFill>
        <p:spPr>
          <a:xfrm>
            <a:off x="752475" y="5800725"/>
            <a:ext cx="2800000" cy="1257300"/>
          </a:xfrm>
          <a:prstGeom prst="rect">
            <a:avLst/>
          </a:prstGeom>
        </p:spPr>
      </p:pic>
      <p:sp>
        <p:nvSpPr>
          <p:cNvPr id="2036" name="row2-label"/>
          <p:cNvSpPr txBox="1"/>
          <p:nvPr/>
        </p:nvSpPr>
        <p:spPr>
          <a:xfrm>
            <a:off x="922475" y="6279375"/>
            <a:ext cx="2630000" cy="350000"/>
          </a:xfrm>
          <a:prstGeom prst="rect">
            <a:avLst/>
          </a:prstGeom>
          <a:noFill/>
        </p:spPr>
        <p:txBody>
          <a:bodyPr vertOverflow="clip" horzOverflow="clip" wrap="square" lIns="0" tIns="0" rIns="0" bIns="0" rtlCol="0" anchor="ctr">
            <a:spAutoFit/>
          </a:bodyPr>
          <a:lstStyle/>
          <a:p>
            <a:pPr algn="l">
              <a:lnSpc>
                <a:spcPts val="2130"/>
              </a:lnSpc>
            </a:pPr>
            <a:r>
              <a:rPr lang="en-US" sz="1700" spc="-18" dirty="0">
                <a:solidFill>
                  <a:srgbClr val="E5E3E7">
                    <a:alpha val="100000"/>
                  </a:srgbClr>
                </a:solidFill>
                <a:latin typeface="Montserrat Light" panose="00000700000000000000" pitchFamily="2" charset="0"/>
              </a:rPr>
              <a:t>NET Margin (%)</a:t>
            </a:r>
          </a:p>
        </p:txBody>
      </p:sp>
      <p:pic>
        <p:nvPicPr>
          <p:cNvPr id="2037" name="row2-bg-0"/>
          <p:cNvPicPr>
            <a:picLocks noChangeAspect="1"/>
          </p:cNvPicPr>
          <p:nvPr/>
        </p:nvPicPr>
        <p:blipFill rotWithShape="1">
          <a:blip r:embed="rId10">
            <a:alphaModFix/>
          </a:blip>
          <a:stretch/>
        </p:blipFill>
        <p:spPr>
          <a:xfrm>
            <a:off x="3552475" y="5800725"/>
            <a:ext cx="3495000" cy="1257300"/>
          </a:xfrm>
          <a:prstGeom prst="rect">
            <a:avLst/>
          </a:prstGeom>
        </p:spPr>
      </p:pic>
      <p:sp>
        <p:nvSpPr>
          <p:cNvPr id="2038" name="row2-val-0"/>
          <p:cNvSpPr txBox="1"/>
          <p:nvPr/>
        </p:nvSpPr>
        <p:spPr>
          <a:xfrm>
            <a:off x="3702475" y="6326455"/>
            <a:ext cx="3345000" cy="255839"/>
          </a:xfrm>
          <a:prstGeom prst="rect">
            <a:avLst/>
          </a:prstGeom>
          <a:noFill/>
        </p:spPr>
        <p:txBody>
          <a:bodyPr vertOverflow="clip" horzOverflow="clip" wrap="square" lIns="0" tIns="0" rIns="0" bIns="0" rtlCol="0" anchor="ctr">
            <a:spAutoFit/>
          </a:bodyPr>
          <a:lstStyle/>
          <a:p>
            <a:pPr algn="l">
              <a:lnSpc>
                <a:spcPts val="2130"/>
              </a:lnSpc>
            </a:pPr>
            <a:r>
              <a:rPr lang="en-US" sz="1700" b="1" spc="-18" dirty="0">
                <a:solidFill>
                  <a:schemeClr val="bg1"/>
                </a:solidFill>
                <a:latin typeface="Montserrat Light" panose="00000700000000000000" pitchFamily="2" charset="0"/>
              </a:rPr>
              <a:t>10.20%</a:t>
            </a:r>
          </a:p>
        </p:txBody>
      </p:sp>
      <p:pic>
        <p:nvPicPr>
          <p:cNvPr id="2039" name="row2-bg-1"/>
          <p:cNvPicPr>
            <a:picLocks noChangeAspect="1"/>
          </p:cNvPicPr>
          <p:nvPr/>
        </p:nvPicPr>
        <p:blipFill rotWithShape="1">
          <a:blip r:embed="rId11">
            <a:alphaModFix/>
          </a:blip>
          <a:stretch/>
        </p:blipFill>
        <p:spPr>
          <a:xfrm>
            <a:off x="7047475" y="5800725"/>
            <a:ext cx="3495000" cy="1257300"/>
          </a:xfrm>
          <a:prstGeom prst="rect">
            <a:avLst/>
          </a:prstGeom>
        </p:spPr>
      </p:pic>
      <p:sp>
        <p:nvSpPr>
          <p:cNvPr id="2040" name="row2-val-1"/>
          <p:cNvSpPr txBox="1"/>
          <p:nvPr/>
        </p:nvSpPr>
        <p:spPr>
          <a:xfrm>
            <a:off x="7197475" y="6326455"/>
            <a:ext cx="3345000" cy="255839"/>
          </a:xfrm>
          <a:prstGeom prst="rect">
            <a:avLst/>
          </a:prstGeom>
          <a:noFill/>
        </p:spPr>
        <p:txBody>
          <a:bodyPr vertOverflow="clip" horzOverflow="clip" wrap="square" lIns="0" tIns="0" rIns="0" bIns="0" rtlCol="0" anchor="ctr">
            <a:spAutoFit/>
          </a:bodyPr>
          <a:lstStyle/>
          <a:p>
            <a:pPr algn="l">
              <a:lnSpc>
                <a:spcPts val="2130"/>
              </a:lnSpc>
            </a:pPr>
            <a:r>
              <a:rPr lang="en-US" sz="1700" b="1" spc="-18" dirty="0">
                <a:solidFill>
                  <a:schemeClr val="bg1"/>
                </a:solidFill>
                <a:latin typeface="Montserrat Light" panose="00000700000000000000" pitchFamily="2" charset="0"/>
              </a:rPr>
              <a:t>11.40%</a:t>
            </a:r>
          </a:p>
        </p:txBody>
      </p:sp>
      <p:pic>
        <p:nvPicPr>
          <p:cNvPr id="2041" name="row2-bg-2"/>
          <p:cNvPicPr>
            <a:picLocks noChangeAspect="1"/>
          </p:cNvPicPr>
          <p:nvPr/>
        </p:nvPicPr>
        <p:blipFill rotWithShape="1">
          <a:blip r:embed="rId12">
            <a:alphaModFix/>
          </a:blip>
          <a:stretch/>
        </p:blipFill>
        <p:spPr>
          <a:xfrm>
            <a:off x="10542475" y="5800725"/>
            <a:ext cx="3495000" cy="1257300"/>
          </a:xfrm>
          <a:prstGeom prst="rect">
            <a:avLst/>
          </a:prstGeom>
        </p:spPr>
      </p:pic>
      <p:sp>
        <p:nvSpPr>
          <p:cNvPr id="2042" name="row2-val-2"/>
          <p:cNvSpPr txBox="1"/>
          <p:nvPr/>
        </p:nvSpPr>
        <p:spPr>
          <a:xfrm>
            <a:off x="10692475" y="6326455"/>
            <a:ext cx="3345000" cy="255839"/>
          </a:xfrm>
          <a:prstGeom prst="rect">
            <a:avLst/>
          </a:prstGeom>
          <a:noFill/>
        </p:spPr>
        <p:txBody>
          <a:bodyPr vertOverflow="clip" horzOverflow="clip" wrap="square" lIns="0" tIns="0" rIns="0" bIns="0" rtlCol="0" anchor="ctr">
            <a:spAutoFit/>
          </a:bodyPr>
          <a:lstStyle/>
          <a:p>
            <a:pPr algn="l">
              <a:lnSpc>
                <a:spcPts val="2130"/>
              </a:lnSpc>
            </a:pPr>
            <a:r>
              <a:rPr lang="en-US" sz="1700" b="1" spc="-18" dirty="0">
                <a:solidFill>
                  <a:schemeClr val="bg1"/>
                </a:solidFill>
                <a:latin typeface="Montserrat Light" panose="00000700000000000000" pitchFamily="2" charset="0"/>
              </a:rPr>
              <a:t>14.20%</a:t>
            </a:r>
          </a:p>
        </p:txBody>
      </p:sp>
      <p:pic>
        <p:nvPicPr>
          <p:cNvPr id="2043" name="row2-bg-3"/>
          <p:cNvPicPr>
            <a:picLocks noChangeAspect="1"/>
          </p:cNvPicPr>
          <p:nvPr/>
        </p:nvPicPr>
        <p:blipFill rotWithShape="1">
          <a:blip r:embed="rId12">
            <a:alphaModFix/>
          </a:blip>
          <a:stretch/>
        </p:blipFill>
        <p:spPr>
          <a:xfrm>
            <a:off x="14037475" y="5800725"/>
            <a:ext cx="3498050" cy="1257300"/>
          </a:xfrm>
          <a:prstGeom prst="rect">
            <a:avLst/>
          </a:prstGeom>
        </p:spPr>
      </p:pic>
      <p:sp>
        <p:nvSpPr>
          <p:cNvPr id="2044" name="row2-val-3"/>
          <p:cNvSpPr txBox="1"/>
          <p:nvPr/>
        </p:nvSpPr>
        <p:spPr>
          <a:xfrm>
            <a:off x="14187475" y="6279375"/>
            <a:ext cx="3348050" cy="350000"/>
          </a:xfrm>
          <a:prstGeom prst="rect">
            <a:avLst/>
          </a:prstGeom>
          <a:noFill/>
        </p:spPr>
        <p:txBody>
          <a:bodyPr vertOverflow="clip" horzOverflow="clip" wrap="square" lIns="0" tIns="0" rIns="0" bIns="0" rtlCol="0" anchor="ctr">
            <a:spAutoFit/>
          </a:bodyPr>
          <a:lstStyle/>
          <a:p>
            <a:pPr algn="l">
              <a:lnSpc>
                <a:spcPts val="2130"/>
              </a:lnSpc>
            </a:pPr>
            <a:r>
              <a:rPr lang="en-US" sz="1700" b="1" spc="-18" dirty="0">
                <a:solidFill>
                  <a:schemeClr val="bg1"/>
                </a:solidFill>
                <a:latin typeface="Montserrat Light" panose="00000700000000000000" pitchFamily="2" charset="0"/>
              </a:rPr>
              <a:t>14.0%</a:t>
            </a:r>
          </a:p>
        </p:txBody>
      </p:sp>
      <p:pic>
        <p:nvPicPr>
          <p:cNvPr id="2045" name="row3-bg-metric"/>
          <p:cNvPicPr>
            <a:picLocks noChangeAspect="1"/>
          </p:cNvPicPr>
          <p:nvPr/>
        </p:nvPicPr>
        <p:blipFill rotWithShape="1">
          <a:blip r:embed="rId9">
            <a:alphaModFix/>
          </a:blip>
          <a:stretch/>
        </p:blipFill>
        <p:spPr>
          <a:xfrm>
            <a:off x="752475" y="7058025"/>
            <a:ext cx="2800000" cy="1257300"/>
          </a:xfrm>
          <a:prstGeom prst="rect">
            <a:avLst/>
          </a:prstGeom>
        </p:spPr>
      </p:pic>
      <p:sp>
        <p:nvSpPr>
          <p:cNvPr id="2046" name="row3-label"/>
          <p:cNvSpPr txBox="1"/>
          <p:nvPr/>
        </p:nvSpPr>
        <p:spPr>
          <a:xfrm>
            <a:off x="922475" y="7536675"/>
            <a:ext cx="2630000" cy="350000"/>
          </a:xfrm>
          <a:prstGeom prst="rect">
            <a:avLst/>
          </a:prstGeom>
          <a:noFill/>
        </p:spPr>
        <p:txBody>
          <a:bodyPr vertOverflow="clip" horzOverflow="clip" wrap="square" lIns="0" tIns="0" rIns="0" bIns="0" rtlCol="0" anchor="ctr">
            <a:spAutoFit/>
          </a:bodyPr>
          <a:lstStyle/>
          <a:p>
            <a:pPr algn="l">
              <a:lnSpc>
                <a:spcPts val="2130"/>
              </a:lnSpc>
            </a:pPr>
            <a:r>
              <a:rPr lang="en-US" sz="1700" spc="-18" dirty="0">
                <a:solidFill>
                  <a:srgbClr val="DEDCE1">
                    <a:alpha val="100000"/>
                  </a:srgbClr>
                </a:solidFill>
                <a:latin typeface="Montserrat Light" panose="00000700000000000000" pitchFamily="2" charset="0"/>
              </a:rPr>
              <a:t>Operating Expenses</a:t>
            </a:r>
          </a:p>
        </p:txBody>
      </p:sp>
      <p:pic>
        <p:nvPicPr>
          <p:cNvPr id="2047" name="row3-bg-0"/>
          <p:cNvPicPr>
            <a:picLocks noChangeAspect="1"/>
          </p:cNvPicPr>
          <p:nvPr/>
        </p:nvPicPr>
        <p:blipFill rotWithShape="1">
          <a:blip r:embed="rId10">
            <a:alphaModFix/>
          </a:blip>
          <a:stretch/>
        </p:blipFill>
        <p:spPr>
          <a:xfrm>
            <a:off x="3552475" y="7058025"/>
            <a:ext cx="3495000" cy="1257300"/>
          </a:xfrm>
          <a:prstGeom prst="rect">
            <a:avLst/>
          </a:prstGeom>
        </p:spPr>
      </p:pic>
      <p:sp>
        <p:nvSpPr>
          <p:cNvPr id="2048" name="row3-val-0"/>
          <p:cNvSpPr txBox="1"/>
          <p:nvPr/>
        </p:nvSpPr>
        <p:spPr>
          <a:xfrm>
            <a:off x="3702475" y="7536675"/>
            <a:ext cx="3345000" cy="350000"/>
          </a:xfrm>
          <a:prstGeom prst="rect">
            <a:avLst/>
          </a:prstGeom>
          <a:noFill/>
        </p:spPr>
        <p:txBody>
          <a:bodyPr vertOverflow="clip" horzOverflow="clip" wrap="square" lIns="0" tIns="0" rIns="0" bIns="0" rtlCol="0" anchor="ctr">
            <a:spAutoFit/>
          </a:bodyPr>
          <a:lstStyle/>
          <a:p>
            <a:pPr algn="l">
              <a:lnSpc>
                <a:spcPts val="2130"/>
              </a:lnSpc>
            </a:pPr>
            <a:r>
              <a:rPr lang="en-US" sz="1700" b="1" spc="-18" dirty="0">
                <a:solidFill>
                  <a:schemeClr val="bg1"/>
                </a:solidFill>
                <a:latin typeface="Montserrat Light" panose="00000700000000000000" pitchFamily="2" charset="0"/>
              </a:rPr>
              <a:t>₹ 12.80</a:t>
            </a:r>
          </a:p>
        </p:txBody>
      </p:sp>
      <p:pic>
        <p:nvPicPr>
          <p:cNvPr id="2049" name="row3-bg-1"/>
          <p:cNvPicPr>
            <a:picLocks noChangeAspect="1"/>
          </p:cNvPicPr>
          <p:nvPr/>
        </p:nvPicPr>
        <p:blipFill rotWithShape="1">
          <a:blip r:embed="rId11">
            <a:alphaModFix/>
          </a:blip>
          <a:stretch/>
        </p:blipFill>
        <p:spPr>
          <a:xfrm>
            <a:off x="7047475" y="7058025"/>
            <a:ext cx="3495000" cy="1257300"/>
          </a:xfrm>
          <a:prstGeom prst="rect">
            <a:avLst/>
          </a:prstGeom>
        </p:spPr>
      </p:pic>
      <p:sp>
        <p:nvSpPr>
          <p:cNvPr id="2050" name="row3-val-1"/>
          <p:cNvSpPr txBox="1"/>
          <p:nvPr/>
        </p:nvSpPr>
        <p:spPr>
          <a:xfrm>
            <a:off x="7197475" y="7536675"/>
            <a:ext cx="3345000" cy="350000"/>
          </a:xfrm>
          <a:prstGeom prst="rect">
            <a:avLst/>
          </a:prstGeom>
          <a:noFill/>
        </p:spPr>
        <p:txBody>
          <a:bodyPr vertOverflow="clip" horzOverflow="clip" wrap="square" lIns="0" tIns="0" rIns="0" bIns="0" rtlCol="0" anchor="ctr">
            <a:spAutoFit/>
          </a:bodyPr>
          <a:lstStyle/>
          <a:p>
            <a:pPr algn="l">
              <a:lnSpc>
                <a:spcPts val="2130"/>
              </a:lnSpc>
            </a:pPr>
            <a:r>
              <a:rPr lang="en-US" sz="1700" b="1" spc="-18" dirty="0">
                <a:solidFill>
                  <a:schemeClr val="bg1"/>
                </a:solidFill>
                <a:latin typeface="Montserrat Light" panose="00000700000000000000" pitchFamily="2" charset="0"/>
              </a:rPr>
              <a:t>₹ 19.50</a:t>
            </a:r>
          </a:p>
        </p:txBody>
      </p:sp>
      <p:pic>
        <p:nvPicPr>
          <p:cNvPr id="2051" name="row3-bg-2"/>
          <p:cNvPicPr>
            <a:picLocks noChangeAspect="1"/>
          </p:cNvPicPr>
          <p:nvPr/>
        </p:nvPicPr>
        <p:blipFill rotWithShape="1">
          <a:blip r:embed="rId12">
            <a:alphaModFix/>
          </a:blip>
          <a:stretch/>
        </p:blipFill>
        <p:spPr>
          <a:xfrm>
            <a:off x="10542475" y="7058025"/>
            <a:ext cx="3495000" cy="1257300"/>
          </a:xfrm>
          <a:prstGeom prst="rect">
            <a:avLst/>
          </a:prstGeom>
        </p:spPr>
      </p:pic>
      <p:sp>
        <p:nvSpPr>
          <p:cNvPr id="2052" name="row3-val-2"/>
          <p:cNvSpPr txBox="1"/>
          <p:nvPr/>
        </p:nvSpPr>
        <p:spPr>
          <a:xfrm>
            <a:off x="10692475" y="7536675"/>
            <a:ext cx="3345000" cy="350000"/>
          </a:xfrm>
          <a:prstGeom prst="rect">
            <a:avLst/>
          </a:prstGeom>
          <a:noFill/>
        </p:spPr>
        <p:txBody>
          <a:bodyPr vertOverflow="clip" horzOverflow="clip" wrap="square" lIns="0" tIns="0" rIns="0" bIns="0" rtlCol="0" anchor="ctr">
            <a:spAutoFit/>
          </a:bodyPr>
          <a:lstStyle/>
          <a:p>
            <a:pPr algn="l">
              <a:lnSpc>
                <a:spcPts val="2130"/>
              </a:lnSpc>
            </a:pPr>
            <a:r>
              <a:rPr lang="en-US" sz="1700" b="1" spc="-18" dirty="0">
                <a:solidFill>
                  <a:schemeClr val="bg1"/>
                </a:solidFill>
                <a:latin typeface="Montserrat Light" panose="00000700000000000000" pitchFamily="2" charset="0"/>
              </a:rPr>
              <a:t>₹ 32.00</a:t>
            </a:r>
          </a:p>
        </p:txBody>
      </p:sp>
      <p:pic>
        <p:nvPicPr>
          <p:cNvPr id="2053" name="row3-bg-3"/>
          <p:cNvPicPr>
            <a:picLocks noChangeAspect="1"/>
          </p:cNvPicPr>
          <p:nvPr/>
        </p:nvPicPr>
        <p:blipFill rotWithShape="1">
          <a:blip r:embed="rId12">
            <a:alphaModFix/>
          </a:blip>
          <a:stretch/>
        </p:blipFill>
        <p:spPr>
          <a:xfrm>
            <a:off x="14037475" y="7058025"/>
            <a:ext cx="3498050" cy="1257300"/>
          </a:xfrm>
          <a:prstGeom prst="rect">
            <a:avLst/>
          </a:prstGeom>
        </p:spPr>
      </p:pic>
      <p:sp>
        <p:nvSpPr>
          <p:cNvPr id="2054" name="row3-val-3"/>
          <p:cNvSpPr txBox="1"/>
          <p:nvPr/>
        </p:nvSpPr>
        <p:spPr>
          <a:xfrm>
            <a:off x="14187475" y="7536675"/>
            <a:ext cx="3348050" cy="350000"/>
          </a:xfrm>
          <a:prstGeom prst="rect">
            <a:avLst/>
          </a:prstGeom>
          <a:noFill/>
        </p:spPr>
        <p:txBody>
          <a:bodyPr vertOverflow="clip" horzOverflow="clip" wrap="square" lIns="0" tIns="0" rIns="0" bIns="0" rtlCol="0" anchor="ctr">
            <a:spAutoFit/>
          </a:bodyPr>
          <a:lstStyle/>
          <a:p>
            <a:pPr algn="l">
              <a:lnSpc>
                <a:spcPts val="2130"/>
              </a:lnSpc>
            </a:pPr>
            <a:r>
              <a:rPr lang="en-US" sz="1700" b="1" spc="-18" dirty="0">
                <a:solidFill>
                  <a:schemeClr val="bg1"/>
                </a:solidFill>
                <a:latin typeface="Montserrat Light" panose="00000700000000000000" pitchFamily="2" charset="0"/>
              </a:rPr>
              <a:t>₹ 49.00</a:t>
            </a:r>
          </a:p>
        </p:txBody>
      </p:sp>
      <p:pic>
        <p:nvPicPr>
          <p:cNvPr id="2055" name="footer-bg-0"/>
          <p:cNvPicPr>
            <a:picLocks noChangeAspect="1"/>
          </p:cNvPicPr>
          <p:nvPr/>
        </p:nvPicPr>
        <p:blipFill rotWithShape="1">
          <a:blip r:embed="rId13">
            <a:alphaModFix/>
          </a:blip>
          <a:stretch/>
        </p:blipFill>
        <p:spPr>
          <a:xfrm>
            <a:off x="752475" y="8315325"/>
            <a:ext cx="2800000" cy="1285875"/>
          </a:xfrm>
          <a:prstGeom prst="rect">
            <a:avLst/>
          </a:prstGeom>
        </p:spPr>
      </p:pic>
      <p:pic>
        <p:nvPicPr>
          <p:cNvPr id="2056" name="footer-bg-1"/>
          <p:cNvPicPr>
            <a:picLocks noChangeAspect="1"/>
          </p:cNvPicPr>
          <p:nvPr/>
        </p:nvPicPr>
        <p:blipFill rotWithShape="1">
          <a:blip r:embed="rId14">
            <a:alphaModFix/>
          </a:blip>
          <a:stretch/>
        </p:blipFill>
        <p:spPr>
          <a:xfrm>
            <a:off x="3552475" y="8315325"/>
            <a:ext cx="3495000" cy="1285875"/>
          </a:xfrm>
          <a:prstGeom prst="rect">
            <a:avLst/>
          </a:prstGeom>
        </p:spPr>
      </p:pic>
      <p:pic>
        <p:nvPicPr>
          <p:cNvPr id="2057" name="footer-bg-2"/>
          <p:cNvPicPr>
            <a:picLocks noChangeAspect="1"/>
          </p:cNvPicPr>
          <p:nvPr/>
        </p:nvPicPr>
        <p:blipFill rotWithShape="1">
          <a:blip r:embed="rId15">
            <a:alphaModFix/>
          </a:blip>
          <a:stretch/>
        </p:blipFill>
        <p:spPr>
          <a:xfrm>
            <a:off x="7047475" y="8315325"/>
            <a:ext cx="3495000" cy="1285875"/>
          </a:xfrm>
          <a:prstGeom prst="rect">
            <a:avLst/>
          </a:prstGeom>
        </p:spPr>
      </p:pic>
      <p:pic>
        <p:nvPicPr>
          <p:cNvPr id="2058" name="footer-bg-3"/>
          <p:cNvPicPr>
            <a:picLocks noChangeAspect="1"/>
          </p:cNvPicPr>
          <p:nvPr/>
        </p:nvPicPr>
        <p:blipFill rotWithShape="1">
          <a:blip r:embed="rId16">
            <a:alphaModFix/>
          </a:blip>
          <a:stretch/>
        </p:blipFill>
        <p:spPr>
          <a:xfrm>
            <a:off x="10542475" y="8315325"/>
            <a:ext cx="3495000" cy="1285875"/>
          </a:xfrm>
          <a:prstGeom prst="rect">
            <a:avLst/>
          </a:prstGeom>
        </p:spPr>
      </p:pic>
      <p:pic>
        <p:nvPicPr>
          <p:cNvPr id="2059" name="footer-bg-4"/>
          <p:cNvPicPr>
            <a:picLocks noChangeAspect="1"/>
          </p:cNvPicPr>
          <p:nvPr/>
        </p:nvPicPr>
        <p:blipFill rotWithShape="1">
          <a:blip r:embed="rId16">
            <a:alphaModFix/>
          </a:blip>
          <a:stretch/>
        </p:blipFill>
        <p:spPr>
          <a:xfrm>
            <a:off x="14037475" y="8315325"/>
            <a:ext cx="3498050" cy="1285875"/>
          </a:xfrm>
          <a:prstGeom prst="rect">
            <a:avLst/>
          </a:prstGeom>
        </p:spPr>
      </p:pic>
    </p:spTree>
    <p:extLst>
      <p:ext uri="{BB962C8B-B14F-4D97-AF65-F5344CB8AC3E}">
        <p14:creationId xmlns:p14="http://schemas.microsoft.com/office/powerpoint/2010/main" val="36480479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0" name="bg1"/>
          <p:cNvPicPr>
            <a:picLocks noChangeAspect="1"/>
          </p:cNvPicPr>
          <p:nvPr/>
        </p:nvPicPr>
        <p:blipFill rotWithShape="1">
          <a:blip r:embed="rId2">
            <a:alphaModFix/>
          </a:blip>
          <a:stretch/>
        </p:blipFill>
        <p:spPr>
          <a:xfrm>
            <a:off x="0" y="0"/>
            <a:ext cx="18288000" cy="10287000"/>
          </a:xfrm>
          <a:prstGeom prst="rect">
            <a:avLst/>
          </a:prstGeom>
        </p:spPr>
      </p:pic>
      <p:pic>
        <p:nvPicPr>
          <p:cNvPr id="101" name="bg2"/>
          <p:cNvPicPr>
            <a:picLocks noChangeAspect="1"/>
          </p:cNvPicPr>
          <p:nvPr/>
        </p:nvPicPr>
        <p:blipFill rotWithShape="1">
          <a:blip r:embed="rId3">
            <a:alphaModFix/>
          </a:blip>
          <a:stretch/>
        </p:blipFill>
        <p:spPr>
          <a:xfrm>
            <a:off x="0" y="0"/>
            <a:ext cx="18288000" cy="10287000"/>
          </a:xfrm>
          <a:prstGeom prst="rect">
            <a:avLst/>
          </a:prstGeom>
        </p:spPr>
      </p:pic>
      <p:pic>
        <p:nvPicPr>
          <p:cNvPr id="102" name="accent"/>
          <p:cNvPicPr>
            <a:picLocks noChangeAspect="1"/>
          </p:cNvPicPr>
          <p:nvPr/>
        </p:nvPicPr>
        <p:blipFill rotWithShape="1">
          <a:blip r:embed="rId4">
            <a:alphaModFix/>
          </a:blip>
          <a:stretch/>
        </p:blipFill>
        <p:spPr>
          <a:xfrm>
            <a:off x="590550" y="733425"/>
            <a:ext cx="19050" cy="666750"/>
          </a:xfrm>
          <a:prstGeom prst="rect">
            <a:avLst/>
          </a:prstGeom>
        </p:spPr>
      </p:pic>
      <p:sp>
        <p:nvSpPr>
          <p:cNvPr id="103" name="main-title"/>
          <p:cNvSpPr txBox="1"/>
          <p:nvPr/>
        </p:nvSpPr>
        <p:spPr>
          <a:xfrm>
            <a:off x="1219200" y="730000"/>
            <a:ext cx="15992475" cy="700000"/>
          </a:xfrm>
          <a:prstGeom prst="rect">
            <a:avLst/>
          </a:prstGeom>
          <a:noFill/>
        </p:spPr>
        <p:txBody>
          <a:bodyPr vertOverflow="clip" horzOverflow="clip" wrap="square" lIns="0" tIns="0" rIns="0" bIns="0" rtlCol="0" anchor="ctr">
            <a:spAutoFit/>
          </a:bodyPr>
          <a:lstStyle/>
          <a:p>
            <a:pPr algn="l">
              <a:lnSpc>
                <a:spcPts val="5250"/>
              </a:lnSpc>
            </a:pPr>
            <a:r>
              <a:rPr lang="en-US" sz="4000" spc="-84" dirty="0">
                <a:solidFill>
                  <a:srgbClr val="FFFFFF">
                    <a:alpha val="100000"/>
                  </a:srgbClr>
                </a:solidFill>
                <a:latin typeface="Montserrat Light" panose="00000700000000000000" pitchFamily="2" charset="0"/>
              </a:rPr>
              <a:t>Impact of ₹5 Crore Infusion</a:t>
            </a:r>
          </a:p>
        </p:txBody>
      </p:sp>
      <p:sp>
        <p:nvSpPr>
          <p:cNvPr id="104" name="sub-title"/>
          <p:cNvSpPr txBox="1"/>
          <p:nvPr/>
        </p:nvSpPr>
        <p:spPr>
          <a:xfrm>
            <a:off x="1219200" y="1450000"/>
            <a:ext cx="15992475" cy="420000"/>
          </a:xfrm>
          <a:prstGeom prst="rect">
            <a:avLst/>
          </a:prstGeom>
          <a:noFill/>
        </p:spPr>
        <p:txBody>
          <a:bodyPr vertOverflow="clip" horzOverflow="clip" wrap="square" lIns="0" tIns="0" rIns="0" bIns="0" rtlCol="0" anchor="ctr">
            <a:spAutoFit/>
          </a:bodyPr>
          <a:lstStyle/>
          <a:p>
            <a:pPr algn="l">
              <a:lnSpc>
                <a:spcPts val="2700"/>
              </a:lnSpc>
            </a:pPr>
            <a:r>
              <a:rPr lang="en-US" sz="1900" spc="-18" dirty="0">
                <a:solidFill>
                  <a:srgbClr val="C8B8FF">
                    <a:alpha val="100000"/>
                  </a:srgbClr>
                </a:solidFill>
                <a:latin typeface="Montserrat Light" panose="00000700000000000000" pitchFamily="2" charset="0"/>
              </a:rPr>
              <a:t>What We Can Achieve: April – September 2026 (H1 FY 26-27) | Subject to Immediate Infusion</a:t>
            </a:r>
          </a:p>
        </p:txBody>
      </p:sp>
      <p:pic>
        <p:nvPicPr>
          <p:cNvPr id="200" name="card1-bg"/>
          <p:cNvPicPr>
            <a:picLocks noChangeAspect="1"/>
          </p:cNvPicPr>
          <p:nvPr/>
        </p:nvPicPr>
        <p:blipFill rotWithShape="1">
          <a:blip r:embed="rId5">
            <a:alphaModFix/>
          </a:blip>
          <a:stretch/>
        </p:blipFill>
        <p:spPr>
          <a:xfrm>
            <a:off x="752475" y="2150000"/>
            <a:ext cx="5150000" cy="4000000"/>
          </a:xfrm>
          <a:prstGeom prst="rect">
            <a:avLst/>
          </a:prstGeom>
        </p:spPr>
      </p:pic>
      <p:sp>
        <p:nvSpPr>
          <p:cNvPr id="202" name="card1-num"/>
          <p:cNvSpPr txBox="1"/>
          <p:nvPr/>
        </p:nvSpPr>
        <p:spPr>
          <a:xfrm>
            <a:off x="752475" y="2750000"/>
            <a:ext cx="5150000" cy="950000"/>
          </a:xfrm>
          <a:prstGeom prst="rect">
            <a:avLst/>
          </a:prstGeom>
          <a:noFill/>
        </p:spPr>
        <p:txBody>
          <a:bodyPr vertOverflow="clip" horzOverflow="clip" wrap="square" lIns="0" tIns="0" rIns="0" bIns="0" rtlCol="0" anchor="ctr">
            <a:spAutoFit/>
          </a:bodyPr>
          <a:lstStyle/>
          <a:p>
            <a:pPr algn="ctr">
              <a:lnSpc>
                <a:spcPts val="2700"/>
              </a:lnSpc>
            </a:pPr>
            <a:r>
              <a:rPr lang="en-US" sz="6800" b="1" spc="-68" dirty="0">
                <a:solidFill>
                  <a:srgbClr val="15092E">
                    <a:alpha val="100000"/>
                  </a:srgbClr>
                </a:solidFill>
                <a:latin typeface="Montserrat" panose="00000700000000000000" pitchFamily="2" charset="0"/>
              </a:rPr>
              <a:t>₹22 Cr</a:t>
            </a:r>
          </a:p>
        </p:txBody>
      </p:sp>
      <p:sp>
        <p:nvSpPr>
          <p:cNvPr id="203" name="card1-lbl"/>
          <p:cNvSpPr txBox="1"/>
          <p:nvPr/>
        </p:nvSpPr>
        <p:spPr>
          <a:xfrm>
            <a:off x="752475" y="3780000"/>
            <a:ext cx="5150000" cy="550000"/>
          </a:xfrm>
          <a:prstGeom prst="rect">
            <a:avLst/>
          </a:prstGeom>
          <a:noFill/>
        </p:spPr>
        <p:txBody>
          <a:bodyPr vertOverflow="clip" horzOverflow="clip" wrap="square" lIns="0" tIns="0" rIns="0" bIns="0" rtlCol="0" anchor="ctr">
            <a:spAutoFit/>
          </a:bodyPr>
          <a:lstStyle/>
          <a:p>
            <a:pPr algn="ctr">
              <a:lnSpc>
                <a:spcPts val="2700"/>
              </a:lnSpc>
            </a:pPr>
            <a:r>
              <a:rPr lang="en-US" sz="2200" b="1" spc="-22" dirty="0">
                <a:solidFill>
                  <a:srgbClr val="15092E">
                    <a:alpha val="100000"/>
                  </a:srgbClr>
                </a:solidFill>
                <a:latin typeface="Montserrat" panose="00000700000000000000" pitchFamily="2" charset="0"/>
              </a:rPr>
              <a:t>Target Sales</a:t>
            </a:r>
          </a:p>
        </p:txBody>
      </p:sp>
      <p:sp>
        <p:nvSpPr>
          <p:cNvPr id="204" name="card1-sub"/>
          <p:cNvSpPr txBox="1"/>
          <p:nvPr/>
        </p:nvSpPr>
        <p:spPr>
          <a:xfrm>
            <a:off x="752475" y="4400000"/>
            <a:ext cx="5150000" cy="500000"/>
          </a:xfrm>
          <a:prstGeom prst="rect">
            <a:avLst/>
          </a:prstGeom>
          <a:noFill/>
        </p:spPr>
        <p:txBody>
          <a:bodyPr vertOverflow="clip" horzOverflow="clip" wrap="square" lIns="0" tIns="0" rIns="0" bIns="0" rtlCol="0" anchor="ctr">
            <a:spAutoFit/>
          </a:bodyPr>
          <a:lstStyle/>
          <a:p>
            <a:pPr algn="ctr">
              <a:lnSpc>
                <a:spcPts val="2700"/>
              </a:lnSpc>
            </a:pPr>
            <a:r>
              <a:rPr lang="en-US" sz="1700" spc="-17" dirty="0">
                <a:solidFill>
                  <a:srgbClr val="3A2860">
                    <a:alpha val="100000"/>
                  </a:srgbClr>
                </a:solidFill>
                <a:latin typeface="Montserrat Light" panose="00000700000000000000" pitchFamily="2" charset="0"/>
              </a:rPr>
              <a:t>April – September 2026</a:t>
            </a:r>
          </a:p>
        </p:txBody>
      </p:sp>
      <p:pic>
        <p:nvPicPr>
          <p:cNvPr id="210" name="card2-bg"/>
          <p:cNvPicPr>
            <a:picLocks noChangeAspect="1"/>
          </p:cNvPicPr>
          <p:nvPr/>
        </p:nvPicPr>
        <p:blipFill rotWithShape="1">
          <a:blip r:embed="rId6">
            <a:alphaModFix/>
          </a:blip>
          <a:stretch/>
        </p:blipFill>
        <p:spPr>
          <a:xfrm>
            <a:off x="6602475" y="2150000"/>
            <a:ext cx="5150000" cy="4000000"/>
          </a:xfrm>
          <a:prstGeom prst="rect">
            <a:avLst/>
          </a:prstGeom>
        </p:spPr>
      </p:pic>
      <p:sp>
        <p:nvSpPr>
          <p:cNvPr id="212" name="card2-num"/>
          <p:cNvSpPr txBox="1"/>
          <p:nvPr/>
        </p:nvSpPr>
        <p:spPr>
          <a:xfrm>
            <a:off x="6602475" y="2750000"/>
            <a:ext cx="5150000" cy="950000"/>
          </a:xfrm>
          <a:prstGeom prst="rect">
            <a:avLst/>
          </a:prstGeom>
          <a:noFill/>
        </p:spPr>
        <p:txBody>
          <a:bodyPr vertOverflow="clip" horzOverflow="clip" wrap="square" lIns="0" tIns="0" rIns="0" bIns="0" rtlCol="0" anchor="ctr">
            <a:spAutoFit/>
          </a:bodyPr>
          <a:lstStyle/>
          <a:p>
            <a:pPr algn="ctr">
              <a:lnSpc>
                <a:spcPts val="2700"/>
              </a:lnSpc>
            </a:pPr>
            <a:r>
              <a:rPr lang="en-US" sz="6800" b="1" spc="-68" dirty="0">
                <a:solidFill>
                  <a:srgbClr val="15092E">
                    <a:alpha val="100000"/>
                  </a:srgbClr>
                </a:solidFill>
                <a:latin typeface="Montserrat" panose="00000700000000000000" pitchFamily="2" charset="0"/>
              </a:rPr>
              <a:t>12%</a:t>
            </a:r>
          </a:p>
        </p:txBody>
      </p:sp>
      <p:sp>
        <p:nvSpPr>
          <p:cNvPr id="213" name="card2-lbl"/>
          <p:cNvSpPr txBox="1"/>
          <p:nvPr/>
        </p:nvSpPr>
        <p:spPr>
          <a:xfrm>
            <a:off x="6602475" y="3780000"/>
            <a:ext cx="5150000" cy="550000"/>
          </a:xfrm>
          <a:prstGeom prst="rect">
            <a:avLst/>
          </a:prstGeom>
          <a:noFill/>
        </p:spPr>
        <p:txBody>
          <a:bodyPr vertOverflow="clip" horzOverflow="clip" wrap="square" lIns="0" tIns="0" rIns="0" bIns="0" rtlCol="0" anchor="ctr">
            <a:spAutoFit/>
          </a:bodyPr>
          <a:lstStyle/>
          <a:p>
            <a:pPr algn="ctr">
              <a:lnSpc>
                <a:spcPts val="2700"/>
              </a:lnSpc>
            </a:pPr>
            <a:r>
              <a:rPr lang="en-US" sz="2200" b="1" spc="-22" dirty="0">
                <a:solidFill>
                  <a:srgbClr val="15092E">
                    <a:alpha val="100000"/>
                  </a:srgbClr>
                </a:solidFill>
                <a:latin typeface="Montserrat" panose="00000700000000000000" pitchFamily="2" charset="0"/>
              </a:rPr>
              <a:t>PAT Margin</a:t>
            </a:r>
          </a:p>
        </p:txBody>
      </p:sp>
      <p:sp>
        <p:nvSpPr>
          <p:cNvPr id="214" name="card2-sub"/>
          <p:cNvSpPr txBox="1"/>
          <p:nvPr/>
        </p:nvSpPr>
        <p:spPr>
          <a:xfrm>
            <a:off x="6602475" y="4400000"/>
            <a:ext cx="5150000" cy="500000"/>
          </a:xfrm>
          <a:prstGeom prst="rect">
            <a:avLst/>
          </a:prstGeom>
          <a:noFill/>
        </p:spPr>
        <p:txBody>
          <a:bodyPr vertOverflow="clip" horzOverflow="clip" wrap="square" lIns="0" tIns="0" rIns="0" bIns="0" rtlCol="0" anchor="ctr">
            <a:spAutoFit/>
          </a:bodyPr>
          <a:lstStyle/>
          <a:p>
            <a:pPr algn="ctr">
              <a:lnSpc>
                <a:spcPts val="2700"/>
              </a:lnSpc>
            </a:pPr>
            <a:r>
              <a:rPr lang="en-US" sz="1700" spc="-17" dirty="0">
                <a:solidFill>
                  <a:srgbClr val="3A2860">
                    <a:alpha val="100000"/>
                  </a:srgbClr>
                </a:solidFill>
                <a:latin typeface="Montserrat Light" panose="00000700000000000000" pitchFamily="2" charset="0"/>
              </a:rPr>
              <a:t>PAT = ₹2.64 Crores</a:t>
            </a:r>
          </a:p>
        </p:txBody>
      </p:sp>
      <p:pic>
        <p:nvPicPr>
          <p:cNvPr id="220" name="card3-bg"/>
          <p:cNvPicPr>
            <a:picLocks noChangeAspect="1"/>
          </p:cNvPicPr>
          <p:nvPr/>
        </p:nvPicPr>
        <p:blipFill rotWithShape="1">
          <a:blip r:embed="rId7">
            <a:alphaModFix/>
          </a:blip>
          <a:stretch/>
        </p:blipFill>
        <p:spPr>
          <a:xfrm>
            <a:off x="12385525" y="2150000"/>
            <a:ext cx="5150000" cy="4000000"/>
          </a:xfrm>
          <a:prstGeom prst="rect">
            <a:avLst/>
          </a:prstGeom>
        </p:spPr>
      </p:pic>
      <p:sp>
        <p:nvSpPr>
          <p:cNvPr id="222" name="card3-num"/>
          <p:cNvSpPr txBox="1"/>
          <p:nvPr/>
        </p:nvSpPr>
        <p:spPr>
          <a:xfrm>
            <a:off x="12385525" y="2750000"/>
            <a:ext cx="5150000" cy="950000"/>
          </a:xfrm>
          <a:prstGeom prst="rect">
            <a:avLst/>
          </a:prstGeom>
          <a:noFill/>
        </p:spPr>
        <p:txBody>
          <a:bodyPr vertOverflow="clip" horzOverflow="clip" wrap="square" lIns="0" tIns="0" rIns="0" bIns="0" rtlCol="0" anchor="ctr">
            <a:spAutoFit/>
          </a:bodyPr>
          <a:lstStyle/>
          <a:p>
            <a:pPr algn="ctr">
              <a:lnSpc>
                <a:spcPts val="2700"/>
              </a:lnSpc>
            </a:pPr>
            <a:r>
              <a:rPr lang="en-US" sz="6800" b="1" spc="-68" dirty="0">
                <a:solidFill>
                  <a:srgbClr val="FFFFFF">
                    <a:alpha val="100000"/>
                  </a:srgbClr>
                </a:solidFill>
                <a:latin typeface="Montserrat" panose="00000700000000000000" pitchFamily="2" charset="0"/>
              </a:rPr>
              <a:t>₹5 Cr</a:t>
            </a:r>
          </a:p>
        </p:txBody>
      </p:sp>
      <p:sp>
        <p:nvSpPr>
          <p:cNvPr id="223" name="card3-lbl"/>
          <p:cNvSpPr txBox="1"/>
          <p:nvPr/>
        </p:nvSpPr>
        <p:spPr>
          <a:xfrm>
            <a:off x="12385525" y="3780000"/>
            <a:ext cx="5150000" cy="550000"/>
          </a:xfrm>
          <a:prstGeom prst="rect">
            <a:avLst/>
          </a:prstGeom>
          <a:noFill/>
        </p:spPr>
        <p:txBody>
          <a:bodyPr vertOverflow="clip" horzOverflow="clip" wrap="square" lIns="0" tIns="0" rIns="0" bIns="0" rtlCol="0" anchor="ctr">
            <a:spAutoFit/>
          </a:bodyPr>
          <a:lstStyle/>
          <a:p>
            <a:pPr algn="ctr">
              <a:lnSpc>
                <a:spcPts val="2700"/>
              </a:lnSpc>
            </a:pPr>
            <a:r>
              <a:rPr lang="en-US" sz="2200" b="1" spc="-22" dirty="0">
                <a:solidFill>
                  <a:srgbClr val="FFFFFF">
                    <a:alpha val="100000"/>
                  </a:srgbClr>
                </a:solidFill>
                <a:latin typeface="Montserrat" panose="00000700000000000000" pitchFamily="2" charset="0"/>
              </a:rPr>
              <a:t>Capital Infusion</a:t>
            </a:r>
          </a:p>
        </p:txBody>
      </p:sp>
      <p:sp>
        <p:nvSpPr>
          <p:cNvPr id="224" name="card3-sub"/>
          <p:cNvSpPr txBox="1"/>
          <p:nvPr/>
        </p:nvSpPr>
        <p:spPr>
          <a:xfrm>
            <a:off x="12385525" y="4400000"/>
            <a:ext cx="5150000" cy="500000"/>
          </a:xfrm>
          <a:prstGeom prst="rect">
            <a:avLst/>
          </a:prstGeom>
          <a:noFill/>
        </p:spPr>
        <p:txBody>
          <a:bodyPr vertOverflow="clip" horzOverflow="clip" wrap="square" lIns="0" tIns="0" rIns="0" bIns="0" rtlCol="0" anchor="ctr">
            <a:spAutoFit/>
          </a:bodyPr>
          <a:lstStyle/>
          <a:p>
            <a:pPr algn="ctr">
              <a:lnSpc>
                <a:spcPts val="2700"/>
              </a:lnSpc>
            </a:pPr>
            <a:r>
              <a:rPr lang="en-US" sz="1700" spc="-17" dirty="0">
                <a:solidFill>
                  <a:srgbClr val="D0C8FF">
                    <a:alpha val="100000"/>
                  </a:srgbClr>
                </a:solidFill>
                <a:latin typeface="Montserrat Light" panose="00000700000000000000" pitchFamily="2" charset="0"/>
              </a:rPr>
              <a:t>Required Immediately</a:t>
            </a:r>
          </a:p>
        </p:txBody>
      </p:sp>
      <p:pic>
        <p:nvPicPr>
          <p:cNvPr id="300" name="strip-bg"/>
          <p:cNvPicPr>
            <a:picLocks noChangeAspect="1"/>
          </p:cNvPicPr>
          <p:nvPr/>
        </p:nvPicPr>
        <p:blipFill rotWithShape="1">
          <a:blip r:embed="rId8">
            <a:alphaModFix/>
          </a:blip>
          <a:stretch/>
        </p:blipFill>
        <p:spPr>
          <a:xfrm>
            <a:off x="752475" y="6500000"/>
            <a:ext cx="16783050" cy="3100000"/>
          </a:xfrm>
          <a:prstGeom prst="rect">
            <a:avLst/>
          </a:prstGeom>
        </p:spPr>
      </p:pic>
      <p:sp>
        <p:nvSpPr>
          <p:cNvPr id="301" name="bullets"/>
          <p:cNvSpPr txBox="1"/>
          <p:nvPr/>
        </p:nvSpPr>
        <p:spPr>
          <a:xfrm>
            <a:off x="1050000" y="6580000"/>
            <a:ext cx="16100000" cy="2950000"/>
          </a:xfrm>
          <a:prstGeom prst="rect">
            <a:avLst/>
          </a:prstGeom>
          <a:noFill/>
        </p:spPr>
        <p:txBody>
          <a:bodyPr vertOverflow="clip" horzOverflow="clip" wrap="square" lIns="0" tIns="120000" rIns="0" bIns="0" rtlCol="0" anchor="t">
            <a:spAutoFit/>
          </a:bodyPr>
          <a:lstStyle/>
          <a:p>
            <a:pPr algn="l">
              <a:lnSpc>
                <a:spcPts val="3000"/>
              </a:lnSpc>
            </a:pPr>
            <a:r>
              <a:rPr lang="en-US" sz="1900" b="1" spc="-19" dirty="0">
                <a:solidFill>
                  <a:srgbClr val="FFFFFF">
                    <a:alpha val="100000"/>
                  </a:srgbClr>
                </a:solidFill>
                <a:latin typeface="Montserrat" panose="00000700000000000000" pitchFamily="2" charset="0"/>
              </a:rPr>
              <a:t>✓  Immediate capital enables bulk raw material procurement — boosting margins significantly</a:t>
            </a:r>
          </a:p>
          <a:p>
            <a:pPr algn="l">
              <a:lnSpc>
                <a:spcPts val="3000"/>
              </a:lnSpc>
            </a:pPr>
            <a:r>
              <a:rPr lang="en-US" sz="1900" b="1" spc="-19" dirty="0">
                <a:solidFill>
                  <a:srgbClr val="FFFFFF">
                    <a:alpha val="100000"/>
                  </a:srgbClr>
                </a:solidFill>
                <a:latin typeface="Montserrat" panose="00000700000000000000" pitchFamily="2" charset="0"/>
              </a:rPr>
              <a:t>✓  Premium Home Lifts and new products launched — driving higher revenue mix from H1 itself</a:t>
            </a:r>
          </a:p>
          <a:p>
            <a:pPr algn="l">
              <a:lnSpc>
                <a:spcPts val="3000"/>
              </a:lnSpc>
            </a:pPr>
            <a:r>
              <a:rPr lang="en-US" sz="1900" b="1" spc="-19" dirty="0">
                <a:solidFill>
                  <a:srgbClr val="FFFFFF">
                    <a:alpha val="100000"/>
                  </a:srgbClr>
                </a:solidFill>
                <a:latin typeface="Montserrat" panose="00000700000000000000" pitchFamily="2" charset="0"/>
              </a:rPr>
              <a:t>✓  Export pipeline (Kuwait, Canada, Australia) activated — delivering incremental revenue from Q1</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1F0234">
            <a:alpha val="86667"/>
          </a:srgbClr>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D6276C8-8F05-7D9F-8613-80D6F402DFB1}"/>
              </a:ext>
            </a:extLst>
          </p:cNvPr>
          <p:cNvPicPr>
            <a:picLocks noChangeAspect="1"/>
          </p:cNvPicPr>
          <p:nvPr/>
        </p:nvPicPr>
        <p:blipFill>
          <a:blip r:embed="rId3">
            <a:alphaModFix amt="49000"/>
            <a:extLst>
              <a:ext uri="{BEBA8EAE-BF5A-486C-A8C5-ECC9F3942E4B}">
                <a14:imgProps xmlns:a14="http://schemas.microsoft.com/office/drawing/2010/main">
                  <a14:imgLayer r:embed="rId4">
                    <a14:imgEffect>
                      <a14:artisticPhotocopy trans="0" detail="10"/>
                    </a14:imgEffect>
                  </a14:imgLayer>
                </a14:imgProps>
              </a:ext>
            </a:extLst>
          </a:blip>
          <a:stretch>
            <a:fillRect/>
          </a:stretch>
        </p:blipFill>
        <p:spPr>
          <a:xfrm>
            <a:off x="748145" y="270877"/>
            <a:ext cx="16985673" cy="9755804"/>
          </a:xfrm>
          <a:prstGeom prst="rect">
            <a:avLst/>
          </a:prstGeom>
          <a:effectLst>
            <a:glow rad="127000">
              <a:schemeClr val="bg1"/>
            </a:glow>
          </a:effectLst>
        </p:spPr>
      </p:pic>
    </p:spTree>
    <p:extLst>
      <p:ext uri="{BB962C8B-B14F-4D97-AF65-F5344CB8AC3E}">
        <p14:creationId xmlns:p14="http://schemas.microsoft.com/office/powerpoint/2010/main" val="3623531531"/>
      </p:ext>
    </p:extLst>
  </p:cSld>
  <p:clrMapOvr>
    <a:overrideClrMapping bg1="lt1" tx1="dk1" bg2="lt2" tx2="dk2" accent1="accent1" accent2="accent2" accent3="accent3" accent4="accent4" accent5="accent5" accent6="accent6" hlink="hlink" folHlink="folHlink"/>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6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0" y="0"/>
            <a:ext cx="18288000" cy="10287000"/>
          </a:xfrm>
          <a:prstGeom prst="rect">
            <a:avLst/>
          </a:prstGeom>
        </p:spPr>
      </p:pic>
      <p:pic>
        <p:nvPicPr>
          <p:cNvPr id="1165" name="0ee6190d-0f1b-4d93-b3e5-4a4e1a114fa8">
            <a:extLst>
              <a:ext uri="{FF2B5EF4-FFF2-40B4-BE49-F238E27FC236}">
                <a16:creationId xmlns:a16="http://schemas.microsoft.com/office/drawing/2014/main" id="{A8642F66-C0BB-4949-9A9C-024B120A5D52}"/>
              </a:ext>
            </a:extLst>
          </p:cNvPr>
          <p:cNvPicPr preferRelativeResize="0">
            <a:picLocks noChangeAspect="1"/>
          </p:cNvPicPr>
          <p:nvPr/>
        </p:nvPicPr>
        <p:blipFill rotWithShape="1">
          <a:blip r:embed="rId3">
            <a:alphaModFix/>
          </a:blip>
          <a:stretch/>
        </p:blipFill>
        <p:spPr>
          <a:xfrm>
            <a:off x="0" y="0"/>
            <a:ext cx="18288000" cy="10287000"/>
          </a:xfrm>
          <a:prstGeom prst="rect">
            <a:avLst/>
          </a:prstGeom>
        </p:spPr>
      </p:pic>
      <p:pic>
        <p:nvPicPr>
          <p:cNvPr id="116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1123950" y="3219450"/>
            <a:ext cx="4781550" cy="2305050"/>
          </a:xfrm>
          <a:prstGeom prst="rect">
            <a:avLst/>
          </a:prstGeom>
          <a:effectLst>
            <a:outerShdw blurRad="285750" dir="2700000" algn="ctr" rotWithShape="0">
              <a:srgbClr val="000000">
                <a:alpha val="40000"/>
              </a:srgbClr>
            </a:outerShdw>
          </a:effectLst>
        </p:spPr>
      </p:pic>
      <p:sp>
        <p:nvSpPr>
          <p:cNvPr id="1167" name="-0">
            <a:extLst>
              <a:ext uri="{FF2B5EF4-FFF2-40B4-BE49-F238E27FC236}">
                <a16:creationId xmlns:a16="http://schemas.microsoft.com/office/drawing/2014/main" id="{111B4A49-B930-4A89-A1CD-6CA2B3D95AED}"/>
              </a:ext>
            </a:extLst>
          </p:cNvPr>
          <p:cNvSpPr txBox="1"/>
          <p:nvPr/>
        </p:nvSpPr>
        <p:spPr>
          <a:xfrm>
            <a:off x="5202079" y="4207288"/>
            <a:ext cx="495300" cy="333375"/>
          </a:xfrm>
          <a:prstGeom prst="rect">
            <a:avLst/>
          </a:prstGeom>
          <a:noFill/>
        </p:spPr>
        <p:txBody>
          <a:bodyPr vertOverflow="clip" horzOverflow="clip" wrap="square" lIns="0" tIns="0" rIns="0" bIns="0" rtlCol="0" anchor="ctr">
            <a:spAutoFit/>
          </a:bodyPr>
          <a:lstStyle/>
          <a:p>
            <a:pPr algn="r"/>
            <a:r>
              <a:rPr lang="en-US" sz="2520" b="1" dirty="0">
                <a:solidFill>
                  <a:srgbClr val="FFFFFF">
                    <a:alpha val="100000"/>
                  </a:srgbClr>
                </a:solidFill>
                <a:latin typeface="Montserrat" panose="00000700000000000000" pitchFamily="2" charset="0"/>
              </a:rPr>
              <a:t>#1</a:t>
            </a:r>
          </a:p>
        </p:txBody>
      </p:sp>
      <p:sp>
        <p:nvSpPr>
          <p:cNvPr id="1168" name="Primary Heading-0">
            <a:extLst>
              <a:ext uri="{FF2B5EF4-FFF2-40B4-BE49-F238E27FC236}">
                <a16:creationId xmlns:a16="http://schemas.microsoft.com/office/drawing/2014/main" id="{111B4A49-B930-4A89-A1CD-6CA2B3D95AED}"/>
              </a:ext>
            </a:extLst>
          </p:cNvPr>
          <p:cNvSpPr txBox="1"/>
          <p:nvPr/>
        </p:nvSpPr>
        <p:spPr>
          <a:xfrm>
            <a:off x="1350169" y="3462335"/>
            <a:ext cx="3705225" cy="355097"/>
          </a:xfrm>
          <a:prstGeom prst="rect">
            <a:avLst/>
          </a:prstGeom>
          <a:noFill/>
        </p:spPr>
        <p:txBody>
          <a:bodyPr vertOverflow="clip" horzOverflow="clip" wrap="square" lIns="0" tIns="0" rIns="0" bIns="0" rtlCol="0" anchor="ctr">
            <a:spAutoFit/>
          </a:bodyPr>
          <a:lstStyle/>
          <a:p>
            <a:pPr algn="r">
              <a:lnSpc>
                <a:spcPts val="2982"/>
              </a:lnSpc>
            </a:pPr>
            <a:r>
              <a:rPr lang="en-US" sz="2100" b="1" spc="-32" dirty="0">
                <a:solidFill>
                  <a:srgbClr val="FFFFFF">
                    <a:alpha val="100000"/>
                  </a:srgbClr>
                </a:solidFill>
                <a:latin typeface="Montserrat" panose="00000700000000000000" pitchFamily="2" charset="0"/>
              </a:rPr>
              <a:t>MATERIAL HANDLING</a:t>
            </a:r>
          </a:p>
        </p:txBody>
      </p:sp>
      <p:sp>
        <p:nvSpPr>
          <p:cNvPr id="1169" name="Description of a primary heading-0">
            <a:extLst>
              <a:ext uri="{FF2B5EF4-FFF2-40B4-BE49-F238E27FC236}">
                <a16:creationId xmlns:a16="http://schemas.microsoft.com/office/drawing/2014/main" id="{111B4A49-B930-4A89-A1CD-6CA2B3D95AED}"/>
              </a:ext>
            </a:extLst>
          </p:cNvPr>
          <p:cNvSpPr txBox="1"/>
          <p:nvPr/>
        </p:nvSpPr>
        <p:spPr>
          <a:xfrm>
            <a:off x="1283494" y="3758179"/>
            <a:ext cx="3705225" cy="1701748"/>
          </a:xfrm>
          <a:prstGeom prst="rect">
            <a:avLst/>
          </a:prstGeom>
          <a:noFill/>
        </p:spPr>
        <p:txBody>
          <a:bodyPr vertOverflow="clip" horzOverflow="clip" wrap="square" lIns="0" tIns="0" rIns="0" bIns="0" rtlCol="0" anchor="ctr">
            <a:spAutoFit/>
          </a:bodyPr>
          <a:lstStyle/>
          <a:p>
            <a:pPr algn="r">
              <a:lnSpc>
                <a:spcPts val="2700"/>
              </a:lnSpc>
            </a:pPr>
            <a:r>
              <a:rPr lang="en-US" spc="-18" dirty="0">
                <a:solidFill>
                  <a:srgbClr val="FFFFFF">
                    <a:alpha val="100000"/>
                  </a:srgbClr>
                </a:solidFill>
                <a:latin typeface="Montserrat Light" panose="00000700000000000000" pitchFamily="2" charset="0"/>
              </a:rPr>
              <a:t>Eliminate the expense of material handling by implementing efficient equipment and a well-planned plant layout</a:t>
            </a:r>
            <a:r>
              <a:rPr lang="en-US" sz="1800" spc="-18" dirty="0">
                <a:solidFill>
                  <a:srgbClr val="FFFFFF">
                    <a:alpha val="100000"/>
                  </a:srgbClr>
                </a:solidFill>
                <a:latin typeface="Montserrat Light" panose="00000700000000000000" pitchFamily="2" charset="0"/>
              </a:rPr>
              <a:t>.</a:t>
            </a:r>
          </a:p>
        </p:txBody>
      </p:sp>
      <p:pic>
        <p:nvPicPr>
          <p:cNvPr id="117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12725400" y="2914650"/>
            <a:ext cx="4781550" cy="1962150"/>
          </a:xfrm>
          <a:prstGeom prst="rect">
            <a:avLst/>
          </a:prstGeom>
          <a:effectLst>
            <a:outerShdw blurRad="285750" dir="2700000" algn="ctr" rotWithShape="0">
              <a:srgbClr val="000000">
                <a:alpha val="40000"/>
              </a:srgbClr>
            </a:outerShdw>
          </a:effectLst>
        </p:spPr>
      </p:pic>
      <p:sp>
        <p:nvSpPr>
          <p:cNvPr id="1171" name="-1">
            <a:extLst>
              <a:ext uri="{FF2B5EF4-FFF2-40B4-BE49-F238E27FC236}">
                <a16:creationId xmlns:a16="http://schemas.microsoft.com/office/drawing/2014/main" id="{111B4A49-B930-4A89-A1CD-6CA2B3D95AED}"/>
              </a:ext>
            </a:extLst>
          </p:cNvPr>
          <p:cNvSpPr txBox="1"/>
          <p:nvPr/>
        </p:nvSpPr>
        <p:spPr>
          <a:xfrm>
            <a:off x="12912185" y="3734181"/>
            <a:ext cx="552450" cy="333375"/>
          </a:xfrm>
          <a:prstGeom prst="rect">
            <a:avLst/>
          </a:prstGeom>
          <a:noFill/>
        </p:spPr>
        <p:txBody>
          <a:bodyPr vertOverflow="clip" horzOverflow="clip" wrap="square" lIns="0" tIns="0" rIns="0" bIns="0" rtlCol="0" anchor="ctr">
            <a:spAutoFit/>
          </a:bodyPr>
          <a:lstStyle/>
          <a:p>
            <a:pPr algn="l"/>
            <a:r>
              <a:rPr lang="en-US" sz="2520" b="1" dirty="0">
                <a:solidFill>
                  <a:srgbClr val="F2F1F3">
                    <a:alpha val="100000"/>
                  </a:srgbClr>
                </a:solidFill>
                <a:latin typeface="Montserrat" panose="00000700000000000000" pitchFamily="2" charset="0"/>
              </a:rPr>
              <a:t>#2</a:t>
            </a:r>
          </a:p>
        </p:txBody>
      </p:sp>
      <p:sp>
        <p:nvSpPr>
          <p:cNvPr id="1172" name="Primary Heading-1">
            <a:extLst>
              <a:ext uri="{FF2B5EF4-FFF2-40B4-BE49-F238E27FC236}">
                <a16:creationId xmlns:a16="http://schemas.microsoft.com/office/drawing/2014/main" id="{111B4A49-B930-4A89-A1CD-6CA2B3D95AED}"/>
              </a:ext>
            </a:extLst>
          </p:cNvPr>
          <p:cNvSpPr txBox="1"/>
          <p:nvPr/>
        </p:nvSpPr>
        <p:spPr>
          <a:xfrm>
            <a:off x="13719238" y="3160583"/>
            <a:ext cx="3705225" cy="355097"/>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F2F1F3">
                    <a:alpha val="100000"/>
                  </a:srgbClr>
                </a:solidFill>
                <a:latin typeface="Montserrat" panose="00000700000000000000" pitchFamily="2" charset="0"/>
              </a:rPr>
              <a:t>TRANSPORT</a:t>
            </a:r>
          </a:p>
        </p:txBody>
      </p:sp>
      <p:sp>
        <p:nvSpPr>
          <p:cNvPr id="1173" name="Description of a primary heading-1">
            <a:extLst>
              <a:ext uri="{FF2B5EF4-FFF2-40B4-BE49-F238E27FC236}">
                <a16:creationId xmlns:a16="http://schemas.microsoft.com/office/drawing/2014/main" id="{111B4A49-B930-4A89-A1CD-6CA2B3D95AED}"/>
              </a:ext>
            </a:extLst>
          </p:cNvPr>
          <p:cNvSpPr txBox="1"/>
          <p:nvPr/>
        </p:nvSpPr>
        <p:spPr>
          <a:xfrm>
            <a:off x="13652564" y="3458102"/>
            <a:ext cx="3705225" cy="1355499"/>
          </a:xfrm>
          <a:prstGeom prst="rect">
            <a:avLst/>
          </a:prstGeom>
          <a:noFill/>
        </p:spPr>
        <p:txBody>
          <a:bodyPr vertOverflow="clip" horzOverflow="clip" wrap="square" lIns="0" tIns="0" rIns="0" bIns="0" rtlCol="0" anchor="ctr">
            <a:spAutoFit/>
          </a:bodyPr>
          <a:lstStyle/>
          <a:p>
            <a:pPr algn="l">
              <a:lnSpc>
                <a:spcPts val="2700"/>
              </a:lnSpc>
            </a:pPr>
            <a:r>
              <a:rPr lang="en-US" sz="1800" spc="-18" dirty="0">
                <a:solidFill>
                  <a:srgbClr val="F2F1F3">
                    <a:alpha val="100000"/>
                  </a:srgbClr>
                </a:solidFill>
                <a:latin typeface="Montserrat Light" panose="00000700000000000000" pitchFamily="2" charset="0"/>
              </a:rPr>
              <a:t>Save material transportation costs by optimizing MOQ’s and efficiently manage dispatches to avoid multiple trips to same site.</a:t>
            </a:r>
          </a:p>
        </p:txBody>
      </p:sp>
      <p:pic>
        <p:nvPicPr>
          <p:cNvPr id="117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2486025" y="7239000"/>
            <a:ext cx="4781550" cy="2305050"/>
          </a:xfrm>
          <a:prstGeom prst="rect">
            <a:avLst/>
          </a:prstGeom>
          <a:effectLst>
            <a:outerShdw blurRad="285750" dir="2700000" algn="ctr" rotWithShape="0">
              <a:srgbClr val="000000">
                <a:alpha val="40000"/>
              </a:srgbClr>
            </a:outerShdw>
          </a:effectLst>
        </p:spPr>
      </p:pic>
      <p:sp>
        <p:nvSpPr>
          <p:cNvPr id="1175" name="-2">
            <a:extLst>
              <a:ext uri="{FF2B5EF4-FFF2-40B4-BE49-F238E27FC236}">
                <a16:creationId xmlns:a16="http://schemas.microsoft.com/office/drawing/2014/main" id="{111B4A49-B930-4A89-A1CD-6CA2B3D95AED}"/>
              </a:ext>
            </a:extLst>
          </p:cNvPr>
          <p:cNvSpPr txBox="1"/>
          <p:nvPr/>
        </p:nvSpPr>
        <p:spPr>
          <a:xfrm>
            <a:off x="6535484" y="8229600"/>
            <a:ext cx="552450" cy="333375"/>
          </a:xfrm>
          <a:prstGeom prst="rect">
            <a:avLst/>
          </a:prstGeom>
          <a:noFill/>
        </p:spPr>
        <p:txBody>
          <a:bodyPr vertOverflow="clip" horzOverflow="clip" wrap="square" lIns="0" tIns="0" rIns="0" bIns="0" rtlCol="0" anchor="ctr">
            <a:spAutoFit/>
          </a:bodyPr>
          <a:lstStyle/>
          <a:p>
            <a:pPr algn="r"/>
            <a:r>
              <a:rPr lang="en-US" sz="2520" b="1" dirty="0">
                <a:solidFill>
                  <a:srgbClr val="EBEAED">
                    <a:alpha val="100000"/>
                  </a:srgbClr>
                </a:solidFill>
                <a:latin typeface="Montserrat" panose="00000700000000000000" pitchFamily="2" charset="0"/>
              </a:rPr>
              <a:t>#3</a:t>
            </a:r>
          </a:p>
        </p:txBody>
      </p:sp>
      <p:sp>
        <p:nvSpPr>
          <p:cNvPr id="1176" name="Primary Heading-2">
            <a:extLst>
              <a:ext uri="{FF2B5EF4-FFF2-40B4-BE49-F238E27FC236}">
                <a16:creationId xmlns:a16="http://schemas.microsoft.com/office/drawing/2014/main" id="{111B4A49-B930-4A89-A1CD-6CA2B3D95AED}"/>
              </a:ext>
            </a:extLst>
          </p:cNvPr>
          <p:cNvSpPr txBox="1"/>
          <p:nvPr/>
        </p:nvSpPr>
        <p:spPr>
          <a:xfrm>
            <a:off x="2715673" y="7484552"/>
            <a:ext cx="3705225" cy="355097"/>
          </a:xfrm>
          <a:prstGeom prst="rect">
            <a:avLst/>
          </a:prstGeom>
          <a:noFill/>
        </p:spPr>
        <p:txBody>
          <a:bodyPr vertOverflow="clip" horzOverflow="clip" wrap="square" lIns="0" tIns="0" rIns="0" bIns="0" rtlCol="0" anchor="ctr">
            <a:spAutoFit/>
          </a:bodyPr>
          <a:lstStyle/>
          <a:p>
            <a:pPr algn="r">
              <a:lnSpc>
                <a:spcPts val="2982"/>
              </a:lnSpc>
            </a:pPr>
            <a:r>
              <a:rPr lang="en-US" sz="2100" b="1" spc="-32" dirty="0">
                <a:solidFill>
                  <a:srgbClr val="EBEAED">
                    <a:alpha val="100000"/>
                  </a:srgbClr>
                </a:solidFill>
                <a:latin typeface="Montserrat" panose="00000700000000000000" pitchFamily="2" charset="0"/>
              </a:rPr>
              <a:t>PRODUTIVITY</a:t>
            </a:r>
          </a:p>
        </p:txBody>
      </p:sp>
      <p:sp>
        <p:nvSpPr>
          <p:cNvPr id="1177" name="Description of a primary heading-2">
            <a:extLst>
              <a:ext uri="{FF2B5EF4-FFF2-40B4-BE49-F238E27FC236}">
                <a16:creationId xmlns:a16="http://schemas.microsoft.com/office/drawing/2014/main" id="{111B4A49-B930-4A89-A1CD-6CA2B3D95AED}"/>
              </a:ext>
            </a:extLst>
          </p:cNvPr>
          <p:cNvSpPr txBox="1"/>
          <p:nvPr/>
        </p:nvSpPr>
        <p:spPr>
          <a:xfrm>
            <a:off x="2648998" y="7953520"/>
            <a:ext cx="3705225" cy="1355499"/>
          </a:xfrm>
          <a:prstGeom prst="rect">
            <a:avLst/>
          </a:prstGeom>
          <a:noFill/>
        </p:spPr>
        <p:txBody>
          <a:bodyPr vertOverflow="clip" horzOverflow="clip" wrap="square" lIns="0" tIns="0" rIns="0" bIns="0" rtlCol="0" anchor="ctr">
            <a:spAutoFit/>
          </a:bodyPr>
          <a:lstStyle/>
          <a:p>
            <a:pPr algn="r">
              <a:lnSpc>
                <a:spcPts val="2700"/>
              </a:lnSpc>
            </a:pPr>
            <a:r>
              <a:rPr lang="en-US" sz="1800" spc="-18" dirty="0">
                <a:solidFill>
                  <a:srgbClr val="EBEAED">
                    <a:alpha val="100000"/>
                  </a:srgbClr>
                </a:solidFill>
                <a:latin typeface="Montserrat Light" panose="00000700000000000000" pitchFamily="2" charset="0"/>
              </a:rPr>
              <a:t>Control the labor cost by installing advanced machinery with best in class features as well as speed.</a:t>
            </a:r>
          </a:p>
        </p:txBody>
      </p:sp>
      <p:pic>
        <p:nvPicPr>
          <p:cNvPr id="117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11534775" y="7391400"/>
            <a:ext cx="4781550" cy="2305050"/>
          </a:xfrm>
          <a:prstGeom prst="rect">
            <a:avLst/>
          </a:prstGeom>
          <a:effectLst>
            <a:outerShdw blurRad="285750" dir="2700000" algn="ctr" rotWithShape="0">
              <a:srgbClr val="000000">
                <a:alpha val="40000"/>
              </a:srgbClr>
            </a:outerShdw>
          </a:effectLst>
        </p:spPr>
      </p:pic>
      <p:sp>
        <p:nvSpPr>
          <p:cNvPr id="1179" name="-3">
            <a:extLst>
              <a:ext uri="{FF2B5EF4-FFF2-40B4-BE49-F238E27FC236}">
                <a16:creationId xmlns:a16="http://schemas.microsoft.com/office/drawing/2014/main" id="{111B4A49-B930-4A89-A1CD-6CA2B3D95AED}"/>
              </a:ext>
            </a:extLst>
          </p:cNvPr>
          <p:cNvSpPr txBox="1"/>
          <p:nvPr/>
        </p:nvSpPr>
        <p:spPr>
          <a:xfrm>
            <a:off x="11701844" y="8387239"/>
            <a:ext cx="590550" cy="333375"/>
          </a:xfrm>
          <a:prstGeom prst="rect">
            <a:avLst/>
          </a:prstGeom>
          <a:noFill/>
        </p:spPr>
        <p:txBody>
          <a:bodyPr vertOverflow="clip" horzOverflow="clip" wrap="square" lIns="0" tIns="0" rIns="0" bIns="0" rtlCol="0" anchor="ctr">
            <a:spAutoFit/>
          </a:bodyPr>
          <a:lstStyle/>
          <a:p>
            <a:pPr algn="l"/>
            <a:r>
              <a:rPr lang="en-US" sz="2520" b="1" dirty="0">
                <a:solidFill>
                  <a:srgbClr val="E5E3E7">
                    <a:alpha val="100000"/>
                  </a:srgbClr>
                </a:solidFill>
                <a:latin typeface="Montserrat" panose="00000700000000000000" pitchFamily="2" charset="0"/>
              </a:rPr>
              <a:t>#4</a:t>
            </a:r>
          </a:p>
        </p:txBody>
      </p:sp>
      <p:sp>
        <p:nvSpPr>
          <p:cNvPr id="1180" name="Primary Heading-3">
            <a:extLst>
              <a:ext uri="{FF2B5EF4-FFF2-40B4-BE49-F238E27FC236}">
                <a16:creationId xmlns:a16="http://schemas.microsoft.com/office/drawing/2014/main" id="{111B4A49-B930-4A89-A1CD-6CA2B3D95AED}"/>
              </a:ext>
            </a:extLst>
          </p:cNvPr>
          <p:cNvSpPr txBox="1"/>
          <p:nvPr/>
        </p:nvSpPr>
        <p:spPr>
          <a:xfrm>
            <a:off x="12524422" y="7642191"/>
            <a:ext cx="3705225" cy="355097"/>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E5E3E7">
                    <a:alpha val="100000"/>
                  </a:srgbClr>
                </a:solidFill>
                <a:latin typeface="Montserrat" panose="00000700000000000000" pitchFamily="2" charset="0"/>
              </a:rPr>
              <a:t>Raw Material</a:t>
            </a:r>
          </a:p>
        </p:txBody>
      </p:sp>
      <p:sp>
        <p:nvSpPr>
          <p:cNvPr id="1181" name="Description of a primary heading-3">
            <a:extLst>
              <a:ext uri="{FF2B5EF4-FFF2-40B4-BE49-F238E27FC236}">
                <a16:creationId xmlns:a16="http://schemas.microsoft.com/office/drawing/2014/main" id="{111B4A49-B930-4A89-A1CD-6CA2B3D95AED}"/>
              </a:ext>
            </a:extLst>
          </p:cNvPr>
          <p:cNvSpPr txBox="1"/>
          <p:nvPr/>
        </p:nvSpPr>
        <p:spPr>
          <a:xfrm>
            <a:off x="12457748" y="8284379"/>
            <a:ext cx="3705225" cy="1009251"/>
          </a:xfrm>
          <a:prstGeom prst="rect">
            <a:avLst/>
          </a:prstGeom>
          <a:noFill/>
        </p:spPr>
        <p:txBody>
          <a:bodyPr vertOverflow="clip" horzOverflow="clip" wrap="square" lIns="0" tIns="0" rIns="0" bIns="0" rtlCol="0" anchor="ctr">
            <a:spAutoFit/>
          </a:bodyPr>
          <a:lstStyle/>
          <a:p>
            <a:pPr algn="l">
              <a:lnSpc>
                <a:spcPts val="2700"/>
              </a:lnSpc>
            </a:pPr>
            <a:r>
              <a:rPr lang="en-US" sz="1800" spc="-18" dirty="0">
                <a:solidFill>
                  <a:srgbClr val="E5E3E7">
                    <a:alpha val="100000"/>
                  </a:srgbClr>
                </a:solidFill>
                <a:latin typeface="Montserrat Light" panose="00000700000000000000" pitchFamily="2" charset="0"/>
              </a:rPr>
              <a:t>Leveraging the advantages of capital by buying material in bulk </a:t>
            </a:r>
            <a:r>
              <a:rPr lang="en-US" spc="-18" dirty="0">
                <a:solidFill>
                  <a:srgbClr val="E5E3E7">
                    <a:alpha val="100000"/>
                  </a:srgbClr>
                </a:solidFill>
                <a:latin typeface="Montserrat Light" panose="00000700000000000000" pitchFamily="2" charset="0"/>
              </a:rPr>
              <a:t>and getting better bargain</a:t>
            </a:r>
            <a:endParaRPr lang="en-US" sz="1800" spc="-18" dirty="0">
              <a:solidFill>
                <a:srgbClr val="E5E3E7">
                  <a:alpha val="100000"/>
                </a:srgbClr>
              </a:solidFill>
              <a:latin typeface="Montserrat Light" panose="00000700000000000000" pitchFamily="2" charset="0"/>
            </a:endParaRPr>
          </a:p>
        </p:txBody>
      </p:sp>
      <p:sp>
        <p:nvSpPr>
          <p:cNvPr id="1182" name="Click here to edit title-493">
            <a:extLst>
              <a:ext uri="{FF2B5EF4-FFF2-40B4-BE49-F238E27FC236}">
                <a16:creationId xmlns:a16="http://schemas.microsoft.com/office/drawing/2014/main" id="{111B4A49-B930-4A89-A1CD-6CA2B3D95AED}"/>
              </a:ext>
            </a:extLst>
          </p:cNvPr>
          <p:cNvSpPr txBox="1"/>
          <p:nvPr/>
        </p:nvSpPr>
        <p:spPr>
          <a:xfrm>
            <a:off x="609600" y="712060"/>
            <a:ext cx="17211675" cy="642805"/>
          </a:xfrm>
          <a:prstGeom prst="rect">
            <a:avLst/>
          </a:prstGeom>
          <a:noFill/>
        </p:spPr>
        <p:txBody>
          <a:bodyPr vertOverflow="clip" horzOverflow="clip" wrap="square" lIns="0" tIns="0" rIns="0" bIns="0" rtlCol="0" anchor="ctr">
            <a:spAutoFit/>
          </a:bodyPr>
          <a:lstStyle/>
          <a:p>
            <a:pPr algn="ctr">
              <a:lnSpc>
                <a:spcPts val="5250"/>
              </a:lnSpc>
            </a:pPr>
            <a:r>
              <a:rPr lang="en-US" sz="4200" spc="-84" dirty="0">
                <a:solidFill>
                  <a:srgbClr val="FFFFFF">
                    <a:alpha val="100000"/>
                  </a:srgbClr>
                </a:solidFill>
                <a:latin typeface="Montserrat Light" panose="00000700000000000000" pitchFamily="2" charset="0"/>
              </a:rPr>
              <a:t>EFFICIENCY DRIVES PROFITABILITY</a:t>
            </a:r>
          </a:p>
        </p:txBody>
      </p:sp>
    </p:spTree>
    <p:extLst>
      <p:ext uri="{BB962C8B-B14F-4D97-AF65-F5344CB8AC3E}">
        <p14:creationId xmlns:p14="http://schemas.microsoft.com/office/powerpoint/2010/main" val="36480479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8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0" y="0"/>
            <a:ext cx="18288000" cy="10287000"/>
          </a:xfrm>
          <a:prstGeom prst="rect">
            <a:avLst/>
          </a:prstGeom>
        </p:spPr>
      </p:pic>
      <p:pic>
        <p:nvPicPr>
          <p:cNvPr id="1186" name="layoutShapeInnerChild1">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0" y="0"/>
            <a:ext cx="18288000" cy="10287000"/>
          </a:xfrm>
          <a:prstGeom prst="rect">
            <a:avLst/>
          </a:prstGeom>
        </p:spPr>
      </p:pic>
      <p:pic>
        <p:nvPicPr>
          <p:cNvPr id="1187" name="svgbase">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extLst>
              <a:ext uri="{5351C34A-9ECD-4F52-AB22-00CE2AE4AD27}">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609600" y="1866900"/>
            <a:ext cx="17068800" cy="7848600"/>
          </a:xfrm>
          <a:prstGeom prst="rect">
            <a:avLst/>
          </a:prstGeom>
        </p:spPr>
      </p:pic>
      <p:pic>
        <p:nvPicPr>
          <p:cNvPr id="1188" name="iconNoded0f9af2e-2465-4cf2-bed8-b879e042051e">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extLst>
              <a:ext uri="{4DCEFD52-E80D-42D3-955A-035C0171E119}">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7848600" y="4495800"/>
            <a:ext cx="2590800" cy="2590800"/>
          </a:xfrm>
          <a:prstGeom prst="rect">
            <a:avLst/>
          </a:prstGeom>
        </p:spPr>
      </p:pic>
      <p:sp>
        <p:nvSpPr>
          <p:cNvPr id="1189" name="Primary Heading-0">
            <a:extLst>
              <a:ext uri="{FF2B5EF4-FFF2-40B4-BE49-F238E27FC236}">
                <a16:creationId xmlns:a16="http://schemas.microsoft.com/office/drawing/2014/main" id="{111B4A49-B930-4A89-A1CD-6CA2B3D95AED}"/>
              </a:ext>
            </a:extLst>
          </p:cNvPr>
          <p:cNvSpPr txBox="1"/>
          <p:nvPr/>
        </p:nvSpPr>
        <p:spPr>
          <a:xfrm>
            <a:off x="12040552" y="3320222"/>
            <a:ext cx="4800600" cy="355097"/>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FFFFFF">
                    <a:alpha val="100000"/>
                  </a:srgbClr>
                </a:solidFill>
                <a:latin typeface="Montserrat" panose="00000700000000000000" pitchFamily="2" charset="0"/>
              </a:rPr>
              <a:t>Transport</a:t>
            </a:r>
          </a:p>
        </p:txBody>
      </p:sp>
      <p:sp>
        <p:nvSpPr>
          <p:cNvPr id="1190" name="Description of a primary heading-0">
            <a:extLst>
              <a:ext uri="{FF2B5EF4-FFF2-40B4-BE49-F238E27FC236}">
                <a16:creationId xmlns:a16="http://schemas.microsoft.com/office/drawing/2014/main" id="{111B4A49-B930-4A89-A1CD-6CA2B3D95AED}"/>
              </a:ext>
            </a:extLst>
          </p:cNvPr>
          <p:cNvSpPr txBox="1"/>
          <p:nvPr/>
        </p:nvSpPr>
        <p:spPr>
          <a:xfrm>
            <a:off x="11973878" y="3683500"/>
            <a:ext cx="4800600" cy="1009251"/>
          </a:xfrm>
          <a:prstGeom prst="rect">
            <a:avLst/>
          </a:prstGeom>
          <a:noFill/>
        </p:spPr>
        <p:txBody>
          <a:bodyPr vertOverflow="clip" horzOverflow="clip" wrap="square" lIns="0" tIns="0" rIns="0" bIns="0" rtlCol="0" anchor="ctr">
            <a:spAutoFit/>
          </a:bodyPr>
          <a:lstStyle/>
          <a:p>
            <a:pPr algn="l">
              <a:lnSpc>
                <a:spcPts val="2700"/>
              </a:lnSpc>
            </a:pPr>
            <a:r>
              <a:rPr lang="en-US" spc="-18" dirty="0">
                <a:solidFill>
                  <a:srgbClr val="FFFFFF">
                    <a:alpha val="100000"/>
                  </a:srgbClr>
                </a:solidFill>
                <a:latin typeface="Montserrat Light" panose="00000700000000000000" pitchFamily="2" charset="0"/>
              </a:rPr>
              <a:t>FY 23-24 transport cost of 45 Lacs is due to lack of space forcing us to carry-out partial dispatches.</a:t>
            </a:r>
            <a:endParaRPr lang="en-US" sz="1800" spc="-18" dirty="0">
              <a:solidFill>
                <a:srgbClr val="FFFFFF">
                  <a:alpha val="100000"/>
                </a:srgbClr>
              </a:solidFill>
              <a:latin typeface="Montserrat Light" panose="00000700000000000000" pitchFamily="2" charset="0"/>
            </a:endParaRPr>
          </a:p>
        </p:txBody>
      </p:sp>
      <p:sp>
        <p:nvSpPr>
          <p:cNvPr id="1191" name="Primary Heading-1">
            <a:extLst>
              <a:ext uri="{FF2B5EF4-FFF2-40B4-BE49-F238E27FC236}">
                <a16:creationId xmlns:a16="http://schemas.microsoft.com/office/drawing/2014/main" id="{111B4A49-B930-4A89-A1CD-6CA2B3D95AED}"/>
              </a:ext>
            </a:extLst>
          </p:cNvPr>
          <p:cNvSpPr txBox="1"/>
          <p:nvPr/>
        </p:nvSpPr>
        <p:spPr>
          <a:xfrm>
            <a:off x="12039886" y="7482552"/>
            <a:ext cx="4133850" cy="355097"/>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F2F1F3">
                    <a:alpha val="100000"/>
                  </a:srgbClr>
                </a:solidFill>
                <a:latin typeface="Montserrat" panose="00000700000000000000" pitchFamily="2" charset="0"/>
              </a:rPr>
              <a:t>Raw Material</a:t>
            </a:r>
          </a:p>
        </p:txBody>
      </p:sp>
      <p:sp>
        <p:nvSpPr>
          <p:cNvPr id="1192" name="Description of a primary heading-1">
            <a:extLst>
              <a:ext uri="{FF2B5EF4-FFF2-40B4-BE49-F238E27FC236}">
                <a16:creationId xmlns:a16="http://schemas.microsoft.com/office/drawing/2014/main" id="{111B4A49-B930-4A89-A1CD-6CA2B3D95AED}"/>
              </a:ext>
            </a:extLst>
          </p:cNvPr>
          <p:cNvSpPr txBox="1"/>
          <p:nvPr/>
        </p:nvSpPr>
        <p:spPr>
          <a:xfrm>
            <a:off x="11973211" y="7873659"/>
            <a:ext cx="4133850" cy="1701748"/>
          </a:xfrm>
          <a:prstGeom prst="rect">
            <a:avLst/>
          </a:prstGeom>
          <a:noFill/>
        </p:spPr>
        <p:txBody>
          <a:bodyPr vertOverflow="clip" horzOverflow="clip" wrap="square" lIns="0" tIns="0" rIns="0" bIns="0" rtlCol="0" anchor="ctr">
            <a:spAutoFit/>
          </a:bodyPr>
          <a:lstStyle/>
          <a:p>
            <a:pPr algn="l">
              <a:lnSpc>
                <a:spcPts val="2700"/>
              </a:lnSpc>
            </a:pPr>
            <a:r>
              <a:rPr lang="en-US" spc="-18" dirty="0">
                <a:solidFill>
                  <a:srgbClr val="F2F1F3">
                    <a:alpha val="100000"/>
                  </a:srgbClr>
                </a:solidFill>
                <a:latin typeface="Montserrat Light" panose="00000700000000000000" pitchFamily="2" charset="0"/>
              </a:rPr>
              <a:t>Currently Raw material worth 18 Crores being bought thru Dealers, when bulk purchases start from direct mills there would be potential saving of 10% in the input costs.</a:t>
            </a:r>
            <a:endParaRPr lang="en-US" sz="1800" spc="-18" dirty="0">
              <a:solidFill>
                <a:srgbClr val="F2F1F3">
                  <a:alpha val="100000"/>
                </a:srgbClr>
              </a:solidFill>
              <a:latin typeface="Montserrat Light" panose="00000700000000000000" pitchFamily="2" charset="0"/>
            </a:endParaRPr>
          </a:p>
        </p:txBody>
      </p:sp>
      <p:sp>
        <p:nvSpPr>
          <p:cNvPr id="1193" name="Primary Heading-2">
            <a:extLst>
              <a:ext uri="{FF2B5EF4-FFF2-40B4-BE49-F238E27FC236}">
                <a16:creationId xmlns:a16="http://schemas.microsoft.com/office/drawing/2014/main" id="{111B4A49-B930-4A89-A1CD-6CA2B3D95AED}"/>
              </a:ext>
            </a:extLst>
          </p:cNvPr>
          <p:cNvSpPr txBox="1"/>
          <p:nvPr/>
        </p:nvSpPr>
        <p:spPr>
          <a:xfrm>
            <a:off x="2084070" y="7482552"/>
            <a:ext cx="4305300" cy="355097"/>
          </a:xfrm>
          <a:prstGeom prst="rect">
            <a:avLst/>
          </a:prstGeom>
          <a:noFill/>
        </p:spPr>
        <p:txBody>
          <a:bodyPr vertOverflow="clip" horzOverflow="clip" wrap="square" lIns="0" tIns="0" rIns="0" bIns="0" rtlCol="0" anchor="ctr">
            <a:spAutoFit/>
          </a:bodyPr>
          <a:lstStyle/>
          <a:p>
            <a:pPr algn="r">
              <a:lnSpc>
                <a:spcPts val="2982"/>
              </a:lnSpc>
            </a:pPr>
            <a:r>
              <a:rPr lang="en-US" sz="2100" b="1" spc="-32" dirty="0">
                <a:solidFill>
                  <a:srgbClr val="EBEAED">
                    <a:alpha val="100000"/>
                  </a:srgbClr>
                </a:solidFill>
                <a:latin typeface="Montserrat" panose="00000700000000000000" pitchFamily="2" charset="0"/>
              </a:rPr>
              <a:t>Productivity</a:t>
            </a:r>
          </a:p>
        </p:txBody>
      </p:sp>
      <p:sp>
        <p:nvSpPr>
          <p:cNvPr id="1194" name="Description of a primary heading-2">
            <a:extLst>
              <a:ext uri="{FF2B5EF4-FFF2-40B4-BE49-F238E27FC236}">
                <a16:creationId xmlns:a16="http://schemas.microsoft.com/office/drawing/2014/main" id="{111B4A49-B930-4A89-A1CD-6CA2B3D95AED}"/>
              </a:ext>
            </a:extLst>
          </p:cNvPr>
          <p:cNvSpPr txBox="1"/>
          <p:nvPr/>
        </p:nvSpPr>
        <p:spPr>
          <a:xfrm>
            <a:off x="2017395" y="7908234"/>
            <a:ext cx="4305300" cy="1355499"/>
          </a:xfrm>
          <a:prstGeom prst="rect">
            <a:avLst/>
          </a:prstGeom>
          <a:noFill/>
        </p:spPr>
        <p:txBody>
          <a:bodyPr vertOverflow="clip" horzOverflow="clip" wrap="square" lIns="0" tIns="0" rIns="0" bIns="0" rtlCol="0" anchor="ctr">
            <a:spAutoFit/>
          </a:bodyPr>
          <a:lstStyle/>
          <a:p>
            <a:pPr algn="r">
              <a:lnSpc>
                <a:spcPts val="2700"/>
              </a:lnSpc>
            </a:pPr>
            <a:r>
              <a:rPr lang="en-US" spc="-18" dirty="0">
                <a:solidFill>
                  <a:srgbClr val="EBEAED">
                    <a:alpha val="100000"/>
                  </a:srgbClr>
                </a:solidFill>
                <a:latin typeface="Montserrat Light" panose="00000700000000000000" pitchFamily="2" charset="0"/>
              </a:rPr>
              <a:t>40</a:t>
            </a:r>
            <a:r>
              <a:rPr lang="en-US" sz="1800" spc="-18" dirty="0">
                <a:solidFill>
                  <a:srgbClr val="EBEAED">
                    <a:alpha val="100000"/>
                  </a:srgbClr>
                </a:solidFill>
                <a:latin typeface="Montserrat Light" panose="00000700000000000000" pitchFamily="2" charset="0"/>
              </a:rPr>
              <a:t> Lacs from the heading Wages is due to overtime because of speed limitation of existing machines which should get completely eliminated.</a:t>
            </a:r>
          </a:p>
        </p:txBody>
      </p:sp>
      <p:sp>
        <p:nvSpPr>
          <p:cNvPr id="1195" name="Primary Heading-3">
            <a:extLst>
              <a:ext uri="{FF2B5EF4-FFF2-40B4-BE49-F238E27FC236}">
                <a16:creationId xmlns:a16="http://schemas.microsoft.com/office/drawing/2014/main" id="{111B4A49-B930-4A89-A1CD-6CA2B3D95AED}"/>
              </a:ext>
            </a:extLst>
          </p:cNvPr>
          <p:cNvSpPr txBox="1"/>
          <p:nvPr/>
        </p:nvSpPr>
        <p:spPr>
          <a:xfrm>
            <a:off x="1441609" y="3320222"/>
            <a:ext cx="4953000" cy="355097"/>
          </a:xfrm>
          <a:prstGeom prst="rect">
            <a:avLst/>
          </a:prstGeom>
          <a:noFill/>
        </p:spPr>
        <p:txBody>
          <a:bodyPr vertOverflow="clip" horzOverflow="clip" wrap="square" lIns="0" tIns="0" rIns="0" bIns="0" rtlCol="0" anchor="ctr">
            <a:spAutoFit/>
          </a:bodyPr>
          <a:lstStyle/>
          <a:p>
            <a:pPr algn="r">
              <a:lnSpc>
                <a:spcPts val="2982"/>
              </a:lnSpc>
            </a:pPr>
            <a:r>
              <a:rPr lang="en-US" sz="2100" b="1" spc="-32" dirty="0">
                <a:solidFill>
                  <a:srgbClr val="E5E3E7">
                    <a:alpha val="100000"/>
                  </a:srgbClr>
                </a:solidFill>
                <a:latin typeface="Montserrat" panose="00000700000000000000" pitchFamily="2" charset="0"/>
              </a:rPr>
              <a:t>Material Handling</a:t>
            </a:r>
          </a:p>
        </p:txBody>
      </p:sp>
      <p:sp>
        <p:nvSpPr>
          <p:cNvPr id="1196" name="Description of a primary heading-3">
            <a:extLst>
              <a:ext uri="{FF2B5EF4-FFF2-40B4-BE49-F238E27FC236}">
                <a16:creationId xmlns:a16="http://schemas.microsoft.com/office/drawing/2014/main" id="{111B4A49-B930-4A89-A1CD-6CA2B3D95AED}"/>
              </a:ext>
            </a:extLst>
          </p:cNvPr>
          <p:cNvSpPr txBox="1"/>
          <p:nvPr/>
        </p:nvSpPr>
        <p:spPr>
          <a:xfrm>
            <a:off x="1374934" y="3926026"/>
            <a:ext cx="4953000" cy="1355499"/>
          </a:xfrm>
          <a:prstGeom prst="rect">
            <a:avLst/>
          </a:prstGeom>
          <a:noFill/>
        </p:spPr>
        <p:txBody>
          <a:bodyPr vertOverflow="clip" horzOverflow="clip" wrap="square" lIns="0" tIns="0" rIns="0" bIns="0" rtlCol="0" anchor="ctr">
            <a:spAutoFit/>
          </a:bodyPr>
          <a:lstStyle/>
          <a:p>
            <a:pPr algn="r">
              <a:lnSpc>
                <a:spcPts val="2700"/>
              </a:lnSpc>
            </a:pPr>
            <a:r>
              <a:rPr lang="en-US" spc="-18" dirty="0">
                <a:solidFill>
                  <a:srgbClr val="E5E3E7">
                    <a:alpha val="100000"/>
                  </a:srgbClr>
                </a:solidFill>
                <a:latin typeface="Montserrat Light" panose="00000700000000000000" pitchFamily="2" charset="0"/>
              </a:rPr>
              <a:t>50</a:t>
            </a:r>
            <a:r>
              <a:rPr lang="en-US" sz="1800" spc="-18" dirty="0">
                <a:solidFill>
                  <a:srgbClr val="E5E3E7">
                    <a:alpha val="100000"/>
                  </a:srgbClr>
                </a:solidFill>
                <a:latin typeface="Montserrat Light" panose="00000700000000000000" pitchFamily="2" charset="0"/>
              </a:rPr>
              <a:t> Lacs worth labor cost in FY 23-24 for Loading &amp; Unloading expense should come down by 80% once operations at new plant are commenced. .</a:t>
            </a:r>
          </a:p>
        </p:txBody>
      </p:sp>
      <p:sp>
        <p:nvSpPr>
          <p:cNvPr id="1197" name="Click here to edit title-488">
            <a:extLst>
              <a:ext uri="{FF2B5EF4-FFF2-40B4-BE49-F238E27FC236}">
                <a16:creationId xmlns:a16="http://schemas.microsoft.com/office/drawing/2014/main" id="{111B4A49-B930-4A89-A1CD-6CA2B3D95AED}"/>
              </a:ext>
            </a:extLst>
          </p:cNvPr>
          <p:cNvSpPr txBox="1"/>
          <p:nvPr/>
        </p:nvSpPr>
        <p:spPr>
          <a:xfrm>
            <a:off x="1219200" y="750160"/>
            <a:ext cx="15992475" cy="642805"/>
          </a:xfrm>
          <a:prstGeom prst="rect">
            <a:avLst/>
          </a:prstGeom>
          <a:noFill/>
        </p:spPr>
        <p:txBody>
          <a:bodyPr vertOverflow="clip" horzOverflow="clip" wrap="square" lIns="0" tIns="0" rIns="0" bIns="0" rtlCol="0" anchor="ctr">
            <a:spAutoFit/>
          </a:bodyPr>
          <a:lstStyle/>
          <a:p>
            <a:pPr algn="l">
              <a:lnSpc>
                <a:spcPts val="5250"/>
              </a:lnSpc>
            </a:pPr>
            <a:r>
              <a:rPr lang="en-US" sz="4200" spc="-84" dirty="0">
                <a:solidFill>
                  <a:srgbClr val="FFFFFF">
                    <a:alpha val="100000"/>
                  </a:srgbClr>
                </a:solidFill>
                <a:latin typeface="Montserrat Light" panose="00000700000000000000" pitchFamily="2" charset="0"/>
              </a:rPr>
              <a:t>Impact of Cost Saving measures on Bottomline</a:t>
            </a:r>
          </a:p>
        </p:txBody>
      </p:sp>
      <p:pic>
        <p:nvPicPr>
          <p:cNvPr id="119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590550" y="733425"/>
            <a:ext cx="19050" cy="666750"/>
          </a:xfrm>
          <a:prstGeom prst="rect">
            <a:avLst/>
          </a:prstGeom>
        </p:spPr>
      </p:pic>
    </p:spTree>
    <p:extLst>
      <p:ext uri="{BB962C8B-B14F-4D97-AF65-F5344CB8AC3E}">
        <p14:creationId xmlns:p14="http://schemas.microsoft.com/office/powerpoint/2010/main" val="36480479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6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0" y="0"/>
            <a:ext cx="18288000" cy="10287000"/>
          </a:xfrm>
          <a:prstGeom prst="rect">
            <a:avLst/>
          </a:prstGeom>
        </p:spPr>
      </p:pic>
      <p:pic>
        <p:nvPicPr>
          <p:cNvPr id="1270" name="layoutShapeInnerChild1">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0" y="0"/>
            <a:ext cx="18288000" cy="10287000"/>
          </a:xfrm>
          <a:prstGeom prst="rect">
            <a:avLst/>
          </a:prstGeom>
        </p:spPr>
      </p:pic>
      <p:sp>
        <p:nvSpPr>
          <p:cNvPr id="1273" name="-0">
            <a:extLst>
              <a:ext uri="{FF2B5EF4-FFF2-40B4-BE49-F238E27FC236}">
                <a16:creationId xmlns:a16="http://schemas.microsoft.com/office/drawing/2014/main" id="{111B4A49-B930-4A89-A1CD-6CA2B3D95AED}"/>
              </a:ext>
            </a:extLst>
          </p:cNvPr>
          <p:cNvSpPr txBox="1"/>
          <p:nvPr/>
        </p:nvSpPr>
        <p:spPr>
          <a:xfrm>
            <a:off x="5141976" y="2384934"/>
            <a:ext cx="495300" cy="333375"/>
          </a:xfrm>
          <a:prstGeom prst="rect">
            <a:avLst/>
          </a:prstGeom>
          <a:noFill/>
        </p:spPr>
        <p:txBody>
          <a:bodyPr vertOverflow="clip" horzOverflow="clip" wrap="square" lIns="0" tIns="0" rIns="0" bIns="0" rtlCol="0" anchor="ctr">
            <a:spAutoFit/>
          </a:bodyPr>
          <a:lstStyle/>
          <a:p>
            <a:pPr algn="ctr"/>
            <a:r>
              <a:rPr lang="en-US" sz="2520" b="1" dirty="0">
                <a:solidFill>
                  <a:srgbClr val="FBC76E">
                    <a:alpha val="100000"/>
                  </a:srgbClr>
                </a:solidFill>
                <a:latin typeface="Montserrat" panose="00000700000000000000" pitchFamily="2" charset="0"/>
              </a:rPr>
              <a:t>#1</a:t>
            </a:r>
          </a:p>
        </p:txBody>
      </p:sp>
      <p:sp>
        <p:nvSpPr>
          <p:cNvPr id="1274" name="Primary Heading-0">
            <a:extLst>
              <a:ext uri="{FF2B5EF4-FFF2-40B4-BE49-F238E27FC236}">
                <a16:creationId xmlns:a16="http://schemas.microsoft.com/office/drawing/2014/main" id="{111B4A49-B930-4A89-A1CD-6CA2B3D95AED}"/>
              </a:ext>
            </a:extLst>
          </p:cNvPr>
          <p:cNvSpPr txBox="1"/>
          <p:nvPr/>
        </p:nvSpPr>
        <p:spPr>
          <a:xfrm>
            <a:off x="5840635" y="2334068"/>
            <a:ext cx="11458575" cy="355097"/>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FFFFFF">
                    <a:alpha val="100000"/>
                  </a:srgbClr>
                </a:solidFill>
                <a:latin typeface="Montserrat" panose="00000700000000000000" pitchFamily="2" charset="0"/>
              </a:rPr>
              <a:t>Larger Floor Space</a:t>
            </a:r>
          </a:p>
        </p:txBody>
      </p:sp>
      <p:sp>
        <p:nvSpPr>
          <p:cNvPr id="1275" name="Description of a primary heading-0">
            <a:extLst>
              <a:ext uri="{FF2B5EF4-FFF2-40B4-BE49-F238E27FC236}">
                <a16:creationId xmlns:a16="http://schemas.microsoft.com/office/drawing/2014/main" id="{111B4A49-B930-4A89-A1CD-6CA2B3D95AED}"/>
              </a:ext>
            </a:extLst>
          </p:cNvPr>
          <p:cNvSpPr txBox="1"/>
          <p:nvPr/>
        </p:nvSpPr>
        <p:spPr>
          <a:xfrm>
            <a:off x="5773960" y="2634935"/>
            <a:ext cx="11458575" cy="663002"/>
          </a:xfrm>
          <a:prstGeom prst="rect">
            <a:avLst/>
          </a:prstGeom>
          <a:noFill/>
        </p:spPr>
        <p:txBody>
          <a:bodyPr vertOverflow="clip" horzOverflow="clip" wrap="square" lIns="0" tIns="0" rIns="0" bIns="0" rtlCol="0" anchor="ctr">
            <a:spAutoFit/>
          </a:bodyPr>
          <a:lstStyle/>
          <a:p>
            <a:pPr algn="l">
              <a:lnSpc>
                <a:spcPts val="2700"/>
              </a:lnSpc>
            </a:pPr>
            <a:r>
              <a:rPr lang="en-US" sz="1800" spc="-18" dirty="0">
                <a:solidFill>
                  <a:srgbClr val="FFFFFF">
                    <a:alpha val="100000"/>
                  </a:srgbClr>
                </a:solidFill>
                <a:latin typeface="Montserrat Light" panose="00000700000000000000" pitchFamily="2" charset="0"/>
              </a:rPr>
              <a:t>Allows better material storage and movement enhances productivity and helps cater to additional orders</a:t>
            </a:r>
          </a:p>
        </p:txBody>
      </p:sp>
      <p:sp>
        <p:nvSpPr>
          <p:cNvPr id="1276" name="-1">
            <a:extLst>
              <a:ext uri="{FF2B5EF4-FFF2-40B4-BE49-F238E27FC236}">
                <a16:creationId xmlns:a16="http://schemas.microsoft.com/office/drawing/2014/main" id="{111B4A49-B930-4A89-A1CD-6CA2B3D95AED}"/>
              </a:ext>
            </a:extLst>
          </p:cNvPr>
          <p:cNvSpPr txBox="1"/>
          <p:nvPr/>
        </p:nvSpPr>
        <p:spPr>
          <a:xfrm>
            <a:off x="5109782" y="3645043"/>
            <a:ext cx="552450" cy="333375"/>
          </a:xfrm>
          <a:prstGeom prst="rect">
            <a:avLst/>
          </a:prstGeom>
          <a:noFill/>
        </p:spPr>
        <p:txBody>
          <a:bodyPr vertOverflow="clip" horzOverflow="clip" wrap="square" lIns="0" tIns="0" rIns="0" bIns="0" rtlCol="0" anchor="ctr">
            <a:spAutoFit/>
          </a:bodyPr>
          <a:lstStyle/>
          <a:p>
            <a:pPr algn="ctr"/>
            <a:r>
              <a:rPr lang="en-US" sz="2520" b="1" dirty="0">
                <a:solidFill>
                  <a:srgbClr val="FBC76E">
                    <a:alpha val="100000"/>
                  </a:srgbClr>
                </a:solidFill>
                <a:latin typeface="Montserrat" panose="00000700000000000000" pitchFamily="2" charset="0"/>
              </a:rPr>
              <a:t>#2</a:t>
            </a:r>
          </a:p>
        </p:txBody>
      </p:sp>
      <p:sp>
        <p:nvSpPr>
          <p:cNvPr id="1277" name="Primary Heading-1">
            <a:extLst>
              <a:ext uri="{FF2B5EF4-FFF2-40B4-BE49-F238E27FC236}">
                <a16:creationId xmlns:a16="http://schemas.microsoft.com/office/drawing/2014/main" id="{111B4A49-B930-4A89-A1CD-6CA2B3D95AED}"/>
              </a:ext>
            </a:extLst>
          </p:cNvPr>
          <p:cNvSpPr txBox="1"/>
          <p:nvPr/>
        </p:nvSpPr>
        <p:spPr>
          <a:xfrm>
            <a:off x="5840635" y="3594177"/>
            <a:ext cx="8286750" cy="355097"/>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F2F1F3">
                    <a:alpha val="100000"/>
                  </a:srgbClr>
                </a:solidFill>
                <a:latin typeface="Montserrat" panose="00000700000000000000" pitchFamily="2" charset="0"/>
              </a:rPr>
              <a:t>Automation</a:t>
            </a:r>
          </a:p>
        </p:txBody>
      </p:sp>
      <p:sp>
        <p:nvSpPr>
          <p:cNvPr id="1278" name="Description of a primary heading-1">
            <a:extLst>
              <a:ext uri="{FF2B5EF4-FFF2-40B4-BE49-F238E27FC236}">
                <a16:creationId xmlns:a16="http://schemas.microsoft.com/office/drawing/2014/main" id="{111B4A49-B930-4A89-A1CD-6CA2B3D95AED}"/>
              </a:ext>
            </a:extLst>
          </p:cNvPr>
          <p:cNvSpPr txBox="1"/>
          <p:nvPr/>
        </p:nvSpPr>
        <p:spPr>
          <a:xfrm>
            <a:off x="5773960" y="3895044"/>
            <a:ext cx="8286750" cy="663002"/>
          </a:xfrm>
          <a:prstGeom prst="rect">
            <a:avLst/>
          </a:prstGeom>
          <a:noFill/>
        </p:spPr>
        <p:txBody>
          <a:bodyPr vertOverflow="clip" horzOverflow="clip" wrap="square" lIns="0" tIns="0" rIns="0" bIns="0" rtlCol="0" anchor="ctr">
            <a:spAutoFit/>
          </a:bodyPr>
          <a:lstStyle/>
          <a:p>
            <a:pPr algn="l">
              <a:lnSpc>
                <a:spcPts val="2700"/>
              </a:lnSpc>
            </a:pPr>
            <a:r>
              <a:rPr lang="en-US" spc="-18" dirty="0">
                <a:solidFill>
                  <a:srgbClr val="F2F1F3">
                    <a:alpha val="100000"/>
                  </a:srgbClr>
                </a:solidFill>
                <a:latin typeface="Montserrat Light" panose="00000700000000000000" pitchFamily="2" charset="0"/>
              </a:rPr>
              <a:t>Inducting Semi-Robotic Lines to reduce labor costs and produce consistent quality products helping in increasing profitability</a:t>
            </a:r>
            <a:endParaRPr lang="en-US" sz="1800" spc="-18" dirty="0">
              <a:solidFill>
                <a:srgbClr val="F2F1F3">
                  <a:alpha val="100000"/>
                </a:srgbClr>
              </a:solidFill>
              <a:latin typeface="Montserrat Light" panose="00000700000000000000" pitchFamily="2" charset="0"/>
            </a:endParaRPr>
          </a:p>
        </p:txBody>
      </p:sp>
      <p:sp>
        <p:nvSpPr>
          <p:cNvPr id="1279" name="-2">
            <a:extLst>
              <a:ext uri="{FF2B5EF4-FFF2-40B4-BE49-F238E27FC236}">
                <a16:creationId xmlns:a16="http://schemas.microsoft.com/office/drawing/2014/main" id="{111B4A49-B930-4A89-A1CD-6CA2B3D95AED}"/>
              </a:ext>
            </a:extLst>
          </p:cNvPr>
          <p:cNvSpPr txBox="1"/>
          <p:nvPr/>
        </p:nvSpPr>
        <p:spPr>
          <a:xfrm>
            <a:off x="5109782" y="4849738"/>
            <a:ext cx="552450" cy="333375"/>
          </a:xfrm>
          <a:prstGeom prst="rect">
            <a:avLst/>
          </a:prstGeom>
          <a:noFill/>
        </p:spPr>
        <p:txBody>
          <a:bodyPr vertOverflow="clip" horzOverflow="clip" wrap="square" lIns="0" tIns="0" rIns="0" bIns="0" rtlCol="0" anchor="ctr">
            <a:spAutoFit/>
          </a:bodyPr>
          <a:lstStyle/>
          <a:p>
            <a:pPr algn="ctr"/>
            <a:r>
              <a:rPr lang="en-US" sz="2520" b="1" dirty="0">
                <a:solidFill>
                  <a:srgbClr val="FBC76E">
                    <a:alpha val="100000"/>
                  </a:srgbClr>
                </a:solidFill>
                <a:latin typeface="Montserrat" panose="00000700000000000000" pitchFamily="2" charset="0"/>
              </a:rPr>
              <a:t>#3</a:t>
            </a:r>
          </a:p>
        </p:txBody>
      </p:sp>
      <p:sp>
        <p:nvSpPr>
          <p:cNvPr id="1280" name="Primary Heading-2">
            <a:extLst>
              <a:ext uri="{FF2B5EF4-FFF2-40B4-BE49-F238E27FC236}">
                <a16:creationId xmlns:a16="http://schemas.microsoft.com/office/drawing/2014/main" id="{111B4A49-B930-4A89-A1CD-6CA2B3D95AED}"/>
              </a:ext>
            </a:extLst>
          </p:cNvPr>
          <p:cNvSpPr txBox="1"/>
          <p:nvPr/>
        </p:nvSpPr>
        <p:spPr>
          <a:xfrm>
            <a:off x="5840635" y="4798872"/>
            <a:ext cx="11982450" cy="355097"/>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EBEAED">
                    <a:alpha val="100000"/>
                  </a:srgbClr>
                </a:solidFill>
                <a:latin typeface="Montserrat" panose="00000700000000000000" pitchFamily="2" charset="0"/>
              </a:rPr>
              <a:t>Capital</a:t>
            </a:r>
          </a:p>
        </p:txBody>
      </p:sp>
      <p:sp>
        <p:nvSpPr>
          <p:cNvPr id="1281" name="Description of a primary heading-2">
            <a:extLst>
              <a:ext uri="{FF2B5EF4-FFF2-40B4-BE49-F238E27FC236}">
                <a16:creationId xmlns:a16="http://schemas.microsoft.com/office/drawing/2014/main" id="{111B4A49-B930-4A89-A1CD-6CA2B3D95AED}"/>
              </a:ext>
            </a:extLst>
          </p:cNvPr>
          <p:cNvSpPr txBox="1"/>
          <p:nvPr/>
        </p:nvSpPr>
        <p:spPr>
          <a:xfrm>
            <a:off x="5773960" y="5098064"/>
            <a:ext cx="11982450" cy="1009251"/>
          </a:xfrm>
          <a:prstGeom prst="rect">
            <a:avLst/>
          </a:prstGeom>
          <a:noFill/>
        </p:spPr>
        <p:txBody>
          <a:bodyPr vertOverflow="clip" horzOverflow="clip" wrap="square" lIns="0" tIns="0" rIns="0" bIns="0" rtlCol="0" anchor="ctr">
            <a:spAutoFit/>
          </a:bodyPr>
          <a:lstStyle/>
          <a:p>
            <a:pPr algn="l">
              <a:lnSpc>
                <a:spcPts val="2700"/>
              </a:lnSpc>
            </a:pPr>
            <a:r>
              <a:rPr lang="en-US" spc="-18" dirty="0">
                <a:solidFill>
                  <a:srgbClr val="EBEAED">
                    <a:alpha val="100000"/>
                  </a:srgbClr>
                </a:solidFill>
                <a:latin typeface="Montserrat Light" panose="00000700000000000000" pitchFamily="2" charset="0"/>
              </a:rPr>
              <a:t>Availability of adequate capital allows competitive advantage in terms of keeping statistically derived inventory and giving clients material just in time.</a:t>
            </a:r>
          </a:p>
          <a:p>
            <a:pPr algn="l">
              <a:lnSpc>
                <a:spcPts val="2700"/>
              </a:lnSpc>
            </a:pPr>
            <a:r>
              <a:rPr lang="en-US" sz="1800" spc="-18" dirty="0">
                <a:solidFill>
                  <a:srgbClr val="EBEAED">
                    <a:alpha val="100000"/>
                  </a:srgbClr>
                </a:solidFill>
                <a:latin typeface="Montserrat Light" panose="00000700000000000000" pitchFamily="2" charset="0"/>
              </a:rPr>
              <a:t>Better negotiated rates from suppliers by giving attractive payment terms and  quantum</a:t>
            </a:r>
          </a:p>
        </p:txBody>
      </p:sp>
      <p:sp>
        <p:nvSpPr>
          <p:cNvPr id="1282" name="Click here to edit title-438">
            <a:extLst>
              <a:ext uri="{FF2B5EF4-FFF2-40B4-BE49-F238E27FC236}">
                <a16:creationId xmlns:a16="http://schemas.microsoft.com/office/drawing/2014/main" id="{111B4A49-B930-4A89-A1CD-6CA2B3D95AED}"/>
              </a:ext>
            </a:extLst>
          </p:cNvPr>
          <p:cNvSpPr txBox="1"/>
          <p:nvPr/>
        </p:nvSpPr>
        <p:spPr>
          <a:xfrm>
            <a:off x="1219200" y="750160"/>
            <a:ext cx="15992475" cy="642805"/>
          </a:xfrm>
          <a:prstGeom prst="rect">
            <a:avLst/>
          </a:prstGeom>
          <a:noFill/>
        </p:spPr>
        <p:txBody>
          <a:bodyPr vertOverflow="clip" horzOverflow="clip" wrap="square" lIns="0" tIns="0" rIns="0" bIns="0" rtlCol="0" anchor="ctr">
            <a:spAutoFit/>
          </a:bodyPr>
          <a:lstStyle/>
          <a:p>
            <a:pPr algn="l">
              <a:lnSpc>
                <a:spcPts val="5250"/>
              </a:lnSpc>
            </a:pPr>
            <a:r>
              <a:rPr lang="en-US" sz="4200" spc="-84" dirty="0">
                <a:solidFill>
                  <a:srgbClr val="FFFFFF">
                    <a:alpha val="100000"/>
                  </a:srgbClr>
                </a:solidFill>
                <a:latin typeface="Montserrat Light" panose="00000700000000000000" pitchFamily="2" charset="0"/>
              </a:rPr>
              <a:t>Fueling Growth: Impactful Factors</a:t>
            </a:r>
          </a:p>
        </p:txBody>
      </p:sp>
      <p:pic>
        <p:nvPicPr>
          <p:cNvPr id="128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590550" y="733425"/>
            <a:ext cx="19050" cy="666750"/>
          </a:xfrm>
          <a:prstGeom prst="rect">
            <a:avLst/>
          </a:prstGeom>
        </p:spPr>
      </p:pic>
      <p:sp>
        <p:nvSpPr>
          <p:cNvPr id="5" name="-2">
            <a:extLst>
              <a:ext uri="{FF2B5EF4-FFF2-40B4-BE49-F238E27FC236}">
                <a16:creationId xmlns:a16="http://schemas.microsoft.com/office/drawing/2014/main" id="{49AF033D-D18B-9C52-1391-7A900BC8F9C8}"/>
              </a:ext>
            </a:extLst>
          </p:cNvPr>
          <p:cNvSpPr txBox="1"/>
          <p:nvPr/>
        </p:nvSpPr>
        <p:spPr>
          <a:xfrm>
            <a:off x="5109782" y="6468662"/>
            <a:ext cx="552450" cy="387798"/>
          </a:xfrm>
          <a:prstGeom prst="rect">
            <a:avLst/>
          </a:prstGeom>
          <a:noFill/>
        </p:spPr>
        <p:txBody>
          <a:bodyPr vertOverflow="clip" horzOverflow="clip" wrap="square" lIns="0" tIns="0" rIns="0" bIns="0" rtlCol="0" anchor="ctr">
            <a:spAutoFit/>
          </a:bodyPr>
          <a:lstStyle/>
          <a:p>
            <a:pPr algn="ctr"/>
            <a:r>
              <a:rPr lang="en-US" sz="2520" b="1" dirty="0">
                <a:solidFill>
                  <a:srgbClr val="FBC76E">
                    <a:alpha val="100000"/>
                  </a:srgbClr>
                </a:solidFill>
                <a:latin typeface="Montserrat" panose="00000700000000000000" pitchFamily="2" charset="0"/>
              </a:rPr>
              <a:t>#4</a:t>
            </a:r>
          </a:p>
        </p:txBody>
      </p:sp>
      <p:sp>
        <p:nvSpPr>
          <p:cNvPr id="6" name="Primary Heading-2">
            <a:extLst>
              <a:ext uri="{FF2B5EF4-FFF2-40B4-BE49-F238E27FC236}">
                <a16:creationId xmlns:a16="http://schemas.microsoft.com/office/drawing/2014/main" id="{371F7DF0-55C7-9AAB-710B-42E66DBDA90C}"/>
              </a:ext>
            </a:extLst>
          </p:cNvPr>
          <p:cNvSpPr txBox="1"/>
          <p:nvPr/>
        </p:nvSpPr>
        <p:spPr>
          <a:xfrm>
            <a:off x="5840635" y="6445007"/>
            <a:ext cx="11982450" cy="355097"/>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EBEAED">
                    <a:alpha val="100000"/>
                  </a:srgbClr>
                </a:solidFill>
                <a:latin typeface="Montserrat" panose="00000700000000000000" pitchFamily="2" charset="0"/>
              </a:rPr>
              <a:t>New Products</a:t>
            </a:r>
          </a:p>
        </p:txBody>
      </p:sp>
      <p:sp>
        <p:nvSpPr>
          <p:cNvPr id="7" name="Description of a primary heading-2">
            <a:extLst>
              <a:ext uri="{FF2B5EF4-FFF2-40B4-BE49-F238E27FC236}">
                <a16:creationId xmlns:a16="http://schemas.microsoft.com/office/drawing/2014/main" id="{0684B94C-6100-1D99-1D21-92C166D3E73B}"/>
              </a:ext>
            </a:extLst>
          </p:cNvPr>
          <p:cNvSpPr txBox="1"/>
          <p:nvPr/>
        </p:nvSpPr>
        <p:spPr>
          <a:xfrm>
            <a:off x="5773960" y="6917323"/>
            <a:ext cx="11982450" cy="663002"/>
          </a:xfrm>
          <a:prstGeom prst="rect">
            <a:avLst/>
          </a:prstGeom>
          <a:noFill/>
        </p:spPr>
        <p:txBody>
          <a:bodyPr vertOverflow="clip" horzOverflow="clip" wrap="square" lIns="0" tIns="0" rIns="0" bIns="0" rtlCol="0" anchor="ctr">
            <a:spAutoFit/>
          </a:bodyPr>
          <a:lstStyle/>
          <a:p>
            <a:pPr algn="l">
              <a:lnSpc>
                <a:spcPts val="2700"/>
              </a:lnSpc>
            </a:pPr>
            <a:r>
              <a:rPr lang="en-US" spc="-18" dirty="0">
                <a:solidFill>
                  <a:srgbClr val="EBEAED">
                    <a:alpha val="100000"/>
                  </a:srgbClr>
                </a:solidFill>
                <a:latin typeface="Montserrat Light" panose="00000700000000000000" pitchFamily="2" charset="0"/>
              </a:rPr>
              <a:t>Attracting better talent to manage new product launches  which would allow sales team to upsell to the same customers</a:t>
            </a:r>
          </a:p>
        </p:txBody>
      </p:sp>
      <p:sp>
        <p:nvSpPr>
          <p:cNvPr id="8" name="-2">
            <a:extLst>
              <a:ext uri="{FF2B5EF4-FFF2-40B4-BE49-F238E27FC236}">
                <a16:creationId xmlns:a16="http://schemas.microsoft.com/office/drawing/2014/main" id="{8D5B67AD-C172-AD74-17D6-3F66334DE9FD}"/>
              </a:ext>
            </a:extLst>
          </p:cNvPr>
          <p:cNvSpPr txBox="1"/>
          <p:nvPr/>
        </p:nvSpPr>
        <p:spPr>
          <a:xfrm>
            <a:off x="5179052" y="7826419"/>
            <a:ext cx="552450" cy="387798"/>
          </a:xfrm>
          <a:prstGeom prst="rect">
            <a:avLst/>
          </a:prstGeom>
          <a:noFill/>
        </p:spPr>
        <p:txBody>
          <a:bodyPr vertOverflow="clip" horzOverflow="clip" wrap="square" lIns="0" tIns="0" rIns="0" bIns="0" rtlCol="0" anchor="ctr">
            <a:spAutoFit/>
          </a:bodyPr>
          <a:lstStyle/>
          <a:p>
            <a:pPr algn="ctr"/>
            <a:r>
              <a:rPr lang="en-US" sz="2520" b="1" dirty="0">
                <a:solidFill>
                  <a:srgbClr val="FBC76E">
                    <a:alpha val="100000"/>
                  </a:srgbClr>
                </a:solidFill>
                <a:latin typeface="Montserrat" panose="00000700000000000000" pitchFamily="2" charset="0"/>
              </a:rPr>
              <a:t>#5</a:t>
            </a:r>
          </a:p>
        </p:txBody>
      </p:sp>
      <p:sp>
        <p:nvSpPr>
          <p:cNvPr id="9" name="Primary Heading-2">
            <a:extLst>
              <a:ext uri="{FF2B5EF4-FFF2-40B4-BE49-F238E27FC236}">
                <a16:creationId xmlns:a16="http://schemas.microsoft.com/office/drawing/2014/main" id="{6AA6D213-BD13-B927-157F-66F44AF80115}"/>
              </a:ext>
            </a:extLst>
          </p:cNvPr>
          <p:cNvSpPr txBox="1"/>
          <p:nvPr/>
        </p:nvSpPr>
        <p:spPr>
          <a:xfrm>
            <a:off x="5909905" y="7802764"/>
            <a:ext cx="11982450" cy="355097"/>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EBEAED">
                    <a:alpha val="100000"/>
                  </a:srgbClr>
                </a:solidFill>
                <a:latin typeface="Montserrat" panose="00000700000000000000" pitchFamily="2" charset="0"/>
              </a:rPr>
              <a:t>Expanding geographically</a:t>
            </a:r>
          </a:p>
        </p:txBody>
      </p:sp>
      <p:sp>
        <p:nvSpPr>
          <p:cNvPr id="10" name="Description of a primary heading-2">
            <a:extLst>
              <a:ext uri="{FF2B5EF4-FFF2-40B4-BE49-F238E27FC236}">
                <a16:creationId xmlns:a16="http://schemas.microsoft.com/office/drawing/2014/main" id="{8E9560A4-0D92-4F55-FF89-3E0EE706020B}"/>
              </a:ext>
            </a:extLst>
          </p:cNvPr>
          <p:cNvSpPr txBox="1"/>
          <p:nvPr/>
        </p:nvSpPr>
        <p:spPr>
          <a:xfrm>
            <a:off x="5843230" y="8275080"/>
            <a:ext cx="11982450" cy="663002"/>
          </a:xfrm>
          <a:prstGeom prst="rect">
            <a:avLst/>
          </a:prstGeom>
          <a:noFill/>
        </p:spPr>
        <p:txBody>
          <a:bodyPr vertOverflow="clip" horzOverflow="clip" wrap="square" lIns="0" tIns="0" rIns="0" bIns="0" rtlCol="0" anchor="ctr">
            <a:spAutoFit/>
          </a:bodyPr>
          <a:lstStyle/>
          <a:p>
            <a:pPr algn="l">
              <a:lnSpc>
                <a:spcPts val="2700"/>
              </a:lnSpc>
            </a:pPr>
            <a:r>
              <a:rPr lang="en-US" spc="-18" dirty="0">
                <a:solidFill>
                  <a:srgbClr val="EBEAED">
                    <a:alpha val="100000"/>
                  </a:srgbClr>
                </a:solidFill>
                <a:latin typeface="Montserrat Light" panose="00000700000000000000" pitchFamily="2" charset="0"/>
              </a:rPr>
              <a:t>Certifying products to comply with native regulations and expanding the base  by becoming a global solutions provider.</a:t>
            </a:r>
          </a:p>
        </p:txBody>
      </p:sp>
      <p:pic>
        <p:nvPicPr>
          <p:cNvPr id="12" name="Picture 11">
            <a:extLst>
              <a:ext uri="{FF2B5EF4-FFF2-40B4-BE49-F238E27FC236}">
                <a16:creationId xmlns:a16="http://schemas.microsoft.com/office/drawing/2014/main" id="{F470E5A6-F092-3225-CE37-9A6E7E44722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1328" y="2994046"/>
            <a:ext cx="4760051" cy="4760051"/>
          </a:xfrm>
          <a:prstGeom prst="rect">
            <a:avLst/>
          </a:prstGeom>
        </p:spPr>
      </p:pic>
    </p:spTree>
    <p:extLst>
      <p:ext uri="{BB962C8B-B14F-4D97-AF65-F5344CB8AC3E}">
        <p14:creationId xmlns:p14="http://schemas.microsoft.com/office/powerpoint/2010/main" val="36480479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8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0" y="0"/>
            <a:ext cx="18288000" cy="10287000"/>
          </a:xfrm>
          <a:prstGeom prst="rect">
            <a:avLst/>
          </a:prstGeom>
        </p:spPr>
      </p:pic>
      <p:pic>
        <p:nvPicPr>
          <p:cNvPr id="1287" name="layoutShapeInnerChild1">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0" y="0"/>
            <a:ext cx="18288000" cy="10287000"/>
          </a:xfrm>
          <a:prstGeom prst="rect">
            <a:avLst/>
          </a:prstGeom>
        </p:spPr>
      </p:pic>
      <p:sp>
        <p:nvSpPr>
          <p:cNvPr id="1290" name="-0">
            <a:extLst>
              <a:ext uri="{FF2B5EF4-FFF2-40B4-BE49-F238E27FC236}">
                <a16:creationId xmlns:a16="http://schemas.microsoft.com/office/drawing/2014/main" id="{111B4A49-B930-4A89-A1CD-6CA2B3D95AED}"/>
              </a:ext>
            </a:extLst>
          </p:cNvPr>
          <p:cNvSpPr txBox="1"/>
          <p:nvPr/>
        </p:nvSpPr>
        <p:spPr>
          <a:xfrm>
            <a:off x="5141976" y="2343374"/>
            <a:ext cx="495300" cy="333375"/>
          </a:xfrm>
          <a:prstGeom prst="rect">
            <a:avLst/>
          </a:prstGeom>
          <a:noFill/>
        </p:spPr>
        <p:txBody>
          <a:bodyPr vertOverflow="clip" horzOverflow="clip" wrap="square" lIns="0" tIns="0" rIns="0" bIns="0" rtlCol="0" anchor="ctr">
            <a:spAutoFit/>
          </a:bodyPr>
          <a:lstStyle/>
          <a:p>
            <a:pPr algn="ctr"/>
            <a:r>
              <a:rPr lang="en-US" sz="2520" b="1" dirty="0">
                <a:solidFill>
                  <a:srgbClr val="FBC76E">
                    <a:alpha val="100000"/>
                  </a:srgbClr>
                </a:solidFill>
                <a:latin typeface="Montserrat" panose="00000700000000000000" pitchFamily="2" charset="0"/>
              </a:rPr>
              <a:t>#1</a:t>
            </a:r>
          </a:p>
        </p:txBody>
      </p:sp>
      <p:sp>
        <p:nvSpPr>
          <p:cNvPr id="1291" name="Primary Heading-0">
            <a:extLst>
              <a:ext uri="{FF2B5EF4-FFF2-40B4-BE49-F238E27FC236}">
                <a16:creationId xmlns:a16="http://schemas.microsoft.com/office/drawing/2014/main" id="{111B4A49-B930-4A89-A1CD-6CA2B3D95AED}"/>
              </a:ext>
            </a:extLst>
          </p:cNvPr>
          <p:cNvSpPr txBox="1"/>
          <p:nvPr/>
        </p:nvSpPr>
        <p:spPr>
          <a:xfrm>
            <a:off x="5840635" y="2292508"/>
            <a:ext cx="11458575" cy="355097"/>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FFFFFF">
                    <a:alpha val="100000"/>
                  </a:srgbClr>
                </a:solidFill>
                <a:latin typeface="Montserrat" panose="00000700000000000000" pitchFamily="2" charset="0"/>
              </a:rPr>
              <a:t>Capital</a:t>
            </a:r>
          </a:p>
        </p:txBody>
      </p:sp>
      <p:sp>
        <p:nvSpPr>
          <p:cNvPr id="1292" name="Description of a primary heading-0">
            <a:extLst>
              <a:ext uri="{FF2B5EF4-FFF2-40B4-BE49-F238E27FC236}">
                <a16:creationId xmlns:a16="http://schemas.microsoft.com/office/drawing/2014/main" id="{111B4A49-B930-4A89-A1CD-6CA2B3D95AED}"/>
              </a:ext>
            </a:extLst>
          </p:cNvPr>
          <p:cNvSpPr txBox="1"/>
          <p:nvPr/>
        </p:nvSpPr>
        <p:spPr>
          <a:xfrm>
            <a:off x="5773960" y="2766499"/>
            <a:ext cx="11458575" cy="316753"/>
          </a:xfrm>
          <a:prstGeom prst="rect">
            <a:avLst/>
          </a:prstGeom>
          <a:noFill/>
        </p:spPr>
        <p:txBody>
          <a:bodyPr vertOverflow="clip" horzOverflow="clip" wrap="square" lIns="0" tIns="0" rIns="0" bIns="0" rtlCol="0" anchor="ctr">
            <a:spAutoFit/>
          </a:bodyPr>
          <a:lstStyle/>
          <a:p>
            <a:pPr algn="l">
              <a:lnSpc>
                <a:spcPts val="2700"/>
              </a:lnSpc>
            </a:pPr>
            <a:r>
              <a:rPr lang="en-US" spc="-18" dirty="0">
                <a:solidFill>
                  <a:srgbClr val="FFFFFF">
                    <a:alpha val="100000"/>
                  </a:srgbClr>
                </a:solidFill>
                <a:latin typeface="Montserrat Light" panose="00000700000000000000" pitchFamily="2" charset="0"/>
              </a:rPr>
              <a:t>Infusing capital by availing CC Limit </a:t>
            </a:r>
            <a:endParaRPr lang="en-US" sz="1800" spc="-18" dirty="0">
              <a:solidFill>
                <a:srgbClr val="FFFFFF">
                  <a:alpha val="100000"/>
                </a:srgbClr>
              </a:solidFill>
              <a:latin typeface="Montserrat Light" panose="00000700000000000000" pitchFamily="2" charset="0"/>
            </a:endParaRPr>
          </a:p>
        </p:txBody>
      </p:sp>
      <p:sp>
        <p:nvSpPr>
          <p:cNvPr id="1293" name="-1">
            <a:extLst>
              <a:ext uri="{FF2B5EF4-FFF2-40B4-BE49-F238E27FC236}">
                <a16:creationId xmlns:a16="http://schemas.microsoft.com/office/drawing/2014/main" id="{111B4A49-B930-4A89-A1CD-6CA2B3D95AED}"/>
              </a:ext>
            </a:extLst>
          </p:cNvPr>
          <p:cNvSpPr txBox="1"/>
          <p:nvPr/>
        </p:nvSpPr>
        <p:spPr>
          <a:xfrm>
            <a:off x="5109782" y="3769743"/>
            <a:ext cx="552450" cy="333375"/>
          </a:xfrm>
          <a:prstGeom prst="rect">
            <a:avLst/>
          </a:prstGeom>
          <a:noFill/>
        </p:spPr>
        <p:txBody>
          <a:bodyPr vertOverflow="clip" horzOverflow="clip" wrap="square" lIns="0" tIns="0" rIns="0" bIns="0" rtlCol="0" anchor="ctr">
            <a:spAutoFit/>
          </a:bodyPr>
          <a:lstStyle/>
          <a:p>
            <a:pPr algn="ctr"/>
            <a:r>
              <a:rPr lang="en-US" sz="2520" b="1" dirty="0">
                <a:solidFill>
                  <a:srgbClr val="FBC76E">
                    <a:alpha val="100000"/>
                  </a:srgbClr>
                </a:solidFill>
                <a:latin typeface="Montserrat" panose="00000700000000000000" pitchFamily="2" charset="0"/>
              </a:rPr>
              <a:t>#2</a:t>
            </a:r>
          </a:p>
        </p:txBody>
      </p:sp>
      <p:sp>
        <p:nvSpPr>
          <p:cNvPr id="1294" name="Primary Heading-1">
            <a:extLst>
              <a:ext uri="{FF2B5EF4-FFF2-40B4-BE49-F238E27FC236}">
                <a16:creationId xmlns:a16="http://schemas.microsoft.com/office/drawing/2014/main" id="{111B4A49-B930-4A89-A1CD-6CA2B3D95AED}"/>
              </a:ext>
            </a:extLst>
          </p:cNvPr>
          <p:cNvSpPr txBox="1"/>
          <p:nvPr/>
        </p:nvSpPr>
        <p:spPr>
          <a:xfrm>
            <a:off x="5840635" y="3718877"/>
            <a:ext cx="8286750" cy="355097"/>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F2F1F3">
                    <a:alpha val="100000"/>
                  </a:srgbClr>
                </a:solidFill>
                <a:latin typeface="Montserrat" panose="00000700000000000000" pitchFamily="2" charset="0"/>
              </a:rPr>
              <a:t>Commencement of Export Orders</a:t>
            </a:r>
          </a:p>
        </p:txBody>
      </p:sp>
      <p:sp>
        <p:nvSpPr>
          <p:cNvPr id="1295" name="Description of a primary heading-1">
            <a:extLst>
              <a:ext uri="{FF2B5EF4-FFF2-40B4-BE49-F238E27FC236}">
                <a16:creationId xmlns:a16="http://schemas.microsoft.com/office/drawing/2014/main" id="{111B4A49-B930-4A89-A1CD-6CA2B3D95AED}"/>
              </a:ext>
            </a:extLst>
          </p:cNvPr>
          <p:cNvSpPr txBox="1"/>
          <p:nvPr/>
        </p:nvSpPr>
        <p:spPr>
          <a:xfrm>
            <a:off x="5773960" y="4504789"/>
            <a:ext cx="8286750" cy="1355499"/>
          </a:xfrm>
          <a:prstGeom prst="rect">
            <a:avLst/>
          </a:prstGeom>
          <a:noFill/>
        </p:spPr>
        <p:txBody>
          <a:bodyPr vertOverflow="clip" horzOverflow="clip" wrap="square" lIns="0" tIns="0" rIns="0" bIns="0" rtlCol="0" anchor="ctr">
            <a:spAutoFit/>
          </a:bodyPr>
          <a:lstStyle/>
          <a:p>
            <a:pPr algn="l">
              <a:lnSpc>
                <a:spcPts val="2700"/>
              </a:lnSpc>
            </a:pPr>
            <a:r>
              <a:rPr lang="en-US" spc="-18" dirty="0">
                <a:solidFill>
                  <a:srgbClr val="F2F1F3">
                    <a:alpha val="100000"/>
                  </a:srgbClr>
                </a:solidFill>
                <a:latin typeface="Montserrat Light" panose="00000700000000000000" pitchFamily="2" charset="0"/>
              </a:rPr>
              <a:t>1</a:t>
            </a:r>
            <a:r>
              <a:rPr lang="en-US" spc="-18" baseline="30000" dirty="0">
                <a:solidFill>
                  <a:srgbClr val="F2F1F3">
                    <a:alpha val="100000"/>
                  </a:srgbClr>
                </a:solidFill>
                <a:latin typeface="Montserrat Light" panose="00000700000000000000" pitchFamily="2" charset="0"/>
              </a:rPr>
              <a:t>st</a:t>
            </a:r>
            <a:r>
              <a:rPr lang="en-US" spc="-18" dirty="0">
                <a:solidFill>
                  <a:srgbClr val="F2F1F3">
                    <a:alpha val="100000"/>
                  </a:srgbClr>
                </a:solidFill>
                <a:latin typeface="Montserrat Light" panose="00000700000000000000" pitchFamily="2" charset="0"/>
              </a:rPr>
              <a:t> Shipment to Kuwait has been dispatched,</a:t>
            </a:r>
          </a:p>
          <a:p>
            <a:pPr algn="l">
              <a:lnSpc>
                <a:spcPts val="2700"/>
              </a:lnSpc>
            </a:pPr>
            <a:r>
              <a:rPr lang="en-US" sz="1800" spc="-18" dirty="0">
                <a:solidFill>
                  <a:srgbClr val="F2F1F3">
                    <a:alpha val="100000"/>
                  </a:srgbClr>
                </a:solidFill>
                <a:latin typeface="Montserrat Light" panose="00000700000000000000" pitchFamily="2" charset="0"/>
              </a:rPr>
              <a:t>Repeat order from Kuwait getting dispatched in 4</a:t>
            </a:r>
            <a:r>
              <a:rPr lang="en-US" sz="1800" spc="-18" baseline="30000" dirty="0">
                <a:solidFill>
                  <a:srgbClr val="F2F1F3">
                    <a:alpha val="100000"/>
                  </a:srgbClr>
                </a:solidFill>
                <a:latin typeface="Montserrat Light" panose="00000700000000000000" pitchFamily="2" charset="0"/>
              </a:rPr>
              <a:t>th</a:t>
            </a:r>
            <a:r>
              <a:rPr lang="en-US" sz="1800" spc="-18" dirty="0">
                <a:solidFill>
                  <a:srgbClr val="F2F1F3">
                    <a:alpha val="100000"/>
                  </a:srgbClr>
                </a:solidFill>
                <a:latin typeface="Montserrat Light" panose="00000700000000000000" pitchFamily="2" charset="0"/>
              </a:rPr>
              <a:t> week of June</a:t>
            </a:r>
          </a:p>
          <a:p>
            <a:pPr algn="l">
              <a:lnSpc>
                <a:spcPts val="2700"/>
              </a:lnSpc>
            </a:pPr>
            <a:r>
              <a:rPr lang="en-US" spc="-18" dirty="0">
                <a:solidFill>
                  <a:srgbClr val="F2F1F3">
                    <a:alpha val="100000"/>
                  </a:srgbClr>
                </a:solidFill>
                <a:latin typeface="Montserrat Light" panose="00000700000000000000" pitchFamily="2" charset="0"/>
              </a:rPr>
              <a:t>1</a:t>
            </a:r>
            <a:r>
              <a:rPr lang="en-US" spc="-18" baseline="30000" dirty="0">
                <a:solidFill>
                  <a:srgbClr val="F2F1F3">
                    <a:alpha val="100000"/>
                  </a:srgbClr>
                </a:solidFill>
                <a:latin typeface="Montserrat Light" panose="00000700000000000000" pitchFamily="2" charset="0"/>
              </a:rPr>
              <a:t>st</a:t>
            </a:r>
            <a:r>
              <a:rPr lang="en-US" spc="-18" dirty="0">
                <a:solidFill>
                  <a:srgbClr val="F2F1F3">
                    <a:alpha val="100000"/>
                  </a:srgbClr>
                </a:solidFill>
                <a:latin typeface="Montserrat Light" panose="00000700000000000000" pitchFamily="2" charset="0"/>
              </a:rPr>
              <a:t> Order from Canada getting dispatched in last week of June</a:t>
            </a:r>
            <a:endParaRPr lang="en-US" sz="1800" spc="-18" dirty="0">
              <a:solidFill>
                <a:srgbClr val="F2F1F3">
                  <a:alpha val="100000"/>
                </a:srgbClr>
              </a:solidFill>
              <a:latin typeface="Montserrat Light" panose="00000700000000000000" pitchFamily="2" charset="0"/>
            </a:endParaRPr>
          </a:p>
          <a:p>
            <a:pPr algn="l">
              <a:lnSpc>
                <a:spcPts val="2700"/>
              </a:lnSpc>
            </a:pPr>
            <a:r>
              <a:rPr lang="en-US" sz="1800" spc="-18" dirty="0">
                <a:solidFill>
                  <a:srgbClr val="F2F1F3">
                    <a:alpha val="100000"/>
                  </a:srgbClr>
                </a:solidFill>
                <a:latin typeface="Montserrat Light" panose="00000700000000000000" pitchFamily="2" charset="0"/>
              </a:rPr>
              <a:t>Regular Sales to Australia Started since 1 year</a:t>
            </a:r>
          </a:p>
        </p:txBody>
      </p:sp>
      <p:sp>
        <p:nvSpPr>
          <p:cNvPr id="1296" name="-2">
            <a:extLst>
              <a:ext uri="{FF2B5EF4-FFF2-40B4-BE49-F238E27FC236}">
                <a16:creationId xmlns:a16="http://schemas.microsoft.com/office/drawing/2014/main" id="{111B4A49-B930-4A89-A1CD-6CA2B3D95AED}"/>
              </a:ext>
            </a:extLst>
          </p:cNvPr>
          <p:cNvSpPr txBox="1"/>
          <p:nvPr/>
        </p:nvSpPr>
        <p:spPr>
          <a:xfrm>
            <a:off x="5109782" y="6332198"/>
            <a:ext cx="552450" cy="333375"/>
          </a:xfrm>
          <a:prstGeom prst="rect">
            <a:avLst/>
          </a:prstGeom>
          <a:noFill/>
        </p:spPr>
        <p:txBody>
          <a:bodyPr vertOverflow="clip" horzOverflow="clip" wrap="square" lIns="0" tIns="0" rIns="0" bIns="0" rtlCol="0" anchor="ctr">
            <a:spAutoFit/>
          </a:bodyPr>
          <a:lstStyle/>
          <a:p>
            <a:pPr algn="ctr"/>
            <a:r>
              <a:rPr lang="en-US" sz="2520" b="1" dirty="0">
                <a:solidFill>
                  <a:srgbClr val="FBC76E">
                    <a:alpha val="100000"/>
                  </a:srgbClr>
                </a:solidFill>
                <a:latin typeface="Montserrat" panose="00000700000000000000" pitchFamily="2" charset="0"/>
              </a:rPr>
              <a:t>#3</a:t>
            </a:r>
          </a:p>
        </p:txBody>
      </p:sp>
      <p:sp>
        <p:nvSpPr>
          <p:cNvPr id="1297" name="Primary Heading-2">
            <a:extLst>
              <a:ext uri="{FF2B5EF4-FFF2-40B4-BE49-F238E27FC236}">
                <a16:creationId xmlns:a16="http://schemas.microsoft.com/office/drawing/2014/main" id="{111B4A49-B930-4A89-A1CD-6CA2B3D95AED}"/>
              </a:ext>
            </a:extLst>
          </p:cNvPr>
          <p:cNvSpPr txBox="1"/>
          <p:nvPr/>
        </p:nvSpPr>
        <p:spPr>
          <a:xfrm>
            <a:off x="5840635" y="6281332"/>
            <a:ext cx="11982450" cy="355097"/>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EBEAED">
                    <a:alpha val="100000"/>
                  </a:srgbClr>
                </a:solidFill>
                <a:latin typeface="Montserrat" panose="00000700000000000000" pitchFamily="2" charset="0"/>
              </a:rPr>
              <a:t>Extending Product Offerings</a:t>
            </a:r>
          </a:p>
        </p:txBody>
      </p:sp>
      <p:sp>
        <p:nvSpPr>
          <p:cNvPr id="1298" name="Description of a primary heading-2">
            <a:extLst>
              <a:ext uri="{FF2B5EF4-FFF2-40B4-BE49-F238E27FC236}">
                <a16:creationId xmlns:a16="http://schemas.microsoft.com/office/drawing/2014/main" id="{111B4A49-B930-4A89-A1CD-6CA2B3D95AED}"/>
              </a:ext>
            </a:extLst>
          </p:cNvPr>
          <p:cNvSpPr txBox="1"/>
          <p:nvPr/>
        </p:nvSpPr>
        <p:spPr>
          <a:xfrm>
            <a:off x="5773960" y="6719318"/>
            <a:ext cx="11982450" cy="2394245"/>
          </a:xfrm>
          <a:prstGeom prst="rect">
            <a:avLst/>
          </a:prstGeom>
          <a:noFill/>
        </p:spPr>
        <p:txBody>
          <a:bodyPr vertOverflow="clip" horzOverflow="clip" wrap="square" lIns="0" tIns="0" rIns="0" bIns="0" rtlCol="0" anchor="ctr">
            <a:spAutoFit/>
          </a:bodyPr>
          <a:lstStyle/>
          <a:p>
            <a:pPr algn="l">
              <a:lnSpc>
                <a:spcPts val="2700"/>
              </a:lnSpc>
            </a:pPr>
            <a:r>
              <a:rPr lang="en-US" sz="1800" spc="-18" dirty="0">
                <a:solidFill>
                  <a:srgbClr val="EBEAED">
                    <a:alpha val="100000"/>
                  </a:srgbClr>
                </a:solidFill>
                <a:latin typeface="Montserrat Light" panose="00000700000000000000" pitchFamily="2" charset="0"/>
              </a:rPr>
              <a:t>Actively pursuing orders for Car Parking Products which were not in focus for past year due to space constraints</a:t>
            </a:r>
          </a:p>
          <a:p>
            <a:pPr algn="l">
              <a:lnSpc>
                <a:spcPts val="2700"/>
              </a:lnSpc>
            </a:pPr>
            <a:r>
              <a:rPr lang="en-US" sz="1800" spc="-18" dirty="0">
                <a:solidFill>
                  <a:srgbClr val="EBEAED">
                    <a:alpha val="100000"/>
                  </a:srgbClr>
                </a:solidFill>
                <a:latin typeface="Montserrat Light" panose="00000700000000000000" pitchFamily="2" charset="0"/>
              </a:rPr>
              <a:t>Overcoming capital &amp; Capacity </a:t>
            </a:r>
            <a:r>
              <a:rPr lang="en-US" spc="-18" dirty="0">
                <a:solidFill>
                  <a:srgbClr val="EBEAED">
                    <a:alpha val="100000"/>
                  </a:srgbClr>
                </a:solidFill>
                <a:latin typeface="Montserrat Light" panose="00000700000000000000" pitchFamily="2" charset="0"/>
              </a:rPr>
              <a:t>constraints and delivering already developed products</a:t>
            </a:r>
          </a:p>
          <a:p>
            <a:pPr algn="l">
              <a:lnSpc>
                <a:spcPts val="2700"/>
              </a:lnSpc>
            </a:pPr>
            <a:r>
              <a:rPr lang="en-US" spc="-18" dirty="0">
                <a:solidFill>
                  <a:srgbClr val="EBEAED">
                    <a:alpha val="100000"/>
                  </a:srgbClr>
                </a:solidFill>
                <a:latin typeface="Montserrat Light" panose="00000700000000000000" pitchFamily="2" charset="0"/>
              </a:rPr>
              <a:t>Vertical Auto Doors with a slight variation are one of the most in-demand product in Australian market, currently Chamberlin is the only company dominating the market due to lack of competition. We have already secured expressions of interest from few of the dealers of Chamberlin, we expect to launch the product in first quarter of Fisc. Year 2025</a:t>
            </a:r>
          </a:p>
        </p:txBody>
      </p:sp>
      <p:sp>
        <p:nvSpPr>
          <p:cNvPr id="1299" name="Click here to edit title-433">
            <a:extLst>
              <a:ext uri="{FF2B5EF4-FFF2-40B4-BE49-F238E27FC236}">
                <a16:creationId xmlns:a16="http://schemas.microsoft.com/office/drawing/2014/main" id="{111B4A49-B930-4A89-A1CD-6CA2B3D95AED}"/>
              </a:ext>
            </a:extLst>
          </p:cNvPr>
          <p:cNvSpPr txBox="1"/>
          <p:nvPr/>
        </p:nvSpPr>
        <p:spPr>
          <a:xfrm>
            <a:off x="1219200" y="750160"/>
            <a:ext cx="15992475" cy="642805"/>
          </a:xfrm>
          <a:prstGeom prst="rect">
            <a:avLst/>
          </a:prstGeom>
          <a:noFill/>
        </p:spPr>
        <p:txBody>
          <a:bodyPr vertOverflow="clip" horzOverflow="clip" wrap="square" lIns="0" tIns="0" rIns="0" bIns="0" rtlCol="0" anchor="ctr">
            <a:spAutoFit/>
          </a:bodyPr>
          <a:lstStyle/>
          <a:p>
            <a:pPr algn="l">
              <a:lnSpc>
                <a:spcPts val="5250"/>
              </a:lnSpc>
            </a:pPr>
            <a:r>
              <a:rPr lang="en-US" sz="4200" spc="-84" dirty="0">
                <a:solidFill>
                  <a:srgbClr val="FFFFFF">
                    <a:alpha val="100000"/>
                  </a:srgbClr>
                </a:solidFill>
                <a:latin typeface="Montserrat Light" panose="00000700000000000000" pitchFamily="2" charset="0"/>
              </a:rPr>
              <a:t>Revenue Drivers for FY 2025-2026</a:t>
            </a:r>
          </a:p>
        </p:txBody>
      </p:sp>
      <p:pic>
        <p:nvPicPr>
          <p:cNvPr id="130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590550" y="733425"/>
            <a:ext cx="19050" cy="666750"/>
          </a:xfrm>
          <a:prstGeom prst="rect">
            <a:avLst/>
          </a:prstGeom>
        </p:spPr>
      </p:pic>
      <p:pic>
        <p:nvPicPr>
          <p:cNvPr id="3" name="Picture 2">
            <a:extLst>
              <a:ext uri="{FF2B5EF4-FFF2-40B4-BE49-F238E27FC236}">
                <a16:creationId xmlns:a16="http://schemas.microsoft.com/office/drawing/2014/main" id="{553BD8EE-2910-9694-7A71-1D9A5396F6A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38983" y="3505937"/>
            <a:ext cx="4095994" cy="2047997"/>
          </a:xfrm>
          <a:prstGeom prst="rect">
            <a:avLst/>
          </a:prstGeom>
        </p:spPr>
      </p:pic>
    </p:spTree>
    <p:extLst>
      <p:ext uri="{BB962C8B-B14F-4D97-AF65-F5344CB8AC3E}">
        <p14:creationId xmlns:p14="http://schemas.microsoft.com/office/powerpoint/2010/main" val="364804797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7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0" y="0"/>
            <a:ext cx="18288000" cy="10287000"/>
          </a:xfrm>
          <a:prstGeom prst="rect">
            <a:avLst/>
          </a:prstGeom>
        </p:spPr>
      </p:pic>
      <p:pic>
        <p:nvPicPr>
          <p:cNvPr id="1380" name="layoutShapeInnerChild1">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0" y="0"/>
            <a:ext cx="18288000" cy="10287000"/>
          </a:xfrm>
          <a:prstGeom prst="rect">
            <a:avLst/>
          </a:prstGeom>
        </p:spPr>
      </p:pic>
      <p:pic>
        <p:nvPicPr>
          <p:cNvPr id="1381" name="coverimage">
            <a:extLst>
              <a:ext uri="{FF2B5EF4-FFF2-40B4-BE49-F238E27FC236}">
                <a16:creationId xmlns:a16="http://schemas.microsoft.com/office/drawing/2014/main" id="{A8642F66-C0BB-4949-9A9C-024B120A5D52}"/>
              </a:ext>
            </a:extLst>
          </p:cNvPr>
          <p:cNvPicPr preferRelativeResize="0">
            <a:picLocks noChangeAspect="1"/>
          </p:cNvPicPr>
          <p:nvPr/>
        </p:nvPicPr>
        <p:blipFill rotWithShape="1">
          <a:blip r:embed="rId4">
            <a:alphaModFix/>
          </a:blip>
          <a:stretch/>
        </p:blipFill>
        <p:spPr>
          <a:xfrm>
            <a:off x="0" y="0"/>
            <a:ext cx="18288000" cy="10287000"/>
          </a:xfrm>
          <a:prstGeom prst="rect">
            <a:avLst/>
          </a:prstGeom>
        </p:spPr>
      </p:pic>
      <p:pic>
        <p:nvPicPr>
          <p:cNvPr id="138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mt="70000"/>
          </a:blip>
          <a:stretch/>
        </p:blipFill>
        <p:spPr>
          <a:xfrm>
            <a:off x="0" y="0"/>
            <a:ext cx="18288000" cy="10287000"/>
          </a:xfrm>
          <a:prstGeom prst="rect">
            <a:avLst/>
          </a:prstGeom>
        </p:spPr>
      </p:pic>
      <p:sp>
        <p:nvSpPr>
          <p:cNvPr id="1383" name="Thank You-0">
            <a:extLst>
              <a:ext uri="{FF2B5EF4-FFF2-40B4-BE49-F238E27FC236}">
                <a16:creationId xmlns:a16="http://schemas.microsoft.com/office/drawing/2014/main" id="{111B4A49-B930-4A89-A1CD-6CA2B3D95AED}"/>
              </a:ext>
            </a:extLst>
          </p:cNvPr>
          <p:cNvSpPr txBox="1"/>
          <p:nvPr/>
        </p:nvSpPr>
        <p:spPr>
          <a:xfrm>
            <a:off x="1219200" y="4181189"/>
            <a:ext cx="10229850" cy="1104900"/>
          </a:xfrm>
          <a:prstGeom prst="rect">
            <a:avLst/>
          </a:prstGeom>
          <a:noFill/>
        </p:spPr>
        <p:txBody>
          <a:bodyPr vertOverflow="clip" horzOverflow="clip" wrap="square" lIns="0" tIns="0" rIns="0" bIns="0" rtlCol="0" anchor="ctr">
            <a:spAutoFit/>
          </a:bodyPr>
          <a:lstStyle/>
          <a:p>
            <a:pPr algn="l">
              <a:lnSpc>
                <a:spcPts val="8496"/>
              </a:lnSpc>
            </a:pPr>
            <a:r>
              <a:rPr lang="en-US" sz="7200" spc="-180" dirty="0">
                <a:solidFill>
                  <a:srgbClr val="FFFFFF">
                    <a:alpha val="100000"/>
                  </a:srgbClr>
                </a:solidFill>
                <a:latin typeface="Montserrat Light" panose="00000700000000000000" pitchFamily="2" charset="0"/>
              </a:rPr>
              <a:t>Thank You</a:t>
            </a:r>
          </a:p>
        </p:txBody>
      </p:sp>
      <p:sp>
        <p:nvSpPr>
          <p:cNvPr id="1384" name="A small sentence which explains all about this presentation-0">
            <a:extLst>
              <a:ext uri="{FF2B5EF4-FFF2-40B4-BE49-F238E27FC236}">
                <a16:creationId xmlns:a16="http://schemas.microsoft.com/office/drawing/2014/main" id="{111B4A49-B930-4A89-A1CD-6CA2B3D95AED}"/>
              </a:ext>
            </a:extLst>
          </p:cNvPr>
          <p:cNvSpPr txBox="1"/>
          <p:nvPr/>
        </p:nvSpPr>
        <p:spPr>
          <a:xfrm>
            <a:off x="1152525" y="5735098"/>
            <a:ext cx="10229850" cy="381000"/>
          </a:xfrm>
          <a:prstGeom prst="rect">
            <a:avLst/>
          </a:prstGeom>
          <a:noFill/>
        </p:spPr>
        <p:txBody>
          <a:bodyPr vertOverflow="clip" horzOverflow="clip" wrap="square" lIns="0" tIns="0" rIns="0" bIns="0" rtlCol="0" anchor="ctr">
            <a:spAutoFit/>
          </a:bodyPr>
          <a:lstStyle/>
          <a:p>
            <a:pPr algn="l">
              <a:lnSpc>
                <a:spcPts val="2919"/>
              </a:lnSpc>
            </a:pPr>
            <a:r>
              <a:rPr lang="en-US" sz="2100" spc="-21" dirty="0">
                <a:solidFill>
                  <a:srgbClr val="FFFFFF">
                    <a:alpha val="100000"/>
                  </a:srgbClr>
                </a:solidFill>
                <a:latin typeface="Montserrat Light" panose="00000700000000000000" pitchFamily="2" charset="0"/>
              </a:rPr>
              <a:t>Vishal Kulkarni vishal@portalengg.com</a:t>
            </a:r>
          </a:p>
        </p:txBody>
      </p:sp>
      <p:pic>
        <p:nvPicPr>
          <p:cNvPr id="138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590550" y="4181475"/>
            <a:ext cx="19050" cy="1924050"/>
          </a:xfrm>
          <a:prstGeom prst="rect">
            <a:avLst/>
          </a:prstGeom>
        </p:spPr>
      </p:pic>
    </p:spTree>
    <p:extLst>
      <p:ext uri="{BB962C8B-B14F-4D97-AF65-F5344CB8AC3E}">
        <p14:creationId xmlns:p14="http://schemas.microsoft.com/office/powerpoint/2010/main" val="364804797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2311</TotalTime>
  <Words>2812</Words>
  <Application>Microsoft Office PowerPoint</Application>
  <PresentationFormat>Custom</PresentationFormat>
  <Paragraphs>441</Paragraphs>
  <Slides>37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37</vt:i4>
      </vt:variant>
    </vt:vector>
  </HeadingPairs>
  <TitlesOfParts>
    <vt:vector size="43" baseType="lpstr">
      <vt:lpstr>Montserrat Light</vt:lpstr>
      <vt:lpstr>Montserrat</vt:lpstr>
      <vt:lpstr>Calibri</vt:lpstr>
      <vt:lpstr>Arial</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Exporter Version: 2.0.8.0, docId: 5750396</dc:title>
  <dc:creator>Presentations.AI Exporter</dc:creator>
  <cp:lastModifiedBy>Vishal Kulkarni</cp:lastModifiedBy>
  <cp:revision>56</cp:revision>
  <cp:lastPrinted>2026-01-06T09:02:22Z</cp:lastPrinted>
  <dcterms:created xsi:type="dcterms:W3CDTF">2024-06-18T10:47:08Z</dcterms:created>
  <dcterms:modified xsi:type="dcterms:W3CDTF">2026-04-20T09:40:14Z</dcterms:modified>
</cp:coreProperties>
</file>