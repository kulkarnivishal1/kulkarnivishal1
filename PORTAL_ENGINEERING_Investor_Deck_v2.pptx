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media/image1.bin" ContentType="image/png"/>
  <Override PartName="/ppt/media/image10.bin" ContentType="image/png"/>
  <Override PartName="/ppt/media/image100.bin" ContentType="image/jpeg"/>
  <Override PartName="/ppt/media/image101.bin" ContentType="image/png"/>
  <Override PartName="/ppt/media/image102.bin" ContentType="image/png"/>
  <Override PartName="/ppt/media/image103.bin" ContentType="image/png"/>
  <Override PartName="/ppt/media/image104.bin" ContentType="image/png"/>
  <Override PartName="/ppt/media/image105.bin" ContentType="image/png"/>
  <Override PartName="/ppt/media/image106.bin" ContentType="image/jpeg"/>
  <Override PartName="/ppt/media/image107.bin" ContentType="image/png"/>
  <Override PartName="/ppt/media/image108.bin" ContentType="image/png"/>
  <Override PartName="/ppt/media/image109.bin" ContentType="image/png"/>
  <Override PartName="/ppt/media/image11.bin" ContentType="image/jpeg"/>
  <Override PartName="/ppt/media/image110.bin" ContentType="image/jpeg"/>
  <Override PartName="/ppt/media/image111.bin" ContentType="image/png"/>
  <Override PartName="/ppt/media/image112.bin" ContentType="image/png"/>
  <Override PartName="/ppt/media/image113.bin" ContentType="image/png"/>
  <Override PartName="/ppt/media/image114.bin" ContentType="image/png"/>
  <Override PartName="/ppt/media/image115.bin" ContentType="image/jpeg"/>
  <Override PartName="/ppt/media/image116.bin" ContentType="image/png"/>
  <Override PartName="/ppt/media/image117.bin" ContentType="image/png"/>
  <Override PartName="/ppt/media/image118.bin" ContentType="image/png"/>
  <Override PartName="/ppt/media/image119.bin" ContentType="image/jpeg"/>
  <Override PartName="/ppt/media/image12.bin" ContentType="image/png"/>
  <Override PartName="/ppt/media/image120.bin" ContentType="image/png"/>
  <Override PartName="/ppt/media/image121.bin" ContentType="image/png"/>
  <Override PartName="/ppt/media/image122.bin" ContentType="image/png"/>
  <Override PartName="/ppt/media/image123.bin" ContentType="image/png"/>
  <Override PartName="/ppt/media/image124.bin" ContentType="image/png"/>
  <Override PartName="/ppt/media/image125.bin" ContentType="image/png"/>
  <Override PartName="/ppt/media/image126.bin" ContentType="image/png"/>
  <Override PartName="/ppt/media/image127.bin" ContentType="image/png"/>
  <Override PartName="/ppt/media/image128.bin" ContentType="image/png"/>
  <Override PartName="/ppt/media/image129.bin" ContentType="image/png"/>
  <Override PartName="/ppt/media/image13.bin" ContentType="image/jpeg"/>
  <Override PartName="/ppt/media/image130.bin" ContentType="image/png"/>
  <Override PartName="/ppt/media/image131.bin" ContentType="image/png"/>
  <Override PartName="/ppt/media/image132.bin" ContentType="image/png"/>
  <Override PartName="/ppt/media/image133.bin" ContentType="image/png"/>
  <Override PartName="/ppt/media/image134.bin" ContentType="image/png"/>
  <Override PartName="/ppt/media/image135.bin" ContentType="image/png"/>
  <Override PartName="/ppt/media/image136.bin" ContentType="image/png"/>
  <Override PartName="/ppt/media/image137.bin" ContentType="image/png"/>
  <Override PartName="/ppt/media/image138.bin" ContentType="image/png"/>
  <Override PartName="/ppt/media/image139.bin" ContentType="image/png"/>
  <Override PartName="/ppt/media/image14.bin" ContentType="image/png"/>
  <Override PartName="/ppt/media/image140.bin" ContentType="image/png"/>
  <Override PartName="/ppt/media/image141.bin" ContentType="image/png"/>
  <Override PartName="/ppt/media/image142.bin" ContentType="image/png"/>
  <Override PartName="/ppt/media/image143.bin" ContentType="image/png"/>
  <Override PartName="/ppt/media/image144.bin" ContentType="image/png"/>
  <Override PartName="/ppt/media/image145.bin" ContentType="image/png"/>
  <Override PartName="/ppt/media/image146.bin" ContentType="image/png"/>
  <Override PartName="/ppt/media/image147.bin" ContentType="image/png"/>
  <Override PartName="/ppt/media/image148.bin" ContentType="image/png"/>
  <Override PartName="/ppt/media/image149.bin" ContentType="image/png"/>
  <Override PartName="/ppt/media/image15.bin" ContentType="image/jpeg"/>
  <Override PartName="/ppt/media/image150.bin" ContentType="image/png"/>
  <Override PartName="/ppt/media/image151.bin" ContentType="image/png"/>
  <Override PartName="/ppt/media/image152.bin" ContentType="image/png"/>
  <Override PartName="/ppt/media/image153.bin" ContentType="image/png"/>
  <Override PartName="/ppt/media/image154.bin" ContentType="image/png"/>
  <Override PartName="/ppt/media/image155.bin" ContentType="image/png"/>
  <Override PartName="/ppt/media/image157.bin" ContentType="image/jpeg"/>
  <Override PartName="/ppt/media/image158.bin" ContentType="image/png"/>
  <Override PartName="/ppt/media/image159.bin" ContentType="image/png"/>
  <Override PartName="/ppt/media/image16.bin" ContentType="image/png"/>
  <Override PartName="/ppt/media/image160.bin" ContentType="image/png"/>
  <Override PartName="/ppt/media/image161.bin" ContentType="image/png"/>
  <Override PartName="/ppt/media/image162.bin" ContentType="image/png"/>
  <Override PartName="/ppt/media/image163.bin" ContentType="image/png"/>
  <Override PartName="/ppt/media/image166.bin" ContentType="image/jpeg"/>
  <Override PartName="/ppt/media/image167.bin" ContentType="image/png"/>
  <Override PartName="/ppt/media/image17.bin" ContentType="image/jpeg"/>
  <Override PartName="/ppt/media/image18.bin" ContentType="image/png"/>
  <Override PartName="/ppt/media/image19.bin" ContentType="image/jpeg"/>
  <Override PartName="/ppt/media/image2.bin" ContentType="image/jpeg"/>
  <Override PartName="/ppt/media/image20.bin" ContentType="image/png"/>
  <Override PartName="/ppt/media/image21.bin" ContentType="image/png"/>
  <Override PartName="/ppt/media/image22.bin" ContentType="image/png"/>
  <Override PartName="/ppt/media/image23.bin" ContentType="image/png"/>
  <Override PartName="/ppt/media/image24.bin" ContentType="image/png"/>
  <Override PartName="/ppt/media/image25.bin" ContentType="image/png"/>
  <Override PartName="/ppt/media/image26.bin" ContentType="image/png"/>
  <Override PartName="/ppt/media/image27.bin" ContentType="image/png"/>
  <Override PartName="/ppt/media/image28.bin" ContentType="image/png"/>
  <Override PartName="/ppt/media/image29.bin" ContentType="image/png"/>
  <Override PartName="/ppt/media/image3.bin" ContentType="image/png"/>
  <Override PartName="/ppt/media/image30.bin" ContentType="image/png"/>
  <Override PartName="/ppt/media/image31.bin" ContentType="image/png"/>
  <Override PartName="/ppt/media/image32.bin" ContentType="image/png"/>
  <Override PartName="/ppt/media/image34.bin" ContentType="image/png"/>
  <Override PartName="/ppt/media/image35.bin" ContentType="image/png"/>
  <Override PartName="/ppt/media/image36.bin" ContentType="image/png"/>
  <Override PartName="/ppt/media/image37.bin" ContentType="image/png"/>
  <Override PartName="/ppt/media/image38.bin" ContentType="image/png"/>
  <Override PartName="/ppt/media/image39.bin" ContentType="image/png"/>
  <Override PartName="/ppt/media/image4.bin" ContentType="image/jpeg"/>
  <Override PartName="/ppt/media/image40.bin" ContentType="image/png"/>
  <Override PartName="/ppt/media/image41.bin" ContentType="image/png"/>
  <Override PartName="/ppt/media/image42.bin" ContentType="image/png"/>
  <Override PartName="/ppt/media/image43.bin" ContentType="image/png"/>
  <Override PartName="/ppt/media/image44.bin" ContentType="image/png"/>
  <Override PartName="/ppt/media/image45.bin" ContentType="image/png"/>
  <Override PartName="/ppt/media/image46.bin" ContentType="image/png"/>
  <Override PartName="/ppt/media/image47.bin" ContentType="image/png"/>
  <Override PartName="/ppt/media/image48.bin" ContentType="image/png"/>
  <Override PartName="/ppt/media/image49.bin" ContentType="image/png"/>
  <Override PartName="/ppt/media/image5.bin" ContentType="image/jpeg"/>
  <Override PartName="/ppt/media/image50.bin" ContentType="image/png"/>
  <Override PartName="/ppt/media/image51.bin" ContentType="image/png"/>
  <Override PartName="/ppt/media/image52.bin" ContentType="image/png"/>
  <Override PartName="/ppt/media/image53.bin" ContentType="image/png"/>
  <Override PartName="/ppt/media/image54.bin" ContentType="image/png"/>
  <Override PartName="/ppt/media/image55.bin" ContentType="image/png"/>
  <Override PartName="/ppt/media/image56.bin" ContentType="image/png"/>
  <Override PartName="/ppt/media/image57.bin" ContentType="image/png"/>
  <Override PartName="/ppt/media/image58.bin" ContentType="image/png"/>
  <Override PartName="/ppt/media/image59.bin" ContentType="image/png"/>
  <Override PartName="/ppt/media/image6.bin" ContentType="image/png"/>
  <Override PartName="/ppt/media/image60.bin" ContentType="image/png"/>
  <Override PartName="/ppt/media/image61.bin" ContentType="image/png"/>
  <Override PartName="/ppt/media/image62.bin" ContentType="image/png"/>
  <Override PartName="/ppt/media/image63.bin" ContentType="image/png"/>
  <Override PartName="/ppt/media/image64.bin" ContentType="image/jpeg"/>
  <Override PartName="/ppt/media/image65.bin" ContentType="image/png"/>
  <Override PartName="/ppt/media/image66.bin" ContentType="image/png"/>
  <Override PartName="/ppt/media/image67.bin" ContentType="image/png"/>
  <Override PartName="/ppt/media/image68.bin" ContentType="image/jpeg"/>
  <Override PartName="/ppt/media/image69.bin" ContentType="image/png"/>
  <Override PartName="/ppt/media/image7.bin" ContentType="image/png"/>
  <Override PartName="/ppt/media/image70.bin" ContentType="image/png"/>
  <Override PartName="/ppt/media/image71.bin" ContentType="image/jpeg"/>
  <Override PartName="/ppt/media/image72.bin" ContentType="image/png"/>
  <Override PartName="/ppt/media/image73.bin" ContentType="image/png"/>
  <Override PartName="/ppt/media/image74.bin" ContentType="image/jpeg"/>
  <Override PartName="/ppt/media/image75.bin" ContentType="image/png"/>
  <Override PartName="/ppt/media/image76.bin" ContentType="image/png"/>
  <Override PartName="/ppt/media/image77.bin" ContentType="image/jpeg"/>
  <Override PartName="/ppt/media/image78.bin" ContentType="image/png"/>
  <Override PartName="/ppt/media/image79.bin" ContentType="image/png"/>
  <Override PartName="/ppt/media/image8.bin" ContentType="image/png"/>
  <Override PartName="/ppt/media/image80.bin" ContentType="image/png"/>
  <Override PartName="/ppt/media/image81.bin" ContentType="image/png"/>
  <Override PartName="/ppt/media/image82.bin" ContentType="image/png"/>
  <Override PartName="/ppt/media/image83.bin" ContentType="image/png"/>
  <Override PartName="/ppt/media/image84.bin" ContentType="image/png"/>
  <Override PartName="/ppt/media/image85.bin" ContentType="image/png"/>
  <Override PartName="/ppt/media/image86.bin" ContentType="image/png"/>
  <Override PartName="/ppt/media/image87.bin" ContentType="image/png"/>
  <Override PartName="/ppt/media/image88.bin" ContentType="image/png"/>
  <Override PartName="/ppt/media/image89.bin" ContentType="image/png"/>
  <Override PartName="/ppt/media/image9.bin" ContentType="image/png"/>
  <Override PartName="/ppt/media/image90.bin" ContentType="image/png"/>
  <Override PartName="/ppt/media/image91.bin" ContentType="image/png"/>
  <Override PartName="/ppt/media/image92.bin" ContentType="image/png"/>
  <Override PartName="/ppt/media/image93.bin" ContentType="image/png"/>
  <Override PartName="/ppt/media/image94.bin" ContentType="image/png"/>
  <Override PartName="/ppt/media/image95.bin" ContentType="image/png"/>
  <Override PartName="/ppt/media/image96.bin" ContentType="image/png"/>
  <Override PartName="/ppt/media/image97.bin" ContentType="image/png"/>
  <Override PartName="/ppt/media/image98.bin" ContentType="image/png"/>
  <Override PartName="/ppt/media/image99.bin" ContentType="image/pn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72" r:id="rId1"/>
  </p:sldMasterIdLst>
  <p:sldIdLst>
    <p:sldId id="301" r:id="rId2"/>
    <p:sldId id="310" r:id="rId3"/>
    <p:sldId id="1386" r:id="rId49"/>
    <p:sldId id="342" r:id="rId4"/>
    <p:sldId id="352" r:id="rId5"/>
    <p:sldId id="377" r:id="rId6"/>
    <p:sldId id="1381" r:id="rId7"/>
    <p:sldId id="1380" r:id="rId8"/>
    <p:sldId id="1383" r:id="rId9"/>
    <p:sldId id="409" r:id="rId10"/>
    <p:sldId id="429" r:id="rId11"/>
    <p:sldId id="449" r:id="rId12"/>
    <p:sldId id="489" r:id="rId13"/>
    <p:sldId id="509" r:id="rId14"/>
    <p:sldId id="535" r:id="rId15"/>
    <p:sldId id="575" r:id="rId16"/>
    <p:sldId id="594" r:id="rId17"/>
    <p:sldId id="617" r:id="rId18"/>
    <p:sldId id="642" r:id="rId19"/>
    <p:sldId id="667" r:id="rId20"/>
    <p:sldId id="688" r:id="rId21"/>
    <p:sldId id="705" r:id="rId22"/>
    <p:sldId id="751" r:id="rId23"/>
    <p:sldId id="789" r:id="rId24"/>
    <p:sldId id="813" r:id="rId25"/>
    <p:sldId id="837" r:id="rId26"/>
    <p:sldId id="1387" r:id="rId50"/>
    <p:sldId id="1388" r:id="rId51"/>
    <p:sldId id="941" r:id="rId27"/>
    <p:sldId id="977" r:id="rId28"/>
    <p:sldId id="1033" r:id="rId29"/>
    <p:sldId id="1053" r:id="rId30"/>
    <p:sldId id="1109" r:id="rId31"/>
    <p:sldId id="1385" r:id="rId32"/>
    <p:sldId id="1384" r:id="rId33"/>
    <p:sldId id="1163" r:id="rId34"/>
    <p:sldId id="1184" r:id="rId35"/>
    <p:sldId id="1268" r:id="rId36"/>
    <p:sldId id="1285" r:id="rId37"/>
    <p:sldId id="1378" r:id="rId38"/>
  </p:sldIdLst>
  <p:sldSz cx="18288000" cy="10287000"/>
  <p:notesSz cx="18288000" cy="10287000"/>
  <p:embeddedFontLst>
    <p:embeddedFont>
      <p:font typeface="Montserrat" panose="00000500000000000000" pitchFamily="2" charset="0"/>
      <p:regular r:id="rId39"/>
      <p:bold r:id="rId40"/>
      <p:italic r:id="rId41"/>
      <p:boldItalic r:id="rId42"/>
    </p:embeddedFont>
    <p:embeddedFont>
      <p:font typeface="Montserrat Light" panose="00000400000000000000" pitchFamily="2" charset="0"/>
      <p:regular r:id="rId43"/>
      <p:italic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234"/>
    <a:srgbClr val="2E0C54"/>
    <a:srgbClr val="4311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5" d="100"/>
          <a:sy n="55" d="100"/>
        </p:scale>
        <p:origin x="64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font" Target="fonts/font1.fntdata"/><Relationship Id="rId40" Type="http://schemas.openxmlformats.org/officeDocument/2006/relationships/font" Target="fonts/font2.fntdata"/><Relationship Id="rId41" Type="http://schemas.openxmlformats.org/officeDocument/2006/relationships/font" Target="fonts/font3.fntdata"/><Relationship Id="rId42" Type="http://schemas.openxmlformats.org/officeDocument/2006/relationships/font" Target="fonts/font4.fntdata"/><Relationship Id="rId43" Type="http://schemas.openxmlformats.org/officeDocument/2006/relationships/font" Target="fonts/font5.fntdata"/><Relationship Id="rId44" Type="http://schemas.openxmlformats.org/officeDocument/2006/relationships/font" Target="fonts/font6.fntdata"/><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d.docs.live.net/bd15a8c33672c014/Documents/PRODUCT%20%20%20%20VALUE%20AND%20%20EXPENSE.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d.docs.live.net/bd15a8c33672c014/Documents/PRODUCT%20%20%20%20VALUE%20AND%20%20EXPENSE.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d.docs.live.net/bd15a8c33672c014/Documents/PRODUCT%20%20%20%20VALUE%20AND%20%20EXPENSE.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https://d.docs.live.net/bd15a8c33672c014/Documents/PRODUCT%20%20%20%20VALUE%20AND%20%20EXPENSE.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https://d.docs.live.net/bd15a8c33672c014/Documents/PRODUCT%20%20%20%20VALUE%20AND%20%20EXPENSE.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d.docs.live.net/bd15a8c33672c014/Desktop/Presentation%20Data.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https://d.docs.live.net/bd15a8c33672c014/Desktop/Presentation%20Data.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https://d.docs.live.net/bd15a8c33672c014/Desktop/Presentation%20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IN" sz="1600" b="1" i="0" u="none" strike="noStrike" kern="1200" cap="all" spc="120" normalizeH="0" baseline="0">
                <a:solidFill>
                  <a:schemeClr val="bg1"/>
                </a:solidFill>
                <a:latin typeface="+mn-lt"/>
                <a:ea typeface="+mn-ea"/>
                <a:cs typeface="+mn-cs"/>
              </a:defRPr>
            </a:pPr>
            <a:r>
              <a:rPr lang="en-IN" sz="1600" b="1" i="0" u="none" strike="noStrike" kern="1200" cap="all" spc="120" normalizeH="0" baseline="0">
                <a:solidFill>
                  <a:schemeClr val="bg1"/>
                </a:solidFill>
                <a:latin typeface="+mn-lt"/>
                <a:ea typeface="+mn-ea"/>
                <a:cs typeface="+mn-cs"/>
              </a:rPr>
              <a:t>Historic Data</a:t>
            </a:r>
          </a:p>
        </c:rich>
      </c:tx>
      <c:overlay val="0"/>
      <c:spPr>
        <a:noFill/>
        <a:ln>
          <a:noFill/>
        </a:ln>
        <a:effectLst/>
      </c:spPr>
      <c:txPr>
        <a:bodyPr rot="0" spcFirstLastPara="1" vertOverflow="ellipsis" vert="horz" wrap="square" anchor="ctr" anchorCtr="1"/>
        <a:lstStyle/>
        <a:p>
          <a:pPr algn="ctr" rtl="0">
            <a:defRPr lang="en-IN" sz="1600" b="1" i="0" u="none" strike="noStrike" kern="1200" cap="all" spc="120" normalizeH="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'Projections-Without Funding (2)'!$A$3</c:f>
              <c:strCache>
                <c:ptCount val="1"/>
                <c:pt idx="0">
                  <c:v>FY 2021-2022</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(2)'!$C$3,'Projections-Without Funding (2)'!$E$3,'Projections-Without Funding (2)'!$G$3)</c:f>
              <c:numCache>
                <c:formatCode>0%</c:formatCode>
                <c:ptCount val="3"/>
                <c:pt idx="0">
                  <c:v>0.33979015334947538</c:v>
                </c:pt>
                <c:pt idx="1">
                  <c:v>0.26795803066989504</c:v>
                </c:pt>
                <c:pt idx="2">
                  <c:v>0.28410008071025017</c:v>
                </c:pt>
              </c:numCache>
              <c:extLst/>
            </c:numRef>
          </c:val>
          <c:extLst>
            <c:ext xmlns:c16="http://schemas.microsoft.com/office/drawing/2014/chart" uri="{C3380CC4-5D6E-409C-BE32-E72D297353CC}">
              <c16:uniqueId val="{00000000-5437-4EDD-AC3B-5965E83C8FD6}"/>
            </c:ext>
          </c:extLst>
        </c:ser>
        <c:ser>
          <c:idx val="1"/>
          <c:order val="1"/>
          <c:tx>
            <c:strRef>
              <c:f>'Projections-Without Funding (2)'!$A$4</c:f>
              <c:strCache>
                <c:ptCount val="1"/>
                <c:pt idx="0">
                  <c:v>FY 2022-2023</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(2)'!$C$4,'Projections-Without Funding (2)'!$E$4,'Projections-Without Funding (2)'!$G$4)</c:f>
              <c:numCache>
                <c:formatCode>0%</c:formatCode>
                <c:ptCount val="3"/>
                <c:pt idx="0">
                  <c:v>0.32173913043478264</c:v>
                </c:pt>
                <c:pt idx="1">
                  <c:v>0.29402173913043483</c:v>
                </c:pt>
                <c:pt idx="2">
                  <c:v>0.32391304347826089</c:v>
                </c:pt>
              </c:numCache>
              <c:extLst/>
            </c:numRef>
          </c:val>
          <c:extLst>
            <c:ext xmlns:c16="http://schemas.microsoft.com/office/drawing/2014/chart" uri="{C3380CC4-5D6E-409C-BE32-E72D297353CC}">
              <c16:uniqueId val="{00000001-5437-4EDD-AC3B-5965E83C8FD6}"/>
            </c:ext>
          </c:extLst>
        </c:ser>
        <c:ser>
          <c:idx val="2"/>
          <c:order val="2"/>
          <c:tx>
            <c:strRef>
              <c:f>'Projections-Without Funding (2)'!$A$5</c:f>
              <c:strCache>
                <c:ptCount val="1"/>
                <c:pt idx="0">
                  <c:v>FY 2023-2024</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(2)'!$C$2,'Projections-Without Funding (2)'!$E$2,'Projections-Without Funding (2)'!$G$2)</c:f>
              <c:strCache>
                <c:ptCount val="3"/>
                <c:pt idx="0">
                  <c:v>Vertical Auto Door</c:v>
                </c:pt>
                <c:pt idx="1">
                  <c:v>Hydraulics</c:v>
                </c:pt>
                <c:pt idx="2">
                  <c:v>Car Parking</c:v>
                </c:pt>
              </c:strCache>
              <c:extLst/>
            </c:strRef>
          </c:cat>
          <c:val>
            <c:numRef>
              <c:f>('Projections-Without Funding (2)'!$C$5,'Projections-Without Funding (2)'!$E$5,'Projections-Without Funding (2)'!$G$5)</c:f>
              <c:numCache>
                <c:formatCode>0%</c:formatCode>
                <c:ptCount val="3"/>
                <c:pt idx="0">
                  <c:v>0.40069686411149824</c:v>
                </c:pt>
                <c:pt idx="1">
                  <c:v>0.44425087108013939</c:v>
                </c:pt>
                <c:pt idx="2">
                  <c:v>5.4006968641114983E-2</c:v>
                </c:pt>
              </c:numCache>
              <c:extLst/>
            </c:numRef>
          </c:val>
          <c:extLst>
            <c:ext xmlns:c16="http://schemas.microsoft.com/office/drawing/2014/chart" uri="{C3380CC4-5D6E-409C-BE32-E72D297353CC}">
              <c16:uniqueId val="{00000002-5437-4EDD-AC3B-5965E83C8FD6}"/>
            </c:ext>
          </c:extLst>
        </c:ser>
        <c:dLbls>
          <c:dLblPos val="outEnd"/>
          <c:showLegendKey val="0"/>
          <c:showVal val="1"/>
          <c:showCatName val="0"/>
          <c:showSerName val="0"/>
          <c:showPercent val="0"/>
          <c:showBubbleSize val="0"/>
        </c:dLbls>
        <c:gapWidth val="444"/>
        <c:overlap val="-90"/>
        <c:axId val="965578864"/>
        <c:axId val="965580304"/>
      </c:barChart>
      <c:catAx>
        <c:axId val="965578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0" i="0" u="none" strike="noStrike" kern="1200" cap="all" spc="120" normalizeH="0" baseline="0">
                <a:solidFill>
                  <a:schemeClr val="bg1"/>
                </a:solidFill>
                <a:latin typeface="+mn-lt"/>
                <a:ea typeface="+mn-ea"/>
                <a:cs typeface="+mn-cs"/>
              </a:defRPr>
            </a:pPr>
            <a:endParaRPr lang="en-US"/>
          </a:p>
        </c:txPr>
        <c:crossAx val="965580304"/>
        <c:crosses val="autoZero"/>
        <c:auto val="1"/>
        <c:lblAlgn val="ctr"/>
        <c:lblOffset val="100"/>
        <c:noMultiLvlLbl val="0"/>
      </c:catAx>
      <c:valAx>
        <c:axId val="965580304"/>
        <c:scaling>
          <c:orientation val="minMax"/>
        </c:scaling>
        <c:delete val="1"/>
        <c:axPos val="l"/>
        <c:numFmt formatCode="0%" sourceLinked="1"/>
        <c:majorTickMark val="none"/>
        <c:minorTickMark val="none"/>
        <c:tickLblPos val="nextTo"/>
        <c:crossAx val="9655788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lang="en-US"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a:solidFill>
                  <a:schemeClr val="bg1"/>
                </a:solidFill>
              </a:rPr>
              <a:t>Historic</a:t>
            </a:r>
            <a:r>
              <a:rPr lang="en-IN" baseline="0">
                <a:solidFill>
                  <a:schemeClr val="bg1"/>
                </a:solidFill>
              </a:rPr>
              <a:t> Data</a:t>
            </a:r>
            <a:endParaRPr lang="en-IN">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'[PRODUCT    VALUE AND  EXPENSE.xlsx]Projections-Without Funding (2)'!$A$3</c:f>
              <c:strCache>
                <c:ptCount val="1"/>
                <c:pt idx="0">
                  <c:v>FY 2021-2022</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(2)'!$B$3,'[PRODUCT    VALUE AND  EXPENSE.xlsx]Projections-Without Funding (2)'!$D$3,'[PRODUCT    VALUE AND  EXPENSE.xlsx]Projections-Without Funding (2)'!$F$3,'[PRODUCT    VALUE AND  EXPENSE.xlsx]Projections-Without Funding (2)'!$Q$3</c:f>
              <c:numCache>
                <c:formatCode>"₹"\ #,##0.00</c:formatCode>
                <c:ptCount val="4"/>
                <c:pt idx="0">
                  <c:v>4.21</c:v>
                </c:pt>
                <c:pt idx="1">
                  <c:v>3.32</c:v>
                </c:pt>
                <c:pt idx="2">
                  <c:v>3.52</c:v>
                </c:pt>
              </c:numCache>
            </c:numRef>
          </c:val>
          <c:extLst>
            <c:ext xmlns:c16="http://schemas.microsoft.com/office/drawing/2014/chart" uri="{C3380CC4-5D6E-409C-BE32-E72D297353CC}">
              <c16:uniqueId val="{00000000-8D0C-480D-9DC0-EB47148D91FD}"/>
            </c:ext>
          </c:extLst>
        </c:ser>
        <c:ser>
          <c:idx val="1"/>
          <c:order val="1"/>
          <c:tx>
            <c:strRef>
              <c:f>'[PRODUCT    VALUE AND  EXPENSE.xlsx]Projections-Without Funding (2)'!$A$4</c:f>
              <c:strCache>
                <c:ptCount val="1"/>
                <c:pt idx="0">
                  <c:v>FY 2022-2023</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(2)'!$B$4,'[PRODUCT    VALUE AND  EXPENSE.xlsx]Projections-Without Funding (2)'!$D$4,'[PRODUCT    VALUE AND  EXPENSE.xlsx]Projections-Without Funding (2)'!$F$4,'[PRODUCT    VALUE AND  EXPENSE.xlsx]Projections-Without Funding (2)'!$Q$4</c:f>
              <c:numCache>
                <c:formatCode>"₹"\ #,##0.00</c:formatCode>
                <c:ptCount val="4"/>
                <c:pt idx="0">
                  <c:v>5.92</c:v>
                </c:pt>
                <c:pt idx="1">
                  <c:v>5.41</c:v>
                </c:pt>
                <c:pt idx="2">
                  <c:v>5.96</c:v>
                </c:pt>
              </c:numCache>
            </c:numRef>
          </c:val>
          <c:extLst>
            <c:ext xmlns:c16="http://schemas.microsoft.com/office/drawing/2014/chart" uri="{C3380CC4-5D6E-409C-BE32-E72D297353CC}">
              <c16:uniqueId val="{00000001-8D0C-480D-9DC0-EB47148D91FD}"/>
            </c:ext>
          </c:extLst>
        </c:ser>
        <c:ser>
          <c:idx val="2"/>
          <c:order val="2"/>
          <c:tx>
            <c:strRef>
              <c:f>'[PRODUCT    VALUE AND  EXPENSE.xlsx]Projections-Without Funding (2)'!$A$5</c:f>
              <c:strCache>
                <c:ptCount val="1"/>
                <c:pt idx="0">
                  <c:v>FY 2023-2024</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(2)'!$B$2,'[PRODUCT    VALUE AND  EXPENSE.xlsx]Projections-Without Funding (2)'!$D$2,'[PRODUCT    VALUE AND  EXPENSE.xlsx]Projections-Without Funding (2)'!$F$2,'[PRODUCT    VALUE AND  EXPENSE.xlsx]Projections-Without Funding (2)'!$Q$2</c:f>
              <c:strCache>
                <c:ptCount val="4"/>
                <c:pt idx="0">
                  <c:v>Vertical Auto Door</c:v>
                </c:pt>
                <c:pt idx="1">
                  <c:v>Hydraulics</c:v>
                </c:pt>
                <c:pt idx="2">
                  <c:v>Car Parking</c:v>
                </c:pt>
                <c:pt idx="3">
                  <c:v>Cylinders</c:v>
                </c:pt>
              </c:strCache>
            </c:strRef>
          </c:cat>
          <c:val>
            <c:numRef>
              <c:f>'[PRODUCT    VALUE AND  EXPENSE.xlsx]Projections-Without Funding (2)'!$B$5,'[PRODUCT    VALUE AND  EXPENSE.xlsx]Projections-Without Funding (2)'!$D$5,'[PRODUCT    VALUE AND  EXPENSE.xlsx]Projections-Without Funding (2)'!$F$5,'[PRODUCT    VALUE AND  EXPENSE.xlsx]Projections-Without Funding (2)'!$Q$5</c:f>
              <c:numCache>
                <c:formatCode>"₹"\ #,##0.00</c:formatCode>
                <c:ptCount val="4"/>
                <c:pt idx="0">
                  <c:v>11.5</c:v>
                </c:pt>
                <c:pt idx="1">
                  <c:v>12.75</c:v>
                </c:pt>
                <c:pt idx="2">
                  <c:v>1.55</c:v>
                </c:pt>
                <c:pt idx="3">
                  <c:v>1.65</c:v>
                </c:pt>
              </c:numCache>
            </c:numRef>
          </c:val>
          <c:extLst>
            <c:ext xmlns:c16="http://schemas.microsoft.com/office/drawing/2014/chart" uri="{C3380CC4-5D6E-409C-BE32-E72D297353CC}">
              <c16:uniqueId val="{00000002-8D0C-480D-9DC0-EB47148D91FD}"/>
            </c:ext>
          </c:extLst>
        </c:ser>
        <c:dLbls>
          <c:dLblPos val="outEnd"/>
          <c:showLegendKey val="0"/>
          <c:showVal val="1"/>
          <c:showCatName val="0"/>
          <c:showSerName val="0"/>
          <c:showPercent val="0"/>
          <c:showBubbleSize val="0"/>
        </c:dLbls>
        <c:gapWidth val="444"/>
        <c:overlap val="-90"/>
        <c:axId val="965578864"/>
        <c:axId val="965580304"/>
      </c:barChart>
      <c:catAx>
        <c:axId val="96557886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solidFill>
                <a:latin typeface="+mn-lt"/>
                <a:ea typeface="+mn-ea"/>
                <a:cs typeface="+mn-cs"/>
              </a:defRPr>
            </a:pPr>
            <a:endParaRPr lang="en-US"/>
          </a:p>
        </c:txPr>
        <c:crossAx val="965580304"/>
        <c:crosses val="autoZero"/>
        <c:auto val="1"/>
        <c:lblAlgn val="ctr"/>
        <c:lblOffset val="100"/>
        <c:noMultiLvlLbl val="0"/>
      </c:catAx>
      <c:valAx>
        <c:axId val="965580304"/>
        <c:scaling>
          <c:orientation val="minMax"/>
        </c:scaling>
        <c:delete val="1"/>
        <c:axPos val="l"/>
        <c:numFmt formatCode="&quot;₹&quot;\ #,##0.00" sourceLinked="1"/>
        <c:majorTickMark val="none"/>
        <c:minorTickMark val="none"/>
        <c:tickLblPos val="nextTo"/>
        <c:crossAx val="965578864"/>
        <c:crosses val="autoZero"/>
        <c:crossBetween val="between"/>
      </c:valAx>
      <c:spPr>
        <a:noFill/>
        <a:ln>
          <a:noFill/>
        </a:ln>
        <a:effectLst/>
      </c:spPr>
    </c:plotArea>
    <c:legend>
      <c:legendPos val="t"/>
      <c:layout>
        <c:manualLayout>
          <c:xMode val="edge"/>
          <c:yMode val="edge"/>
          <c:x val="0.25076175304291221"/>
          <c:y val="3.7233157721597292E-2"/>
          <c:w val="0.61002814911203973"/>
          <c:h val="9.188632050839012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sz="1600" dirty="0">
                <a:solidFill>
                  <a:schemeClr val="bg1"/>
                </a:solidFill>
              </a:rPr>
              <a:t>revenue</a:t>
            </a:r>
            <a:r>
              <a:rPr lang="en-IN" sz="1600" baseline="0" dirty="0">
                <a:solidFill>
                  <a:schemeClr val="bg1"/>
                </a:solidFill>
              </a:rPr>
              <a:t> break-up – projected (in crores)</a:t>
            </a:r>
            <a:endParaRPr lang="en-IN" sz="1600" dirty="0">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dLbls>
          <c:dLblPos val="outEnd"/>
          <c:showLegendKey val="0"/>
          <c:showVal val="1"/>
          <c:showCatName val="0"/>
          <c:showSerName val="0"/>
          <c:showPercent val="0"/>
          <c:showBubbleSize val="0"/>
        </c:dLbls>
        <c:gapWidth val="444"/>
        <c:overlap val="-90"/>
        <c:axId val="965622560"/>
        <c:axId val="965624960"/>
      </c:barChart>
      <c:catAx>
        <c:axId val="965622560"/>
        <c:scaling>
          <c:orientation val="minMax"/>
        </c:scaling>
        <c:delete val="1"/>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965624960"/>
        <c:crosses val="autoZero"/>
        <c:auto val="1"/>
        <c:lblAlgn val="ctr"/>
        <c:lblOffset val="100"/>
        <c:noMultiLvlLbl val="0"/>
      </c:catAx>
      <c:valAx>
        <c:axId val="965624960"/>
        <c:scaling>
          <c:orientation val="minMax"/>
        </c:scaling>
        <c:delete val="1"/>
        <c:axPos val="l"/>
        <c:numFmt formatCode="&quot;₹&quot;\ #,##0.00" sourceLinked="1"/>
        <c:majorTickMark val="none"/>
        <c:minorTickMark val="none"/>
        <c:tickLblPos val="nextTo"/>
        <c:crossAx val="965622560"/>
        <c:crosses val="autoZero"/>
        <c:crossBetween val="between"/>
      </c:valAx>
      <c:spPr>
        <a:noFill/>
        <a:ln w="25400">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r>
              <a:rPr lang="en-IN" sz="1600" dirty="0">
                <a:solidFill>
                  <a:schemeClr val="bg1"/>
                </a:solidFill>
              </a:rPr>
              <a:t>product</a:t>
            </a:r>
            <a:r>
              <a:rPr lang="en-IN" sz="1600" baseline="0" dirty="0">
                <a:solidFill>
                  <a:schemeClr val="bg1"/>
                </a:solidFill>
              </a:rPr>
              <a:t> weightage-projected</a:t>
            </a:r>
            <a:endParaRPr lang="en-IN" sz="1600" dirty="0">
              <a:solidFill>
                <a:schemeClr val="bg1"/>
              </a:solidFill>
            </a:endParaRPr>
          </a:p>
        </c:rich>
      </c:tx>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'Projections-Without Funding (3)'!$A$3</c:f>
              <c:strCache>
                <c:ptCount val="1"/>
                <c:pt idx="0">
                  <c:v>FY 2026-2027</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(3)'!$C$3,'Projections-Without Funding (3)'!$E$3,'Projections-Without Funding (3)'!$G$3,'Projections-Without Funding (3)'!$I$3,'Projections-Without Funding (3)'!$Q$3,'Projections-Without Funding (3)'!$S$3)</c:f>
              <c:numCache>
                <c:formatCode>0.00%</c:formatCode>
                <c:ptCount val="6"/>
                <c:pt idx="0">
                  <c:v>0.15620641562064158</c:v>
                </c:pt>
                <c:pt idx="1">
                  <c:v>0.43328684332868433</c:v>
                </c:pt>
                <c:pt idx="2">
                  <c:v>7.252440725244072E-2</c:v>
                </c:pt>
                <c:pt idx="3">
                  <c:v>2.9381682938168296E-2</c:v>
                </c:pt>
                <c:pt idx="4">
                  <c:v>1.1622501162250116E-2</c:v>
                </c:pt>
                <c:pt idx="5">
                  <c:v>0.13389121338912136</c:v>
                </c:pt>
              </c:numCache>
            </c:numRef>
          </c:val>
          <c:extLst>
            <c:ext xmlns:c16="http://schemas.microsoft.com/office/drawing/2014/chart" uri="{C3380CC4-5D6E-409C-BE32-E72D297353CC}">
              <c16:uniqueId val="{00000000-22F1-42EB-BAC8-4EC6A907D339}"/>
            </c:ext>
          </c:extLst>
        </c:ser>
        <c:ser>
          <c:idx val="1"/>
          <c:order val="1"/>
          <c:tx>
            <c:strRef>
              <c:f>'Projections-Without Funding (3)'!$A$4</c:f>
              <c:strCache>
                <c:ptCount val="1"/>
                <c:pt idx="0">
                  <c:v>FY 2027-2028</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(3)'!$C$4,'Projections-Without Funding (3)'!$E$4,'Projections-Without Funding (3)'!$G$4,'Projections-Without Funding (3)'!$I$4,'Projections-Without Funding (3)'!$Q$4,'Projections-Without Funding (3)'!$S$4)</c:f>
              <c:numCache>
                <c:formatCode>0.00%</c:formatCode>
                <c:ptCount val="6"/>
                <c:pt idx="0">
                  <c:v>0.15673981191222572</c:v>
                </c:pt>
                <c:pt idx="1">
                  <c:v>0.332512315270936</c:v>
                </c:pt>
                <c:pt idx="2">
                  <c:v>7.2772055530676227E-2</c:v>
                </c:pt>
                <c:pt idx="3">
                  <c:v>6.1576354679802964E-2</c:v>
                </c:pt>
                <c:pt idx="4">
                  <c:v>2.3245002324500233E-2</c:v>
                </c:pt>
                <c:pt idx="5">
                  <c:v>0.16793551276309898</c:v>
                </c:pt>
              </c:numCache>
            </c:numRef>
          </c:val>
          <c:extLst>
            <c:ext xmlns:c16="http://schemas.microsoft.com/office/drawing/2014/chart" uri="{C3380CC4-5D6E-409C-BE32-E72D297353CC}">
              <c16:uniqueId val="{00000001-22F1-42EB-BAC8-4EC6A907D339}"/>
            </c:ext>
          </c:extLst>
        </c:ser>
        <c:ser>
          <c:idx val="2"/>
          <c:order val="2"/>
          <c:tx>
            <c:strRef>
              <c:f>'Projections-Without Funding (3)'!$A$5</c:f>
              <c:strCache>
                <c:ptCount val="1"/>
                <c:pt idx="0">
                  <c:v>FY 2028-2029</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('Projections-Without Funding (3)'!$C$2,'Projections-Without Funding (3)'!$E$2,'Projections-Without Funding (3)'!$G$2,'Projections-Without Funding (3)'!$I$2,'Projections-Without Funding (3)'!$Q$2,'Projections-Without Funding (3)'!$S$2)</c:f>
              <c:strCache>
                <c:ptCount val="6"/>
                <c:pt idx="0">
                  <c:v>Vertical Door</c:v>
                </c:pt>
                <c:pt idx="1">
                  <c:v>Hydraulics</c:v>
                </c:pt>
                <c:pt idx="2">
                  <c:v>Car Parking</c:v>
                </c:pt>
                <c:pt idx="3">
                  <c:v>Auto Doors</c:v>
                </c:pt>
                <c:pt idx="4">
                  <c:v>Dumb-Waiters</c:v>
                </c:pt>
                <c:pt idx="5">
                  <c:v>Gear Less- Kit</c:v>
                </c:pt>
              </c:strCache>
            </c:strRef>
          </c:cat>
          <c:val>
            <c:numRef>
              <c:f>('Projections-Without Funding (3)'!$C$5,'Projections-Without Funding (3)'!$E$5,'Projections-Without Funding (3)'!$G$5,'Projections-Without Funding (3)'!$I$5,'Projections-Without Funding (3)'!$Q$5,'Projections-Without Funding (3)'!$S$5)</c:f>
              <c:numCache>
                <c:formatCode>0.00%</c:formatCode>
                <c:ptCount val="6"/>
                <c:pt idx="0">
                  <c:v>0.1309880239520958</c:v>
                </c:pt>
                <c:pt idx="1">
                  <c:v>0.2572979041916168</c:v>
                </c:pt>
                <c:pt idx="2">
                  <c:v>8.1087824351297411E-2</c:v>
                </c:pt>
                <c:pt idx="3">
                  <c:v>0.12443862275449102</c:v>
                </c:pt>
                <c:pt idx="4">
                  <c:v>4.6490004649000466E-2</c:v>
                </c:pt>
                <c:pt idx="5">
                  <c:v>0.18712574850299402</c:v>
                </c:pt>
              </c:numCache>
            </c:numRef>
          </c:val>
          <c:extLst>
            <c:ext xmlns:c16="http://schemas.microsoft.com/office/drawing/2014/chart" uri="{C3380CC4-5D6E-409C-BE32-E72D297353CC}">
              <c16:uniqueId val="{00000002-22F1-42EB-BAC8-4EC6A907D339}"/>
            </c:ext>
          </c:extLst>
        </c:ser>
        <c:dLbls>
          <c:dLblPos val="outEnd"/>
          <c:showLegendKey val="0"/>
          <c:showVal val="1"/>
          <c:showCatName val="0"/>
          <c:showSerName val="0"/>
          <c:showPercent val="0"/>
          <c:showBubbleSize val="0"/>
        </c:dLbls>
        <c:gapWidth val="444"/>
        <c:overlap val="-90"/>
        <c:axId val="1108044272"/>
        <c:axId val="1108044752"/>
      </c:barChart>
      <c:catAx>
        <c:axId val="11080442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solidFill>
                <a:latin typeface="+mn-lt"/>
                <a:ea typeface="+mn-ea"/>
                <a:cs typeface="+mn-cs"/>
              </a:defRPr>
            </a:pPr>
            <a:endParaRPr lang="en-US"/>
          </a:p>
        </c:txPr>
        <c:crossAx val="1108044752"/>
        <c:crosses val="autoZero"/>
        <c:auto val="1"/>
        <c:lblAlgn val="ctr"/>
        <c:lblOffset val="100"/>
        <c:noMultiLvlLbl val="0"/>
      </c:catAx>
      <c:valAx>
        <c:axId val="1108044752"/>
        <c:scaling>
          <c:orientation val="minMax"/>
        </c:scaling>
        <c:delete val="1"/>
        <c:axPos val="l"/>
        <c:numFmt formatCode="0.00%" sourceLinked="1"/>
        <c:majorTickMark val="none"/>
        <c:minorTickMark val="none"/>
        <c:tickLblPos val="nextTo"/>
        <c:crossAx val="11080442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IN" sz="1600" b="1" i="0" u="none" strike="noStrike" kern="1200" cap="all" spc="120" normalizeH="0" baseline="0">
                <a:solidFill>
                  <a:schemeClr val="bg1"/>
                </a:solidFill>
                <a:latin typeface="+mn-lt"/>
                <a:ea typeface="+mn-ea"/>
                <a:cs typeface="+mn-cs"/>
              </a:defRPr>
            </a:pPr>
            <a:r>
              <a:rPr lang="en-IN" sz="1600" b="1" i="0" u="none" strike="noStrike" kern="1200" cap="all" spc="120" normalizeH="0" baseline="0">
                <a:solidFill>
                  <a:schemeClr val="bg1"/>
                </a:solidFill>
                <a:latin typeface="+mn-lt"/>
                <a:ea typeface="+mn-ea"/>
                <a:cs typeface="+mn-cs"/>
              </a:rPr>
              <a:t>product weightage-projected</a:t>
            </a:r>
          </a:p>
        </c:rich>
      </c:tx>
      <c:overlay val="0"/>
      <c:spPr>
        <a:noFill/>
        <a:ln>
          <a:noFill/>
        </a:ln>
        <a:effectLst/>
      </c:spPr>
      <c:txPr>
        <a:bodyPr rot="0" spcFirstLastPara="1" vertOverflow="ellipsis" vert="horz" wrap="square" anchor="ctr" anchorCtr="1"/>
        <a:lstStyle/>
        <a:p>
          <a:pPr>
            <a:defRPr lang="en-IN" sz="1600" b="1" i="0" u="none" strike="noStrike" kern="1200" cap="all" spc="120" normalizeH="0" baseline="0">
              <a:solidFill>
                <a:schemeClr val="bg1"/>
              </a:solidFill>
              <a:latin typeface="+mn-lt"/>
              <a:ea typeface="+mn-ea"/>
              <a:cs typeface="+mn-cs"/>
            </a:defRPr>
          </a:pPr>
          <a:endParaRPr lang="en-IN"/>
        </a:p>
      </c:txPr>
    </c:title>
    <c:autoTitleDeleted val="0"/>
    <c:plotArea>
      <c:layout/>
      <c:barChart>
        <c:barDir val="col"/>
        <c:grouping val="clustered"/>
        <c:varyColors val="0"/>
        <c:ser>
          <c:idx val="0"/>
          <c:order val="0"/>
          <c:tx>
            <c:strRef>
              <c:f>'[PRODUCT    VALUE AND  EXPENSE.xlsx]Projections-Without Funding (3)'!$A$3</c:f>
              <c:strCache>
                <c:ptCount val="1"/>
                <c:pt idx="0">
                  <c:v>FY 2026-2027</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(3)'!$C$3,'[PRODUCT    VALUE AND  EXPENSE.xlsx]Projections-Without Funding (3)'!$E$3,'[PRODUCT    VALUE AND  EXPENSE.xlsx]Projections-Without Funding (3)'!$G$3,'[PRODUCT    VALUE AND  EXPENSE.xlsx]Projections-Without Funding (3)'!$I$3,'[PRODUCT    VALUE AND  EXPENSE.xlsx]Projections-Without Funding (3)'!$Q$3,'[PRODUCT    VALUE AND  EXPENSE.xlsx]Projections-Without Funding (3)'!$S$3,'[PRODUCT    VALUE AND  EXPENSE.xlsx]Projections-Without Funding (3)'!$K$3,'[PRODUCT    VALUE AND  EXPENSE.xlsx]Projections-Without Funding (3)'!$O$3,'[PRODUCT    VALUE AND  EXPENSE.xlsx]Projections-Without Funding (3)'!$M$3</c:f>
              <c:numCache>
                <c:formatCode>0.00%</c:formatCode>
                <c:ptCount val="9"/>
                <c:pt idx="0">
                  <c:v>0.15620641562064158</c:v>
                </c:pt>
                <c:pt idx="1">
                  <c:v>0.43328684332868433</c:v>
                </c:pt>
                <c:pt idx="2">
                  <c:v>7.252440725244072E-2</c:v>
                </c:pt>
                <c:pt idx="3">
                  <c:v>2.9381682938168296E-2</c:v>
                </c:pt>
                <c:pt idx="4">
                  <c:v>1.1622501162250116E-2</c:v>
                </c:pt>
                <c:pt idx="5">
                  <c:v>0.13389121338912136</c:v>
                </c:pt>
                <c:pt idx="6">
                  <c:v>6.1924686192468624E-2</c:v>
                </c:pt>
                <c:pt idx="7">
                  <c:v>5.1139005113900515E-2</c:v>
                </c:pt>
                <c:pt idx="8">
                  <c:v>5.0023245002324503E-2</c:v>
                </c:pt>
              </c:numCache>
            </c:numRef>
          </c:val>
          <c:extLst>
            <c:ext xmlns:c16="http://schemas.microsoft.com/office/drawing/2014/chart" uri="{C3380CC4-5D6E-409C-BE32-E72D297353CC}">
              <c16:uniqueId val="{00000000-59F3-4389-A1A9-3015730209A4}"/>
            </c:ext>
          </c:extLst>
        </c:ser>
        <c:ser>
          <c:idx val="1"/>
          <c:order val="1"/>
          <c:tx>
            <c:strRef>
              <c:f>'[PRODUCT    VALUE AND  EXPENSE.xlsx]Projections-Without Funding (3)'!$A$4</c:f>
              <c:strCache>
                <c:ptCount val="1"/>
                <c:pt idx="0">
                  <c:v>FY 2027-2028</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(3)'!$C$4,'[PRODUCT    VALUE AND  EXPENSE.xlsx]Projections-Without Funding (3)'!$E$4,'[PRODUCT    VALUE AND  EXPENSE.xlsx]Projections-Without Funding (3)'!$G$4,'[PRODUCT    VALUE AND  EXPENSE.xlsx]Projections-Without Funding (3)'!$I$4,'[PRODUCT    VALUE AND  EXPENSE.xlsx]Projections-Without Funding (3)'!$Q$4,'[PRODUCT    VALUE AND  EXPENSE.xlsx]Projections-Without Funding (3)'!$S$4,'[PRODUCT    VALUE AND  EXPENSE.xlsx]Projections-Without Funding (3)'!$K$4,'[PRODUCT    VALUE AND  EXPENSE.xlsx]Projections-Without Funding (3)'!$O$4,'[PRODUCT    VALUE AND  EXPENSE.xlsx]Projections-Without Funding (3)'!$M$4</c:f>
              <c:numCache>
                <c:formatCode>0.00%</c:formatCode>
                <c:ptCount val="9"/>
                <c:pt idx="0">
                  <c:v>0.15673981191222572</c:v>
                </c:pt>
                <c:pt idx="1">
                  <c:v>0.332512315270936</c:v>
                </c:pt>
                <c:pt idx="2">
                  <c:v>7.2772055530676227E-2</c:v>
                </c:pt>
                <c:pt idx="3">
                  <c:v>6.1576354679802964E-2</c:v>
                </c:pt>
                <c:pt idx="4">
                  <c:v>2.3245002324500233E-2</c:v>
                </c:pt>
                <c:pt idx="5">
                  <c:v>0.16793551276309898</c:v>
                </c:pt>
                <c:pt idx="6">
                  <c:v>6.1800268696820419E-2</c:v>
                </c:pt>
                <c:pt idx="7">
                  <c:v>9.2980009298000932E-2</c:v>
                </c:pt>
                <c:pt idx="8">
                  <c:v>7.6690550828481863E-2</c:v>
                </c:pt>
              </c:numCache>
            </c:numRef>
          </c:val>
          <c:extLst>
            <c:ext xmlns:c16="http://schemas.microsoft.com/office/drawing/2014/chart" uri="{C3380CC4-5D6E-409C-BE32-E72D297353CC}">
              <c16:uniqueId val="{00000001-59F3-4389-A1A9-3015730209A4}"/>
            </c:ext>
          </c:extLst>
        </c:ser>
        <c:ser>
          <c:idx val="2"/>
          <c:order val="2"/>
          <c:tx>
            <c:strRef>
              <c:f>'[PRODUCT    VALUE AND  EXPENSE.xlsx]Projections-Without Funding (3)'!$A$5</c:f>
              <c:strCache>
                <c:ptCount val="1"/>
                <c:pt idx="0">
                  <c:v>FY 2028-2029</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'[PRODUCT    VALUE AND  EXPENSE.xlsx]Projections-Without Funding (3)'!$C$2,'[PRODUCT    VALUE AND  EXPENSE.xlsx]Projections-Without Funding (3)'!$E$2,'[PRODUCT    VALUE AND  EXPENSE.xlsx]Projections-Without Funding (3)'!$G$2,'[PRODUCT    VALUE AND  EXPENSE.xlsx]Projections-Without Funding (3)'!$I$2,'[PRODUCT    VALUE AND  EXPENSE.xlsx]Projections-Without Funding (3)'!$Q$2,'[PRODUCT    VALUE AND  EXPENSE.xlsx]Projections-Without Funding (3)'!$S$2,'[PRODUCT    VALUE AND  EXPENSE.xlsx]Projections-Without Funding (3)'!$K$2,'[PRODUCT    VALUE AND  EXPENSE.xlsx]Projections-Without Funding (3)'!$O$2,'[PRODUCT    VALUE AND  EXPENSE.xlsx]Projections-Without Funding (3)'!$M$2</c:f>
              <c:strCache>
                <c:ptCount val="9"/>
                <c:pt idx="0">
                  <c:v>Vertical Door</c:v>
                </c:pt>
                <c:pt idx="1">
                  <c:v>Hydraulics</c:v>
                </c:pt>
                <c:pt idx="2">
                  <c:v>Car Parking</c:v>
                </c:pt>
                <c:pt idx="3">
                  <c:v>Auto Doors</c:v>
                </c:pt>
                <c:pt idx="4">
                  <c:v>Dumb-Waiters</c:v>
                </c:pt>
                <c:pt idx="5">
                  <c:v>Gear Less- Kit</c:v>
                </c:pt>
                <c:pt idx="6">
                  <c:v>Car Frames</c:v>
                </c:pt>
                <c:pt idx="7">
                  <c:v>Cabins</c:v>
                </c:pt>
                <c:pt idx="8">
                  <c:v>Misc.</c:v>
                </c:pt>
              </c:strCache>
            </c:strRef>
          </c:cat>
          <c:val>
            <c:numRef>
              <c:f>'[PRODUCT    VALUE AND  EXPENSE.xlsx]Projections-Without Funding (3)'!$C$5,'[PRODUCT    VALUE AND  EXPENSE.xlsx]Projections-Without Funding (3)'!$E$5,'[PRODUCT    VALUE AND  EXPENSE.xlsx]Projections-Without Funding (3)'!$G$5,'[PRODUCT    VALUE AND  EXPENSE.xlsx]Projections-Without Funding (3)'!$I$5,'[PRODUCT    VALUE AND  EXPENSE.xlsx]Projections-Without Funding (3)'!$Q$5,'[PRODUCT    VALUE AND  EXPENSE.xlsx]Projections-Without Funding (3)'!$S$5,'[PRODUCT    VALUE AND  EXPENSE.xlsx]Projections-Without Funding (3)'!$K$5,'[PRODUCT    VALUE AND  EXPENSE.xlsx]Projections-Without Funding (3)'!$O$5,'[PRODUCT    VALUE AND  EXPENSE.xlsx]Projections-Without Funding (3)'!$M$5</c:f>
              <c:numCache>
                <c:formatCode>0.00%</c:formatCode>
                <c:ptCount val="9"/>
                <c:pt idx="0">
                  <c:v>0.1309880239520958</c:v>
                </c:pt>
                <c:pt idx="1">
                  <c:v>0.2572979041916168</c:v>
                </c:pt>
                <c:pt idx="2">
                  <c:v>8.1087824351297411E-2</c:v>
                </c:pt>
                <c:pt idx="3">
                  <c:v>0.12443862275449102</c:v>
                </c:pt>
                <c:pt idx="4">
                  <c:v>4.6490004649000466E-2</c:v>
                </c:pt>
                <c:pt idx="5">
                  <c:v>0.18712574850299402</c:v>
                </c:pt>
                <c:pt idx="6">
                  <c:v>5.6324850299401194E-2</c:v>
                </c:pt>
                <c:pt idx="7">
                  <c:v>0.16271501627150164</c:v>
                </c:pt>
                <c:pt idx="8">
                  <c:v>9.2564870259481041E-2</c:v>
                </c:pt>
              </c:numCache>
            </c:numRef>
          </c:val>
          <c:extLst>
            <c:ext xmlns:c16="http://schemas.microsoft.com/office/drawing/2014/chart" uri="{C3380CC4-5D6E-409C-BE32-E72D297353CC}">
              <c16:uniqueId val="{00000002-59F3-4389-A1A9-3015730209A4}"/>
            </c:ext>
          </c:extLst>
        </c:ser>
        <c:dLbls>
          <c:dLblPos val="outEnd"/>
          <c:showLegendKey val="0"/>
          <c:showVal val="1"/>
          <c:showCatName val="0"/>
          <c:showSerName val="0"/>
          <c:showPercent val="0"/>
          <c:showBubbleSize val="0"/>
        </c:dLbls>
        <c:gapWidth val="444"/>
        <c:overlap val="-90"/>
        <c:axId val="1108044272"/>
        <c:axId val="1108044752"/>
      </c:barChart>
      <c:catAx>
        <c:axId val="11080442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lumMod val="95000"/>
                  </a:schemeClr>
                </a:solidFill>
                <a:latin typeface="+mn-lt"/>
                <a:ea typeface="+mn-ea"/>
                <a:cs typeface="+mn-cs"/>
              </a:defRPr>
            </a:pPr>
            <a:endParaRPr lang="en-US"/>
          </a:p>
        </c:txPr>
        <c:crossAx val="1108044752"/>
        <c:crosses val="autoZero"/>
        <c:auto val="1"/>
        <c:lblAlgn val="ctr"/>
        <c:lblOffset val="100"/>
        <c:noMultiLvlLbl val="0"/>
      </c:catAx>
      <c:valAx>
        <c:axId val="1108044752"/>
        <c:scaling>
          <c:orientation val="minMax"/>
        </c:scaling>
        <c:delete val="1"/>
        <c:axPos val="l"/>
        <c:numFmt formatCode="0.00%" sourceLinked="1"/>
        <c:majorTickMark val="none"/>
        <c:minorTickMark val="none"/>
        <c:tickLblPos val="nextTo"/>
        <c:crossAx val="11080442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bg1">
                  <a:lumMod val="9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r>
              <a:rPr lang="en-IN" sz="1600" dirty="0">
                <a:solidFill>
                  <a:schemeClr val="bg1"/>
                </a:solidFill>
              </a:rPr>
              <a:t>Sales</a:t>
            </a: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'For Presentation'!$B$1</c:f>
              <c:strCache>
                <c:ptCount val="1"/>
                <c:pt idx="0">
                  <c:v>Sales</c:v>
                </c:pt>
              </c:strCache>
            </c:strRef>
          </c:tx>
          <c:spPr>
            <a:solidFill>
              <a:schemeClr val="accent1"/>
            </a:solidFill>
            <a:ln>
              <a:noFill/>
            </a:ln>
            <a:effectLst/>
          </c:spPr>
          <c:invertIfNegative val="0"/>
          <c:cat>
            <c:strRef>
              <c:f>'For Presentation'!$A$2:$A$4</c:f>
              <c:strCache>
                <c:ptCount val="3"/>
                <c:pt idx="0">
                  <c:v>2021-2022</c:v>
                </c:pt>
                <c:pt idx="1">
                  <c:v>2022-2023</c:v>
                </c:pt>
                <c:pt idx="2">
                  <c:v>2023-2024</c:v>
                </c:pt>
              </c:strCache>
            </c:strRef>
          </c:cat>
          <c:val>
            <c:numRef>
              <c:f>'For Presentation'!$B$2:$B$4</c:f>
              <c:numCache>
                <c:formatCode>"₹"\ #,##0.00</c:formatCode>
                <c:ptCount val="3"/>
                <c:pt idx="0">
                  <c:v>12.39</c:v>
                </c:pt>
                <c:pt idx="1">
                  <c:v>18.399999999999999</c:v>
                </c:pt>
                <c:pt idx="2">
                  <c:v>28.7</c:v>
                </c:pt>
              </c:numCache>
            </c:numRef>
          </c:val>
          <c:extLst>
            <c:ext xmlns:c16="http://schemas.microsoft.com/office/drawing/2014/chart" uri="{C3380CC4-5D6E-409C-BE32-E72D297353CC}">
              <c16:uniqueId val="{00000000-2D80-4009-9338-A29D65998DB4}"/>
            </c:ext>
          </c:extLst>
        </c:ser>
        <c:dLbls>
          <c:showLegendKey val="0"/>
          <c:showVal val="0"/>
          <c:showCatName val="0"/>
          <c:showSerName val="0"/>
          <c:showPercent val="0"/>
          <c:showBubbleSize val="0"/>
        </c:dLbls>
        <c:gapWidth val="219"/>
        <c:overlap val="-27"/>
        <c:axId val="1041183567"/>
        <c:axId val="1041186447"/>
      </c:barChart>
      <c:catAx>
        <c:axId val="1041183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41186447"/>
        <c:crosses val="autoZero"/>
        <c:auto val="1"/>
        <c:lblAlgn val="ctr"/>
        <c:lblOffset val="100"/>
        <c:noMultiLvlLbl val="0"/>
      </c:catAx>
      <c:valAx>
        <c:axId val="1041186447"/>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41183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0" i="0" u="none" strike="noStrike" kern="1200" spc="0" baseline="0">
              <a:solidFill>
                <a:schemeClr val="bg1"/>
              </a:solidFill>
              <a:latin typeface="+mn-lt"/>
              <a:ea typeface="+mn-ea"/>
              <a:cs typeface="+mn-cs"/>
            </a:defRPr>
          </a:pPr>
          <a:endParaRPr lang="en-US"/>
        </a:p>
      </c:txPr>
    </c:title>
    <c:autoTitleDeleted val="0"/>
    <c:plotArea>
      <c:layout/>
      <c:barChart>
        <c:barDir val="col"/>
        <c:grouping val="stacked"/>
        <c:varyColors val="0"/>
        <c:ser>
          <c:idx val="0"/>
          <c:order val="0"/>
          <c:tx>
            <c:strRef>
              <c:f>'For Presentation'!$D$1</c:f>
              <c:strCache>
                <c:ptCount val="1"/>
                <c:pt idx="0">
                  <c:v>PAT</c:v>
                </c:pt>
              </c:strCache>
            </c:strRef>
          </c:tx>
          <c:spPr>
            <a:solidFill>
              <a:schemeClr val="accent1"/>
            </a:solidFill>
            <a:ln>
              <a:noFill/>
            </a:ln>
            <a:effectLst/>
          </c:spPr>
          <c:invertIfNegative val="0"/>
          <c:cat>
            <c:strRef>
              <c:f>'For Presentation'!$A$2:$A$4</c:f>
              <c:strCache>
                <c:ptCount val="3"/>
                <c:pt idx="0">
                  <c:v>2021-2022</c:v>
                </c:pt>
                <c:pt idx="1">
                  <c:v>2022-2023</c:v>
                </c:pt>
                <c:pt idx="2">
                  <c:v>2023-2024</c:v>
                </c:pt>
              </c:strCache>
            </c:strRef>
          </c:cat>
          <c:val>
            <c:numRef>
              <c:f>'For Presentation'!$D$2:$D$4</c:f>
              <c:numCache>
                <c:formatCode>"₹"\ #,##0.00</c:formatCode>
                <c:ptCount val="3"/>
                <c:pt idx="0">
                  <c:v>0.43</c:v>
                </c:pt>
                <c:pt idx="1">
                  <c:v>0.92</c:v>
                </c:pt>
                <c:pt idx="2">
                  <c:v>2.12</c:v>
                </c:pt>
              </c:numCache>
            </c:numRef>
          </c:val>
          <c:extLst>
            <c:ext xmlns:c16="http://schemas.microsoft.com/office/drawing/2014/chart" uri="{C3380CC4-5D6E-409C-BE32-E72D297353CC}">
              <c16:uniqueId val="{00000000-3B8C-492C-8CAF-09BC04DD0CD1}"/>
            </c:ext>
          </c:extLst>
        </c:ser>
        <c:dLbls>
          <c:showLegendKey val="0"/>
          <c:showVal val="0"/>
          <c:showCatName val="0"/>
          <c:showSerName val="0"/>
          <c:showPercent val="0"/>
          <c:showBubbleSize val="0"/>
        </c:dLbls>
        <c:gapWidth val="150"/>
        <c:overlap val="100"/>
        <c:axId val="1011336191"/>
        <c:axId val="1011333791"/>
      </c:barChart>
      <c:catAx>
        <c:axId val="1011336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11333791"/>
        <c:crosses val="autoZero"/>
        <c:auto val="1"/>
        <c:lblAlgn val="ctr"/>
        <c:lblOffset val="100"/>
        <c:noMultiLvlLbl val="0"/>
      </c:catAx>
      <c:valAx>
        <c:axId val="1011333791"/>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0113361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cap="all" spc="120" normalizeH="0" baseline="0">
              <a:solidFill>
                <a:schemeClr val="bg1"/>
              </a:solidFill>
              <a:latin typeface="+mn-lt"/>
              <a:ea typeface="+mn-ea"/>
              <a:cs typeface="+mn-cs"/>
            </a:defRPr>
          </a:pPr>
          <a:endParaRPr lang="en-US"/>
        </a:p>
      </c:txPr>
    </c:title>
    <c:autoTitleDeleted val="0"/>
    <c:plotArea>
      <c:layout/>
      <c:lineChart>
        <c:grouping val="standard"/>
        <c:varyColors val="0"/>
        <c:ser>
          <c:idx val="0"/>
          <c:order val="0"/>
          <c:tx>
            <c:strRef>
              <c:f>'For Presentation'!$E$1</c:f>
              <c:strCache>
                <c:ptCount val="1"/>
                <c:pt idx="0">
                  <c:v>NPM</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'For Presentation'!$A$2:$A$4</c:f>
              <c:strCache>
                <c:ptCount val="3"/>
                <c:pt idx="0">
                  <c:v>2021-2022</c:v>
                </c:pt>
                <c:pt idx="1">
                  <c:v>2022-2023</c:v>
                </c:pt>
                <c:pt idx="2">
                  <c:v>2023-2024</c:v>
                </c:pt>
              </c:strCache>
            </c:strRef>
          </c:cat>
          <c:val>
            <c:numRef>
              <c:f>'For Presentation'!$E$2:$E$4</c:f>
              <c:numCache>
                <c:formatCode>0.0%</c:formatCode>
                <c:ptCount val="3"/>
                <c:pt idx="0">
                  <c:v>3.4927740517326743E-2</c:v>
                </c:pt>
                <c:pt idx="1">
                  <c:v>5.0287540745802217E-2</c:v>
                </c:pt>
                <c:pt idx="2">
                  <c:v>7.2188505222817015E-2</c:v>
                </c:pt>
              </c:numCache>
            </c:numRef>
          </c:val>
          <c:smooth val="0"/>
          <c:extLst>
            <c:ext xmlns:c16="http://schemas.microsoft.com/office/drawing/2014/chart" uri="{C3380CC4-5D6E-409C-BE32-E72D297353CC}">
              <c16:uniqueId val="{00000000-B3A4-4D76-B3D9-E6060FC0E72E}"/>
            </c:ext>
          </c:extLst>
        </c:ser>
        <c:dLbls>
          <c:showLegendKey val="0"/>
          <c:showVal val="0"/>
          <c:showCatName val="0"/>
          <c:showSerName val="0"/>
          <c:showPercent val="0"/>
          <c:showBubbleSize val="0"/>
        </c:dLbls>
        <c:marker val="1"/>
        <c:smooth val="0"/>
        <c:axId val="1345839039"/>
        <c:axId val="1345858239"/>
      </c:lineChart>
      <c:catAx>
        <c:axId val="134583903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mn-lt"/>
                <a:ea typeface="+mn-ea"/>
                <a:cs typeface="+mn-cs"/>
              </a:defRPr>
            </a:pPr>
            <a:endParaRPr lang="en-US"/>
          </a:p>
        </c:txPr>
        <c:crossAx val="1345858239"/>
        <c:crosses val="autoZero"/>
        <c:auto val="1"/>
        <c:lblAlgn val="ctr"/>
        <c:lblOffset val="100"/>
        <c:noMultiLvlLbl val="0"/>
      </c:catAx>
      <c:valAx>
        <c:axId val="1345858239"/>
        <c:scaling>
          <c:orientation val="minMax"/>
        </c:scaling>
        <c:delete val="0"/>
        <c:axPos val="l"/>
        <c:numFmt formatCode="0.0%"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458390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800"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534757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13859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88955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63965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B8CEAE-9ACF-4870-96B2-2FDD755B4008}" type="datetimeFigureOut">
              <a:rPr lang="en-IN" smtClean="0"/>
              <a:t>20-04-2026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81391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B8CEAE-9ACF-4870-96B2-2FDD755B4008}" type="datetimeFigureOut">
              <a:rPr lang="en-IN" smtClean="0"/>
              <a:t>20-04-2026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1320817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B8CEAE-9ACF-4870-96B2-2FDD755B4008}" type="datetimeFigureOut">
              <a:rPr lang="en-IN" smtClean="0"/>
              <a:t>20-04-2026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70675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470941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EB8CEAE-9ACF-4870-96B2-2FDD755B4008}" type="datetimeFigureOut">
              <a:rPr lang="en-IN" smtClean="0"/>
              <a:t>20-04-2026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268880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3333150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B8CEAE-9ACF-4870-96B2-2FDD755B4008}" type="datetimeFigureOut">
              <a:rPr lang="en-IN" smtClean="0"/>
              <a:t>20-04-2026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14AC96-115D-4CF4-9B0B-0F2A89887B52}" type="slidenum">
              <a:rPr lang="en-IN" smtClean="0"/>
              <a:t>‹#›</a:t>
            </a:fld>
            <a:endParaRPr lang="en-IN"/>
          </a:p>
        </p:txBody>
      </p:sp>
    </p:spTree>
    <p:extLst>
      <p:ext uri="{BB962C8B-B14F-4D97-AF65-F5344CB8AC3E}">
        <p14:creationId xmlns:p14="http://schemas.microsoft.com/office/powerpoint/2010/main" val="4276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8CEAE-9ACF-4870-96B2-2FDD755B4008}" type="datetimeFigureOut">
              <a:rPr lang="en-IN" smtClean="0"/>
              <a:t>20-04-2026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4AC96-115D-4CF4-9B0B-0F2A89887B52}" type="slidenum">
              <a:rPr lang="en-IN" smtClean="0"/>
              <a:t>‹#›</a:t>
            </a:fld>
            <a:endParaRPr lang="en-IN"/>
          </a:p>
        </p:txBody>
      </p:sp>
    </p:spTree>
    <p:extLst>
      <p:ext uri="{BB962C8B-B14F-4D97-AF65-F5344CB8AC3E}">
        <p14:creationId xmlns:p14="http://schemas.microsoft.com/office/powerpoint/2010/main" val="3778084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2.bin"/><Relationship Id="rId4" Type="http://schemas.openxmlformats.org/officeDocument/2006/relationships/image" Target="../media/image3.bin"/><Relationship Id="rId5" Type="http://schemas.openxmlformats.org/officeDocument/2006/relationships/image" Target="../media/image4.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6.bin"/><Relationship Id="rId5" Type="http://schemas.openxmlformats.org/officeDocument/2006/relationships/image" Target="../media/image7.bin"/><Relationship Id="rId6" Type="http://schemas.openxmlformats.org/officeDocument/2006/relationships/image" Target="../media/image8.bin"/><Relationship Id="rId7" Type="http://schemas.openxmlformats.org/officeDocument/2006/relationships/image" Target="../media/image9.bin"/><Relationship Id="rId8" Type="http://schemas.openxmlformats.org/officeDocument/2006/relationships/image" Target="../media/image10.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11.bin"/><Relationship Id="rId4" Type="http://schemas.openxmlformats.org/officeDocument/2006/relationships/image" Target="../media/image1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13.bin"/><Relationship Id="rId4" Type="http://schemas.openxmlformats.org/officeDocument/2006/relationships/image" Target="../media/image14.bin"/><Relationship Id="rId5" Type="http://schemas.openxmlformats.org/officeDocument/2006/relationships/image" Target="../media/image15.bin"/><Relationship Id="rId6" Type="http://schemas.openxmlformats.org/officeDocument/2006/relationships/image" Target="../media/image16.bin"/><Relationship Id="rId7" Type="http://schemas.openxmlformats.org/officeDocument/2006/relationships/image" Target="../media/image17.bin"/><Relationship Id="rId8" Type="http://schemas.openxmlformats.org/officeDocument/2006/relationships/image" Target="../media/image18.bin"/><Relationship Id="rId9" Type="http://schemas.openxmlformats.org/officeDocument/2006/relationships/image" Target="../media/image19.bin"/><Relationship Id="rId10" Type="http://schemas.openxmlformats.org/officeDocument/2006/relationships/image" Target="../media/image20.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21.bin"/><Relationship Id="rId5" Type="http://schemas.openxmlformats.org/officeDocument/2006/relationships/image" Target="../media/image22.bin"/><Relationship Id="rId6" Type="http://schemas.openxmlformats.org/officeDocument/2006/relationships/image" Target="../media/image23.bin"/><Relationship Id="rId7" Type="http://schemas.openxmlformats.org/officeDocument/2006/relationships/image" Target="../media/image24.bin"/><Relationship Id="rId8" Type="http://schemas.openxmlformats.org/officeDocument/2006/relationships/image" Target="../media/image25.bin"/><Relationship Id="rId9" Type="http://schemas.openxmlformats.org/officeDocument/2006/relationships/image" Target="../media/image26.bin"/><Relationship Id="rId10" Type="http://schemas.openxmlformats.org/officeDocument/2006/relationships/image" Target="../media/image27.bin"/><Relationship Id="rId11" Type="http://schemas.openxmlformats.org/officeDocument/2006/relationships/image" Target="../media/image28.bin"/><Relationship Id="rId12" Type="http://schemas.openxmlformats.org/officeDocument/2006/relationships/image" Target="../media/image29.bin"/><Relationship Id="rId13" Type="http://schemas.openxmlformats.org/officeDocument/2006/relationships/image" Target="../media/image30.bin"/><Relationship Id="rId14" Type="http://schemas.openxmlformats.org/officeDocument/2006/relationships/image" Target="../media/image31.bin"/><Relationship Id="rId15" Type="http://schemas.openxmlformats.org/officeDocument/2006/relationships/image" Target="../media/image32.bin"/><Relationship Id="rId16" Type="http://schemas.openxmlformats.org/officeDocument/2006/relationships/image" Target="../media/image10.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21.bin"/><Relationship Id="rId5" Type="http://schemas.openxmlformats.org/officeDocument/2006/relationships/image" Target="../media/image22.bin"/><Relationship Id="rId6" Type="http://schemas.openxmlformats.org/officeDocument/2006/relationships/image" Target="../media/image23.bin"/><Relationship Id="rId7" Type="http://schemas.openxmlformats.org/officeDocument/2006/relationships/image" Target="../media/image24.bin"/><Relationship Id="rId8" Type="http://schemas.openxmlformats.org/officeDocument/2006/relationships/image" Target="../media/image25.bin"/><Relationship Id="rId9" Type="http://schemas.openxmlformats.org/officeDocument/2006/relationships/image" Target="../media/image26.bin"/><Relationship Id="rId10" Type="http://schemas.openxmlformats.org/officeDocument/2006/relationships/image" Target="../media/image27.bin"/><Relationship Id="rId11" Type="http://schemas.openxmlformats.org/officeDocument/2006/relationships/image" Target="../media/image28.bin"/><Relationship Id="rId12" Type="http://schemas.openxmlformats.org/officeDocument/2006/relationships/image" Target="../media/image29.bin"/><Relationship Id="rId13" Type="http://schemas.openxmlformats.org/officeDocument/2006/relationships/image" Target="../media/image30.bin"/><Relationship Id="rId14" Type="http://schemas.openxmlformats.org/officeDocument/2006/relationships/image" Target="../media/image31.bin"/><Relationship Id="rId15" Type="http://schemas.openxmlformats.org/officeDocument/2006/relationships/image" Target="../media/image32.bin"/><Relationship Id="rId16" Type="http://schemas.openxmlformats.org/officeDocument/2006/relationships/image" Target="../media/image10.bin"/><Relationship Id="rId17"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23.bin"/><Relationship Id="rId5" Type="http://schemas.openxmlformats.org/officeDocument/2006/relationships/image" Target="../media/image26.bin"/><Relationship Id="rId6" Type="http://schemas.openxmlformats.org/officeDocument/2006/relationships/image" Target="../media/image28.bin"/><Relationship Id="rId7" Type="http://schemas.openxmlformats.org/officeDocument/2006/relationships/image" Target="../media/image31.bin"/><Relationship Id="rId8" Type="http://schemas.openxmlformats.org/officeDocument/2006/relationships/image" Target="../media/image10.bin"/><Relationship Id="rId9" Type="http://schemas.openxmlformats.org/officeDocument/2006/relationships/chart" Target="../charts/chart1.xml"/><Relationship Id="rId10"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23.bin"/><Relationship Id="rId5" Type="http://schemas.openxmlformats.org/officeDocument/2006/relationships/image" Target="../media/image26.bin"/><Relationship Id="rId6" Type="http://schemas.openxmlformats.org/officeDocument/2006/relationships/image" Target="../media/image28.bin"/><Relationship Id="rId7" Type="http://schemas.openxmlformats.org/officeDocument/2006/relationships/image" Target="../media/image31.bin"/><Relationship Id="rId8" Type="http://schemas.openxmlformats.org/officeDocument/2006/relationships/image" Target="../media/image10.bin"/><Relationship Id="rId9" Type="http://schemas.openxmlformats.org/officeDocument/2006/relationships/chart" Target="../charts/chart3.xml"/><Relationship Id="rId10" Type="http://schemas.openxmlformats.org/officeDocument/2006/relationships/chart" Target="../charts/chart4.xml"/><Relationship Id="rId11"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34.bin"/><Relationship Id="rId4" Type="http://schemas.openxmlformats.org/officeDocument/2006/relationships/image" Target="../media/image35.bin"/><Relationship Id="rId5" Type="http://schemas.openxmlformats.org/officeDocument/2006/relationships/image" Target="../media/image36.bin"/><Relationship Id="rId6" Type="http://schemas.openxmlformats.org/officeDocument/2006/relationships/image" Target="../media/image37.bin"/><Relationship Id="rId7" Type="http://schemas.openxmlformats.org/officeDocument/2006/relationships/image" Target="../media/image38.bin"/><Relationship Id="rId8" Type="http://schemas.openxmlformats.org/officeDocument/2006/relationships/image" Target="../media/image39.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40.bin"/><Relationship Id="rId4" Type="http://schemas.openxmlformats.org/officeDocument/2006/relationships/image" Target="../media/image35.bin"/><Relationship Id="rId5" Type="http://schemas.openxmlformats.org/officeDocument/2006/relationships/image" Target="../media/image36.bin"/><Relationship Id="rId6" Type="http://schemas.openxmlformats.org/officeDocument/2006/relationships/image" Target="../media/image41.bin"/><Relationship Id="rId7" Type="http://schemas.openxmlformats.org/officeDocument/2006/relationships/image" Target="../media/image42.bin"/><Relationship Id="rId8" Type="http://schemas.openxmlformats.org/officeDocument/2006/relationships/image" Target="../media/image39.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43.bin"/><Relationship Id="rId4" Type="http://schemas.openxmlformats.org/officeDocument/2006/relationships/image" Target="../media/image35.bin"/><Relationship Id="rId5" Type="http://schemas.openxmlformats.org/officeDocument/2006/relationships/image" Target="../media/image36.bin"/><Relationship Id="rId6" Type="http://schemas.openxmlformats.org/officeDocument/2006/relationships/image" Target="../media/image44.bin"/><Relationship Id="rId7" Type="http://schemas.openxmlformats.org/officeDocument/2006/relationships/image" Target="../media/image45.bin"/><Relationship Id="rId8" Type="http://schemas.openxmlformats.org/officeDocument/2006/relationships/image" Target="../media/image39.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34.bin"/><Relationship Id="rId4" Type="http://schemas.openxmlformats.org/officeDocument/2006/relationships/image" Target="../media/image35.bin"/><Relationship Id="rId5" Type="http://schemas.openxmlformats.org/officeDocument/2006/relationships/image" Target="../media/image36.bin"/><Relationship Id="rId6" Type="http://schemas.openxmlformats.org/officeDocument/2006/relationships/image" Target="../media/image37.bin"/><Relationship Id="rId7" Type="http://schemas.openxmlformats.org/officeDocument/2006/relationships/image" Target="../media/image38.bin"/><Relationship Id="rId8" Type="http://schemas.openxmlformats.org/officeDocument/2006/relationships/image" Target="../media/image20.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40.bin"/><Relationship Id="rId4" Type="http://schemas.openxmlformats.org/officeDocument/2006/relationships/image" Target="../media/image46.bin"/><Relationship Id="rId5" Type="http://schemas.openxmlformats.org/officeDocument/2006/relationships/image" Target="../media/image36.bin"/><Relationship Id="rId6" Type="http://schemas.openxmlformats.org/officeDocument/2006/relationships/image" Target="../media/image41.bin"/><Relationship Id="rId7" Type="http://schemas.openxmlformats.org/officeDocument/2006/relationships/image" Target="../media/image42.bin"/><Relationship Id="rId8" Type="http://schemas.openxmlformats.org/officeDocument/2006/relationships/image" Target="../media/image44.bin"/><Relationship Id="rId9" Type="http://schemas.openxmlformats.org/officeDocument/2006/relationships/image" Target="../media/image20.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43.bin"/><Relationship Id="rId4" Type="http://schemas.openxmlformats.org/officeDocument/2006/relationships/image" Target="../media/image35.bin"/><Relationship Id="rId5" Type="http://schemas.openxmlformats.org/officeDocument/2006/relationships/image" Target="../media/image36.bin"/><Relationship Id="rId6" Type="http://schemas.openxmlformats.org/officeDocument/2006/relationships/image" Target="../media/image45.bin"/><Relationship Id="rId7" Type="http://schemas.openxmlformats.org/officeDocument/2006/relationships/image" Target="../media/image47.bin"/><Relationship Id="rId8" Type="http://schemas.openxmlformats.org/officeDocument/2006/relationships/image" Target="../media/image20.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48.bin"/><Relationship Id="rId5" Type="http://schemas.openxmlformats.org/officeDocument/2006/relationships/image" Target="../media/image49.bin"/><Relationship Id="rId6" Type="http://schemas.openxmlformats.org/officeDocument/2006/relationships/image" Target="../media/image50.bin"/><Relationship Id="rId7" Type="http://schemas.openxmlformats.org/officeDocument/2006/relationships/image" Target="../media/image51.bin"/><Relationship Id="rId8" Type="http://schemas.openxmlformats.org/officeDocument/2006/relationships/image" Target="../media/image5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0.bin"/><Relationship Id="rId5" Type="http://schemas.openxmlformats.org/officeDocument/2006/relationships/image" Target="../media/image53.bin"/><Relationship Id="rId6" Type="http://schemas.openxmlformats.org/officeDocument/2006/relationships/image" Target="../media/image54.bin"/><Relationship Id="rId7" Type="http://schemas.openxmlformats.org/officeDocument/2006/relationships/image" Target="../media/image55.bin"/><Relationship Id="rId8" Type="http://schemas.openxmlformats.org/officeDocument/2006/relationships/image" Target="../media/image51.bin"/><Relationship Id="rId9" Type="http://schemas.openxmlformats.org/officeDocument/2006/relationships/image" Target="../media/image5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6.bin"/><Relationship Id="rId5" Type="http://schemas.openxmlformats.org/officeDocument/2006/relationships/image" Target="../media/image50.bin"/><Relationship Id="rId6" Type="http://schemas.openxmlformats.org/officeDocument/2006/relationships/image" Target="../media/image51.bin"/><Relationship Id="rId7" Type="http://schemas.openxmlformats.org/officeDocument/2006/relationships/image" Target="../media/image54.bin"/><Relationship Id="rId8" Type="http://schemas.openxmlformats.org/officeDocument/2006/relationships/image" Target="../media/image55.bin"/><Relationship Id="rId9" Type="http://schemas.openxmlformats.org/officeDocument/2006/relationships/image" Target="../media/image5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6.bin"/><Relationship Id="rId5" Type="http://schemas.openxmlformats.org/officeDocument/2006/relationships/image" Target="../media/image50.bin"/><Relationship Id="rId6" Type="http://schemas.openxmlformats.org/officeDocument/2006/relationships/image" Target="../media/image51.bin"/><Relationship Id="rId7" Type="http://schemas.openxmlformats.org/officeDocument/2006/relationships/image" Target="../media/image54.bin"/><Relationship Id="rId8" Type="http://schemas.openxmlformats.org/officeDocument/2006/relationships/image" Target="../media/image55.bin"/><Relationship Id="rId9" Type="http://schemas.openxmlformats.org/officeDocument/2006/relationships/image" Target="../media/image5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6.bin"/><Relationship Id="rId5" Type="http://schemas.openxmlformats.org/officeDocument/2006/relationships/image" Target="../media/image50.bin"/><Relationship Id="rId6" Type="http://schemas.openxmlformats.org/officeDocument/2006/relationships/image" Target="../media/image51.bin"/><Relationship Id="rId7" Type="http://schemas.openxmlformats.org/officeDocument/2006/relationships/image" Target="../media/image57.bin"/><Relationship Id="rId8" Type="http://schemas.openxmlformats.org/officeDocument/2006/relationships/image" Target="../media/image5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6.bin"/><Relationship Id="rId5" Type="http://schemas.openxmlformats.org/officeDocument/2006/relationships/image" Target="../media/image50.bin"/><Relationship Id="rId6" Type="http://schemas.openxmlformats.org/officeDocument/2006/relationships/image" Target="../media/image51.bin"/><Relationship Id="rId7" Type="http://schemas.openxmlformats.org/officeDocument/2006/relationships/image" Target="../media/image54.bin"/><Relationship Id="rId8" Type="http://schemas.openxmlformats.org/officeDocument/2006/relationships/image" Target="../media/image5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58.bin"/><Relationship Id="rId5" Type="http://schemas.openxmlformats.org/officeDocument/2006/relationships/image" Target="../media/image59.bin"/><Relationship Id="rId6" Type="http://schemas.openxmlformats.org/officeDocument/2006/relationships/image" Target="../media/image60.bin"/><Relationship Id="rId7" Type="http://schemas.openxmlformats.org/officeDocument/2006/relationships/image" Target="../media/image61.bin"/><Relationship Id="rId8" Type="http://schemas.openxmlformats.org/officeDocument/2006/relationships/image" Target="../media/image62.bin"/><Relationship Id="rId9" Type="http://schemas.openxmlformats.org/officeDocument/2006/relationships/image" Target="../media/image63.bin"/><Relationship Id="rId10" Type="http://schemas.openxmlformats.org/officeDocument/2006/relationships/image" Target="../media/image10.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64.bin"/><Relationship Id="rId5" Type="http://schemas.openxmlformats.org/officeDocument/2006/relationships/image" Target="../media/image65.bin"/><Relationship Id="rId6" Type="http://schemas.openxmlformats.org/officeDocument/2006/relationships/image" Target="../media/image66.bin"/><Relationship Id="rId7" Type="http://schemas.openxmlformats.org/officeDocument/2006/relationships/image" Target="../media/image67.bin"/><Relationship Id="rId8" Type="http://schemas.openxmlformats.org/officeDocument/2006/relationships/image" Target="../media/image68.bin"/><Relationship Id="rId9" Type="http://schemas.openxmlformats.org/officeDocument/2006/relationships/image" Target="../media/image69.bin"/><Relationship Id="rId10" Type="http://schemas.openxmlformats.org/officeDocument/2006/relationships/image" Target="../media/image70.bin"/><Relationship Id="rId11" Type="http://schemas.openxmlformats.org/officeDocument/2006/relationships/image" Target="../media/image71.bin"/><Relationship Id="rId12" Type="http://schemas.openxmlformats.org/officeDocument/2006/relationships/image" Target="../media/image72.bin"/><Relationship Id="rId13" Type="http://schemas.openxmlformats.org/officeDocument/2006/relationships/image" Target="../media/image73.bin"/><Relationship Id="rId14" Type="http://schemas.openxmlformats.org/officeDocument/2006/relationships/image" Target="../media/image74.bin"/><Relationship Id="rId15" Type="http://schemas.openxmlformats.org/officeDocument/2006/relationships/image" Target="../media/image75.bin"/><Relationship Id="rId16" Type="http://schemas.openxmlformats.org/officeDocument/2006/relationships/image" Target="../media/image76.bin"/><Relationship Id="rId17" Type="http://schemas.openxmlformats.org/officeDocument/2006/relationships/image" Target="../media/image77.bin"/><Relationship Id="rId18" Type="http://schemas.openxmlformats.org/officeDocument/2006/relationships/image" Target="../media/image78.bin"/><Relationship Id="rId19" Type="http://schemas.openxmlformats.org/officeDocument/2006/relationships/image" Target="../media/image10.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79.bin"/><Relationship Id="rId5" Type="http://schemas.openxmlformats.org/officeDocument/2006/relationships/image" Target="../media/image80.bin"/><Relationship Id="rId6" Type="http://schemas.openxmlformats.org/officeDocument/2006/relationships/image" Target="../media/image81.bin"/><Relationship Id="rId7" Type="http://schemas.openxmlformats.org/officeDocument/2006/relationships/image" Target="../media/image82.bin"/><Relationship Id="rId8" Type="http://schemas.openxmlformats.org/officeDocument/2006/relationships/image" Target="../media/image83.bin"/><Relationship Id="rId9" Type="http://schemas.openxmlformats.org/officeDocument/2006/relationships/image" Target="../media/image84.bin"/><Relationship Id="rId10" Type="http://schemas.openxmlformats.org/officeDocument/2006/relationships/image" Target="../media/image85.bin"/><Relationship Id="rId11" Type="http://schemas.openxmlformats.org/officeDocument/2006/relationships/image" Target="../media/image10.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86.bin"/><Relationship Id="rId5" Type="http://schemas.openxmlformats.org/officeDocument/2006/relationships/image" Target="../media/image80.bin"/><Relationship Id="rId6" Type="http://schemas.openxmlformats.org/officeDocument/2006/relationships/image" Target="../media/image81.bin"/><Relationship Id="rId7" Type="http://schemas.openxmlformats.org/officeDocument/2006/relationships/image" Target="../media/image87.bin"/><Relationship Id="rId8" Type="http://schemas.openxmlformats.org/officeDocument/2006/relationships/image" Target="../media/image88.bin"/><Relationship Id="rId9" Type="http://schemas.openxmlformats.org/officeDocument/2006/relationships/image" Target="../media/image84.bin"/><Relationship Id="rId10" Type="http://schemas.openxmlformats.org/officeDocument/2006/relationships/image" Target="../media/image89.bin"/><Relationship Id="rId11" Type="http://schemas.openxmlformats.org/officeDocument/2006/relationships/image" Target="../media/image10.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90.bin"/><Relationship Id="rId5" Type="http://schemas.openxmlformats.org/officeDocument/2006/relationships/image" Target="../media/image91.bin"/><Relationship Id="rId6" Type="http://schemas.openxmlformats.org/officeDocument/2006/relationships/image" Target="../media/image92.bin"/><Relationship Id="rId7" Type="http://schemas.openxmlformats.org/officeDocument/2006/relationships/image" Target="../media/image93.bin"/><Relationship Id="rId8" Type="http://schemas.openxmlformats.org/officeDocument/2006/relationships/image" Target="../media/image94.bin"/><Relationship Id="rId9" Type="http://schemas.openxmlformats.org/officeDocument/2006/relationships/image" Target="../media/image95.bin"/><Relationship Id="rId10" Type="http://schemas.openxmlformats.org/officeDocument/2006/relationships/image" Target="../media/image96.bin"/><Relationship Id="rId11" Type="http://schemas.openxmlformats.org/officeDocument/2006/relationships/image" Target="../media/image97.bin"/><Relationship Id="rId12" Type="http://schemas.openxmlformats.org/officeDocument/2006/relationships/image" Target="../media/image98.bin"/><Relationship Id="rId13" Type="http://schemas.openxmlformats.org/officeDocument/2006/relationships/image" Target="../media/image99.bin"/><Relationship Id="rId14" Type="http://schemas.openxmlformats.org/officeDocument/2006/relationships/image" Target="../media/image10.bin"/><Relationship Id="rId15" Type="http://schemas.openxmlformats.org/officeDocument/2006/relationships/chart" Target="../charts/chart6.xml"/><Relationship Id="rId16" Type="http://schemas.openxmlformats.org/officeDocument/2006/relationships/chart" Target="../charts/chart7.xml"/><Relationship Id="rId17" Type="http://schemas.openxmlformats.org/officeDocument/2006/relationships/chart" Target="../charts/char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100.bin"/><Relationship Id="rId4" Type="http://schemas.openxmlformats.org/officeDocument/2006/relationships/image" Target="../media/image101.bin"/><Relationship Id="rId5" Type="http://schemas.openxmlformats.org/officeDocument/2006/relationships/image" Target="../media/image102.bin"/><Relationship Id="rId6" Type="http://schemas.openxmlformats.org/officeDocument/2006/relationships/image" Target="../media/image103.bin"/><Relationship Id="rId7" Type="http://schemas.openxmlformats.org/officeDocument/2006/relationships/image" Target="../media/image104.bin"/><Relationship Id="rId8" Type="http://schemas.openxmlformats.org/officeDocument/2006/relationships/image" Target="../media/image105.bin"/><Relationship Id="rId9" Type="http://schemas.openxmlformats.org/officeDocument/2006/relationships/image" Target="../media/image106.bin"/><Relationship Id="rId10" Type="http://schemas.openxmlformats.org/officeDocument/2006/relationships/image" Target="../media/image107.bin"/><Relationship Id="rId11" Type="http://schemas.openxmlformats.org/officeDocument/2006/relationships/image" Target="../media/image108.bin"/><Relationship Id="rId12" Type="http://schemas.openxmlformats.org/officeDocument/2006/relationships/image" Target="../media/image109.bin"/><Relationship Id="rId13" Type="http://schemas.openxmlformats.org/officeDocument/2006/relationships/image" Target="../media/image110.bin"/><Relationship Id="rId14" Type="http://schemas.openxmlformats.org/officeDocument/2006/relationships/image" Target="../media/image111.bin"/><Relationship Id="rId15" Type="http://schemas.openxmlformats.org/officeDocument/2006/relationships/image" Target="../media/image112.bin"/><Relationship Id="rId16" Type="http://schemas.openxmlformats.org/officeDocument/2006/relationships/image" Target="../media/image113.bin"/><Relationship Id="rId17" Type="http://schemas.openxmlformats.org/officeDocument/2006/relationships/image" Target="../media/image114.bin"/><Relationship Id="rId18" Type="http://schemas.openxmlformats.org/officeDocument/2006/relationships/image" Target="../media/image115.bin"/><Relationship Id="rId19" Type="http://schemas.openxmlformats.org/officeDocument/2006/relationships/image" Target="../media/image116.bin"/><Relationship Id="rId20" Type="http://schemas.openxmlformats.org/officeDocument/2006/relationships/image" Target="../media/image117.bin"/><Relationship Id="rId21" Type="http://schemas.openxmlformats.org/officeDocument/2006/relationships/image" Target="../media/image118.bin"/><Relationship Id="rId22" Type="http://schemas.openxmlformats.org/officeDocument/2006/relationships/image" Target="../media/image119.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0.bin"/><Relationship Id="rId5" Type="http://schemas.openxmlformats.org/officeDocument/2006/relationships/image" Target="../media/image121.bin"/><Relationship Id="rId6" Type="http://schemas.openxmlformats.org/officeDocument/2006/relationships/image" Target="../media/image122.bin"/><Relationship Id="rId7" Type="http://schemas.openxmlformats.org/officeDocument/2006/relationships/image" Target="../media/image123.bin"/><Relationship Id="rId8" Type="http://schemas.openxmlformats.org/officeDocument/2006/relationships/image" Target="../media/image124.bin"/><Relationship Id="rId9" Type="http://schemas.openxmlformats.org/officeDocument/2006/relationships/image" Target="../media/image125.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6.bin"/><Relationship Id="rId5" Type="http://schemas.openxmlformats.org/officeDocument/2006/relationships/image" Target="../media/image127.bin"/><Relationship Id="rId6" Type="http://schemas.openxmlformats.org/officeDocument/2006/relationships/image" Target="../media/image128.bin"/><Relationship Id="rId7" Type="http://schemas.openxmlformats.org/officeDocument/2006/relationships/image" Target="../media/image125.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9.bin"/><Relationship Id="rId5" Type="http://schemas.openxmlformats.org/officeDocument/2006/relationships/image" Target="../media/image130.bin"/><Relationship Id="rId6" Type="http://schemas.openxmlformats.org/officeDocument/2006/relationships/image" Target="../media/image131.bin"/><Relationship Id="rId7" Type="http://schemas.openxmlformats.org/officeDocument/2006/relationships/image" Target="../media/image132.bin"/><Relationship Id="rId8" Type="http://schemas.openxmlformats.org/officeDocument/2006/relationships/image" Target="../media/image133.bin"/><Relationship Id="rId9" Type="http://schemas.openxmlformats.org/officeDocument/2006/relationships/image" Target="../media/image134.bin"/><Relationship Id="rId10" Type="http://schemas.openxmlformats.org/officeDocument/2006/relationships/image" Target="../media/image135.bin"/><Relationship Id="rId11" Type="http://schemas.openxmlformats.org/officeDocument/2006/relationships/image" Target="../media/image136.bin"/><Relationship Id="rId12" Type="http://schemas.openxmlformats.org/officeDocument/2006/relationships/image" Target="../media/image137.bin"/><Relationship Id="rId13" Type="http://schemas.openxmlformats.org/officeDocument/2006/relationships/image" Target="../media/image138.bin"/><Relationship Id="rId14" Type="http://schemas.openxmlformats.org/officeDocument/2006/relationships/image" Target="../media/image139.bin"/><Relationship Id="rId15" Type="http://schemas.openxmlformats.org/officeDocument/2006/relationships/image" Target="../media/image140.bin"/><Relationship Id="rId16" Type="http://schemas.openxmlformats.org/officeDocument/2006/relationships/image" Target="../media/image141.bin"/><Relationship Id="rId17" Type="http://schemas.openxmlformats.org/officeDocument/2006/relationships/image" Target="../media/image142.bin"/><Relationship Id="rId18" Type="http://schemas.openxmlformats.org/officeDocument/2006/relationships/image" Target="../media/image143.bin"/><Relationship Id="rId19" Type="http://schemas.openxmlformats.org/officeDocument/2006/relationships/image" Target="../media/image12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5.bin"/><Relationship Id="rId5" Type="http://schemas.openxmlformats.org/officeDocument/2006/relationships/image" Target="../media/image144.bin"/><Relationship Id="rId6" Type="http://schemas.openxmlformats.org/officeDocument/2006/relationships/image" Target="../media/image145.bin"/><Relationship Id="rId7" Type="http://schemas.openxmlformats.org/officeDocument/2006/relationships/image" Target="../media/image146.bin"/><Relationship Id="rId8" Type="http://schemas.openxmlformats.org/officeDocument/2006/relationships/image" Target="../media/image147.bin"/><Relationship Id="rId9" Type="http://schemas.openxmlformats.org/officeDocument/2006/relationships/image" Target="../media/image148.bin"/><Relationship Id="rId10" Type="http://schemas.openxmlformats.org/officeDocument/2006/relationships/image" Target="../media/image149.bin"/><Relationship Id="rId11" Type="http://schemas.openxmlformats.org/officeDocument/2006/relationships/image" Target="../media/image150.bin"/><Relationship Id="rId12" Type="http://schemas.openxmlformats.org/officeDocument/2006/relationships/image" Target="../media/image151.bin"/><Relationship Id="rId13" Type="http://schemas.openxmlformats.org/officeDocument/2006/relationships/image" Target="../media/image152.bin"/><Relationship Id="rId14" Type="http://schemas.openxmlformats.org/officeDocument/2006/relationships/image" Target="../media/image153.bin"/><Relationship Id="rId15" Type="http://schemas.openxmlformats.org/officeDocument/2006/relationships/image" Target="../media/image154.bin"/><Relationship Id="rId16" Type="http://schemas.openxmlformats.org/officeDocument/2006/relationships/image" Target="../media/image15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41.bin"/><Relationship Id="rId5" Type="http://schemas.openxmlformats.org/officeDocument/2006/relationships/image" Target="../media/image130.bin"/><Relationship Id="rId6" Type="http://schemas.openxmlformats.org/officeDocument/2006/relationships/image" Target="../media/image131.bin"/><Relationship Id="rId7" Type="http://schemas.openxmlformats.org/officeDocument/2006/relationships/image" Target="../media/image132.bin"/><Relationship Id="rId8" Type="http://schemas.openxmlformats.org/officeDocument/2006/relationships/image" Target="../media/image133.bin"/></Relationships>
</file>

<file path=ppt/slides/_rels/slide3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7.xml"/><Relationship Id="rId3" Type="http://schemas.openxmlformats.org/officeDocument/2006/relationships/image" Target="../media/image156.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157.bin"/><Relationship Id="rId4" Type="http://schemas.openxmlformats.org/officeDocument/2006/relationships/image" Target="../media/image158.bin"/><Relationship Id="rId5" Type="http://schemas.openxmlformats.org/officeDocument/2006/relationships/image" Target="../media/image159.bin"/><Relationship Id="rId6" Type="http://schemas.openxmlformats.org/officeDocument/2006/relationships/image" Target="../media/image160.bin"/><Relationship Id="rId7" Type="http://schemas.openxmlformats.org/officeDocument/2006/relationships/image" Target="../media/image161.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62.bin"/><Relationship Id="rId5" Type="http://schemas.openxmlformats.org/officeDocument/2006/relationships/image" Target="../media/image163.bin"/><Relationship Id="rId6" Type="http://schemas.openxmlformats.org/officeDocument/2006/relationships/image" Target="../media/image125.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5.bin"/><Relationship Id="rId5" Type="http://schemas.openxmlformats.org/officeDocument/2006/relationships/image" Target="../media/image1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 Id="rId4" Type="http://schemas.openxmlformats.org/officeDocument/2006/relationships/image" Target="../media/image125.bin"/><Relationship Id="rId5" Type="http://schemas.openxmlformats.org/officeDocument/2006/relationships/image" Target="../media/image16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11.bin"/><Relationship Id="rId4" Type="http://schemas.openxmlformats.org/officeDocument/2006/relationships/image" Target="../media/image166.bin"/><Relationship Id="rId5" Type="http://schemas.openxmlformats.org/officeDocument/2006/relationships/image" Target="../media/image101.bin"/><Relationship Id="rId6" Type="http://schemas.openxmlformats.org/officeDocument/2006/relationships/image" Target="../media/image16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bin"/><Relationship Id="rId3" Type="http://schemas.openxmlformats.org/officeDocument/2006/relationships/image" Target="../media/image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03"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04" name="Presenter Name-486">
            <a:extLst>
              <a:ext uri="{FF2B5EF4-FFF2-40B4-BE49-F238E27FC236}">
                <a16:creationId xmlns:a16="http://schemas.microsoft.com/office/drawing/2014/main" id="{111B4A49-B930-4A89-A1CD-6CA2B3D95AED}"/>
              </a:ext>
            </a:extLst>
          </p:cNvPr>
          <p:cNvSpPr txBox="1"/>
          <p:nvPr/>
        </p:nvSpPr>
        <p:spPr>
          <a:xfrm>
            <a:off x="1219200" y="6633686"/>
            <a:ext cx="2533650" cy="48577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FFFFF">
                    <a:alpha val="100000"/>
                  </a:srgbClr>
                </a:solidFill>
                <a:latin typeface="Montserrat Light" panose="00000700000000000000" pitchFamily="2" charset="0"/>
              </a:rPr>
              <a:t>Vishal Kulkarni  </a:t>
            </a:r>
          </a:p>
        </p:txBody>
      </p:sp>
      <p:sp>
        <p:nvSpPr>
          <p:cNvPr id="305" name="Awesome Presentation Title-0">
            <a:extLst>
              <a:ext uri="{FF2B5EF4-FFF2-40B4-BE49-F238E27FC236}">
                <a16:creationId xmlns:a16="http://schemas.microsoft.com/office/drawing/2014/main" id="{111B4A49-B930-4A89-A1CD-6CA2B3D95AED}"/>
              </a:ext>
            </a:extLst>
          </p:cNvPr>
          <p:cNvSpPr txBox="1"/>
          <p:nvPr/>
        </p:nvSpPr>
        <p:spPr>
          <a:xfrm>
            <a:off x="1219200" y="3626399"/>
            <a:ext cx="8553450" cy="825162"/>
          </a:xfrm>
          <a:prstGeom prst="rect">
            <a:avLst/>
          </a:prstGeom>
          <a:noFill/>
        </p:spPr>
        <p:txBody>
          <a:bodyPr vertOverflow="clip" horzOverflow="clip" wrap="square" lIns="0" tIns="0" rIns="0" bIns="0" rtlCol="0" anchor="ctr">
            <a:spAutoFit/>
          </a:bodyPr>
          <a:lstStyle/>
          <a:p>
            <a:pPr algn="l">
              <a:lnSpc>
                <a:spcPts val="6750"/>
              </a:lnSpc>
            </a:pPr>
            <a:r>
              <a:rPr lang="en-US" sz="5400" spc="-135" dirty="0">
                <a:solidFill>
                  <a:srgbClr val="FFFFFF">
                    <a:alpha val="100000"/>
                  </a:srgbClr>
                </a:solidFill>
                <a:latin typeface="Montserrat Light" panose="00000700000000000000" pitchFamily="2" charset="0"/>
              </a:rPr>
              <a:t>Portal Engineering Ltd.</a:t>
            </a:r>
          </a:p>
        </p:txBody>
      </p:sp>
      <p:sp>
        <p:nvSpPr>
          <p:cNvPr id="306"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5348668"/>
            <a:ext cx="8553450"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Investor Presentation</a:t>
            </a:r>
          </a:p>
        </p:txBody>
      </p:sp>
      <p:pic>
        <p:nvPicPr>
          <p:cNvPr id="3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3181350"/>
            <a:ext cx="19050" cy="2543175"/>
          </a:xfrm>
          <a:prstGeom prst="rect">
            <a:avLst/>
          </a:prstGeom>
        </p:spPr>
      </p:pic>
      <p:pic>
        <p:nvPicPr>
          <p:cNvPr id="308"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5">
            <a:alphaModFix/>
          </a:blip>
          <a:srcRect/>
          <a:stretch/>
        </p:blipFill>
        <p:spPr>
          <a:xfrm>
            <a:off x="10239375" y="609600"/>
            <a:ext cx="8048625" cy="96774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12"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13" name="-0">
            <a:extLst>
              <a:ext uri="{FF2B5EF4-FFF2-40B4-BE49-F238E27FC236}">
                <a16:creationId xmlns:a16="http://schemas.microsoft.com/office/drawing/2014/main" id="{111B4A49-B930-4A89-A1CD-6CA2B3D95AED}"/>
              </a:ext>
            </a:extLst>
          </p:cNvPr>
          <p:cNvSpPr txBox="1"/>
          <p:nvPr/>
        </p:nvSpPr>
        <p:spPr>
          <a:xfrm>
            <a:off x="596741" y="3432715"/>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314" name="Primary Heading-0">
            <a:extLst>
              <a:ext uri="{FF2B5EF4-FFF2-40B4-BE49-F238E27FC236}">
                <a16:creationId xmlns:a16="http://schemas.microsoft.com/office/drawing/2014/main" id="{111B4A49-B930-4A89-A1CD-6CA2B3D95AED}"/>
              </a:ext>
            </a:extLst>
          </p:cNvPr>
          <p:cNvSpPr txBox="1"/>
          <p:nvPr/>
        </p:nvSpPr>
        <p:spPr>
          <a:xfrm>
            <a:off x="1676400" y="3364135"/>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FFFFF">
                    <a:alpha val="100000"/>
                  </a:srgbClr>
                </a:solidFill>
                <a:latin typeface="Montserrat Light" panose="00000700000000000000" pitchFamily="2" charset="0"/>
              </a:rPr>
              <a:t>Vision</a:t>
            </a:r>
          </a:p>
        </p:txBody>
      </p:sp>
      <p:sp>
        <p:nvSpPr>
          <p:cNvPr id="315" name="A breif explanation of the above topic-0">
            <a:extLst>
              <a:ext uri="{FF2B5EF4-FFF2-40B4-BE49-F238E27FC236}">
                <a16:creationId xmlns:a16="http://schemas.microsoft.com/office/drawing/2014/main" id="{111B4A49-B930-4A89-A1CD-6CA2B3D95AED}"/>
              </a:ext>
            </a:extLst>
          </p:cNvPr>
          <p:cNvSpPr txBox="1"/>
          <p:nvPr/>
        </p:nvSpPr>
        <p:spPr>
          <a:xfrm>
            <a:off x="1609725" y="3915346"/>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Define the long-term vision and strategic goals for market expansion in India's elevator industry.</a:t>
            </a:r>
          </a:p>
        </p:txBody>
      </p:sp>
      <p:pic>
        <p:nvPicPr>
          <p:cNvPr id="3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5076825"/>
            <a:ext cx="8058150" cy="9525"/>
          </a:xfrm>
          <a:prstGeom prst="rect">
            <a:avLst/>
          </a:prstGeom>
        </p:spPr>
      </p:pic>
      <p:sp>
        <p:nvSpPr>
          <p:cNvPr id="317" name="-1">
            <a:extLst>
              <a:ext uri="{FF2B5EF4-FFF2-40B4-BE49-F238E27FC236}">
                <a16:creationId xmlns:a16="http://schemas.microsoft.com/office/drawing/2014/main" id="{111B4A49-B930-4A89-A1CD-6CA2B3D95AED}"/>
              </a:ext>
            </a:extLst>
          </p:cNvPr>
          <p:cNvSpPr txBox="1"/>
          <p:nvPr/>
        </p:nvSpPr>
        <p:spPr>
          <a:xfrm>
            <a:off x="564547" y="5622226"/>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318" name="Primary Heading-1">
            <a:extLst>
              <a:ext uri="{FF2B5EF4-FFF2-40B4-BE49-F238E27FC236}">
                <a16:creationId xmlns:a16="http://schemas.microsoft.com/office/drawing/2014/main" id="{111B4A49-B930-4A89-A1CD-6CA2B3D95AED}"/>
              </a:ext>
            </a:extLst>
          </p:cNvPr>
          <p:cNvSpPr txBox="1"/>
          <p:nvPr/>
        </p:nvSpPr>
        <p:spPr>
          <a:xfrm>
            <a:off x="1676400" y="5553646"/>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F2F1F3">
                    <a:alpha val="100000"/>
                  </a:srgbClr>
                </a:solidFill>
                <a:latin typeface="Montserrat Light" panose="00000700000000000000" pitchFamily="2" charset="0"/>
              </a:rPr>
              <a:t>Problem Statement</a:t>
            </a:r>
          </a:p>
        </p:txBody>
      </p:sp>
      <p:sp>
        <p:nvSpPr>
          <p:cNvPr id="319" name="A breif explanation of the above topic-1">
            <a:extLst>
              <a:ext uri="{FF2B5EF4-FFF2-40B4-BE49-F238E27FC236}">
                <a16:creationId xmlns:a16="http://schemas.microsoft.com/office/drawing/2014/main" id="{111B4A49-B930-4A89-A1CD-6CA2B3D95AED}"/>
              </a:ext>
            </a:extLst>
          </p:cNvPr>
          <p:cNvSpPr txBox="1"/>
          <p:nvPr/>
        </p:nvSpPr>
        <p:spPr>
          <a:xfrm>
            <a:off x="1609725" y="6104954"/>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Identify and analyze the current challenges and market gaps within the Indian elevator industry.</a:t>
            </a:r>
          </a:p>
        </p:txBody>
      </p:sp>
      <p:pic>
        <p:nvPicPr>
          <p:cNvPr id="3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7258050"/>
            <a:ext cx="8058150" cy="9525"/>
          </a:xfrm>
          <a:prstGeom prst="rect">
            <a:avLst/>
          </a:prstGeom>
        </p:spPr>
      </p:pic>
      <p:sp>
        <p:nvSpPr>
          <p:cNvPr id="321" name="-2">
            <a:extLst>
              <a:ext uri="{FF2B5EF4-FFF2-40B4-BE49-F238E27FC236}">
                <a16:creationId xmlns:a16="http://schemas.microsoft.com/office/drawing/2014/main" id="{111B4A49-B930-4A89-A1CD-6CA2B3D95AED}"/>
              </a:ext>
            </a:extLst>
          </p:cNvPr>
          <p:cNvSpPr txBox="1"/>
          <p:nvPr/>
        </p:nvSpPr>
        <p:spPr>
          <a:xfrm>
            <a:off x="564547" y="7811834"/>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322" name="Primary Heading-2">
            <a:extLst>
              <a:ext uri="{FF2B5EF4-FFF2-40B4-BE49-F238E27FC236}">
                <a16:creationId xmlns:a16="http://schemas.microsoft.com/office/drawing/2014/main" id="{111B4A49-B930-4A89-A1CD-6CA2B3D95AED}"/>
              </a:ext>
            </a:extLst>
          </p:cNvPr>
          <p:cNvSpPr txBox="1"/>
          <p:nvPr/>
        </p:nvSpPr>
        <p:spPr>
          <a:xfrm>
            <a:off x="1676400" y="7743254"/>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EBEAED">
                    <a:alpha val="100000"/>
                  </a:srgbClr>
                </a:solidFill>
                <a:latin typeface="Montserrat Light" panose="00000700000000000000" pitchFamily="2" charset="0"/>
              </a:rPr>
              <a:t>Solution</a:t>
            </a:r>
          </a:p>
        </p:txBody>
      </p:sp>
      <p:sp>
        <p:nvSpPr>
          <p:cNvPr id="323" name="A breif explanation of the above topic-2">
            <a:extLst>
              <a:ext uri="{FF2B5EF4-FFF2-40B4-BE49-F238E27FC236}">
                <a16:creationId xmlns:a16="http://schemas.microsoft.com/office/drawing/2014/main" id="{111B4A49-B930-4A89-A1CD-6CA2B3D95AED}"/>
              </a:ext>
            </a:extLst>
          </p:cNvPr>
          <p:cNvSpPr txBox="1"/>
          <p:nvPr/>
        </p:nvSpPr>
        <p:spPr>
          <a:xfrm>
            <a:off x="1609725" y="8294465"/>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Propose innovative solutions to address the identified challenges and improve market positioning.</a:t>
            </a:r>
          </a:p>
        </p:txBody>
      </p:sp>
      <p:pic>
        <p:nvPicPr>
          <p:cNvPr id="3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9448800"/>
            <a:ext cx="8058150" cy="9525"/>
          </a:xfrm>
          <a:prstGeom prst="rect">
            <a:avLst/>
          </a:prstGeom>
        </p:spPr>
      </p:pic>
      <p:sp>
        <p:nvSpPr>
          <p:cNvPr id="325" name="-3">
            <a:extLst>
              <a:ext uri="{FF2B5EF4-FFF2-40B4-BE49-F238E27FC236}">
                <a16:creationId xmlns:a16="http://schemas.microsoft.com/office/drawing/2014/main" id="{111B4A49-B930-4A89-A1CD-6CA2B3D95AED}"/>
              </a:ext>
            </a:extLst>
          </p:cNvPr>
          <p:cNvSpPr txBox="1"/>
          <p:nvPr/>
        </p:nvSpPr>
        <p:spPr>
          <a:xfrm>
            <a:off x="9559671" y="3432715"/>
            <a:ext cx="5905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#4</a:t>
            </a:r>
          </a:p>
        </p:txBody>
      </p:sp>
      <p:sp>
        <p:nvSpPr>
          <p:cNvPr id="326" name="Primary Heading-3">
            <a:extLst>
              <a:ext uri="{FF2B5EF4-FFF2-40B4-BE49-F238E27FC236}">
                <a16:creationId xmlns:a16="http://schemas.microsoft.com/office/drawing/2014/main" id="{111B4A49-B930-4A89-A1CD-6CA2B3D95AED}"/>
              </a:ext>
            </a:extLst>
          </p:cNvPr>
          <p:cNvSpPr txBox="1"/>
          <p:nvPr/>
        </p:nvSpPr>
        <p:spPr>
          <a:xfrm>
            <a:off x="10687050" y="3364135"/>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E5E3E7">
                    <a:alpha val="100000"/>
                  </a:srgbClr>
                </a:solidFill>
                <a:latin typeface="Montserrat Light" panose="00000700000000000000" pitchFamily="2" charset="0"/>
              </a:rPr>
              <a:t>Target Market</a:t>
            </a:r>
          </a:p>
        </p:txBody>
      </p:sp>
      <p:sp>
        <p:nvSpPr>
          <p:cNvPr id="327" name="A breif explanation of the above topic-3">
            <a:extLst>
              <a:ext uri="{FF2B5EF4-FFF2-40B4-BE49-F238E27FC236}">
                <a16:creationId xmlns:a16="http://schemas.microsoft.com/office/drawing/2014/main" id="{111B4A49-B930-4A89-A1CD-6CA2B3D95AED}"/>
              </a:ext>
            </a:extLst>
          </p:cNvPr>
          <p:cNvSpPr txBox="1"/>
          <p:nvPr/>
        </p:nvSpPr>
        <p:spPr>
          <a:xfrm>
            <a:off x="10620375" y="3915346"/>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Define the specific target market segments and consumer demographics for market expansion strategies.</a:t>
            </a:r>
          </a:p>
        </p:txBody>
      </p:sp>
      <p:pic>
        <p:nvPicPr>
          <p:cNvPr id="3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9620250" y="5076825"/>
            <a:ext cx="8058150" cy="9525"/>
          </a:xfrm>
          <a:prstGeom prst="rect">
            <a:avLst/>
          </a:prstGeom>
        </p:spPr>
      </p:pic>
      <p:sp>
        <p:nvSpPr>
          <p:cNvPr id="329" name="-4">
            <a:extLst>
              <a:ext uri="{FF2B5EF4-FFF2-40B4-BE49-F238E27FC236}">
                <a16:creationId xmlns:a16="http://schemas.microsoft.com/office/drawing/2014/main" id="{111B4A49-B930-4A89-A1CD-6CA2B3D95AED}"/>
              </a:ext>
            </a:extLst>
          </p:cNvPr>
          <p:cNvSpPr txBox="1"/>
          <p:nvPr/>
        </p:nvSpPr>
        <p:spPr>
          <a:xfrm>
            <a:off x="9574911" y="5622226"/>
            <a:ext cx="561975"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#5</a:t>
            </a:r>
          </a:p>
        </p:txBody>
      </p:sp>
      <p:sp>
        <p:nvSpPr>
          <p:cNvPr id="330" name="Primary Heading-4">
            <a:extLst>
              <a:ext uri="{FF2B5EF4-FFF2-40B4-BE49-F238E27FC236}">
                <a16:creationId xmlns:a16="http://schemas.microsoft.com/office/drawing/2014/main" id="{111B4A49-B930-4A89-A1CD-6CA2B3D95AED}"/>
              </a:ext>
            </a:extLst>
          </p:cNvPr>
          <p:cNvSpPr txBox="1"/>
          <p:nvPr/>
        </p:nvSpPr>
        <p:spPr>
          <a:xfrm>
            <a:off x="10687050" y="5553646"/>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DEDCE1">
                    <a:alpha val="100000"/>
                  </a:srgbClr>
                </a:solidFill>
                <a:latin typeface="Montserrat Light" panose="00000700000000000000" pitchFamily="2" charset="0"/>
              </a:rPr>
              <a:t>Competitive Landscape</a:t>
            </a:r>
          </a:p>
        </p:txBody>
      </p:sp>
      <p:sp>
        <p:nvSpPr>
          <p:cNvPr id="331" name="A breif explanation of the above topic-4">
            <a:extLst>
              <a:ext uri="{FF2B5EF4-FFF2-40B4-BE49-F238E27FC236}">
                <a16:creationId xmlns:a16="http://schemas.microsoft.com/office/drawing/2014/main" id="{111B4A49-B930-4A89-A1CD-6CA2B3D95AED}"/>
              </a:ext>
            </a:extLst>
          </p:cNvPr>
          <p:cNvSpPr txBox="1"/>
          <p:nvPr/>
        </p:nvSpPr>
        <p:spPr>
          <a:xfrm>
            <a:off x="10620375" y="6104954"/>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Analyze the competitive landscape in the elevator industry in India, including key players and market positioning.</a:t>
            </a:r>
          </a:p>
        </p:txBody>
      </p:sp>
      <p:pic>
        <p:nvPicPr>
          <p:cNvPr id="3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620250" y="7258050"/>
            <a:ext cx="8058150" cy="9525"/>
          </a:xfrm>
          <a:prstGeom prst="rect">
            <a:avLst/>
          </a:prstGeom>
        </p:spPr>
      </p:pic>
      <p:sp>
        <p:nvSpPr>
          <p:cNvPr id="333" name="-5">
            <a:extLst>
              <a:ext uri="{FF2B5EF4-FFF2-40B4-BE49-F238E27FC236}">
                <a16:creationId xmlns:a16="http://schemas.microsoft.com/office/drawing/2014/main" id="{111B4A49-B930-4A89-A1CD-6CA2B3D95AED}"/>
              </a:ext>
            </a:extLst>
          </p:cNvPr>
          <p:cNvSpPr txBox="1"/>
          <p:nvPr/>
        </p:nvSpPr>
        <p:spPr>
          <a:xfrm>
            <a:off x="9567958" y="7811834"/>
            <a:ext cx="5715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#6</a:t>
            </a:r>
          </a:p>
        </p:txBody>
      </p:sp>
      <p:sp>
        <p:nvSpPr>
          <p:cNvPr id="334" name="Primary Heading-5">
            <a:extLst>
              <a:ext uri="{FF2B5EF4-FFF2-40B4-BE49-F238E27FC236}">
                <a16:creationId xmlns:a16="http://schemas.microsoft.com/office/drawing/2014/main" id="{111B4A49-B930-4A89-A1CD-6CA2B3D95AED}"/>
              </a:ext>
            </a:extLst>
          </p:cNvPr>
          <p:cNvSpPr txBox="1"/>
          <p:nvPr/>
        </p:nvSpPr>
        <p:spPr>
          <a:xfrm>
            <a:off x="10687050" y="7743254"/>
            <a:ext cx="7134225" cy="466725"/>
          </a:xfrm>
          <a:prstGeom prst="rect">
            <a:avLst/>
          </a:prstGeom>
          <a:noFill/>
        </p:spPr>
        <p:txBody>
          <a:bodyPr vertOverflow="clip" horzOverflow="clip" wrap="square" lIns="0" tIns="0" rIns="0" bIns="0" rtlCol="0" anchor="ctr">
            <a:spAutoFit/>
          </a:bodyPr>
          <a:lstStyle/>
          <a:p>
            <a:pPr algn="l">
              <a:lnSpc>
                <a:spcPts val="3591"/>
              </a:lnSpc>
            </a:pPr>
            <a:r>
              <a:rPr lang="en-US" sz="2700" spc="-54" dirty="0">
                <a:solidFill>
                  <a:srgbClr val="D8D6DC">
                    <a:alpha val="100000"/>
                  </a:srgbClr>
                </a:solidFill>
                <a:latin typeface="Montserrat Light" panose="00000700000000000000" pitchFamily="2" charset="0"/>
              </a:rPr>
              <a:t>Financials</a:t>
            </a:r>
          </a:p>
        </p:txBody>
      </p:sp>
      <p:sp>
        <p:nvSpPr>
          <p:cNvPr id="335" name="A breif explanation of the above topic-5">
            <a:extLst>
              <a:ext uri="{FF2B5EF4-FFF2-40B4-BE49-F238E27FC236}">
                <a16:creationId xmlns:a16="http://schemas.microsoft.com/office/drawing/2014/main" id="{111B4A49-B930-4A89-A1CD-6CA2B3D95AED}"/>
              </a:ext>
            </a:extLst>
          </p:cNvPr>
          <p:cNvSpPr txBox="1"/>
          <p:nvPr/>
        </p:nvSpPr>
        <p:spPr>
          <a:xfrm>
            <a:off x="10620375" y="8294465"/>
            <a:ext cx="713422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Present financial projections and estimations for market expansion initiatives in the Indian elevator sector.</a:t>
            </a:r>
          </a:p>
        </p:txBody>
      </p:sp>
      <p:pic>
        <p:nvPicPr>
          <p:cNvPr id="3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9620250" y="9448800"/>
            <a:ext cx="8058150" cy="9525"/>
          </a:xfrm>
          <a:prstGeom prst="rect">
            <a:avLst/>
          </a:prstGeom>
        </p:spPr>
      </p:pic>
      <p:sp>
        <p:nvSpPr>
          <p:cNvPr id="337" name="Click here to edit title-426">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Agenda</a:t>
            </a:r>
          </a:p>
        </p:txBody>
      </p:sp>
      <p:sp>
        <p:nvSpPr>
          <p:cNvPr id="338" name="Click here to edit subtitle-418">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Points for Market Expansion in India's Elevator Industry</a:t>
            </a:r>
          </a:p>
        </p:txBody>
      </p:sp>
      <p:sp>
        <p:nvSpPr>
          <p:cNvPr id="339" name="Click here to edit label-405">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EXPANSION STRATEGIES</a:t>
            </a:r>
          </a:p>
        </p:txBody>
      </p:sp>
      <p:pic>
        <p:nvPicPr>
          <p:cNvPr id="3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4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347" name="Title label here-0">
            <a:extLst>
              <a:ext uri="{FF2B5EF4-FFF2-40B4-BE49-F238E27FC236}">
                <a16:creationId xmlns:a16="http://schemas.microsoft.com/office/drawing/2014/main" id="{111B4A49-B930-4A89-A1CD-6CA2B3D95AED}"/>
              </a:ext>
            </a:extLst>
          </p:cNvPr>
          <p:cNvSpPr txBox="1"/>
          <p:nvPr/>
        </p:nvSpPr>
        <p:spPr>
          <a:xfrm>
            <a:off x="1219200" y="3169348"/>
            <a:ext cx="8372475" cy="285750"/>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INNOVATIVE VISION</a:t>
            </a:r>
          </a:p>
        </p:txBody>
      </p:sp>
      <p:sp>
        <p:nvSpPr>
          <p:cNvPr id="348" name="Awesome Section Break-0">
            <a:extLst>
              <a:ext uri="{FF2B5EF4-FFF2-40B4-BE49-F238E27FC236}">
                <a16:creationId xmlns:a16="http://schemas.microsoft.com/office/drawing/2014/main" id="{111B4A49-B930-4A89-A1CD-6CA2B3D95AED}"/>
              </a:ext>
            </a:extLst>
          </p:cNvPr>
          <p:cNvSpPr txBox="1"/>
          <p:nvPr/>
        </p:nvSpPr>
        <p:spPr>
          <a:xfrm>
            <a:off x="1219200" y="3486245"/>
            <a:ext cx="8372475" cy="110490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Vision</a:t>
            </a:r>
          </a:p>
        </p:txBody>
      </p:sp>
      <p:sp>
        <p:nvSpPr>
          <p:cNvPr id="349"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4871966"/>
            <a:ext cx="6780935" cy="717376"/>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To be the Leading Innovator and solutions provider in the Global Elevator &amp; Parking Systems Industry </a:t>
            </a:r>
          </a:p>
        </p:txBody>
      </p:sp>
      <p:pic>
        <p:nvPicPr>
          <p:cNvPr id="3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3171825"/>
            <a:ext cx="19050" cy="22383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5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391400" y="6086475"/>
            <a:ext cx="2790825" cy="3590925"/>
          </a:xfrm>
          <a:prstGeom prst="rect">
            <a:avLst/>
          </a:prstGeom>
          <a:effectLst>
            <a:outerShdw blurRad="114300" dir="2700000" algn="ctr" rotWithShape="0">
              <a:srgbClr val="000000">
                <a:alpha val="40000"/>
              </a:srgbClr>
            </a:outerShdw>
          </a:effectLst>
        </p:spPr>
      </p:pic>
      <p:pic>
        <p:nvPicPr>
          <p:cNvPr id="356" name="imageNode10cb2bec-b19d-403c-a627-0cd0c1a333f4">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5">
            <a:alphaModFix/>
          </a:blip>
          <a:stretch/>
        </p:blipFill>
        <p:spPr>
          <a:xfrm>
            <a:off x="7391400" y="6086475"/>
            <a:ext cx="2790825" cy="3590925"/>
          </a:xfrm>
          <a:prstGeom prst="rect">
            <a:avLst/>
          </a:prstGeom>
          <a:effectLst>
            <a:outerShdw blurRad="114300" dir="2700000" algn="ctr" rotWithShape="0">
              <a:srgbClr val="000000">
                <a:alpha val="40000"/>
              </a:srgbClr>
            </a:outerShdw>
          </a:effectLst>
        </p:spPr>
      </p:pic>
      <p:sp>
        <p:nvSpPr>
          <p:cNvPr id="357" name="-0">
            <a:extLst>
              <a:ext uri="{FF2B5EF4-FFF2-40B4-BE49-F238E27FC236}">
                <a16:creationId xmlns:a16="http://schemas.microsoft.com/office/drawing/2014/main" id="{111B4A49-B930-4A89-A1CD-6CA2B3D95AED}"/>
              </a:ext>
            </a:extLst>
          </p:cNvPr>
          <p:cNvSpPr txBox="1"/>
          <p:nvPr/>
        </p:nvSpPr>
        <p:spPr>
          <a:xfrm>
            <a:off x="8596789" y="7767638"/>
            <a:ext cx="390525"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#1</a:t>
            </a:r>
          </a:p>
        </p:txBody>
      </p:sp>
      <p:sp>
        <p:nvSpPr>
          <p:cNvPr id="358" name="Primary Heading-0">
            <a:extLst>
              <a:ext uri="{FF2B5EF4-FFF2-40B4-BE49-F238E27FC236}">
                <a16:creationId xmlns:a16="http://schemas.microsoft.com/office/drawing/2014/main" id="{111B4A49-B930-4A89-A1CD-6CA2B3D95AED}"/>
              </a:ext>
            </a:extLst>
          </p:cNvPr>
          <p:cNvSpPr txBox="1"/>
          <p:nvPr/>
        </p:nvSpPr>
        <p:spPr>
          <a:xfrm>
            <a:off x="7391400" y="609600"/>
            <a:ext cx="2933700" cy="771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Strong Market Presence for 15 Years</a:t>
            </a:r>
          </a:p>
        </p:txBody>
      </p:sp>
      <p:sp>
        <p:nvSpPr>
          <p:cNvPr id="359" name="Description of a primary heading-0">
            <a:extLst>
              <a:ext uri="{FF2B5EF4-FFF2-40B4-BE49-F238E27FC236}">
                <a16:creationId xmlns:a16="http://schemas.microsoft.com/office/drawing/2014/main" id="{111B4A49-B930-4A89-A1CD-6CA2B3D95AED}"/>
              </a:ext>
            </a:extLst>
          </p:cNvPr>
          <p:cNvSpPr txBox="1"/>
          <p:nvPr/>
        </p:nvSpPr>
        <p:spPr>
          <a:xfrm>
            <a:off x="7324725" y="2276475"/>
            <a:ext cx="2933700" cy="30956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Our company has established a robust market presence over 15 years, specializing in top-tier automatic doors for lifts, hydraulic power packs, cylinders, and multi-level car parking systems.</a:t>
            </a:r>
          </a:p>
        </p:txBody>
      </p:sp>
      <p:pic>
        <p:nvPicPr>
          <p:cNvPr id="3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658475" y="609600"/>
            <a:ext cx="9525" cy="9067800"/>
          </a:xfrm>
          <a:prstGeom prst="rect">
            <a:avLst/>
          </a:prstGeom>
        </p:spPr>
      </p:pic>
      <p:pic>
        <p:nvPicPr>
          <p:cNvPr id="36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1134725" y="6086475"/>
            <a:ext cx="2790825" cy="3590925"/>
          </a:xfrm>
          <a:prstGeom prst="rect">
            <a:avLst/>
          </a:prstGeom>
          <a:effectLst>
            <a:outerShdw blurRad="114300" dir="2700000" algn="ctr" rotWithShape="0">
              <a:srgbClr val="000000">
                <a:alpha val="40000"/>
              </a:srgbClr>
            </a:outerShdw>
          </a:effectLst>
        </p:spPr>
      </p:pic>
      <p:pic>
        <p:nvPicPr>
          <p:cNvPr id="362" name="imageNodebb947006-687f-411d-92c6-8c9bf98f9de5">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7">
            <a:alphaModFix/>
          </a:blip>
          <a:srcRect/>
          <a:stretch/>
        </p:blipFill>
        <p:spPr>
          <a:xfrm>
            <a:off x="11134725" y="6086475"/>
            <a:ext cx="2790825" cy="3590925"/>
          </a:xfrm>
          <a:prstGeom prst="rect">
            <a:avLst/>
          </a:prstGeom>
          <a:effectLst>
            <a:outerShdw blurRad="114300" dir="2700000" algn="ctr" rotWithShape="0">
              <a:srgbClr val="000000">
                <a:alpha val="40000"/>
              </a:srgbClr>
            </a:outerShdw>
          </a:effectLst>
        </p:spPr>
      </p:pic>
      <p:sp>
        <p:nvSpPr>
          <p:cNvPr id="363" name="-1">
            <a:extLst>
              <a:ext uri="{FF2B5EF4-FFF2-40B4-BE49-F238E27FC236}">
                <a16:creationId xmlns:a16="http://schemas.microsoft.com/office/drawing/2014/main" id="{111B4A49-B930-4A89-A1CD-6CA2B3D95AED}"/>
              </a:ext>
            </a:extLst>
          </p:cNvPr>
          <p:cNvSpPr txBox="1"/>
          <p:nvPr/>
        </p:nvSpPr>
        <p:spPr>
          <a:xfrm>
            <a:off x="12320302" y="7767638"/>
            <a:ext cx="438150"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#2</a:t>
            </a:r>
          </a:p>
        </p:txBody>
      </p:sp>
      <p:sp>
        <p:nvSpPr>
          <p:cNvPr id="364" name="Primary Heading-1">
            <a:extLst>
              <a:ext uri="{FF2B5EF4-FFF2-40B4-BE49-F238E27FC236}">
                <a16:creationId xmlns:a16="http://schemas.microsoft.com/office/drawing/2014/main" id="{111B4A49-B930-4A89-A1CD-6CA2B3D95AED}"/>
              </a:ext>
            </a:extLst>
          </p:cNvPr>
          <p:cNvSpPr txBox="1"/>
          <p:nvPr/>
        </p:nvSpPr>
        <p:spPr>
          <a:xfrm>
            <a:off x="11137964" y="609600"/>
            <a:ext cx="2933700" cy="1524000"/>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Formidable Competition from Multinational Corporations</a:t>
            </a:r>
          </a:p>
        </p:txBody>
      </p:sp>
      <p:sp>
        <p:nvSpPr>
          <p:cNvPr id="365" name="Description of a primary heading-1">
            <a:extLst>
              <a:ext uri="{FF2B5EF4-FFF2-40B4-BE49-F238E27FC236}">
                <a16:creationId xmlns:a16="http://schemas.microsoft.com/office/drawing/2014/main" id="{111B4A49-B930-4A89-A1CD-6CA2B3D95AED}"/>
              </a:ext>
            </a:extLst>
          </p:cNvPr>
          <p:cNvSpPr txBox="1"/>
          <p:nvPr/>
        </p:nvSpPr>
        <p:spPr>
          <a:xfrm>
            <a:off x="11071288" y="2276475"/>
            <a:ext cx="2933700" cy="34385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Facing tough competition from multinational corporations and traders importing elevator components from Europe and China, posing a significant threat to our market share.</a:t>
            </a:r>
          </a:p>
        </p:txBody>
      </p:sp>
      <p:pic>
        <p:nvPicPr>
          <p:cNvPr id="3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4401800" y="609600"/>
            <a:ext cx="9525" cy="9067800"/>
          </a:xfrm>
          <a:prstGeom prst="rect">
            <a:avLst/>
          </a:prstGeom>
        </p:spPr>
      </p:pic>
      <p:pic>
        <p:nvPicPr>
          <p:cNvPr id="3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4887575" y="6086475"/>
            <a:ext cx="2790825" cy="3590925"/>
          </a:xfrm>
          <a:prstGeom prst="rect">
            <a:avLst/>
          </a:prstGeom>
          <a:effectLst>
            <a:outerShdw blurRad="114300" dir="2700000" algn="ctr" rotWithShape="0">
              <a:srgbClr val="000000">
                <a:alpha val="40000"/>
              </a:srgbClr>
            </a:outerShdw>
          </a:effectLst>
        </p:spPr>
      </p:pic>
      <p:pic>
        <p:nvPicPr>
          <p:cNvPr id="368" name="imageNode8fbe0046-be4f-422d-bde8-0a5c687334b9">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9">
            <a:alphaModFix/>
          </a:blip>
          <a:srcRect/>
          <a:stretch/>
        </p:blipFill>
        <p:spPr>
          <a:xfrm>
            <a:off x="14887575" y="6086475"/>
            <a:ext cx="2790825" cy="3590925"/>
          </a:xfrm>
          <a:prstGeom prst="rect">
            <a:avLst/>
          </a:prstGeom>
          <a:effectLst>
            <a:outerShdw blurRad="114300" dir="2700000" algn="ctr" rotWithShape="0">
              <a:srgbClr val="000000">
                <a:alpha val="40000"/>
              </a:srgbClr>
            </a:outerShdw>
          </a:effectLst>
        </p:spPr>
      </p:pic>
      <p:sp>
        <p:nvSpPr>
          <p:cNvPr id="369" name="-2">
            <a:extLst>
              <a:ext uri="{FF2B5EF4-FFF2-40B4-BE49-F238E27FC236}">
                <a16:creationId xmlns:a16="http://schemas.microsoft.com/office/drawing/2014/main" id="{111B4A49-B930-4A89-A1CD-6CA2B3D95AED}"/>
              </a:ext>
            </a:extLst>
          </p:cNvPr>
          <p:cNvSpPr txBox="1"/>
          <p:nvPr/>
        </p:nvSpPr>
        <p:spPr>
          <a:xfrm>
            <a:off x="16066865" y="7767638"/>
            <a:ext cx="438150" cy="238125"/>
          </a:xfrm>
          <a:prstGeom prst="rect">
            <a:avLst/>
          </a:prstGeom>
          <a:noFill/>
        </p:spPr>
        <p:txBody>
          <a:bodyPr vertOverflow="clip" horzOverflow="clip" wrap="square" lIns="0" tIns="0" rIns="0" bIns="0" rtlCol="0" anchor="ctr">
            <a:spAutoFit/>
          </a:bodyPr>
          <a:lstStyle/>
          <a:p>
            <a:pPr algn="l"/>
            <a:r>
              <a:rPr lang="en-US" sz="1800" b="1" dirty="0">
                <a:solidFill>
                  <a:srgbClr val="FFFFFF">
                    <a:alpha val="100000"/>
                  </a:srgbClr>
                </a:solidFill>
                <a:latin typeface="Montserrat" panose="00000700000000000000" pitchFamily="2" charset="0"/>
              </a:rPr>
              <a:t>#3</a:t>
            </a:r>
          </a:p>
        </p:txBody>
      </p:sp>
      <p:sp>
        <p:nvSpPr>
          <p:cNvPr id="370" name="Primary Heading-2">
            <a:extLst>
              <a:ext uri="{FF2B5EF4-FFF2-40B4-BE49-F238E27FC236}">
                <a16:creationId xmlns:a16="http://schemas.microsoft.com/office/drawing/2014/main" id="{111B4A49-B930-4A89-A1CD-6CA2B3D95AED}"/>
              </a:ext>
            </a:extLst>
          </p:cNvPr>
          <p:cNvSpPr txBox="1"/>
          <p:nvPr/>
        </p:nvSpPr>
        <p:spPr>
          <a:xfrm>
            <a:off x="14884527" y="609600"/>
            <a:ext cx="2933700" cy="1143000"/>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Leveraging Skilled Technical Team and Design Capabilities</a:t>
            </a:r>
          </a:p>
        </p:txBody>
      </p:sp>
      <p:sp>
        <p:nvSpPr>
          <p:cNvPr id="371" name="Description of a primary heading-2">
            <a:extLst>
              <a:ext uri="{FF2B5EF4-FFF2-40B4-BE49-F238E27FC236}">
                <a16:creationId xmlns:a16="http://schemas.microsoft.com/office/drawing/2014/main" id="{111B4A49-B930-4A89-A1CD-6CA2B3D95AED}"/>
              </a:ext>
            </a:extLst>
          </p:cNvPr>
          <p:cNvSpPr txBox="1"/>
          <p:nvPr/>
        </p:nvSpPr>
        <p:spPr>
          <a:xfrm>
            <a:off x="14817852" y="2276475"/>
            <a:ext cx="2933700" cy="34385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We aim to leverage our highly skilled technical team, robust design capabilities, and advanced manufacturing facility to outpace competition and drive innovation in a saturated market dominated by imports.</a:t>
            </a:r>
          </a:p>
        </p:txBody>
      </p:sp>
      <p:sp>
        <p:nvSpPr>
          <p:cNvPr id="372" name="Click here to edit title-484">
            <a:extLst>
              <a:ext uri="{FF2B5EF4-FFF2-40B4-BE49-F238E27FC236}">
                <a16:creationId xmlns:a16="http://schemas.microsoft.com/office/drawing/2014/main" id="{111B4A49-B930-4A89-A1CD-6CA2B3D95AED}"/>
              </a:ext>
            </a:extLst>
          </p:cNvPr>
          <p:cNvSpPr txBox="1"/>
          <p:nvPr/>
        </p:nvSpPr>
        <p:spPr>
          <a:xfrm>
            <a:off x="1219200" y="4305300"/>
            <a:ext cx="56673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Problem Statement</a:t>
            </a:r>
          </a:p>
        </p:txBody>
      </p:sp>
      <p:sp>
        <p:nvSpPr>
          <p:cNvPr id="373" name="Click here to edit subtitle-422">
            <a:extLst>
              <a:ext uri="{FF2B5EF4-FFF2-40B4-BE49-F238E27FC236}">
                <a16:creationId xmlns:a16="http://schemas.microsoft.com/office/drawing/2014/main" id="{111B4A49-B930-4A89-A1CD-6CA2B3D95AED}"/>
              </a:ext>
            </a:extLst>
          </p:cNvPr>
          <p:cNvSpPr txBox="1"/>
          <p:nvPr/>
        </p:nvSpPr>
        <p:spPr>
          <a:xfrm>
            <a:off x="1219200" y="5410200"/>
            <a:ext cx="56673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Challenges Faced by Our Manufacturing Company in the Elevator Industry</a:t>
            </a:r>
          </a:p>
        </p:txBody>
      </p:sp>
      <p:sp>
        <p:nvSpPr>
          <p:cNvPr id="374" name="Click here to edit label-419">
            <a:extLst>
              <a:ext uri="{FF2B5EF4-FFF2-40B4-BE49-F238E27FC236}">
                <a16:creationId xmlns:a16="http://schemas.microsoft.com/office/drawing/2014/main" id="{111B4A49-B930-4A89-A1CD-6CA2B3D95AED}"/>
              </a:ext>
            </a:extLst>
          </p:cNvPr>
          <p:cNvSpPr txBox="1"/>
          <p:nvPr/>
        </p:nvSpPr>
        <p:spPr>
          <a:xfrm>
            <a:off x="1219200" y="3962400"/>
            <a:ext cx="56673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INDUSTRY CHALLENGES AND COMPETITIVE LANDSCAPE</a:t>
            </a:r>
          </a:p>
        </p:txBody>
      </p:sp>
      <p:pic>
        <p:nvPicPr>
          <p:cNvPr id="37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3819525"/>
            <a:ext cx="1143000" cy="1143000"/>
          </a:xfrm>
          <a:prstGeom prst="rect">
            <a:avLst/>
          </a:prstGeom>
        </p:spPr>
      </p:pic>
      <p:pic>
        <p:nvPicPr>
          <p:cNvPr id="381" name="iconNode09897b9a-c023-4e10-9efe-37bd929300f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0CF7955-4157-4C81-9236-F3BCB02DB40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5350" y="4105275"/>
            <a:ext cx="571500" cy="571500"/>
          </a:xfrm>
          <a:prstGeom prst="rect">
            <a:avLst/>
          </a:prstGeom>
        </p:spPr>
      </p:pic>
      <p:sp>
        <p:nvSpPr>
          <p:cNvPr id="382" name="Primary Heading-0">
            <a:extLst>
              <a:ext uri="{FF2B5EF4-FFF2-40B4-BE49-F238E27FC236}">
                <a16:creationId xmlns:a16="http://schemas.microsoft.com/office/drawing/2014/main" id="{111B4A49-B930-4A89-A1CD-6CA2B3D95AED}"/>
              </a:ext>
            </a:extLst>
          </p:cNvPr>
          <p:cNvSpPr txBox="1"/>
          <p:nvPr/>
        </p:nvSpPr>
        <p:spPr>
          <a:xfrm>
            <a:off x="60960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Hydraulic Cylinders and Power Packs</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542925" y="6465760"/>
            <a:ext cx="2790825" cy="17240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Key components for elevators providing necessary force and control for efficient vertical movement.</a:t>
            </a:r>
          </a:p>
        </p:txBody>
      </p:sp>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733800" y="3819525"/>
            <a:ext cx="9525" cy="470535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4210050" y="3819525"/>
            <a:ext cx="1143000" cy="1143000"/>
          </a:xfrm>
          <a:prstGeom prst="rect">
            <a:avLst/>
          </a:prstGeom>
        </p:spPr>
      </p:pic>
      <p:pic>
        <p:nvPicPr>
          <p:cNvPr id="386" name="iconNodea3d46224-63f4-463c-8734-ec4120fb99c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AB085B92-A25D-4864-B7EB-5C143D2E2F2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4495800" y="4105275"/>
            <a:ext cx="571500" cy="571500"/>
          </a:xfrm>
          <a:prstGeom prst="rect">
            <a:avLst/>
          </a:prstGeom>
        </p:spPr>
      </p:pic>
      <p:sp>
        <p:nvSpPr>
          <p:cNvPr id="387" name="Primary Heading-1">
            <a:extLst>
              <a:ext uri="{FF2B5EF4-FFF2-40B4-BE49-F238E27FC236}">
                <a16:creationId xmlns:a16="http://schemas.microsoft.com/office/drawing/2014/main" id="{111B4A49-B930-4A89-A1CD-6CA2B3D95AED}"/>
              </a:ext>
            </a:extLst>
          </p:cNvPr>
          <p:cNvSpPr txBox="1"/>
          <p:nvPr/>
        </p:nvSpPr>
        <p:spPr>
          <a:xfrm>
            <a:off x="421386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2F1F3">
                    <a:alpha val="100000"/>
                  </a:srgbClr>
                </a:solidFill>
                <a:latin typeface="Montserrat Light" panose="00000700000000000000" pitchFamily="2" charset="0"/>
              </a:rPr>
              <a:t>Automatic Doors for Elevators</a:t>
            </a:r>
          </a:p>
        </p:txBody>
      </p:sp>
      <p:sp>
        <p:nvSpPr>
          <p:cNvPr id="388" name="Description of a primary heading-1">
            <a:extLst>
              <a:ext uri="{FF2B5EF4-FFF2-40B4-BE49-F238E27FC236}">
                <a16:creationId xmlns:a16="http://schemas.microsoft.com/office/drawing/2014/main" id="{111B4A49-B930-4A89-A1CD-6CA2B3D95AED}"/>
              </a:ext>
            </a:extLst>
          </p:cNvPr>
          <p:cNvSpPr txBox="1"/>
          <p:nvPr/>
        </p:nvSpPr>
        <p:spPr>
          <a:xfrm>
            <a:off x="414718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Enhancing safety and convenience, these doors offer seamless automatic operation for both residential and commercial buildings.</a:t>
            </a:r>
          </a:p>
        </p:txBody>
      </p:sp>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34250" y="3819525"/>
            <a:ext cx="9525" cy="4705350"/>
          </a:xfrm>
          <a:prstGeom prst="rect">
            <a:avLst/>
          </a:prstGeom>
        </p:spPr>
      </p:pic>
      <p:pic>
        <p:nvPicPr>
          <p:cNvPr id="3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820025" y="3819525"/>
            <a:ext cx="1143000" cy="1143000"/>
          </a:xfrm>
          <a:prstGeom prst="rect">
            <a:avLst/>
          </a:prstGeom>
        </p:spPr>
      </p:pic>
      <p:pic>
        <p:nvPicPr>
          <p:cNvPr id="391" name="iconNodefd011f6b-e4b7-474e-aa8d-94d4652060b8">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BA5B00F1-5350-4D5D-A9C1-0A4875FDD81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105775" y="4105275"/>
            <a:ext cx="571500" cy="571500"/>
          </a:xfrm>
          <a:prstGeom prst="rect">
            <a:avLst/>
          </a:prstGeom>
        </p:spPr>
      </p:pic>
      <p:sp>
        <p:nvSpPr>
          <p:cNvPr id="392" name="Primary Heading-2">
            <a:extLst>
              <a:ext uri="{FF2B5EF4-FFF2-40B4-BE49-F238E27FC236}">
                <a16:creationId xmlns:a16="http://schemas.microsoft.com/office/drawing/2014/main" id="{111B4A49-B930-4A89-A1CD-6CA2B3D95AED}"/>
              </a:ext>
            </a:extLst>
          </p:cNvPr>
          <p:cNvSpPr txBox="1"/>
          <p:nvPr/>
        </p:nvSpPr>
        <p:spPr>
          <a:xfrm>
            <a:off x="781812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BEAED">
                    <a:alpha val="100000"/>
                  </a:srgbClr>
                </a:solidFill>
                <a:latin typeface="Montserrat Light" panose="00000700000000000000" pitchFamily="2" charset="0"/>
              </a:rPr>
              <a:t>Vertical Telescopic Doors</a:t>
            </a:r>
          </a:p>
        </p:txBody>
      </p:sp>
      <p:sp>
        <p:nvSpPr>
          <p:cNvPr id="393" name="Description of a primary heading-2">
            <a:extLst>
              <a:ext uri="{FF2B5EF4-FFF2-40B4-BE49-F238E27FC236}">
                <a16:creationId xmlns:a16="http://schemas.microsoft.com/office/drawing/2014/main" id="{111B4A49-B930-4A89-A1CD-6CA2B3D95AED}"/>
              </a:ext>
            </a:extLst>
          </p:cNvPr>
          <p:cNvSpPr txBox="1"/>
          <p:nvPr/>
        </p:nvSpPr>
        <p:spPr>
          <a:xfrm>
            <a:off x="775144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Maximizing space efficiency, these doors are ideal for car and goods elevators, ensuring safe loading and unloading.</a:t>
            </a:r>
          </a:p>
        </p:txBody>
      </p:sp>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10944225" y="3819525"/>
            <a:ext cx="9525" cy="47053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1420475" y="3819525"/>
            <a:ext cx="1143000" cy="1143000"/>
          </a:xfrm>
          <a:prstGeom prst="rect">
            <a:avLst/>
          </a:prstGeom>
        </p:spPr>
      </p:pic>
      <p:pic>
        <p:nvPicPr>
          <p:cNvPr id="396" name="iconNode9153d35f-cf39-4321-96cf-ef756492a6de">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CB3F158F-0019-4F59-AF63-D8D04BFD9A1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1706225" y="4105275"/>
            <a:ext cx="571500" cy="571500"/>
          </a:xfrm>
          <a:prstGeom prst="rect">
            <a:avLst/>
          </a:prstGeom>
        </p:spPr>
      </p:pic>
      <p:sp>
        <p:nvSpPr>
          <p:cNvPr id="397" name="Primary Heading-3">
            <a:extLst>
              <a:ext uri="{FF2B5EF4-FFF2-40B4-BE49-F238E27FC236}">
                <a16:creationId xmlns:a16="http://schemas.microsoft.com/office/drawing/2014/main" id="{111B4A49-B930-4A89-A1CD-6CA2B3D95AED}"/>
              </a:ext>
            </a:extLst>
          </p:cNvPr>
          <p:cNvSpPr txBox="1"/>
          <p:nvPr/>
        </p:nvSpPr>
        <p:spPr>
          <a:xfrm>
            <a:off x="1142238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5E3E7">
                    <a:alpha val="100000"/>
                  </a:srgbClr>
                </a:solidFill>
                <a:latin typeface="Montserrat Light" panose="00000700000000000000" pitchFamily="2" charset="0"/>
              </a:rPr>
              <a:t>Car Parking Systems</a:t>
            </a:r>
          </a:p>
        </p:txBody>
      </p:sp>
      <p:sp>
        <p:nvSpPr>
          <p:cNvPr id="398" name="Description of a primary heading-3">
            <a:extLst>
              <a:ext uri="{FF2B5EF4-FFF2-40B4-BE49-F238E27FC236}">
                <a16:creationId xmlns:a16="http://schemas.microsoft.com/office/drawing/2014/main" id="{111B4A49-B930-4A89-A1CD-6CA2B3D95AED}"/>
              </a:ext>
            </a:extLst>
          </p:cNvPr>
          <p:cNvSpPr txBox="1"/>
          <p:nvPr/>
        </p:nvSpPr>
        <p:spPr>
          <a:xfrm>
            <a:off x="11355705" y="6476899"/>
            <a:ext cx="2790825" cy="1701748"/>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Crafted for safety, durability and reliability, these </a:t>
            </a:r>
            <a:r>
              <a:rPr lang="en-US" spc="-18" dirty="0">
                <a:solidFill>
                  <a:srgbClr val="E5E3E7">
                    <a:alpha val="100000"/>
                  </a:srgbClr>
                </a:solidFill>
                <a:latin typeface="Montserrat Light" panose="00000700000000000000" pitchFamily="2" charset="0"/>
              </a:rPr>
              <a:t>multi-level parking systems are budget friendly </a:t>
            </a:r>
            <a:endParaRPr lang="en-US" sz="1800" spc="-18" dirty="0">
              <a:solidFill>
                <a:srgbClr val="E5E3E7">
                  <a:alpha val="100000"/>
                </a:srgbClr>
              </a:solidFill>
              <a:latin typeface="Montserrat Light" panose="00000700000000000000" pitchFamily="2" charset="0"/>
            </a:endParaRP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14544675" y="3819525"/>
            <a:ext cx="9525" cy="4705350"/>
          </a:xfrm>
          <a:prstGeom prst="rect">
            <a:avLst/>
          </a:prstGeom>
        </p:spPr>
      </p:pic>
      <p:pic>
        <p:nvPicPr>
          <p:cNvPr id="4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5030450" y="3819525"/>
            <a:ext cx="1143000" cy="1143000"/>
          </a:xfrm>
          <a:prstGeom prst="rect">
            <a:avLst/>
          </a:prstGeom>
        </p:spPr>
      </p:pic>
      <p:pic>
        <p:nvPicPr>
          <p:cNvPr id="401" name="iconNodec4c772b4-2041-409f-bbc4-1d8e87c5648a">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extLst>
              <a:ext uri="{691C81C1-F416-443F-8537-890439D13A4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316200" y="4105275"/>
            <a:ext cx="571500" cy="571500"/>
          </a:xfrm>
          <a:prstGeom prst="rect">
            <a:avLst/>
          </a:prstGeom>
        </p:spPr>
      </p:pic>
      <p:sp>
        <p:nvSpPr>
          <p:cNvPr id="402" name="Primary Heading-4">
            <a:extLst>
              <a:ext uri="{FF2B5EF4-FFF2-40B4-BE49-F238E27FC236}">
                <a16:creationId xmlns:a16="http://schemas.microsoft.com/office/drawing/2014/main" id="{111B4A49-B930-4A89-A1CD-6CA2B3D95AED}"/>
              </a:ext>
            </a:extLst>
          </p:cNvPr>
          <p:cNvSpPr txBox="1"/>
          <p:nvPr/>
        </p:nvSpPr>
        <p:spPr>
          <a:xfrm>
            <a:off x="1502664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Hydraulic Cylinders</a:t>
            </a:r>
          </a:p>
        </p:txBody>
      </p:sp>
      <p:sp>
        <p:nvSpPr>
          <p:cNvPr id="403" name="Description of a primary heading-4">
            <a:extLst>
              <a:ext uri="{FF2B5EF4-FFF2-40B4-BE49-F238E27FC236}">
                <a16:creationId xmlns:a16="http://schemas.microsoft.com/office/drawing/2014/main" id="{111B4A49-B930-4A89-A1CD-6CA2B3D95AED}"/>
              </a:ext>
            </a:extLst>
          </p:cNvPr>
          <p:cNvSpPr txBox="1"/>
          <p:nvPr/>
        </p:nvSpPr>
        <p:spPr>
          <a:xfrm>
            <a:off x="14959965" y="6475226"/>
            <a:ext cx="2790825" cy="2047997"/>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Structural backbone for any hydraulic lift, these are sold to other integrators. Has a very high potential for global markets as well</a:t>
            </a:r>
          </a:p>
        </p:txBody>
      </p:sp>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 2021-2025</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3819525"/>
            <a:ext cx="1143000" cy="1143000"/>
          </a:xfrm>
          <a:prstGeom prst="rect">
            <a:avLst/>
          </a:prstGeom>
        </p:spPr>
      </p:pic>
      <p:pic>
        <p:nvPicPr>
          <p:cNvPr id="381" name="iconNode09897b9a-c023-4e10-9efe-37bd929300f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0CF7955-4157-4C81-9236-F3BCB02DB40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895350" y="4105275"/>
            <a:ext cx="571500" cy="571500"/>
          </a:xfrm>
          <a:prstGeom prst="rect">
            <a:avLst/>
          </a:prstGeom>
        </p:spPr>
      </p:pic>
      <p:sp>
        <p:nvSpPr>
          <p:cNvPr id="382" name="Primary Heading-0">
            <a:extLst>
              <a:ext uri="{FF2B5EF4-FFF2-40B4-BE49-F238E27FC236}">
                <a16:creationId xmlns:a16="http://schemas.microsoft.com/office/drawing/2014/main" id="{111B4A49-B930-4A89-A1CD-6CA2B3D95AED}"/>
              </a:ext>
            </a:extLst>
          </p:cNvPr>
          <p:cNvSpPr txBox="1"/>
          <p:nvPr/>
        </p:nvSpPr>
        <p:spPr>
          <a:xfrm>
            <a:off x="60960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Hydraulic Cylinders and Power Packs</a:t>
            </a:r>
          </a:p>
        </p:txBody>
      </p:sp>
      <p:sp>
        <p:nvSpPr>
          <p:cNvPr id="383" name="Description of a primary heading-0">
            <a:extLst>
              <a:ext uri="{FF2B5EF4-FFF2-40B4-BE49-F238E27FC236}">
                <a16:creationId xmlns:a16="http://schemas.microsoft.com/office/drawing/2014/main" id="{111B4A49-B930-4A89-A1CD-6CA2B3D95AED}"/>
              </a:ext>
            </a:extLst>
          </p:cNvPr>
          <p:cNvSpPr txBox="1"/>
          <p:nvPr/>
        </p:nvSpPr>
        <p:spPr>
          <a:xfrm>
            <a:off x="542925" y="6465760"/>
            <a:ext cx="2790825" cy="17240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Key components for elevators providing necessary force and control for efficient vertical movement.</a:t>
            </a:r>
          </a:p>
        </p:txBody>
      </p:sp>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733800" y="3819525"/>
            <a:ext cx="9525" cy="4705350"/>
          </a:xfrm>
          <a:prstGeom prst="rect">
            <a:avLst/>
          </a:prstGeom>
        </p:spPr>
      </p:pic>
      <p:pic>
        <p:nvPicPr>
          <p:cNvPr id="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4210050" y="3819525"/>
            <a:ext cx="1143000" cy="1143000"/>
          </a:xfrm>
          <a:prstGeom prst="rect">
            <a:avLst/>
          </a:prstGeom>
        </p:spPr>
      </p:pic>
      <p:pic>
        <p:nvPicPr>
          <p:cNvPr id="386" name="iconNodea3d46224-63f4-463c-8734-ec4120fb99c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AB085B92-A25D-4864-B7EB-5C143D2E2F2D}">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4495800" y="4105275"/>
            <a:ext cx="571500" cy="571500"/>
          </a:xfrm>
          <a:prstGeom prst="rect">
            <a:avLst/>
          </a:prstGeom>
        </p:spPr>
      </p:pic>
      <p:sp>
        <p:nvSpPr>
          <p:cNvPr id="387" name="Primary Heading-1">
            <a:extLst>
              <a:ext uri="{FF2B5EF4-FFF2-40B4-BE49-F238E27FC236}">
                <a16:creationId xmlns:a16="http://schemas.microsoft.com/office/drawing/2014/main" id="{111B4A49-B930-4A89-A1CD-6CA2B3D95AED}"/>
              </a:ext>
            </a:extLst>
          </p:cNvPr>
          <p:cNvSpPr txBox="1"/>
          <p:nvPr/>
        </p:nvSpPr>
        <p:spPr>
          <a:xfrm>
            <a:off x="421386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2F1F3">
                    <a:alpha val="100000"/>
                  </a:srgbClr>
                </a:solidFill>
                <a:latin typeface="Montserrat Light" panose="00000700000000000000" pitchFamily="2" charset="0"/>
              </a:rPr>
              <a:t>Automatic Doors for Elevators</a:t>
            </a:r>
          </a:p>
        </p:txBody>
      </p:sp>
      <p:sp>
        <p:nvSpPr>
          <p:cNvPr id="388" name="Description of a primary heading-1">
            <a:extLst>
              <a:ext uri="{FF2B5EF4-FFF2-40B4-BE49-F238E27FC236}">
                <a16:creationId xmlns:a16="http://schemas.microsoft.com/office/drawing/2014/main" id="{111B4A49-B930-4A89-A1CD-6CA2B3D95AED}"/>
              </a:ext>
            </a:extLst>
          </p:cNvPr>
          <p:cNvSpPr txBox="1"/>
          <p:nvPr/>
        </p:nvSpPr>
        <p:spPr>
          <a:xfrm>
            <a:off x="414718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Enhancing safety and convenience, these doors offer seamless automatic operation for both residential and commercial buildings.</a:t>
            </a:r>
          </a:p>
        </p:txBody>
      </p:sp>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334250" y="3819525"/>
            <a:ext cx="9525" cy="4705350"/>
          </a:xfrm>
          <a:prstGeom prst="rect">
            <a:avLst/>
          </a:prstGeom>
        </p:spPr>
      </p:pic>
      <p:pic>
        <p:nvPicPr>
          <p:cNvPr id="3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820025" y="3819525"/>
            <a:ext cx="1143000" cy="1143000"/>
          </a:xfrm>
          <a:prstGeom prst="rect">
            <a:avLst/>
          </a:prstGeom>
        </p:spPr>
      </p:pic>
      <p:pic>
        <p:nvPicPr>
          <p:cNvPr id="391" name="iconNodefd011f6b-e4b7-474e-aa8d-94d4652060b8">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BA5B00F1-5350-4D5D-A9C1-0A4875FDD814}">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8105775" y="4105275"/>
            <a:ext cx="571500" cy="571500"/>
          </a:xfrm>
          <a:prstGeom prst="rect">
            <a:avLst/>
          </a:prstGeom>
        </p:spPr>
      </p:pic>
      <p:sp>
        <p:nvSpPr>
          <p:cNvPr id="392" name="Primary Heading-2">
            <a:extLst>
              <a:ext uri="{FF2B5EF4-FFF2-40B4-BE49-F238E27FC236}">
                <a16:creationId xmlns:a16="http://schemas.microsoft.com/office/drawing/2014/main" id="{111B4A49-B930-4A89-A1CD-6CA2B3D95AED}"/>
              </a:ext>
            </a:extLst>
          </p:cNvPr>
          <p:cNvSpPr txBox="1"/>
          <p:nvPr/>
        </p:nvSpPr>
        <p:spPr>
          <a:xfrm>
            <a:off x="7818120" y="5572125"/>
            <a:ext cx="2790825" cy="75247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BEAED">
                    <a:alpha val="100000"/>
                  </a:srgbClr>
                </a:solidFill>
                <a:latin typeface="Montserrat Light" panose="00000700000000000000" pitchFamily="2" charset="0"/>
              </a:rPr>
              <a:t>Vertical Telescopic Doors</a:t>
            </a:r>
          </a:p>
        </p:txBody>
      </p:sp>
      <p:sp>
        <p:nvSpPr>
          <p:cNvPr id="393" name="Description of a primary heading-2">
            <a:extLst>
              <a:ext uri="{FF2B5EF4-FFF2-40B4-BE49-F238E27FC236}">
                <a16:creationId xmlns:a16="http://schemas.microsoft.com/office/drawing/2014/main" id="{111B4A49-B930-4A89-A1CD-6CA2B3D95AED}"/>
              </a:ext>
            </a:extLst>
          </p:cNvPr>
          <p:cNvSpPr txBox="1"/>
          <p:nvPr/>
        </p:nvSpPr>
        <p:spPr>
          <a:xfrm>
            <a:off x="7751445" y="6465760"/>
            <a:ext cx="2790825" cy="20669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Maximizing space efficiency, these doors are ideal for car and goods elevators, ensuring safe loading and unloading.</a:t>
            </a:r>
          </a:p>
        </p:txBody>
      </p:sp>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10944225" y="3819525"/>
            <a:ext cx="9525" cy="4705350"/>
          </a:xfrm>
          <a:prstGeom prst="rect">
            <a:avLst/>
          </a:prstGeom>
        </p:spPr>
      </p:pic>
      <p:pic>
        <p:nvPicPr>
          <p:cNvPr id="3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1420475" y="3819525"/>
            <a:ext cx="1143000" cy="1143000"/>
          </a:xfrm>
          <a:prstGeom prst="rect">
            <a:avLst/>
          </a:prstGeom>
        </p:spPr>
      </p:pic>
      <p:pic>
        <p:nvPicPr>
          <p:cNvPr id="396" name="iconNode9153d35f-cf39-4321-96cf-ef756492a6de">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CB3F158F-0019-4F59-AF63-D8D04BFD9A1F}">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1706225" y="4105275"/>
            <a:ext cx="571500" cy="571500"/>
          </a:xfrm>
          <a:prstGeom prst="rect">
            <a:avLst/>
          </a:prstGeom>
        </p:spPr>
      </p:pic>
      <p:sp>
        <p:nvSpPr>
          <p:cNvPr id="397" name="Primary Heading-3">
            <a:extLst>
              <a:ext uri="{FF2B5EF4-FFF2-40B4-BE49-F238E27FC236}">
                <a16:creationId xmlns:a16="http://schemas.microsoft.com/office/drawing/2014/main" id="{111B4A49-B930-4A89-A1CD-6CA2B3D95AED}"/>
              </a:ext>
            </a:extLst>
          </p:cNvPr>
          <p:cNvSpPr txBox="1"/>
          <p:nvPr/>
        </p:nvSpPr>
        <p:spPr>
          <a:xfrm>
            <a:off x="1142238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E5E3E7">
                    <a:alpha val="100000"/>
                  </a:srgbClr>
                </a:solidFill>
                <a:latin typeface="Montserrat Light" panose="00000700000000000000" pitchFamily="2" charset="0"/>
              </a:rPr>
              <a:t>Car Parking Systems</a:t>
            </a:r>
          </a:p>
        </p:txBody>
      </p:sp>
      <p:sp>
        <p:nvSpPr>
          <p:cNvPr id="398" name="Description of a primary heading-3">
            <a:extLst>
              <a:ext uri="{FF2B5EF4-FFF2-40B4-BE49-F238E27FC236}">
                <a16:creationId xmlns:a16="http://schemas.microsoft.com/office/drawing/2014/main" id="{111B4A49-B930-4A89-A1CD-6CA2B3D95AED}"/>
              </a:ext>
            </a:extLst>
          </p:cNvPr>
          <p:cNvSpPr txBox="1"/>
          <p:nvPr/>
        </p:nvSpPr>
        <p:spPr>
          <a:xfrm>
            <a:off x="11355705" y="6476899"/>
            <a:ext cx="2790825" cy="1701748"/>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Crafted for safety, durability and reliability, these </a:t>
            </a:r>
            <a:r>
              <a:rPr lang="en-US" spc="-18" dirty="0">
                <a:solidFill>
                  <a:srgbClr val="E5E3E7">
                    <a:alpha val="100000"/>
                  </a:srgbClr>
                </a:solidFill>
                <a:latin typeface="Montserrat Light" panose="00000700000000000000" pitchFamily="2" charset="0"/>
              </a:rPr>
              <a:t>multi-level parking systems are budget friendly </a:t>
            </a:r>
            <a:endParaRPr lang="en-US" sz="1800" spc="-18" dirty="0">
              <a:solidFill>
                <a:srgbClr val="E5E3E7">
                  <a:alpha val="100000"/>
                </a:srgbClr>
              </a:solidFill>
              <a:latin typeface="Montserrat Light" panose="00000700000000000000" pitchFamily="2" charset="0"/>
            </a:endParaRPr>
          </a:p>
        </p:txBody>
      </p:sp>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14544675" y="3819525"/>
            <a:ext cx="9525" cy="4705350"/>
          </a:xfrm>
          <a:prstGeom prst="rect">
            <a:avLst/>
          </a:prstGeom>
        </p:spPr>
      </p:pic>
      <p:pic>
        <p:nvPicPr>
          <p:cNvPr id="4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5030450" y="3819525"/>
            <a:ext cx="1143000" cy="1143000"/>
          </a:xfrm>
          <a:prstGeom prst="rect">
            <a:avLst/>
          </a:prstGeom>
        </p:spPr>
      </p:pic>
      <p:pic>
        <p:nvPicPr>
          <p:cNvPr id="401" name="iconNodec4c772b4-2041-409f-bbc4-1d8e87c5648a">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extLst>
              <a:ext uri="{691C81C1-F416-443F-8537-890439D13A41}">
                <a14:useLocalDpi xmlns:a14="http://schemas.microsoft.com/office/drawing/2010/main" xmlns:p14="http://schemas.microsoft.com/office/powerpoint/2010/main" xmlns:asvg="http://schemas.microsoft.com/office/drawing/2016/SVG/main" xmlns:a16="http://schemas.microsoft.com/office/drawing/2014/main" xmlns="" val="0"/>
              </a:ext>
            </a:extLst>
          </a:blip>
          <a:srcRect/>
          <a:stretch/>
        </p:blipFill>
        <p:spPr>
          <a:xfrm>
            <a:off x="15316200" y="4105275"/>
            <a:ext cx="571500" cy="571500"/>
          </a:xfrm>
          <a:prstGeom prst="rect">
            <a:avLst/>
          </a:prstGeom>
        </p:spPr>
      </p:pic>
      <p:sp>
        <p:nvSpPr>
          <p:cNvPr id="402" name="Primary Heading-4">
            <a:extLst>
              <a:ext uri="{FF2B5EF4-FFF2-40B4-BE49-F238E27FC236}">
                <a16:creationId xmlns:a16="http://schemas.microsoft.com/office/drawing/2014/main" id="{111B4A49-B930-4A89-A1CD-6CA2B3D95AED}"/>
              </a:ext>
            </a:extLst>
          </p:cNvPr>
          <p:cNvSpPr txBox="1"/>
          <p:nvPr/>
        </p:nvSpPr>
        <p:spPr>
          <a:xfrm>
            <a:off x="15026640" y="5775623"/>
            <a:ext cx="279082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Dumb Waiter Lifts</a:t>
            </a:r>
          </a:p>
        </p:txBody>
      </p:sp>
      <p:sp>
        <p:nvSpPr>
          <p:cNvPr id="403" name="Description of a primary heading-4">
            <a:extLst>
              <a:ext uri="{FF2B5EF4-FFF2-40B4-BE49-F238E27FC236}">
                <a16:creationId xmlns:a16="http://schemas.microsoft.com/office/drawing/2014/main" id="{111B4A49-B930-4A89-A1CD-6CA2B3D95AED}"/>
              </a:ext>
            </a:extLst>
          </p:cNvPr>
          <p:cNvSpPr txBox="1"/>
          <p:nvPr/>
        </p:nvSpPr>
        <p:spPr>
          <a:xfrm>
            <a:off x="14959965" y="6277402"/>
            <a:ext cx="2790825" cy="3432991"/>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Urbanization brings new opportunities, these lifts are used for movement of food from one floor to another in Hotels/Restaurants, similarly can be used in Hospitals for Medicines and accessories movement</a:t>
            </a:r>
          </a:p>
        </p:txBody>
      </p:sp>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 2025-2026-2027</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1" y="1984672"/>
            <a:ext cx="8303492"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590550" y="571500"/>
            <a:ext cx="19050" cy="1590675"/>
          </a:xfrm>
          <a:prstGeom prst="rect">
            <a:avLst/>
          </a:prstGeom>
        </p:spPr>
      </p:pic>
      <p:sp>
        <p:nvSpPr>
          <p:cNvPr id="2" name="Primary Heading-4">
            <a:extLst>
              <a:ext uri="{FF2B5EF4-FFF2-40B4-BE49-F238E27FC236}">
                <a16:creationId xmlns:a16="http://schemas.microsoft.com/office/drawing/2014/main" id="{2EBEE20A-D1FE-A321-2420-13299FB54DEB}"/>
              </a:ext>
            </a:extLst>
          </p:cNvPr>
          <p:cNvSpPr txBox="1"/>
          <p:nvPr/>
        </p:nvSpPr>
        <p:spPr>
          <a:xfrm>
            <a:off x="12465628" y="1237986"/>
            <a:ext cx="2881312"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DEDCE1">
                    <a:alpha val="100000"/>
                  </a:srgbClr>
                </a:solidFill>
                <a:latin typeface="Montserrat Light" panose="00000700000000000000" pitchFamily="2" charset="0"/>
              </a:rPr>
              <a:t>Premium Home Lifts</a:t>
            </a:r>
          </a:p>
        </p:txBody>
      </p:sp>
      <p:sp>
        <p:nvSpPr>
          <p:cNvPr id="3" name="Description of a primary heading-4">
            <a:extLst>
              <a:ext uri="{FF2B5EF4-FFF2-40B4-BE49-F238E27FC236}">
                <a16:creationId xmlns:a16="http://schemas.microsoft.com/office/drawing/2014/main" id="{9B0E8E84-5ED1-8020-2598-957BA4CAFF54}"/>
              </a:ext>
            </a:extLst>
          </p:cNvPr>
          <p:cNvSpPr txBox="1"/>
          <p:nvPr/>
        </p:nvSpPr>
        <p:spPr>
          <a:xfrm>
            <a:off x="12465628" y="2133016"/>
            <a:ext cx="3813463" cy="1009251"/>
          </a:xfrm>
          <a:prstGeom prst="rect">
            <a:avLst/>
          </a:prstGeom>
          <a:noFill/>
        </p:spPr>
        <p:txBody>
          <a:bodyPr vertOverflow="clip" horzOverflow="clip" wrap="square" lIns="0" tIns="0" rIns="0" bIns="0" rtlCol="0" anchor="ctr">
            <a:spAutoFit/>
          </a:bodyPr>
          <a:lstStyle/>
          <a:p>
            <a:pPr>
              <a:lnSpc>
                <a:spcPts val="2700"/>
              </a:lnSpc>
            </a:pPr>
            <a:r>
              <a:rPr lang="en-US" sz="1800" spc="-18" dirty="0">
                <a:solidFill>
                  <a:srgbClr val="DEDCE1">
                    <a:alpha val="100000"/>
                  </a:srgbClr>
                </a:solidFill>
                <a:latin typeface="Montserrat Light" panose="00000700000000000000" pitchFamily="2" charset="0"/>
              </a:rPr>
              <a:t>Premium Home Lifts in minimum space fully compliant with European Standards</a:t>
            </a:r>
          </a:p>
        </p:txBody>
      </p:sp>
      <p:sp>
        <p:nvSpPr>
          <p:cNvPr id="4" name="Rectangle 3">
            <a:extLst>
              <a:ext uri="{FF2B5EF4-FFF2-40B4-BE49-F238E27FC236}">
                <a16:creationId xmlns:a16="http://schemas.microsoft.com/office/drawing/2014/main" id="{48B29564-7F51-1319-B5A2-26D32D11EA6B}"/>
              </a:ext>
            </a:extLst>
          </p:cNvPr>
          <p:cNvSpPr/>
          <p:nvPr/>
        </p:nvSpPr>
        <p:spPr>
          <a:xfrm flipH="1" flipV="1">
            <a:off x="12315820" y="1152525"/>
            <a:ext cx="4050727" cy="2381250"/>
          </a:xfrm>
          <a:prstGeom prst="rect">
            <a:avLst/>
          </a:prstGeom>
          <a:noFill/>
          <a:ln>
            <a:solidFill>
              <a:schemeClr val="accent1">
                <a:lumMod val="20000"/>
                <a:lumOff val="8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223FA4AF-331A-E7F5-1CC2-806ADBA76F3B}"/>
              </a:ext>
            </a:extLst>
          </p:cNvPr>
          <p:cNvPicPr>
            <a:picLocks noChangeAspect="1"/>
          </p:cNvPicPr>
          <p:nvPr/>
        </p:nvPicPr>
        <p:blipFill>
          <a:blip r:embed="rId17"/>
          <a:stretch>
            <a:fillRect/>
          </a:stretch>
        </p:blipFill>
        <p:spPr>
          <a:xfrm>
            <a:off x="10367820" y="1631956"/>
            <a:ext cx="1873100" cy="1399217"/>
          </a:xfrm>
          <a:prstGeom prst="rect">
            <a:avLst/>
          </a:prstGeom>
        </p:spPr>
      </p:pic>
    </p:spTree>
    <p:extLst>
      <p:ext uri="{BB962C8B-B14F-4D97-AF65-F5344CB8AC3E}">
        <p14:creationId xmlns:p14="http://schemas.microsoft.com/office/powerpoint/2010/main" val="295840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733800" y="3819525"/>
            <a:ext cx="9525" cy="4705350"/>
          </a:xfrm>
          <a:prstGeom prst="rect">
            <a:avLst/>
          </a:prstGeom>
        </p:spPr>
      </p:pic>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34250" y="3819525"/>
            <a:ext cx="9525" cy="4705350"/>
          </a:xfrm>
          <a:prstGeom prst="rect">
            <a:avLst/>
          </a:prstGeom>
        </p:spPr>
      </p:pic>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944225" y="3819525"/>
            <a:ext cx="9525" cy="4705350"/>
          </a:xfrm>
          <a:prstGeom prst="rect">
            <a:avLst/>
          </a:prstGeom>
        </p:spPr>
      </p:pic>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4544675" y="3819525"/>
            <a:ext cx="9525" cy="4705350"/>
          </a:xfrm>
          <a:prstGeom prst="rect">
            <a:avLst/>
          </a:prstGeom>
        </p:spPr>
      </p:pic>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Revenue Contributors- 2022-2023-2024</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graphicFrame>
        <p:nvGraphicFramePr>
          <p:cNvPr id="2" name="Chart 1">
            <a:extLst>
              <a:ext uri="{FF2B5EF4-FFF2-40B4-BE49-F238E27FC236}">
                <a16:creationId xmlns:a16="http://schemas.microsoft.com/office/drawing/2014/main" id="{9F5754F5-B9FC-FBB2-EAA5-FEF0B1559007}"/>
              </a:ext>
            </a:extLst>
          </p:cNvPr>
          <p:cNvGraphicFramePr>
            <a:graphicFrameLocks/>
          </p:cNvGraphicFramePr>
          <p:nvPr>
            <p:extLst>
              <p:ext uri="{D42A27DB-BD31-4B8C-83A1-F6EECF244321}">
                <p14:modId xmlns:p14="http://schemas.microsoft.com/office/powerpoint/2010/main" val="723529296"/>
              </p:ext>
            </p:extLst>
          </p:nvPr>
        </p:nvGraphicFramePr>
        <p:xfrm>
          <a:off x="845198" y="3404576"/>
          <a:ext cx="7624259" cy="443709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Chart 2">
            <a:extLst>
              <a:ext uri="{FF2B5EF4-FFF2-40B4-BE49-F238E27FC236}">
                <a16:creationId xmlns:a16="http://schemas.microsoft.com/office/drawing/2014/main" id="{234FDA90-C30D-4262-9B9C-E5D2C8089B0B}"/>
              </a:ext>
            </a:extLst>
          </p:cNvPr>
          <p:cNvGraphicFramePr>
            <a:graphicFrameLocks/>
          </p:cNvGraphicFramePr>
          <p:nvPr>
            <p:extLst>
              <p:ext uri="{D42A27DB-BD31-4B8C-83A1-F6EECF244321}">
                <p14:modId xmlns:p14="http://schemas.microsoft.com/office/powerpoint/2010/main" val="3794999088"/>
              </p:ext>
            </p:extLst>
          </p:nvPr>
        </p:nvGraphicFramePr>
        <p:xfrm>
          <a:off x="9314655" y="2909905"/>
          <a:ext cx="7987825" cy="5091725"/>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2012028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3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29783"/>
            <a:ext cx="18288000" cy="10287000"/>
          </a:xfrm>
          <a:prstGeom prst="rect">
            <a:avLst/>
          </a:prstGeom>
        </p:spPr>
      </p:pic>
      <p:pic>
        <p:nvPicPr>
          <p:cNvPr id="3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733800" y="3819525"/>
            <a:ext cx="9525" cy="4705350"/>
          </a:xfrm>
          <a:prstGeom prst="rect">
            <a:avLst/>
          </a:prstGeom>
        </p:spPr>
      </p:pic>
      <p:pic>
        <p:nvPicPr>
          <p:cNvPr id="3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7334250" y="3819525"/>
            <a:ext cx="9525" cy="4705350"/>
          </a:xfrm>
          <a:prstGeom prst="rect">
            <a:avLst/>
          </a:prstGeom>
        </p:spPr>
      </p:pic>
      <p:pic>
        <p:nvPicPr>
          <p:cNvPr id="3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0944225" y="3819525"/>
            <a:ext cx="9525" cy="4705350"/>
          </a:xfrm>
          <a:prstGeom prst="rect">
            <a:avLst/>
          </a:prstGeom>
        </p:spPr>
      </p:pic>
      <p:pic>
        <p:nvPicPr>
          <p:cNvPr id="3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4544675" y="3819525"/>
            <a:ext cx="9525" cy="4705350"/>
          </a:xfrm>
          <a:prstGeom prst="rect">
            <a:avLst/>
          </a:prstGeom>
        </p:spPr>
      </p:pic>
      <p:sp>
        <p:nvSpPr>
          <p:cNvPr id="404" name="Click here to edit title-406">
            <a:extLst>
              <a:ext uri="{FF2B5EF4-FFF2-40B4-BE49-F238E27FC236}">
                <a16:creationId xmlns:a16="http://schemas.microsoft.com/office/drawing/2014/main" id="{111B4A49-B930-4A89-A1CD-6CA2B3D95AED}"/>
              </a:ext>
            </a:extLst>
          </p:cNvPr>
          <p:cNvSpPr txBox="1"/>
          <p:nvPr/>
        </p:nvSpPr>
        <p:spPr>
          <a:xfrm>
            <a:off x="1219200" y="9406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Products- 2027-2028-2029</a:t>
            </a:r>
          </a:p>
        </p:txBody>
      </p:sp>
      <p:sp>
        <p:nvSpPr>
          <p:cNvPr id="405" name="Click here to edit subtitle-461">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Essential Components and Offerings in the Elevator Industry</a:t>
            </a:r>
          </a:p>
        </p:txBody>
      </p:sp>
      <p:sp>
        <p:nvSpPr>
          <p:cNvPr id="406" name="Click here to edit label-489">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ELEVATOR COMPONENTS AND OFFERINGS</a:t>
            </a:r>
          </a:p>
        </p:txBody>
      </p:sp>
      <p:pic>
        <p:nvPicPr>
          <p:cNvPr id="4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571500"/>
            <a:ext cx="19050" cy="1590675"/>
          </a:xfrm>
          <a:prstGeom prst="rect">
            <a:avLst/>
          </a:prstGeom>
        </p:spPr>
      </p:pic>
      <p:graphicFrame>
        <p:nvGraphicFramePr>
          <p:cNvPr id="4" name="Chart 3">
            <a:extLst>
              <a:ext uri="{FF2B5EF4-FFF2-40B4-BE49-F238E27FC236}">
                <a16:creationId xmlns:a16="http://schemas.microsoft.com/office/drawing/2014/main" id="{67372647-BBFB-998A-F76D-21ACE2ACA45D}"/>
              </a:ext>
            </a:extLst>
          </p:cNvPr>
          <p:cNvGraphicFramePr>
            <a:graphicFrameLocks/>
          </p:cNvGraphicFramePr>
          <p:nvPr>
            <p:extLst>
              <p:ext uri="{D42A27DB-BD31-4B8C-83A1-F6EECF244321}">
                <p14:modId xmlns:p14="http://schemas.microsoft.com/office/powerpoint/2010/main" val="3775869641"/>
              </p:ext>
            </p:extLst>
          </p:nvPr>
        </p:nvGraphicFramePr>
        <p:xfrm>
          <a:off x="8903276" y="2733675"/>
          <a:ext cx="9038360" cy="5492283"/>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5" name="Chart 4">
            <a:extLst>
              <a:ext uri="{FF2B5EF4-FFF2-40B4-BE49-F238E27FC236}">
                <a16:creationId xmlns:a16="http://schemas.microsoft.com/office/drawing/2014/main" id="{626085F5-83B4-8ECD-97AC-00E9A6501D39}"/>
              </a:ext>
            </a:extLst>
          </p:cNvPr>
          <p:cNvGraphicFramePr>
            <a:graphicFrameLocks/>
          </p:cNvGraphicFramePr>
          <p:nvPr>
            <p:extLst>
              <p:ext uri="{D42A27DB-BD31-4B8C-83A1-F6EECF244321}">
                <p14:modId xmlns:p14="http://schemas.microsoft.com/office/powerpoint/2010/main" val="1302250634"/>
              </p:ext>
            </p:extLst>
          </p:nvPr>
        </p:nvGraphicFramePr>
        <p:xfrm>
          <a:off x="457198" y="2733675"/>
          <a:ext cx="7822623" cy="5492283"/>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3" name="Chart 2">
            <a:extLst>
              <a:ext uri="{FF2B5EF4-FFF2-40B4-BE49-F238E27FC236}">
                <a16:creationId xmlns:a16="http://schemas.microsoft.com/office/drawing/2014/main" id="{626085F5-83B4-8ECD-97AC-00E9A6501D39}"/>
              </a:ext>
            </a:extLst>
          </p:cNvPr>
          <p:cNvGraphicFramePr>
            <a:graphicFrameLocks/>
          </p:cNvGraphicFramePr>
          <p:nvPr>
            <p:extLst>
              <p:ext uri="{D42A27DB-BD31-4B8C-83A1-F6EECF244321}">
                <p14:modId xmlns:p14="http://schemas.microsoft.com/office/powerpoint/2010/main" val="828595071"/>
              </p:ext>
            </p:extLst>
          </p:nvPr>
        </p:nvGraphicFramePr>
        <p:xfrm>
          <a:off x="8749555" y="2965378"/>
          <a:ext cx="9081247" cy="5458168"/>
        </p:xfrm>
        <a:graphic>
          <a:graphicData uri="http://schemas.openxmlformats.org/drawingml/2006/chart">
            <c:chart xmlns:c="http://schemas.openxmlformats.org/drawingml/2006/chart" xmlns:r="http://schemas.openxmlformats.org/officeDocument/2006/relationships" r:id="rId11"/>
          </a:graphicData>
        </a:graphic>
      </p:graphicFrame>
    </p:spTree>
    <p:extLst>
      <p:ext uri="{BB962C8B-B14F-4D97-AF65-F5344CB8AC3E}">
        <p14:creationId xmlns:p14="http://schemas.microsoft.com/office/powerpoint/2010/main" val="3823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3257550"/>
            <a:ext cx="28575" cy="7029450"/>
          </a:xfrm>
          <a:prstGeom prst="rect">
            <a:avLst/>
          </a:prstGeom>
        </p:spPr>
      </p:pic>
      <p:pic>
        <p:nvPicPr>
          <p:cNvPr id="4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13" name="Picture 41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CA7A516F-0D68-4BB0-880C-843EF3A4B65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15" name="Picture 41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39321C1C-F9E6-4245-BD5C-6C0F7AD4006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17" name="-0">
            <a:extLst>
              <a:ext uri="{FF2B5EF4-FFF2-40B4-BE49-F238E27FC236}">
                <a16:creationId xmlns:a16="http://schemas.microsoft.com/office/drawing/2014/main" id="{111B4A49-B930-4A89-A1CD-6CA2B3D95AED}"/>
              </a:ext>
            </a:extLst>
          </p:cNvPr>
          <p:cNvSpPr txBox="1"/>
          <p:nvPr/>
        </p:nvSpPr>
        <p:spPr>
          <a:xfrm>
            <a:off x="6361652" y="3143250"/>
            <a:ext cx="39052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#1</a:t>
            </a:r>
          </a:p>
        </p:txBody>
      </p:sp>
      <p:sp>
        <p:nvSpPr>
          <p:cNvPr id="418" name="Primary Heading-0">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Customization</a:t>
            </a:r>
          </a:p>
        </p:txBody>
      </p:sp>
      <p:sp>
        <p:nvSpPr>
          <p:cNvPr id="419" name="Description of a primary heading-0">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Offer tailored solutions to meet specific customer requirements, a unique advantage over mass-produced imports.</a:t>
            </a:r>
          </a:p>
        </p:txBody>
      </p:sp>
      <p:pic>
        <p:nvPicPr>
          <p:cNvPr id="4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21" name="-1">
            <a:extLst>
              <a:ext uri="{FF2B5EF4-FFF2-40B4-BE49-F238E27FC236}">
                <a16:creationId xmlns:a16="http://schemas.microsoft.com/office/drawing/2014/main" id="{111B4A49-B930-4A89-A1CD-6CA2B3D95AED}"/>
              </a:ext>
            </a:extLst>
          </p:cNvPr>
          <p:cNvSpPr txBox="1"/>
          <p:nvPr/>
        </p:nvSpPr>
        <p:spPr>
          <a:xfrm>
            <a:off x="6338697" y="76771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#2</a:t>
            </a:r>
          </a:p>
        </p:txBody>
      </p:sp>
      <p:sp>
        <p:nvSpPr>
          <p:cNvPr id="422" name="Primary Heading-1">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Local expertise</a:t>
            </a:r>
          </a:p>
        </p:txBody>
      </p:sp>
      <p:sp>
        <p:nvSpPr>
          <p:cNvPr id="423" name="Description of a primary heading-1">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Leverage knowledge of local regulations, standards, and customer preferences to build trust and cater effectively to the Indian market.</a:t>
            </a:r>
          </a:p>
        </p:txBody>
      </p:sp>
      <p:sp>
        <p:nvSpPr>
          <p:cNvPr id="424" name="Click here to edit title-463">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25" name="Click here to edit subtitle-463">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26" name="Click here to edit label-400">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2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3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10287000"/>
          </a:xfrm>
          <a:prstGeom prst="rect">
            <a:avLst/>
          </a:prstGeom>
        </p:spPr>
      </p:pic>
      <p:pic>
        <p:nvPicPr>
          <p:cNvPr id="4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33" name="Picture 43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DC6D1309-E234-4C3F-BB8E-EBA87E47A77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35" name="Picture 43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C5F6533-D315-45D8-9383-537CBEC191C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37" name="-2">
            <a:extLst>
              <a:ext uri="{FF2B5EF4-FFF2-40B4-BE49-F238E27FC236}">
                <a16:creationId xmlns:a16="http://schemas.microsoft.com/office/drawing/2014/main" id="{111B4A49-B930-4A89-A1CD-6CA2B3D95AED}"/>
              </a:ext>
            </a:extLst>
          </p:cNvPr>
          <p:cNvSpPr txBox="1"/>
          <p:nvPr/>
        </p:nvSpPr>
        <p:spPr>
          <a:xfrm>
            <a:off x="6338697" y="31432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#3</a:t>
            </a:r>
          </a:p>
        </p:txBody>
      </p:sp>
      <p:sp>
        <p:nvSpPr>
          <p:cNvPr id="438" name="Primary Heading-2">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After-sales service</a:t>
            </a:r>
          </a:p>
        </p:txBody>
      </p:sp>
      <p:sp>
        <p:nvSpPr>
          <p:cNvPr id="439" name="Description of a primary heading-2">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Provide superior customer support, including maintenance and repairs, addressing a common challenge faced by imported products in the market.</a:t>
            </a:r>
          </a:p>
        </p:txBody>
      </p:sp>
      <p:pic>
        <p:nvPicPr>
          <p:cNvPr id="4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41" name="-3">
            <a:extLst>
              <a:ext uri="{FF2B5EF4-FFF2-40B4-BE49-F238E27FC236}">
                <a16:creationId xmlns:a16="http://schemas.microsoft.com/office/drawing/2014/main" id="{111B4A49-B930-4A89-A1CD-6CA2B3D95AED}"/>
              </a:ext>
            </a:extLst>
          </p:cNvPr>
          <p:cNvSpPr txBox="1"/>
          <p:nvPr/>
        </p:nvSpPr>
        <p:spPr>
          <a:xfrm>
            <a:off x="6327553" y="7677150"/>
            <a:ext cx="45720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#4</a:t>
            </a:r>
          </a:p>
        </p:txBody>
      </p:sp>
      <p:sp>
        <p:nvSpPr>
          <p:cNvPr id="442" name="Primary Heading-3">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Quick turnaround</a:t>
            </a:r>
          </a:p>
        </p:txBody>
      </p:sp>
      <p:sp>
        <p:nvSpPr>
          <p:cNvPr id="443" name="Description of a primary heading-3">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Leverage proximity to the market to ensure faster delivery times compared to overseas suppliers, enhancing customer satisfaction.</a:t>
            </a:r>
          </a:p>
        </p:txBody>
      </p:sp>
      <p:sp>
        <p:nvSpPr>
          <p:cNvPr id="444" name="Click here to edit title-410">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45" name="Click here to edit subtitle-483">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46" name="Click here to edit label-442">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4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7791450"/>
          </a:xfrm>
          <a:prstGeom prst="rect">
            <a:avLst/>
          </a:prstGeom>
        </p:spPr>
      </p:pic>
      <p:pic>
        <p:nvPicPr>
          <p:cNvPr id="4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53" name="Picture 45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9045A99A-0E94-47CC-902B-47D12BA86220}">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55" name="Picture 45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A6E0815F-CF91-4B8A-86EB-30F42ABB470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57" name="-4">
            <a:extLst>
              <a:ext uri="{FF2B5EF4-FFF2-40B4-BE49-F238E27FC236}">
                <a16:creationId xmlns:a16="http://schemas.microsoft.com/office/drawing/2014/main" id="{111B4A49-B930-4A89-A1CD-6CA2B3D95AED}"/>
              </a:ext>
            </a:extLst>
          </p:cNvPr>
          <p:cNvSpPr txBox="1"/>
          <p:nvPr/>
        </p:nvSpPr>
        <p:spPr>
          <a:xfrm>
            <a:off x="6338411" y="31432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#5</a:t>
            </a:r>
          </a:p>
        </p:txBody>
      </p:sp>
      <p:sp>
        <p:nvSpPr>
          <p:cNvPr id="458" name="Primary Heading-4">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EDCE1">
                    <a:alpha val="100000"/>
                  </a:srgbClr>
                </a:solidFill>
                <a:latin typeface="Montserrat" panose="00000700000000000000" pitchFamily="2" charset="0"/>
              </a:rPr>
              <a:t>Sustainability</a:t>
            </a:r>
          </a:p>
        </p:txBody>
      </p:sp>
      <p:sp>
        <p:nvSpPr>
          <p:cNvPr id="459" name="Description of a primary heading-4">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Highlight eco-friendly materials and processes to attract environmentally conscious consumers and align with sustainable trends in the industry.</a:t>
            </a:r>
          </a:p>
        </p:txBody>
      </p:sp>
      <p:pic>
        <p:nvPicPr>
          <p:cNvPr id="4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461" name="-5">
            <a:extLst>
              <a:ext uri="{FF2B5EF4-FFF2-40B4-BE49-F238E27FC236}">
                <a16:creationId xmlns:a16="http://schemas.microsoft.com/office/drawing/2014/main" id="{111B4A49-B930-4A89-A1CD-6CA2B3D95AED}"/>
              </a:ext>
            </a:extLst>
          </p:cNvPr>
          <p:cNvSpPr txBox="1"/>
          <p:nvPr/>
        </p:nvSpPr>
        <p:spPr>
          <a:xfrm>
            <a:off x="6333554" y="7677150"/>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#6</a:t>
            </a:r>
          </a:p>
        </p:txBody>
      </p:sp>
      <p:sp>
        <p:nvSpPr>
          <p:cNvPr id="462" name="Primary Heading-5">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8D6DC">
                    <a:alpha val="100000"/>
                  </a:srgbClr>
                </a:solidFill>
                <a:latin typeface="Montserrat" panose="00000700000000000000" pitchFamily="2" charset="0"/>
              </a:rPr>
              <a:t>Technology integration</a:t>
            </a:r>
          </a:p>
        </p:txBody>
      </p:sp>
      <p:sp>
        <p:nvSpPr>
          <p:cNvPr id="463" name="Description of a primary heading-5">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Incorporate smart technologies into products for improved functionality and a modern appeal, meeting the evolving demands of the Indian market.</a:t>
            </a:r>
          </a:p>
        </p:txBody>
      </p:sp>
      <p:sp>
        <p:nvSpPr>
          <p:cNvPr id="464" name="Click here to edit title-440">
            <a:extLst>
              <a:ext uri="{FF2B5EF4-FFF2-40B4-BE49-F238E27FC236}">
                <a16:creationId xmlns:a16="http://schemas.microsoft.com/office/drawing/2014/main" id="{111B4A49-B930-4A89-A1CD-6CA2B3D95AED}"/>
              </a:ext>
            </a:extLst>
          </p:cNvPr>
          <p:cNvSpPr txBox="1"/>
          <p:nvPr/>
        </p:nvSpPr>
        <p:spPr>
          <a:xfrm>
            <a:off x="1219200" y="4114800"/>
            <a:ext cx="22479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Solution</a:t>
            </a:r>
          </a:p>
        </p:txBody>
      </p:sp>
      <p:sp>
        <p:nvSpPr>
          <p:cNvPr id="465" name="Click here to edit subtitle-490">
            <a:extLst>
              <a:ext uri="{FF2B5EF4-FFF2-40B4-BE49-F238E27FC236}">
                <a16:creationId xmlns:a16="http://schemas.microsoft.com/office/drawing/2014/main" id="{111B4A49-B930-4A89-A1CD-6CA2B3D95AED}"/>
              </a:ext>
            </a:extLst>
          </p:cNvPr>
          <p:cNvSpPr txBox="1"/>
          <p:nvPr/>
        </p:nvSpPr>
        <p:spPr>
          <a:xfrm>
            <a:off x="1219200" y="5219700"/>
            <a:ext cx="4829175" cy="1104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466" name="Click here to edit label-400">
            <a:extLst>
              <a:ext uri="{FF2B5EF4-FFF2-40B4-BE49-F238E27FC236}">
                <a16:creationId xmlns:a16="http://schemas.microsoft.com/office/drawing/2014/main" id="{111B4A49-B930-4A89-A1CD-6CA2B3D95AED}"/>
              </a:ext>
            </a:extLst>
          </p:cNvPr>
          <p:cNvSpPr txBox="1"/>
          <p:nvPr/>
        </p:nvSpPr>
        <p:spPr>
          <a:xfrm>
            <a:off x="1219200" y="37719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4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771900"/>
            <a:ext cx="19050" cy="25431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4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3257550"/>
            <a:ext cx="28575" cy="7029450"/>
          </a:xfrm>
          <a:prstGeom prst="rect">
            <a:avLst/>
          </a:prstGeom>
        </p:spPr>
      </p:pic>
      <p:pic>
        <p:nvPicPr>
          <p:cNvPr id="4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493" name="Picture 49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C43F4A4A-6030-4E80-99B8-DF71E4253CD8}">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4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495" name="Picture 49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36578CE-AF62-42DB-976C-69F64B3FB86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4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497" name="-0">
            <a:extLst>
              <a:ext uri="{FF2B5EF4-FFF2-40B4-BE49-F238E27FC236}">
                <a16:creationId xmlns:a16="http://schemas.microsoft.com/office/drawing/2014/main" id="{111B4A49-B930-4A89-A1CD-6CA2B3D95AED}"/>
              </a:ext>
            </a:extLst>
          </p:cNvPr>
          <p:cNvSpPr txBox="1"/>
          <p:nvPr/>
        </p:nvSpPr>
        <p:spPr>
          <a:xfrm>
            <a:off x="6361652" y="3143250"/>
            <a:ext cx="39052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#1</a:t>
            </a:r>
          </a:p>
        </p:txBody>
      </p:sp>
      <p:sp>
        <p:nvSpPr>
          <p:cNvPr id="498" name="Primary Heading-0">
            <a:extLst>
              <a:ext uri="{FF2B5EF4-FFF2-40B4-BE49-F238E27FC236}">
                <a16:creationId xmlns:a16="http://schemas.microsoft.com/office/drawing/2014/main" id="{111B4A49-B930-4A89-A1CD-6CA2B3D95AED}"/>
              </a:ext>
            </a:extLst>
          </p:cNvPr>
          <p:cNvSpPr txBox="1"/>
          <p:nvPr/>
        </p:nvSpPr>
        <p:spPr>
          <a:xfrm>
            <a:off x="6972300" y="27252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Construction Companies</a:t>
            </a:r>
          </a:p>
        </p:txBody>
      </p:sp>
      <p:sp>
        <p:nvSpPr>
          <p:cNvPr id="499" name="Description of a primary heading-0">
            <a:extLst>
              <a:ext uri="{FF2B5EF4-FFF2-40B4-BE49-F238E27FC236}">
                <a16:creationId xmlns:a16="http://schemas.microsoft.com/office/drawing/2014/main" id="{111B4A49-B930-4A89-A1CD-6CA2B3D95AED}"/>
              </a:ext>
            </a:extLst>
          </p:cNvPr>
          <p:cNvSpPr txBox="1"/>
          <p:nvPr/>
        </p:nvSpPr>
        <p:spPr>
          <a:xfrm>
            <a:off x="6905625" y="31039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Engaged in the construction of various properties such as residential, commercial, and industrial buildings that require elevators.</a:t>
            </a:r>
          </a:p>
        </p:txBody>
      </p:sp>
      <p:pic>
        <p:nvPicPr>
          <p:cNvPr id="5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501" name="-1">
            <a:extLst>
              <a:ext uri="{FF2B5EF4-FFF2-40B4-BE49-F238E27FC236}">
                <a16:creationId xmlns:a16="http://schemas.microsoft.com/office/drawing/2014/main" id="{111B4A49-B930-4A89-A1CD-6CA2B3D95AED}"/>
              </a:ext>
            </a:extLst>
          </p:cNvPr>
          <p:cNvSpPr txBox="1"/>
          <p:nvPr/>
        </p:nvSpPr>
        <p:spPr>
          <a:xfrm>
            <a:off x="6338697" y="7677150"/>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#2</a:t>
            </a:r>
          </a:p>
        </p:txBody>
      </p:sp>
      <p:sp>
        <p:nvSpPr>
          <p:cNvPr id="502" name="Primary Heading-1">
            <a:extLst>
              <a:ext uri="{FF2B5EF4-FFF2-40B4-BE49-F238E27FC236}">
                <a16:creationId xmlns:a16="http://schemas.microsoft.com/office/drawing/2014/main" id="{111B4A49-B930-4A89-A1CD-6CA2B3D95AED}"/>
              </a:ext>
            </a:extLst>
          </p:cNvPr>
          <p:cNvSpPr txBox="1"/>
          <p:nvPr/>
        </p:nvSpPr>
        <p:spPr>
          <a:xfrm>
            <a:off x="6972300" y="7259193"/>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Real Estate Developers</a:t>
            </a:r>
          </a:p>
        </p:txBody>
      </p:sp>
      <p:sp>
        <p:nvSpPr>
          <p:cNvPr id="503" name="Description of a primary heading-1">
            <a:extLst>
              <a:ext uri="{FF2B5EF4-FFF2-40B4-BE49-F238E27FC236}">
                <a16:creationId xmlns:a16="http://schemas.microsoft.com/office/drawing/2014/main" id="{111B4A49-B930-4A89-A1CD-6CA2B3D95AED}"/>
              </a:ext>
            </a:extLst>
          </p:cNvPr>
          <p:cNvSpPr txBox="1"/>
          <p:nvPr/>
        </p:nvSpPr>
        <p:spPr>
          <a:xfrm>
            <a:off x="6905625" y="7637812"/>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Require elevators for new property developments or to enhance existing structures, driving demand for elevator solutions.</a:t>
            </a:r>
          </a:p>
        </p:txBody>
      </p:sp>
      <p:sp>
        <p:nvSpPr>
          <p:cNvPr id="504" name="Click here to edit title-481">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05" name="Click here to edit subtitle-407">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06" name="Click here to edit label-430">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10287000"/>
          </a:xfrm>
          <a:prstGeom prst="rect">
            <a:avLst/>
          </a:prstGeom>
        </p:spPr>
      </p:pic>
      <p:pic>
        <p:nvPicPr>
          <p:cNvPr id="5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2409825"/>
            <a:ext cx="190500" cy="190500"/>
          </a:xfrm>
          <a:prstGeom prst="rect">
            <a:avLst/>
          </a:prstGeom>
        </p:spPr>
      </p:pic>
      <p:pic>
        <p:nvPicPr>
          <p:cNvPr id="513" name="Picture 512">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13D78BD-80D1-40F8-8718-C297EA80CD70}">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2486025"/>
            <a:ext cx="476250" cy="28575"/>
          </a:xfrm>
          <a:prstGeom prst="rect">
            <a:avLst/>
          </a:prstGeom>
        </p:spPr>
      </p:pic>
      <p:pic>
        <p:nvPicPr>
          <p:cNvPr id="5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5429250"/>
            <a:ext cx="190500" cy="190500"/>
          </a:xfrm>
          <a:prstGeom prst="rect">
            <a:avLst/>
          </a:prstGeom>
        </p:spPr>
      </p:pic>
      <p:pic>
        <p:nvPicPr>
          <p:cNvPr id="515" name="Picture 514">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F2FB92B2-3B52-46D4-8239-5356BABBBD85}">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5505450"/>
            <a:ext cx="476250" cy="28575"/>
          </a:xfrm>
          <a:prstGeom prst="rect">
            <a:avLst/>
          </a:prstGeom>
        </p:spPr>
      </p:pic>
      <p:pic>
        <p:nvPicPr>
          <p:cNvPr id="5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8458200"/>
            <a:ext cx="190500" cy="190500"/>
          </a:xfrm>
          <a:prstGeom prst="rect">
            <a:avLst/>
          </a:prstGeom>
        </p:spPr>
      </p:pic>
      <p:pic>
        <p:nvPicPr>
          <p:cNvPr id="517" name="Picture 516">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5B3F712C-5454-4028-B46F-0E7AA2E0ED1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8534400"/>
            <a:ext cx="476250" cy="28575"/>
          </a:xfrm>
          <a:prstGeom prst="rect">
            <a:avLst/>
          </a:prstGeom>
        </p:spPr>
      </p:pic>
      <p:pic>
        <p:nvPicPr>
          <p:cNvPr id="5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2276475"/>
            <a:ext cx="457200" cy="457200"/>
          </a:xfrm>
          <a:prstGeom prst="rect">
            <a:avLst/>
          </a:prstGeom>
        </p:spPr>
      </p:pic>
      <p:sp>
        <p:nvSpPr>
          <p:cNvPr id="519" name="-2">
            <a:extLst>
              <a:ext uri="{FF2B5EF4-FFF2-40B4-BE49-F238E27FC236}">
                <a16:creationId xmlns:a16="http://schemas.microsoft.com/office/drawing/2014/main" id="{111B4A49-B930-4A89-A1CD-6CA2B3D95AED}"/>
              </a:ext>
            </a:extLst>
          </p:cNvPr>
          <p:cNvSpPr txBox="1"/>
          <p:nvPr/>
        </p:nvSpPr>
        <p:spPr>
          <a:xfrm>
            <a:off x="6338697" y="2387536"/>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#3</a:t>
            </a:r>
          </a:p>
        </p:txBody>
      </p:sp>
      <p:sp>
        <p:nvSpPr>
          <p:cNvPr id="520" name="Primary Heading-2">
            <a:extLst>
              <a:ext uri="{FF2B5EF4-FFF2-40B4-BE49-F238E27FC236}">
                <a16:creationId xmlns:a16="http://schemas.microsoft.com/office/drawing/2014/main" id="{111B4A49-B930-4A89-A1CD-6CA2B3D95AED}"/>
              </a:ext>
            </a:extLst>
          </p:cNvPr>
          <p:cNvSpPr txBox="1"/>
          <p:nvPr/>
        </p:nvSpPr>
        <p:spPr>
          <a:xfrm>
            <a:off x="6972300" y="1969675"/>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Elevator Installation Companies</a:t>
            </a:r>
          </a:p>
        </p:txBody>
      </p:sp>
      <p:sp>
        <p:nvSpPr>
          <p:cNvPr id="521" name="Description of a primary heading-2">
            <a:extLst>
              <a:ext uri="{FF2B5EF4-FFF2-40B4-BE49-F238E27FC236}">
                <a16:creationId xmlns:a16="http://schemas.microsoft.com/office/drawing/2014/main" id="{111B4A49-B930-4A89-A1CD-6CA2B3D95AED}"/>
              </a:ext>
            </a:extLst>
          </p:cNvPr>
          <p:cNvSpPr txBox="1"/>
          <p:nvPr/>
        </p:nvSpPr>
        <p:spPr>
          <a:xfrm>
            <a:off x="6905625" y="2348294"/>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Specialized firms focusing on the installation of elevators, necessitating high-quality elevator components and accessories.</a:t>
            </a:r>
          </a:p>
        </p:txBody>
      </p:sp>
      <p:pic>
        <p:nvPicPr>
          <p:cNvPr id="5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5295900"/>
            <a:ext cx="457200" cy="457200"/>
          </a:xfrm>
          <a:prstGeom prst="rect">
            <a:avLst/>
          </a:prstGeom>
        </p:spPr>
      </p:pic>
      <p:sp>
        <p:nvSpPr>
          <p:cNvPr id="523" name="-3">
            <a:extLst>
              <a:ext uri="{FF2B5EF4-FFF2-40B4-BE49-F238E27FC236}">
                <a16:creationId xmlns:a16="http://schemas.microsoft.com/office/drawing/2014/main" id="{111B4A49-B930-4A89-A1CD-6CA2B3D95AED}"/>
              </a:ext>
            </a:extLst>
          </p:cNvPr>
          <p:cNvSpPr txBox="1"/>
          <p:nvPr/>
        </p:nvSpPr>
        <p:spPr>
          <a:xfrm>
            <a:off x="6327553" y="5410105"/>
            <a:ext cx="45720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#4</a:t>
            </a:r>
          </a:p>
        </p:txBody>
      </p:sp>
      <p:sp>
        <p:nvSpPr>
          <p:cNvPr id="524" name="Primary Heading-3">
            <a:extLst>
              <a:ext uri="{FF2B5EF4-FFF2-40B4-BE49-F238E27FC236}">
                <a16:creationId xmlns:a16="http://schemas.microsoft.com/office/drawing/2014/main" id="{111B4A49-B930-4A89-A1CD-6CA2B3D95AED}"/>
              </a:ext>
            </a:extLst>
          </p:cNvPr>
          <p:cNvSpPr txBox="1"/>
          <p:nvPr/>
        </p:nvSpPr>
        <p:spPr>
          <a:xfrm>
            <a:off x="6972300" y="4992148"/>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Maintenance and Repair Services</a:t>
            </a:r>
          </a:p>
        </p:txBody>
      </p:sp>
      <p:sp>
        <p:nvSpPr>
          <p:cNvPr id="525" name="Description of a primary heading-3">
            <a:extLst>
              <a:ext uri="{FF2B5EF4-FFF2-40B4-BE49-F238E27FC236}">
                <a16:creationId xmlns:a16="http://schemas.microsoft.com/office/drawing/2014/main" id="{111B4A49-B930-4A89-A1CD-6CA2B3D95AED}"/>
              </a:ext>
            </a:extLst>
          </p:cNvPr>
          <p:cNvSpPr txBox="1"/>
          <p:nvPr/>
        </p:nvSpPr>
        <p:spPr>
          <a:xfrm>
            <a:off x="6905625" y="5370766"/>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Offer ongoing maintenance and repair services for elevators, requiring reliable elevator parts and components for efficient operations.</a:t>
            </a:r>
          </a:p>
        </p:txBody>
      </p:sp>
      <p:pic>
        <p:nvPicPr>
          <p:cNvPr id="5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6324600" y="8315325"/>
            <a:ext cx="457200" cy="457200"/>
          </a:xfrm>
          <a:prstGeom prst="rect">
            <a:avLst/>
          </a:prstGeom>
        </p:spPr>
      </p:pic>
      <p:sp>
        <p:nvSpPr>
          <p:cNvPr id="527" name="-4">
            <a:extLst>
              <a:ext uri="{FF2B5EF4-FFF2-40B4-BE49-F238E27FC236}">
                <a16:creationId xmlns:a16="http://schemas.microsoft.com/office/drawing/2014/main" id="{111B4A49-B930-4A89-A1CD-6CA2B3D95AED}"/>
              </a:ext>
            </a:extLst>
          </p:cNvPr>
          <p:cNvSpPr txBox="1"/>
          <p:nvPr/>
        </p:nvSpPr>
        <p:spPr>
          <a:xfrm>
            <a:off x="6338411" y="8432578"/>
            <a:ext cx="438150"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#5</a:t>
            </a:r>
          </a:p>
        </p:txBody>
      </p:sp>
      <p:sp>
        <p:nvSpPr>
          <p:cNvPr id="528" name="Primary Heading-4">
            <a:extLst>
              <a:ext uri="{FF2B5EF4-FFF2-40B4-BE49-F238E27FC236}">
                <a16:creationId xmlns:a16="http://schemas.microsoft.com/office/drawing/2014/main" id="{111B4A49-B930-4A89-A1CD-6CA2B3D95AED}"/>
              </a:ext>
            </a:extLst>
          </p:cNvPr>
          <p:cNvSpPr txBox="1"/>
          <p:nvPr/>
        </p:nvSpPr>
        <p:spPr>
          <a:xfrm>
            <a:off x="6972300" y="8014716"/>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EDCE1">
                    <a:alpha val="100000"/>
                  </a:srgbClr>
                </a:solidFill>
                <a:latin typeface="Montserrat" panose="00000700000000000000" pitchFamily="2" charset="0"/>
              </a:rPr>
              <a:t>Architects and Designers</a:t>
            </a:r>
          </a:p>
        </p:txBody>
      </p:sp>
      <p:sp>
        <p:nvSpPr>
          <p:cNvPr id="529" name="Description of a primary heading-4">
            <a:extLst>
              <a:ext uri="{FF2B5EF4-FFF2-40B4-BE49-F238E27FC236}">
                <a16:creationId xmlns:a16="http://schemas.microsoft.com/office/drawing/2014/main" id="{111B4A49-B930-4A89-A1CD-6CA2B3D95AED}"/>
              </a:ext>
            </a:extLst>
          </p:cNvPr>
          <p:cNvSpPr txBox="1"/>
          <p:nvPr/>
        </p:nvSpPr>
        <p:spPr>
          <a:xfrm>
            <a:off x="6905625" y="8393335"/>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EDCE1">
                    <a:alpha val="100000"/>
                  </a:srgbClr>
                </a:solidFill>
                <a:latin typeface="Montserrat Light" panose="00000700000000000000" pitchFamily="2" charset="0"/>
              </a:rPr>
              <a:t>Specify elevator components in their building designs, influencing the choice of elevator solutions used in construction projects.</a:t>
            </a:r>
          </a:p>
        </p:txBody>
      </p:sp>
      <p:sp>
        <p:nvSpPr>
          <p:cNvPr id="530" name="Click here to edit title-417">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31" name="Click here to edit subtitle-408">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32" name="Click here to edit label-462">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6534150" y="0"/>
            <a:ext cx="28575" cy="7791450"/>
          </a:xfrm>
          <a:prstGeom prst="rect">
            <a:avLst/>
          </a:prstGeom>
        </p:spPr>
      </p:pic>
      <p:pic>
        <p:nvPicPr>
          <p:cNvPr id="5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3162300"/>
            <a:ext cx="190500" cy="190500"/>
          </a:xfrm>
          <a:prstGeom prst="rect">
            <a:avLst/>
          </a:prstGeom>
        </p:spPr>
      </p:pic>
      <p:pic>
        <p:nvPicPr>
          <p:cNvPr id="539" name="Picture 538">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B1675B1B-7581-4141-8BF4-6FCA9E275286}">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3238500"/>
            <a:ext cx="476250" cy="28575"/>
          </a:xfrm>
          <a:prstGeom prst="rect">
            <a:avLst/>
          </a:prstGeom>
        </p:spPr>
      </p:pic>
      <p:pic>
        <p:nvPicPr>
          <p:cNvPr id="5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457950" y="7696200"/>
            <a:ext cx="190500" cy="190500"/>
          </a:xfrm>
          <a:prstGeom prst="rect">
            <a:avLst/>
          </a:prstGeom>
        </p:spPr>
      </p:pic>
      <p:pic>
        <p:nvPicPr>
          <p:cNvPr id="541" name="Picture 540">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B44E40A-99C2-46E9-8C2A-3A9AB3AA1352}">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477000" y="7772400"/>
            <a:ext cx="476250" cy="28575"/>
          </a:xfrm>
          <a:prstGeom prst="rect">
            <a:avLst/>
          </a:prstGeom>
        </p:spPr>
      </p:pic>
      <p:pic>
        <p:nvPicPr>
          <p:cNvPr id="5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324600" y="3028950"/>
            <a:ext cx="457200" cy="457200"/>
          </a:xfrm>
          <a:prstGeom prst="rect">
            <a:avLst/>
          </a:prstGeom>
        </p:spPr>
      </p:pic>
      <p:sp>
        <p:nvSpPr>
          <p:cNvPr id="543" name="-5">
            <a:extLst>
              <a:ext uri="{FF2B5EF4-FFF2-40B4-BE49-F238E27FC236}">
                <a16:creationId xmlns:a16="http://schemas.microsoft.com/office/drawing/2014/main" id="{111B4A49-B930-4A89-A1CD-6CA2B3D95AED}"/>
              </a:ext>
            </a:extLst>
          </p:cNvPr>
          <p:cNvSpPr txBox="1"/>
          <p:nvPr/>
        </p:nvSpPr>
        <p:spPr>
          <a:xfrm>
            <a:off x="6333554" y="3142964"/>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#6</a:t>
            </a:r>
          </a:p>
        </p:txBody>
      </p:sp>
      <p:sp>
        <p:nvSpPr>
          <p:cNvPr id="544" name="Primary Heading-5">
            <a:extLst>
              <a:ext uri="{FF2B5EF4-FFF2-40B4-BE49-F238E27FC236}">
                <a16:creationId xmlns:a16="http://schemas.microsoft.com/office/drawing/2014/main" id="{111B4A49-B930-4A89-A1CD-6CA2B3D95AED}"/>
              </a:ext>
            </a:extLst>
          </p:cNvPr>
          <p:cNvSpPr txBox="1"/>
          <p:nvPr/>
        </p:nvSpPr>
        <p:spPr>
          <a:xfrm>
            <a:off x="6972300" y="2725102"/>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8D6DC">
                    <a:alpha val="100000"/>
                  </a:srgbClr>
                </a:solidFill>
                <a:latin typeface="Montserrat" panose="00000700000000000000" pitchFamily="2" charset="0"/>
              </a:rPr>
              <a:t>Government and Public Infrastructure</a:t>
            </a:r>
          </a:p>
        </p:txBody>
      </p:sp>
      <p:sp>
        <p:nvSpPr>
          <p:cNvPr id="545" name="Description of a primary heading-5">
            <a:extLst>
              <a:ext uri="{FF2B5EF4-FFF2-40B4-BE49-F238E27FC236}">
                <a16:creationId xmlns:a16="http://schemas.microsoft.com/office/drawing/2014/main" id="{111B4A49-B930-4A89-A1CD-6CA2B3D95AED}"/>
              </a:ext>
            </a:extLst>
          </p:cNvPr>
          <p:cNvSpPr txBox="1"/>
          <p:nvPr/>
        </p:nvSpPr>
        <p:spPr>
          <a:xfrm>
            <a:off x="6905625" y="3103721"/>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8D6DC">
                    <a:alpha val="100000"/>
                  </a:srgbClr>
                </a:solidFill>
                <a:latin typeface="Montserrat Light" panose="00000700000000000000" pitchFamily="2" charset="0"/>
              </a:rPr>
              <a:t>Public buildings, transportation hubs, and social housing projects require elevators, creating opportunities for elevator industry growth.</a:t>
            </a:r>
          </a:p>
        </p:txBody>
      </p:sp>
      <p:pic>
        <p:nvPicPr>
          <p:cNvPr id="5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324600" y="7562850"/>
            <a:ext cx="457200" cy="457200"/>
          </a:xfrm>
          <a:prstGeom prst="rect">
            <a:avLst/>
          </a:prstGeom>
        </p:spPr>
      </p:pic>
      <p:sp>
        <p:nvSpPr>
          <p:cNvPr id="547" name="-6">
            <a:extLst>
              <a:ext uri="{FF2B5EF4-FFF2-40B4-BE49-F238E27FC236}">
                <a16:creationId xmlns:a16="http://schemas.microsoft.com/office/drawing/2014/main" id="{111B4A49-B930-4A89-A1CD-6CA2B3D95AED}"/>
              </a:ext>
            </a:extLst>
          </p:cNvPr>
          <p:cNvSpPr txBox="1"/>
          <p:nvPr/>
        </p:nvSpPr>
        <p:spPr>
          <a:xfrm>
            <a:off x="6335649" y="7676864"/>
            <a:ext cx="447675" cy="238125"/>
          </a:xfrm>
          <a:prstGeom prst="rect">
            <a:avLst/>
          </a:prstGeom>
          <a:noFill/>
        </p:spPr>
        <p:txBody>
          <a:bodyPr vertOverflow="clip" horzOverflow="clip" wrap="square" lIns="0" tIns="0" rIns="0" bIns="0" rtlCol="0" anchor="ctr">
            <a:spAutoFit/>
          </a:bodyPr>
          <a:lstStyle/>
          <a:p>
            <a:pPr algn="ctr"/>
            <a:r>
              <a:rPr lang="en-US" sz="1800" b="1" dirty="0">
                <a:solidFill>
                  <a:srgbClr val="15092E">
                    <a:alpha val="100000"/>
                  </a:srgbClr>
                </a:solidFill>
                <a:latin typeface="Montserrat" panose="00000700000000000000" pitchFamily="2" charset="0"/>
              </a:rPr>
              <a:t>#7</a:t>
            </a:r>
          </a:p>
        </p:txBody>
      </p:sp>
      <p:sp>
        <p:nvSpPr>
          <p:cNvPr id="548" name="Primary Heading-6">
            <a:extLst>
              <a:ext uri="{FF2B5EF4-FFF2-40B4-BE49-F238E27FC236}">
                <a16:creationId xmlns:a16="http://schemas.microsoft.com/office/drawing/2014/main" id="{111B4A49-B930-4A89-A1CD-6CA2B3D95AED}"/>
              </a:ext>
            </a:extLst>
          </p:cNvPr>
          <p:cNvSpPr txBox="1"/>
          <p:nvPr/>
        </p:nvSpPr>
        <p:spPr>
          <a:xfrm>
            <a:off x="6972300" y="7259002"/>
            <a:ext cx="10506075"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D1CFD6">
                    <a:alpha val="100000"/>
                  </a:srgbClr>
                </a:solidFill>
                <a:latin typeface="Montserrat" panose="00000700000000000000" pitchFamily="2" charset="0"/>
              </a:rPr>
              <a:t>Export Markets</a:t>
            </a:r>
          </a:p>
        </p:txBody>
      </p:sp>
      <p:sp>
        <p:nvSpPr>
          <p:cNvPr id="549" name="Description of a primary heading-6">
            <a:extLst>
              <a:ext uri="{FF2B5EF4-FFF2-40B4-BE49-F238E27FC236}">
                <a16:creationId xmlns:a16="http://schemas.microsoft.com/office/drawing/2014/main" id="{111B4A49-B930-4A89-A1CD-6CA2B3D95AED}"/>
              </a:ext>
            </a:extLst>
          </p:cNvPr>
          <p:cNvSpPr txBox="1"/>
          <p:nvPr/>
        </p:nvSpPr>
        <p:spPr>
          <a:xfrm>
            <a:off x="6905625" y="7637621"/>
            <a:ext cx="10506075" cy="69532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D1CFD6">
                    <a:alpha val="100000"/>
                  </a:srgbClr>
                </a:solidFill>
                <a:latin typeface="Montserrat Light" panose="00000700000000000000" pitchFamily="2" charset="0"/>
              </a:rPr>
              <a:t>Countries with expanding construction sectors and increasing demand for elevator components present potential export opportunities for elevator industry players.</a:t>
            </a:r>
          </a:p>
        </p:txBody>
      </p:sp>
      <p:sp>
        <p:nvSpPr>
          <p:cNvPr id="550" name="Click here to edit title-498">
            <a:extLst>
              <a:ext uri="{FF2B5EF4-FFF2-40B4-BE49-F238E27FC236}">
                <a16:creationId xmlns:a16="http://schemas.microsoft.com/office/drawing/2014/main" id="{111B4A49-B930-4A89-A1CD-6CA2B3D95AED}"/>
              </a:ext>
            </a:extLst>
          </p:cNvPr>
          <p:cNvSpPr txBox="1"/>
          <p:nvPr/>
        </p:nvSpPr>
        <p:spPr>
          <a:xfrm>
            <a:off x="1219200" y="4305300"/>
            <a:ext cx="3695700"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Target Market</a:t>
            </a:r>
          </a:p>
        </p:txBody>
      </p:sp>
      <p:sp>
        <p:nvSpPr>
          <p:cNvPr id="551" name="Click here to edit subtitle-429">
            <a:extLst>
              <a:ext uri="{FF2B5EF4-FFF2-40B4-BE49-F238E27FC236}">
                <a16:creationId xmlns:a16="http://schemas.microsoft.com/office/drawing/2014/main" id="{111B4A49-B930-4A89-A1CD-6CA2B3D95AED}"/>
              </a:ext>
            </a:extLst>
          </p:cNvPr>
          <p:cNvSpPr txBox="1"/>
          <p:nvPr/>
        </p:nvSpPr>
        <p:spPr>
          <a:xfrm>
            <a:off x="1219200" y="5410200"/>
            <a:ext cx="4829175" cy="733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Market Segments for Elevator Industry Expansion in India</a:t>
            </a:r>
          </a:p>
        </p:txBody>
      </p:sp>
      <p:sp>
        <p:nvSpPr>
          <p:cNvPr id="552" name="Click here to edit label-476">
            <a:extLst>
              <a:ext uri="{FF2B5EF4-FFF2-40B4-BE49-F238E27FC236}">
                <a16:creationId xmlns:a16="http://schemas.microsoft.com/office/drawing/2014/main" id="{111B4A49-B930-4A89-A1CD-6CA2B3D95AED}"/>
              </a:ext>
            </a:extLst>
          </p:cNvPr>
          <p:cNvSpPr txBox="1"/>
          <p:nvPr/>
        </p:nvSpPr>
        <p:spPr>
          <a:xfrm>
            <a:off x="1219200" y="3962400"/>
            <a:ext cx="48291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SEGMENTS</a:t>
            </a:r>
          </a:p>
        </p:txBody>
      </p:sp>
      <p:pic>
        <p:nvPicPr>
          <p:cNvPr id="5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90550" y="3962400"/>
            <a:ext cx="19050" cy="217170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7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578"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579"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5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286500" y="3952875"/>
            <a:ext cx="5715000" cy="3152775"/>
          </a:xfrm>
          <a:prstGeom prst="rect">
            <a:avLst/>
          </a:prstGeom>
          <a:effectLst>
            <a:outerShdw blurRad="190500" dist="28575" dir="2700000" algn="ctr" rotWithShape="0">
              <a:srgbClr val="000000">
                <a:alpha val="40000"/>
              </a:srgbClr>
            </a:outerShdw>
          </a:effectLst>
        </p:spPr>
      </p:pic>
      <p:sp>
        <p:nvSpPr>
          <p:cNvPr id="581" name="Type a Headline-1">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Market Analysis</a:t>
            </a:r>
          </a:p>
        </p:txBody>
      </p:sp>
      <p:sp>
        <p:nvSpPr>
          <p:cNvPr id="582" name="A brief explanation about the headline-1">
            <a:extLst>
              <a:ext uri="{FF2B5EF4-FFF2-40B4-BE49-F238E27FC236}">
                <a16:creationId xmlns:a16="http://schemas.microsoft.com/office/drawing/2014/main" id="{111B4A49-B930-4A89-A1CD-6CA2B3D95AED}"/>
              </a:ext>
            </a:extLst>
          </p:cNvPr>
          <p:cNvSpPr txBox="1"/>
          <p:nvPr/>
        </p:nvSpPr>
        <p:spPr>
          <a:xfrm>
            <a:off x="6422993" y="5318284"/>
            <a:ext cx="5448300" cy="1495425"/>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Continuously analyze market trends and customer feedback to adapt product offerings to meet evolving consumer demands in the Indian elevator industry.</a:t>
            </a:r>
          </a:p>
        </p:txBody>
      </p:sp>
      <p:pic>
        <p:nvPicPr>
          <p:cNvPr id="5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5857875" y="4943475"/>
            <a:ext cx="19050" cy="1866900"/>
          </a:xfrm>
          <a:prstGeom prst="rect">
            <a:avLst/>
          </a:prstGeom>
        </p:spPr>
      </p:pic>
      <p:sp>
        <p:nvSpPr>
          <p:cNvPr id="584" name="-401">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#1</a:t>
            </a:r>
          </a:p>
        </p:txBody>
      </p:sp>
      <p:pic>
        <p:nvPicPr>
          <p:cNvPr id="5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586" name="Type a Headline-2">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5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1753850" y="5057775"/>
            <a:ext cx="19050" cy="152400"/>
          </a:xfrm>
          <a:prstGeom prst="rect">
            <a:avLst/>
          </a:prstGeom>
        </p:spPr>
      </p:pic>
      <p:sp>
        <p:nvSpPr>
          <p:cNvPr id="588" name="-434">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#2</a:t>
            </a:r>
          </a:p>
        </p:txBody>
      </p:sp>
      <p:pic>
        <p:nvPicPr>
          <p:cNvPr id="5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590" name="Type a Headline-3">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59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mt="30000"/>
          </a:blip>
          <a:stretch/>
        </p:blipFill>
        <p:spPr>
          <a:xfrm>
            <a:off x="16221075" y="5057775"/>
            <a:ext cx="19050" cy="152400"/>
          </a:xfrm>
          <a:prstGeom prst="rect">
            <a:avLst/>
          </a:prstGeom>
        </p:spPr>
      </p:pic>
      <p:sp>
        <p:nvSpPr>
          <p:cNvPr id="592" name="-488">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spTree>
    <p:extLst>
      <p:ext uri="{BB962C8B-B14F-4D97-AF65-F5344CB8AC3E}">
        <p14:creationId xmlns:p14="http://schemas.microsoft.com/office/powerpoint/2010/main" val="364804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596"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597"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598"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5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00" name="Type a Headline-1">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Market Analysis</a:t>
            </a:r>
          </a:p>
        </p:txBody>
      </p:sp>
      <p:pic>
        <p:nvPicPr>
          <p:cNvPr id="60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30000"/>
          </a:blip>
          <a:stretch/>
        </p:blipFill>
        <p:spPr>
          <a:xfrm>
            <a:off x="1400175" y="4943475"/>
            <a:ext cx="19050" cy="1866900"/>
          </a:xfrm>
          <a:prstGeom prst="rect">
            <a:avLst/>
          </a:prstGeom>
        </p:spPr>
      </p:pic>
      <p:sp>
        <p:nvSpPr>
          <p:cNvPr id="602" name="-470">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#1</a:t>
            </a:r>
          </a:p>
        </p:txBody>
      </p:sp>
      <p:pic>
        <p:nvPicPr>
          <p:cNvPr id="60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04" name="Type a Headline-2">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Product Development</a:t>
            </a:r>
          </a:p>
        </p:txBody>
      </p:sp>
      <p:sp>
        <p:nvSpPr>
          <p:cNvPr id="605" name="A brief explanation about the headline-2">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Invest in R&amp;D to innovate and enhance product quality by focusing on unique features that differentiate your offerings from competitors in the elevator industry.</a:t>
            </a:r>
          </a:p>
        </p:txBody>
      </p:sp>
      <p:pic>
        <p:nvPicPr>
          <p:cNvPr id="6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857875" y="5057775"/>
            <a:ext cx="19050" cy="152400"/>
          </a:xfrm>
          <a:prstGeom prst="rect">
            <a:avLst/>
          </a:prstGeom>
        </p:spPr>
      </p:pic>
      <p:sp>
        <p:nvSpPr>
          <p:cNvPr id="607" name="-496">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#2</a:t>
            </a:r>
          </a:p>
        </p:txBody>
      </p:sp>
      <p:pic>
        <p:nvPicPr>
          <p:cNvPr id="6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09" name="Type a Headline-3">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1753850" y="5057775"/>
            <a:ext cx="19050" cy="152400"/>
          </a:xfrm>
          <a:prstGeom prst="rect">
            <a:avLst/>
          </a:prstGeom>
        </p:spPr>
      </p:pic>
      <p:sp>
        <p:nvSpPr>
          <p:cNvPr id="611" name="-406">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pic>
        <p:nvPicPr>
          <p:cNvPr id="6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13" name="Type a Headline-4">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mt="30000"/>
          </a:blip>
          <a:stretch/>
        </p:blipFill>
        <p:spPr>
          <a:xfrm>
            <a:off x="16221075" y="5057775"/>
            <a:ext cx="19050" cy="152400"/>
          </a:xfrm>
          <a:prstGeom prst="rect">
            <a:avLst/>
          </a:prstGeom>
        </p:spPr>
      </p:pic>
      <p:sp>
        <p:nvSpPr>
          <p:cNvPr id="615" name="-483">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spTree>
    <p:extLst>
      <p:ext uri="{BB962C8B-B14F-4D97-AF65-F5344CB8AC3E}">
        <p14:creationId xmlns:p14="http://schemas.microsoft.com/office/powerpoint/2010/main" val="3648047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1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20"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21"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23" name="Type a Headline-1">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Market Analysis</a:t>
            </a:r>
          </a:p>
        </p:txBody>
      </p:sp>
      <p:pic>
        <p:nvPicPr>
          <p:cNvPr id="6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25" name="Type a Headline-2">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6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27" name="-458">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#2</a:t>
            </a:r>
          </a:p>
        </p:txBody>
      </p:sp>
      <p:pic>
        <p:nvPicPr>
          <p:cNvPr id="6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29" name="Type a Headline-3">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Brand Building</a:t>
            </a:r>
          </a:p>
        </p:txBody>
      </p:sp>
      <p:sp>
        <p:nvSpPr>
          <p:cNvPr id="630" name="A brief explanation about the headline-3">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Strengthen brand presence through targeted marketing campaigns showcasing superior product quality and industry expertise to increase market share in India's elevator industry.</a:t>
            </a:r>
          </a:p>
        </p:txBody>
      </p:sp>
      <p:pic>
        <p:nvPicPr>
          <p:cNvPr id="63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32" name="-499">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#3</a:t>
            </a:r>
          </a:p>
        </p:txBody>
      </p:sp>
      <p:pic>
        <p:nvPicPr>
          <p:cNvPr id="63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34" name="Type a Headline-4">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3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36" name="-490">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pic>
        <p:nvPicPr>
          <p:cNvPr id="63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38" name="Type a Headline-5">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3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6221075" y="5057775"/>
            <a:ext cx="19050" cy="152400"/>
          </a:xfrm>
          <a:prstGeom prst="rect">
            <a:avLst/>
          </a:prstGeom>
        </p:spPr>
      </p:pic>
      <p:sp>
        <p:nvSpPr>
          <p:cNvPr id="640" name="-423">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spTree>
    <p:extLst>
      <p:ext uri="{BB962C8B-B14F-4D97-AF65-F5344CB8AC3E}">
        <p14:creationId xmlns:p14="http://schemas.microsoft.com/office/powerpoint/2010/main" val="3648047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44"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45"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46"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4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48" name="Type a Headline-2">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Product Development</a:t>
            </a:r>
          </a:p>
        </p:txBody>
      </p:sp>
      <p:pic>
        <p:nvPicPr>
          <p:cNvPr id="6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50" name="Type a Headline-3">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52" name="-452">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#3</a:t>
            </a:r>
          </a:p>
        </p:txBody>
      </p:sp>
      <p:pic>
        <p:nvPicPr>
          <p:cNvPr id="65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654" name="Type a Headline-4">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Distribution Network</a:t>
            </a:r>
          </a:p>
        </p:txBody>
      </p:sp>
      <p:sp>
        <p:nvSpPr>
          <p:cNvPr id="655" name="A brief explanation about the headline-4">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Expand distribution channels nationwide to ensure widespread product availability, enabling customers to access your elevator solutions across India.</a:t>
            </a:r>
          </a:p>
        </p:txBody>
      </p:sp>
      <p:pic>
        <p:nvPicPr>
          <p:cNvPr id="6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57" name="-476">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#4</a:t>
            </a:r>
          </a:p>
        </p:txBody>
      </p:sp>
      <p:pic>
        <p:nvPicPr>
          <p:cNvPr id="6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59" name="Type a Headline-5">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61" name="-480">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pic>
        <p:nvPicPr>
          <p:cNvPr id="6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6640175" y="3952875"/>
            <a:ext cx="1647825" cy="1676400"/>
          </a:xfrm>
          <a:prstGeom prst="rect">
            <a:avLst/>
          </a:prstGeom>
          <a:effectLst>
            <a:outerShdw blurRad="190500" dist="28575" dir="2700000" algn="ctr" rotWithShape="0">
              <a:srgbClr val="000000">
                <a:alpha val="40000"/>
              </a:srgbClr>
            </a:outerShdw>
          </a:effectLst>
        </p:spPr>
      </p:pic>
      <p:sp>
        <p:nvSpPr>
          <p:cNvPr id="663" name="Type a Headline-6">
            <a:extLst>
              <a:ext uri="{FF2B5EF4-FFF2-40B4-BE49-F238E27FC236}">
                <a16:creationId xmlns:a16="http://schemas.microsoft.com/office/drawing/2014/main" id="{111B4A49-B930-4A89-A1CD-6CA2B3D95AED}"/>
              </a:ext>
            </a:extLst>
          </p:cNvPr>
          <p:cNvSpPr txBox="1"/>
          <p:nvPr/>
        </p:nvSpPr>
        <p:spPr>
          <a:xfrm>
            <a:off x="1684524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Certifications</a:t>
            </a:r>
          </a:p>
        </p:txBody>
      </p:sp>
      <p:pic>
        <p:nvPicPr>
          <p:cNvPr id="6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6221075" y="5057775"/>
            <a:ext cx="19050" cy="152400"/>
          </a:xfrm>
          <a:prstGeom prst="rect">
            <a:avLst/>
          </a:prstGeom>
        </p:spPr>
      </p:pic>
      <p:sp>
        <p:nvSpPr>
          <p:cNvPr id="665" name="-430">
            <a:extLst>
              <a:ext uri="{FF2B5EF4-FFF2-40B4-BE49-F238E27FC236}">
                <a16:creationId xmlns:a16="http://schemas.microsoft.com/office/drawing/2014/main" id="{111B4A49-B930-4A89-A1CD-6CA2B3D95AED}"/>
              </a:ext>
            </a:extLst>
          </p:cNvPr>
          <p:cNvSpPr txBox="1"/>
          <p:nvPr/>
        </p:nvSpPr>
        <p:spPr>
          <a:xfrm>
            <a:off x="1684524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6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70"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71"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73" name="Type a Headline-3">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Brand Building</a:t>
            </a:r>
          </a:p>
        </p:txBody>
      </p:sp>
      <p:pic>
        <p:nvPicPr>
          <p:cNvPr id="6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75" name="Type a Headline-4">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77" name="-495">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#4</a:t>
            </a:r>
          </a:p>
        </p:txBody>
      </p:sp>
      <p:pic>
        <p:nvPicPr>
          <p:cNvPr id="6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895725"/>
          </a:xfrm>
          <a:prstGeom prst="rect">
            <a:avLst/>
          </a:prstGeom>
          <a:effectLst>
            <a:outerShdw blurRad="190500" dist="28575" dir="2700000" algn="ctr" rotWithShape="0">
              <a:srgbClr val="000000">
                <a:alpha val="40000"/>
              </a:srgbClr>
            </a:outerShdw>
          </a:effectLst>
        </p:spPr>
      </p:pic>
      <p:sp>
        <p:nvSpPr>
          <p:cNvPr id="679" name="Type a Headline-5">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Customer Service</a:t>
            </a:r>
          </a:p>
        </p:txBody>
      </p:sp>
      <p:sp>
        <p:nvSpPr>
          <p:cNvPr id="680" name="A brief explanation about the headline-5">
            <a:extLst>
              <a:ext uri="{FF2B5EF4-FFF2-40B4-BE49-F238E27FC236}">
                <a16:creationId xmlns:a16="http://schemas.microsoft.com/office/drawing/2014/main" id="{111B4A49-B930-4A89-A1CD-6CA2B3D95AED}"/>
              </a:ext>
            </a:extLst>
          </p:cNvPr>
          <p:cNvSpPr txBox="1"/>
          <p:nvPr/>
        </p:nvSpPr>
        <p:spPr>
          <a:xfrm>
            <a:off x="6422993" y="5318284"/>
            <a:ext cx="5448300" cy="222885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Establish a reputation for exceptional customer service, including comprehensive after-sales support and maintenance services to enhance customer satisfaction and loyalty within the elevator industry.</a:t>
            </a:r>
          </a:p>
        </p:txBody>
      </p:sp>
      <p:pic>
        <p:nvPicPr>
          <p:cNvPr id="68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682" name="-490">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#5</a:t>
            </a:r>
          </a:p>
        </p:txBody>
      </p:sp>
      <p:pic>
        <p:nvPicPr>
          <p:cNvPr id="6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182475" y="3952875"/>
            <a:ext cx="4286250" cy="1676400"/>
          </a:xfrm>
          <a:prstGeom prst="rect">
            <a:avLst/>
          </a:prstGeom>
          <a:effectLst>
            <a:outerShdw blurRad="190500" dist="28575" dir="2700000" algn="ctr" rotWithShape="0">
              <a:srgbClr val="000000">
                <a:alpha val="40000"/>
              </a:srgbClr>
            </a:outerShdw>
          </a:effectLst>
        </p:spPr>
      </p:pic>
      <p:sp>
        <p:nvSpPr>
          <p:cNvPr id="684" name="Type a Headline-6">
            <a:extLst>
              <a:ext uri="{FF2B5EF4-FFF2-40B4-BE49-F238E27FC236}">
                <a16:creationId xmlns:a16="http://schemas.microsoft.com/office/drawing/2014/main" id="{111B4A49-B930-4A89-A1CD-6CA2B3D95AED}"/>
              </a:ext>
            </a:extLst>
          </p:cNvPr>
          <p:cNvSpPr txBox="1"/>
          <p:nvPr/>
        </p:nvSpPr>
        <p:spPr>
          <a:xfrm>
            <a:off x="12382976"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Certifications</a:t>
            </a:r>
          </a:p>
        </p:txBody>
      </p:sp>
      <p:pic>
        <p:nvPicPr>
          <p:cNvPr id="6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1753850" y="5057775"/>
            <a:ext cx="19050" cy="152400"/>
          </a:xfrm>
          <a:prstGeom prst="rect">
            <a:avLst/>
          </a:prstGeom>
        </p:spPr>
      </p:pic>
      <p:sp>
        <p:nvSpPr>
          <p:cNvPr id="686" name="-405">
            <a:extLst>
              <a:ext uri="{FF2B5EF4-FFF2-40B4-BE49-F238E27FC236}">
                <a16:creationId xmlns:a16="http://schemas.microsoft.com/office/drawing/2014/main" id="{111B4A49-B930-4A89-A1CD-6CA2B3D95AED}"/>
              </a:ext>
            </a:extLst>
          </p:cNvPr>
          <p:cNvSpPr txBox="1"/>
          <p:nvPr/>
        </p:nvSpPr>
        <p:spPr>
          <a:xfrm>
            <a:off x="12382976"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69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691" name="Type a Headline-0">
            <a:extLst>
              <a:ext uri="{FF2B5EF4-FFF2-40B4-BE49-F238E27FC236}">
                <a16:creationId xmlns:a16="http://schemas.microsoft.com/office/drawing/2014/main" id="{111B4A49-B930-4A89-A1CD-6CA2B3D95AED}"/>
              </a:ext>
            </a:extLst>
          </p:cNvPr>
          <p:cNvSpPr txBox="1"/>
          <p:nvPr/>
        </p:nvSpPr>
        <p:spPr>
          <a:xfrm>
            <a:off x="609600" y="609600"/>
            <a:ext cx="17211675" cy="108585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Product Roadmap</a:t>
            </a:r>
          </a:p>
        </p:txBody>
      </p:sp>
      <p:sp>
        <p:nvSpPr>
          <p:cNvPr id="692" name="A brief explanation about the headline-0">
            <a:extLst>
              <a:ext uri="{FF2B5EF4-FFF2-40B4-BE49-F238E27FC236}">
                <a16:creationId xmlns:a16="http://schemas.microsoft.com/office/drawing/2014/main" id="{111B4A49-B930-4A89-A1CD-6CA2B3D95AED}"/>
              </a:ext>
            </a:extLst>
          </p:cNvPr>
          <p:cNvSpPr txBox="1"/>
          <p:nvPr/>
        </p:nvSpPr>
        <p:spPr>
          <a:xfrm>
            <a:off x="542925" y="1688497"/>
            <a:ext cx="172116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pic>
        <p:nvPicPr>
          <p:cNvPr id="6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3952875"/>
            <a:ext cx="1657350" cy="1676400"/>
          </a:xfrm>
          <a:prstGeom prst="rect">
            <a:avLst/>
          </a:prstGeom>
          <a:effectLst>
            <a:outerShdw blurRad="190500" dist="28575" dir="2700000" algn="ctr" rotWithShape="0">
              <a:srgbClr val="000000">
                <a:alpha val="40000"/>
              </a:srgbClr>
            </a:outerShdw>
          </a:effectLst>
        </p:spPr>
      </p:pic>
      <p:sp>
        <p:nvSpPr>
          <p:cNvPr id="694" name="Type a Headline-4">
            <a:extLst>
              <a:ext uri="{FF2B5EF4-FFF2-40B4-BE49-F238E27FC236}">
                <a16:creationId xmlns:a16="http://schemas.microsoft.com/office/drawing/2014/main" id="{111B4A49-B930-4A89-A1CD-6CA2B3D95AED}"/>
              </a:ext>
            </a:extLst>
          </p:cNvPr>
          <p:cNvSpPr txBox="1"/>
          <p:nvPr/>
        </p:nvSpPr>
        <p:spPr>
          <a:xfrm>
            <a:off x="-2430304"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Distribution Network</a:t>
            </a:r>
          </a:p>
        </p:txBody>
      </p:sp>
      <p:pic>
        <p:nvPicPr>
          <p:cNvPr id="6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828800" y="3952875"/>
            <a:ext cx="4286250" cy="1676400"/>
          </a:xfrm>
          <a:prstGeom prst="rect">
            <a:avLst/>
          </a:prstGeom>
          <a:effectLst>
            <a:outerShdw blurRad="190500" dist="28575" dir="2700000" algn="ctr" rotWithShape="0">
              <a:srgbClr val="000000">
                <a:alpha val="40000"/>
              </a:srgbClr>
            </a:outerShdw>
          </a:effectLst>
        </p:spPr>
      </p:pic>
      <p:sp>
        <p:nvSpPr>
          <p:cNvPr id="696" name="Type a Headline-5">
            <a:extLst>
              <a:ext uri="{FF2B5EF4-FFF2-40B4-BE49-F238E27FC236}">
                <a16:creationId xmlns:a16="http://schemas.microsoft.com/office/drawing/2014/main" id="{111B4A49-B930-4A89-A1CD-6CA2B3D95AED}"/>
              </a:ext>
            </a:extLst>
          </p:cNvPr>
          <p:cNvSpPr txBox="1"/>
          <p:nvPr/>
        </p:nvSpPr>
        <p:spPr>
          <a:xfrm>
            <a:off x="2031968" y="4939665"/>
            <a:ext cx="401955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30000"/>
                  </a:srgbClr>
                </a:solidFill>
                <a:latin typeface="Montserrat" panose="00000700000000000000" pitchFamily="2" charset="0"/>
              </a:rPr>
              <a:t>Customer Service</a:t>
            </a:r>
          </a:p>
        </p:txBody>
      </p:sp>
      <p:pic>
        <p:nvPicPr>
          <p:cNvPr id="69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mt="30000"/>
          </a:blip>
          <a:stretch/>
        </p:blipFill>
        <p:spPr>
          <a:xfrm>
            <a:off x="1400175" y="5057775"/>
            <a:ext cx="19050" cy="152400"/>
          </a:xfrm>
          <a:prstGeom prst="rect">
            <a:avLst/>
          </a:prstGeom>
        </p:spPr>
      </p:pic>
      <p:sp>
        <p:nvSpPr>
          <p:cNvPr id="698" name="-451">
            <a:extLst>
              <a:ext uri="{FF2B5EF4-FFF2-40B4-BE49-F238E27FC236}">
                <a16:creationId xmlns:a16="http://schemas.microsoft.com/office/drawing/2014/main" id="{111B4A49-B930-4A89-A1CD-6CA2B3D95AED}"/>
              </a:ext>
            </a:extLst>
          </p:cNvPr>
          <p:cNvSpPr txBox="1"/>
          <p:nvPr/>
        </p:nvSpPr>
        <p:spPr>
          <a:xfrm>
            <a:off x="20319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30000"/>
                  </a:srgbClr>
                </a:solidFill>
                <a:latin typeface="Montserrat" panose="00000700000000000000" pitchFamily="2" charset="0"/>
              </a:rPr>
              <a:t>#5</a:t>
            </a:r>
          </a:p>
        </p:txBody>
      </p:sp>
      <p:pic>
        <p:nvPicPr>
          <p:cNvPr id="69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286500" y="3952875"/>
            <a:ext cx="5715000" cy="3524250"/>
          </a:xfrm>
          <a:prstGeom prst="rect">
            <a:avLst/>
          </a:prstGeom>
          <a:effectLst>
            <a:outerShdw blurRad="190500" dist="28575" dir="2700000" algn="ctr" rotWithShape="0">
              <a:srgbClr val="000000">
                <a:alpha val="40000"/>
              </a:srgbClr>
            </a:outerShdw>
          </a:effectLst>
        </p:spPr>
      </p:pic>
      <p:sp>
        <p:nvSpPr>
          <p:cNvPr id="700" name="Type a Headline-6">
            <a:extLst>
              <a:ext uri="{FF2B5EF4-FFF2-40B4-BE49-F238E27FC236}">
                <a16:creationId xmlns:a16="http://schemas.microsoft.com/office/drawing/2014/main" id="{111B4A49-B930-4A89-A1CD-6CA2B3D95AED}"/>
              </a:ext>
            </a:extLst>
          </p:cNvPr>
          <p:cNvSpPr txBox="1"/>
          <p:nvPr/>
        </p:nvSpPr>
        <p:spPr>
          <a:xfrm>
            <a:off x="6489668" y="4939665"/>
            <a:ext cx="5448300" cy="390525"/>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Certifications</a:t>
            </a:r>
          </a:p>
        </p:txBody>
      </p:sp>
      <p:sp>
        <p:nvSpPr>
          <p:cNvPr id="701" name="A brief explanation about the headline-6">
            <a:extLst>
              <a:ext uri="{FF2B5EF4-FFF2-40B4-BE49-F238E27FC236}">
                <a16:creationId xmlns:a16="http://schemas.microsoft.com/office/drawing/2014/main" id="{111B4A49-B930-4A89-A1CD-6CA2B3D95AED}"/>
              </a:ext>
            </a:extLst>
          </p:cNvPr>
          <p:cNvSpPr txBox="1"/>
          <p:nvPr/>
        </p:nvSpPr>
        <p:spPr>
          <a:xfrm>
            <a:off x="6422993" y="5318284"/>
            <a:ext cx="5448300" cy="18669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Acquire relevant certifications to demonstrate compliance with safety and quality standards, assuring customers of the reliability and credibility of your elevator products in the Indian market.</a:t>
            </a:r>
          </a:p>
        </p:txBody>
      </p:sp>
      <p:pic>
        <p:nvPicPr>
          <p:cNvPr id="7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5857875" y="5057775"/>
            <a:ext cx="19050" cy="152400"/>
          </a:xfrm>
          <a:prstGeom prst="rect">
            <a:avLst/>
          </a:prstGeom>
        </p:spPr>
      </p:pic>
      <p:sp>
        <p:nvSpPr>
          <p:cNvPr id="703" name="-425">
            <a:extLst>
              <a:ext uri="{FF2B5EF4-FFF2-40B4-BE49-F238E27FC236}">
                <a16:creationId xmlns:a16="http://schemas.microsoft.com/office/drawing/2014/main" id="{111B4A49-B930-4A89-A1CD-6CA2B3D95AED}"/>
              </a:ext>
            </a:extLst>
          </p:cNvPr>
          <p:cNvSpPr txBox="1"/>
          <p:nvPr/>
        </p:nvSpPr>
        <p:spPr>
          <a:xfrm>
            <a:off x="6489668" y="4253865"/>
            <a:ext cx="552450" cy="466725"/>
          </a:xfrm>
          <a:prstGeom prst="rect">
            <a:avLst/>
          </a:prstGeom>
          <a:noFill/>
        </p:spPr>
        <p:txBody>
          <a:bodyPr vertOverflow="clip" horzOverflow="clip" wrap="square" lIns="0" tIns="0" rIns="0" bIns="0" rtlCol="0" anchor="ctr">
            <a:spAutoFit/>
          </a:bodyPr>
          <a:lstStyle/>
          <a:p>
            <a:pPr algn="ctr"/>
            <a:r>
              <a:rPr lang="en-US" sz="2520" b="1" dirty="0">
                <a:solidFill>
                  <a:srgbClr val="CCCCCC">
                    <a:alpha val="100000"/>
                  </a:srgbClr>
                </a:solidFill>
                <a:latin typeface="Montserrat" panose="00000700000000000000" pitchFamily="2" charset="0"/>
              </a:rPr>
              <a:t>#6</a:t>
            </a:r>
          </a:p>
        </p:txBody>
      </p:sp>
    </p:spTree>
    <p:extLst>
      <p:ext uri="{BB962C8B-B14F-4D97-AF65-F5344CB8AC3E}">
        <p14:creationId xmlns:p14="http://schemas.microsoft.com/office/powerpoint/2010/main" val="3648047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0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0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52475" y="2867025"/>
            <a:ext cx="5448300" cy="857250"/>
          </a:xfrm>
          <a:prstGeom prst="rect">
            <a:avLst/>
          </a:prstGeom>
        </p:spPr>
      </p:pic>
      <p:sp>
        <p:nvSpPr>
          <p:cNvPr id="709" name="Primary Heading-0,0">
            <a:extLst>
              <a:ext uri="{FF2B5EF4-FFF2-40B4-BE49-F238E27FC236}">
                <a16:creationId xmlns:a16="http://schemas.microsoft.com/office/drawing/2014/main" id="{111B4A49-B930-4A89-A1CD-6CA2B3D95AED}"/>
              </a:ext>
            </a:extLst>
          </p:cNvPr>
          <p:cNvSpPr txBox="1"/>
          <p:nvPr/>
        </p:nvSpPr>
        <p:spPr>
          <a:xfrm>
            <a:off x="2853309" y="3103245"/>
            <a:ext cx="13716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Category</a:t>
            </a:r>
          </a:p>
        </p:txBody>
      </p:sp>
      <p:pic>
        <p:nvPicPr>
          <p:cNvPr id="7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81725" y="2867025"/>
            <a:ext cx="11353800" cy="857250"/>
          </a:xfrm>
          <a:prstGeom prst="rect">
            <a:avLst/>
          </a:prstGeom>
        </p:spPr>
      </p:pic>
      <p:sp>
        <p:nvSpPr>
          <p:cNvPr id="711" name="Primary Heading-0,1">
            <a:extLst>
              <a:ext uri="{FF2B5EF4-FFF2-40B4-BE49-F238E27FC236}">
                <a16:creationId xmlns:a16="http://schemas.microsoft.com/office/drawing/2014/main" id="{111B4A49-B930-4A89-A1CD-6CA2B3D95AED}"/>
              </a:ext>
            </a:extLst>
          </p:cNvPr>
          <p:cNvSpPr txBox="1"/>
          <p:nvPr/>
        </p:nvSpPr>
        <p:spPr>
          <a:xfrm>
            <a:off x="11201972" y="3103245"/>
            <a:ext cx="142875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Company</a:t>
            </a:r>
          </a:p>
        </p:txBody>
      </p:sp>
      <p:pic>
        <p:nvPicPr>
          <p:cNvPr id="71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3714750"/>
            <a:ext cx="5448300" cy="819150"/>
          </a:xfrm>
          <a:prstGeom prst="rect">
            <a:avLst/>
          </a:prstGeom>
        </p:spPr>
      </p:pic>
      <p:sp>
        <p:nvSpPr>
          <p:cNvPr id="713" name="Description of a primary heading-1,0">
            <a:extLst>
              <a:ext uri="{FF2B5EF4-FFF2-40B4-BE49-F238E27FC236}">
                <a16:creationId xmlns:a16="http://schemas.microsoft.com/office/drawing/2014/main" id="{111B4A49-B930-4A89-A1CD-6CA2B3D95AED}"/>
              </a:ext>
            </a:extLst>
          </p:cNvPr>
          <p:cNvSpPr txBox="1"/>
          <p:nvPr/>
        </p:nvSpPr>
        <p:spPr>
          <a:xfrm>
            <a:off x="2484882" y="394668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Premium Priced</a:t>
            </a:r>
          </a:p>
        </p:txBody>
      </p:sp>
      <p:pic>
        <p:nvPicPr>
          <p:cNvPr id="7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3714750"/>
            <a:ext cx="11353800" cy="819150"/>
          </a:xfrm>
          <a:prstGeom prst="rect">
            <a:avLst/>
          </a:prstGeom>
        </p:spPr>
      </p:pic>
      <p:sp>
        <p:nvSpPr>
          <p:cNvPr id="715" name="Description of a primary heading-1,1">
            <a:extLst>
              <a:ext uri="{FF2B5EF4-FFF2-40B4-BE49-F238E27FC236}">
                <a16:creationId xmlns:a16="http://schemas.microsoft.com/office/drawing/2014/main" id="{111B4A49-B930-4A89-A1CD-6CA2B3D95AED}"/>
              </a:ext>
            </a:extLst>
          </p:cNvPr>
          <p:cNvSpPr txBox="1"/>
          <p:nvPr/>
        </p:nvSpPr>
        <p:spPr>
          <a:xfrm>
            <a:off x="9622060" y="3946684"/>
            <a:ext cx="44577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Fermator India (Techno Doors Pvt. Ltd.)</a:t>
            </a:r>
          </a:p>
        </p:txBody>
      </p:sp>
      <p:pic>
        <p:nvPicPr>
          <p:cNvPr id="7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4514850"/>
            <a:ext cx="5448300" cy="819150"/>
          </a:xfrm>
          <a:prstGeom prst="rect">
            <a:avLst/>
          </a:prstGeom>
        </p:spPr>
      </p:pic>
      <p:sp>
        <p:nvSpPr>
          <p:cNvPr id="717" name="Description of a primary heading-2,0">
            <a:extLst>
              <a:ext uri="{FF2B5EF4-FFF2-40B4-BE49-F238E27FC236}">
                <a16:creationId xmlns:a16="http://schemas.microsoft.com/office/drawing/2014/main" id="{111B4A49-B930-4A89-A1CD-6CA2B3D95AED}"/>
              </a:ext>
            </a:extLst>
          </p:cNvPr>
          <p:cNvSpPr txBox="1"/>
          <p:nvPr/>
        </p:nvSpPr>
        <p:spPr>
          <a:xfrm>
            <a:off x="2484882" y="475440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Premium Priced</a:t>
            </a:r>
          </a:p>
        </p:txBody>
      </p:sp>
      <p:pic>
        <p:nvPicPr>
          <p:cNvPr id="7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4514850"/>
            <a:ext cx="11353800" cy="819150"/>
          </a:xfrm>
          <a:prstGeom prst="rect">
            <a:avLst/>
          </a:prstGeom>
        </p:spPr>
      </p:pic>
      <p:sp>
        <p:nvSpPr>
          <p:cNvPr id="719" name="Description of a primary heading-2,1">
            <a:extLst>
              <a:ext uri="{FF2B5EF4-FFF2-40B4-BE49-F238E27FC236}">
                <a16:creationId xmlns:a16="http://schemas.microsoft.com/office/drawing/2014/main" id="{111B4A49-B930-4A89-A1CD-6CA2B3D95AED}"/>
              </a:ext>
            </a:extLst>
          </p:cNvPr>
          <p:cNvSpPr txBox="1"/>
          <p:nvPr/>
        </p:nvSpPr>
        <p:spPr>
          <a:xfrm>
            <a:off x="10754582" y="4754404"/>
            <a:ext cx="21907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GMV India Pvt. Ltd</a:t>
            </a:r>
          </a:p>
        </p:txBody>
      </p:sp>
      <p:pic>
        <p:nvPicPr>
          <p:cNvPr id="7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5324475"/>
            <a:ext cx="5448300" cy="819150"/>
          </a:xfrm>
          <a:prstGeom prst="rect">
            <a:avLst/>
          </a:prstGeom>
        </p:spPr>
      </p:pic>
      <p:sp>
        <p:nvSpPr>
          <p:cNvPr id="721" name="Description of a primary heading-3,0">
            <a:extLst>
              <a:ext uri="{FF2B5EF4-FFF2-40B4-BE49-F238E27FC236}">
                <a16:creationId xmlns:a16="http://schemas.microsoft.com/office/drawing/2014/main" id="{111B4A49-B930-4A89-A1CD-6CA2B3D95AED}"/>
              </a:ext>
            </a:extLst>
          </p:cNvPr>
          <p:cNvSpPr txBox="1"/>
          <p:nvPr/>
        </p:nvSpPr>
        <p:spPr>
          <a:xfrm>
            <a:off x="2484882" y="5562124"/>
            <a:ext cx="19716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Premium Priced</a:t>
            </a:r>
          </a:p>
        </p:txBody>
      </p:sp>
      <p:pic>
        <p:nvPicPr>
          <p:cNvPr id="72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5324475"/>
            <a:ext cx="11353800" cy="819150"/>
          </a:xfrm>
          <a:prstGeom prst="rect">
            <a:avLst/>
          </a:prstGeom>
        </p:spPr>
      </p:pic>
      <p:sp>
        <p:nvSpPr>
          <p:cNvPr id="723" name="Description of a primary heading-3,1">
            <a:extLst>
              <a:ext uri="{FF2B5EF4-FFF2-40B4-BE49-F238E27FC236}">
                <a16:creationId xmlns:a16="http://schemas.microsoft.com/office/drawing/2014/main" id="{111B4A49-B930-4A89-A1CD-6CA2B3D95AED}"/>
              </a:ext>
            </a:extLst>
          </p:cNvPr>
          <p:cNvSpPr txBox="1"/>
          <p:nvPr/>
        </p:nvSpPr>
        <p:spPr>
          <a:xfrm>
            <a:off x="10396156" y="5562124"/>
            <a:ext cx="29146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Klaus Multi Parking India</a:t>
            </a:r>
          </a:p>
        </p:txBody>
      </p:sp>
      <p:pic>
        <p:nvPicPr>
          <p:cNvPr id="7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6134100"/>
            <a:ext cx="5448300" cy="819150"/>
          </a:xfrm>
          <a:prstGeom prst="rect">
            <a:avLst/>
          </a:prstGeom>
        </p:spPr>
      </p:pic>
      <p:sp>
        <p:nvSpPr>
          <p:cNvPr id="725" name="Description of a primary heading-4,0">
            <a:extLst>
              <a:ext uri="{FF2B5EF4-FFF2-40B4-BE49-F238E27FC236}">
                <a16:creationId xmlns:a16="http://schemas.microsoft.com/office/drawing/2014/main" id="{111B4A49-B930-4A89-A1CD-6CA2B3D95AED}"/>
              </a:ext>
            </a:extLst>
          </p:cNvPr>
          <p:cNvSpPr txBox="1"/>
          <p:nvPr/>
        </p:nvSpPr>
        <p:spPr>
          <a:xfrm>
            <a:off x="2742248" y="6369844"/>
            <a:ext cx="14573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Economical</a:t>
            </a:r>
          </a:p>
        </p:txBody>
      </p:sp>
      <p:pic>
        <p:nvPicPr>
          <p:cNvPr id="72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6134100"/>
            <a:ext cx="11353800" cy="819150"/>
          </a:xfrm>
          <a:prstGeom prst="rect">
            <a:avLst/>
          </a:prstGeom>
        </p:spPr>
      </p:pic>
      <p:sp>
        <p:nvSpPr>
          <p:cNvPr id="727" name="Description of a primary heading-4,1">
            <a:extLst>
              <a:ext uri="{FF2B5EF4-FFF2-40B4-BE49-F238E27FC236}">
                <a16:creationId xmlns:a16="http://schemas.microsoft.com/office/drawing/2014/main" id="{111B4A49-B930-4A89-A1CD-6CA2B3D95AED}"/>
              </a:ext>
            </a:extLst>
          </p:cNvPr>
          <p:cNvSpPr txBox="1"/>
          <p:nvPr/>
        </p:nvSpPr>
        <p:spPr>
          <a:xfrm>
            <a:off x="9996583" y="6369844"/>
            <a:ext cx="37147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Suzhou Genesis Elevator Sys. Co.</a:t>
            </a:r>
          </a:p>
        </p:txBody>
      </p:sp>
      <p:pic>
        <p:nvPicPr>
          <p:cNvPr id="7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6943725"/>
            <a:ext cx="5448300" cy="819150"/>
          </a:xfrm>
          <a:prstGeom prst="rect">
            <a:avLst/>
          </a:prstGeom>
        </p:spPr>
      </p:pic>
      <p:sp>
        <p:nvSpPr>
          <p:cNvPr id="729" name="Description of a primary heading-5,0">
            <a:extLst>
              <a:ext uri="{FF2B5EF4-FFF2-40B4-BE49-F238E27FC236}">
                <a16:creationId xmlns:a16="http://schemas.microsoft.com/office/drawing/2014/main" id="{111B4A49-B930-4A89-A1CD-6CA2B3D95AED}"/>
              </a:ext>
            </a:extLst>
          </p:cNvPr>
          <p:cNvSpPr txBox="1"/>
          <p:nvPr/>
        </p:nvSpPr>
        <p:spPr>
          <a:xfrm>
            <a:off x="2742248" y="7177564"/>
            <a:ext cx="14573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Economical</a:t>
            </a:r>
          </a:p>
        </p:txBody>
      </p:sp>
      <p:pic>
        <p:nvPicPr>
          <p:cNvPr id="73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6943725"/>
            <a:ext cx="11353800" cy="819150"/>
          </a:xfrm>
          <a:prstGeom prst="rect">
            <a:avLst/>
          </a:prstGeom>
        </p:spPr>
      </p:pic>
      <p:sp>
        <p:nvSpPr>
          <p:cNvPr id="731" name="Description of a primary heading-5,1">
            <a:extLst>
              <a:ext uri="{FF2B5EF4-FFF2-40B4-BE49-F238E27FC236}">
                <a16:creationId xmlns:a16="http://schemas.microsoft.com/office/drawing/2014/main" id="{111B4A49-B930-4A89-A1CD-6CA2B3D95AED}"/>
              </a:ext>
            </a:extLst>
          </p:cNvPr>
          <p:cNvSpPr txBox="1"/>
          <p:nvPr/>
        </p:nvSpPr>
        <p:spPr>
          <a:xfrm>
            <a:off x="10519505" y="7177564"/>
            <a:ext cx="26670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Wohr Parking Systems</a:t>
            </a:r>
          </a:p>
        </p:txBody>
      </p:sp>
      <p:pic>
        <p:nvPicPr>
          <p:cNvPr id="73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7753350"/>
            <a:ext cx="5448300" cy="819150"/>
          </a:xfrm>
          <a:prstGeom prst="rect">
            <a:avLst/>
          </a:prstGeom>
        </p:spPr>
      </p:pic>
      <p:sp>
        <p:nvSpPr>
          <p:cNvPr id="733" name="Description of a primary heading-6,0">
            <a:extLst>
              <a:ext uri="{FF2B5EF4-FFF2-40B4-BE49-F238E27FC236}">
                <a16:creationId xmlns:a16="http://schemas.microsoft.com/office/drawing/2014/main" id="{111B4A49-B930-4A89-A1CD-6CA2B3D95AED}"/>
              </a:ext>
            </a:extLst>
          </p:cNvPr>
          <p:cNvSpPr txBox="1"/>
          <p:nvPr/>
        </p:nvSpPr>
        <p:spPr>
          <a:xfrm>
            <a:off x="2749963" y="798528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1CFD6">
                    <a:alpha val="100000"/>
                  </a:srgbClr>
                </a:solidFill>
                <a:latin typeface="Montserrat Light" panose="00000700000000000000" pitchFamily="2" charset="0"/>
              </a:rPr>
              <a:t>Contenders</a:t>
            </a:r>
          </a:p>
        </p:txBody>
      </p:sp>
      <p:pic>
        <p:nvPicPr>
          <p:cNvPr id="7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7753350"/>
            <a:ext cx="11353800" cy="819150"/>
          </a:xfrm>
          <a:prstGeom prst="rect">
            <a:avLst/>
          </a:prstGeom>
        </p:spPr>
      </p:pic>
      <p:sp>
        <p:nvSpPr>
          <p:cNvPr id="735" name="Description of a primary heading-6,1">
            <a:extLst>
              <a:ext uri="{FF2B5EF4-FFF2-40B4-BE49-F238E27FC236}">
                <a16:creationId xmlns:a16="http://schemas.microsoft.com/office/drawing/2014/main" id="{111B4A49-B930-4A89-A1CD-6CA2B3D95AED}"/>
              </a:ext>
            </a:extLst>
          </p:cNvPr>
          <p:cNvSpPr txBox="1"/>
          <p:nvPr/>
        </p:nvSpPr>
        <p:spPr>
          <a:xfrm>
            <a:off x="10412825" y="7985284"/>
            <a:ext cx="28765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1CFD6">
                    <a:alpha val="100000"/>
                  </a:srgbClr>
                </a:solidFill>
                <a:latin typeface="Montserrat Light" panose="00000700000000000000" pitchFamily="2" charset="0"/>
              </a:rPr>
              <a:t>Aaron Industries Limited</a:t>
            </a:r>
          </a:p>
        </p:txBody>
      </p:sp>
      <p:pic>
        <p:nvPicPr>
          <p:cNvPr id="7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8553450"/>
            <a:ext cx="5448300" cy="819150"/>
          </a:xfrm>
          <a:prstGeom prst="rect">
            <a:avLst/>
          </a:prstGeom>
        </p:spPr>
      </p:pic>
      <p:sp>
        <p:nvSpPr>
          <p:cNvPr id="737" name="Description of a primary heading-7,0">
            <a:extLst>
              <a:ext uri="{FF2B5EF4-FFF2-40B4-BE49-F238E27FC236}">
                <a16:creationId xmlns:a16="http://schemas.microsoft.com/office/drawing/2014/main" id="{111B4A49-B930-4A89-A1CD-6CA2B3D95AED}"/>
              </a:ext>
            </a:extLst>
          </p:cNvPr>
          <p:cNvSpPr txBox="1"/>
          <p:nvPr/>
        </p:nvSpPr>
        <p:spPr>
          <a:xfrm>
            <a:off x="2749963" y="879300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BC8D0">
                    <a:alpha val="100000"/>
                  </a:srgbClr>
                </a:solidFill>
                <a:latin typeface="Montserrat Light" panose="00000700000000000000" pitchFamily="2" charset="0"/>
              </a:rPr>
              <a:t>Contenders</a:t>
            </a:r>
          </a:p>
        </p:txBody>
      </p:sp>
      <p:pic>
        <p:nvPicPr>
          <p:cNvPr id="7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8553450"/>
            <a:ext cx="11353800" cy="819150"/>
          </a:xfrm>
          <a:prstGeom prst="rect">
            <a:avLst/>
          </a:prstGeom>
        </p:spPr>
      </p:pic>
      <p:sp>
        <p:nvSpPr>
          <p:cNvPr id="739" name="Description of a primary heading-7,1">
            <a:extLst>
              <a:ext uri="{FF2B5EF4-FFF2-40B4-BE49-F238E27FC236}">
                <a16:creationId xmlns:a16="http://schemas.microsoft.com/office/drawing/2014/main" id="{111B4A49-B930-4A89-A1CD-6CA2B3D95AED}"/>
              </a:ext>
            </a:extLst>
          </p:cNvPr>
          <p:cNvSpPr txBox="1"/>
          <p:nvPr/>
        </p:nvSpPr>
        <p:spPr>
          <a:xfrm>
            <a:off x="10773251" y="8793004"/>
            <a:ext cx="21621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BC8D0">
                    <a:alpha val="100000"/>
                  </a:srgbClr>
                </a:solidFill>
                <a:latin typeface="Montserrat Light" panose="00000700000000000000" pitchFamily="2" charset="0"/>
              </a:rPr>
              <a:t>A.V.Cam Corp. Ltd.</a:t>
            </a:r>
          </a:p>
        </p:txBody>
      </p:sp>
      <p:pic>
        <p:nvPicPr>
          <p:cNvPr id="7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752475" y="9363075"/>
            <a:ext cx="5448300" cy="819150"/>
          </a:xfrm>
          <a:prstGeom prst="rect">
            <a:avLst/>
          </a:prstGeom>
        </p:spPr>
      </p:pic>
      <p:sp>
        <p:nvSpPr>
          <p:cNvPr id="741" name="Description of a primary heading-8,0">
            <a:extLst>
              <a:ext uri="{FF2B5EF4-FFF2-40B4-BE49-F238E27FC236}">
                <a16:creationId xmlns:a16="http://schemas.microsoft.com/office/drawing/2014/main" id="{111B4A49-B930-4A89-A1CD-6CA2B3D95AED}"/>
              </a:ext>
            </a:extLst>
          </p:cNvPr>
          <p:cNvSpPr txBox="1"/>
          <p:nvPr/>
        </p:nvSpPr>
        <p:spPr>
          <a:xfrm>
            <a:off x="2749963" y="9600724"/>
            <a:ext cx="14382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4C1CA">
                    <a:alpha val="100000"/>
                  </a:srgbClr>
                </a:solidFill>
                <a:latin typeface="Montserrat Light" panose="00000700000000000000" pitchFamily="2" charset="0"/>
              </a:rPr>
              <a:t>Contenders</a:t>
            </a:r>
          </a:p>
        </p:txBody>
      </p:sp>
      <p:pic>
        <p:nvPicPr>
          <p:cNvPr id="7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6181725" y="9363075"/>
            <a:ext cx="11353800" cy="819150"/>
          </a:xfrm>
          <a:prstGeom prst="rect">
            <a:avLst/>
          </a:prstGeom>
        </p:spPr>
      </p:pic>
      <p:sp>
        <p:nvSpPr>
          <p:cNvPr id="743" name="Description of a primary heading-8,1">
            <a:extLst>
              <a:ext uri="{FF2B5EF4-FFF2-40B4-BE49-F238E27FC236}">
                <a16:creationId xmlns:a16="http://schemas.microsoft.com/office/drawing/2014/main" id="{111B4A49-B930-4A89-A1CD-6CA2B3D95AED}"/>
              </a:ext>
            </a:extLst>
          </p:cNvPr>
          <p:cNvSpPr txBox="1"/>
          <p:nvPr/>
        </p:nvSpPr>
        <p:spPr>
          <a:xfrm>
            <a:off x="9769507" y="9600724"/>
            <a:ext cx="41624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C4C1CA">
                    <a:alpha val="100000"/>
                  </a:srgbClr>
                </a:solidFill>
                <a:latin typeface="Montserrat Light" panose="00000700000000000000" pitchFamily="2" charset="0"/>
              </a:rPr>
              <a:t>Sieger Spintech Equipment Pvt. Ltd.</a:t>
            </a:r>
          </a:p>
        </p:txBody>
      </p:sp>
      <p:pic>
        <p:nvPicPr>
          <p:cNvPr id="7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752475" y="10172700"/>
            <a:ext cx="5448300" cy="114300"/>
          </a:xfrm>
          <a:prstGeom prst="rect">
            <a:avLst/>
          </a:prstGeom>
        </p:spPr>
      </p:pic>
      <p:pic>
        <p:nvPicPr>
          <p:cNvPr id="7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6181725" y="10172700"/>
            <a:ext cx="11353800" cy="114300"/>
          </a:xfrm>
          <a:prstGeom prst="rect">
            <a:avLst/>
          </a:prstGeom>
        </p:spPr>
      </p:pic>
      <p:sp>
        <p:nvSpPr>
          <p:cNvPr id="746" name="Click here to edit title-427">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Competitive Landscape</a:t>
            </a:r>
          </a:p>
        </p:txBody>
      </p:sp>
      <p:sp>
        <p:nvSpPr>
          <p:cNvPr id="747" name="Click here to edit subtitle-406">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Key Players in India's Elevator and Parking Solutions Industry</a:t>
            </a:r>
          </a:p>
        </p:txBody>
      </p:sp>
      <p:sp>
        <p:nvSpPr>
          <p:cNvPr id="748" name="Click here to edit label-437">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KEY PLAYERS IN THE ELEVATOR AND PARKING SOLUTIONS INDUSTRY</a:t>
            </a:r>
          </a:p>
        </p:txBody>
      </p:sp>
      <p:pic>
        <p:nvPicPr>
          <p:cNvPr id="7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53"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54" name="imageNode6a9804ee-fff7-475e-bd01-ca4bdad5c7a3">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609600" y="2628900"/>
            <a:ext cx="3409950" cy="7086600"/>
          </a:xfrm>
          <a:prstGeom prst="rect">
            <a:avLst/>
          </a:prstGeom>
        </p:spPr>
      </p:pic>
      <p:pic>
        <p:nvPicPr>
          <p:cNvPr id="7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609600" y="2628900"/>
            <a:ext cx="3409950" cy="7086600"/>
          </a:xfrm>
          <a:prstGeom prst="rect">
            <a:avLst/>
          </a:prstGeom>
        </p:spPr>
      </p:pic>
      <p:pic>
        <p:nvPicPr>
          <p:cNvPr id="7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743075" y="3448050"/>
            <a:ext cx="1143000" cy="1143000"/>
          </a:xfrm>
          <a:prstGeom prst="rect">
            <a:avLst/>
          </a:prstGeom>
        </p:spPr>
      </p:pic>
      <p:pic>
        <p:nvPicPr>
          <p:cNvPr id="757" name="iconNode2e724a10-1a3c-490b-984f-e195579855d1">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152FCD09-3B6B-44A7-9A1E-8DC220FB3C0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2028825" y="3733800"/>
            <a:ext cx="571500" cy="571500"/>
          </a:xfrm>
          <a:prstGeom prst="rect">
            <a:avLst/>
          </a:prstGeom>
        </p:spPr>
      </p:pic>
      <p:sp>
        <p:nvSpPr>
          <p:cNvPr id="758" name="Primary Heading-0">
            <a:extLst>
              <a:ext uri="{FF2B5EF4-FFF2-40B4-BE49-F238E27FC236}">
                <a16:creationId xmlns:a16="http://schemas.microsoft.com/office/drawing/2014/main" id="{111B4A49-B930-4A89-A1CD-6CA2B3D95AED}"/>
              </a:ext>
            </a:extLst>
          </p:cNvPr>
          <p:cNvSpPr txBox="1"/>
          <p:nvPr/>
        </p:nvSpPr>
        <p:spPr>
          <a:xfrm>
            <a:off x="85344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Installing High-End Machines with Latest Technologies</a:t>
            </a:r>
          </a:p>
        </p:txBody>
      </p:sp>
      <p:sp>
        <p:nvSpPr>
          <p:cNvPr id="759" name="Description of a primary heading-0">
            <a:extLst>
              <a:ext uri="{FF2B5EF4-FFF2-40B4-BE49-F238E27FC236}">
                <a16:creationId xmlns:a16="http://schemas.microsoft.com/office/drawing/2014/main" id="{111B4A49-B930-4A89-A1CD-6CA2B3D95AED}"/>
              </a:ext>
            </a:extLst>
          </p:cNvPr>
          <p:cNvSpPr txBox="1"/>
          <p:nvPr/>
        </p:nvSpPr>
        <p:spPr>
          <a:xfrm>
            <a:off x="78676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This will increase productivity significantly, leading to reduced product costs and making it challenging for competitors to match our prices and quality.</a:t>
            </a:r>
          </a:p>
        </p:txBody>
      </p:sp>
      <p:pic>
        <p:nvPicPr>
          <p:cNvPr id="760" name="imageNodea09f329d-c380-4b32-93af-95cd9f5670b7">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8">
            <a:alphaModFix/>
          </a:blip>
          <a:srcRect/>
          <a:stretch/>
        </p:blipFill>
        <p:spPr>
          <a:xfrm>
            <a:off x="4019550" y="2628900"/>
            <a:ext cx="3409950" cy="7086600"/>
          </a:xfrm>
          <a:prstGeom prst="rect">
            <a:avLst/>
          </a:prstGeom>
        </p:spPr>
      </p:pic>
      <p:pic>
        <p:nvPicPr>
          <p:cNvPr id="76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4019550" y="2628900"/>
            <a:ext cx="3409950" cy="7086600"/>
          </a:xfrm>
          <a:prstGeom prst="rect">
            <a:avLst/>
          </a:prstGeom>
        </p:spPr>
      </p:pic>
      <p:pic>
        <p:nvPicPr>
          <p:cNvPr id="7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162550" y="3448050"/>
            <a:ext cx="1143000" cy="1143000"/>
          </a:xfrm>
          <a:prstGeom prst="rect">
            <a:avLst/>
          </a:prstGeom>
        </p:spPr>
      </p:pic>
      <p:pic>
        <p:nvPicPr>
          <p:cNvPr id="763" name="iconNode8e7a1210-e92b-430d-a097-41a52d5c996c">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9ABDD0F3-5916-4A96-8536-BE50066C068E}">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5448300" y="3733800"/>
            <a:ext cx="571500" cy="571500"/>
          </a:xfrm>
          <a:prstGeom prst="rect">
            <a:avLst/>
          </a:prstGeom>
        </p:spPr>
      </p:pic>
      <p:sp>
        <p:nvSpPr>
          <p:cNvPr id="764" name="Primary Heading-1">
            <a:extLst>
              <a:ext uri="{FF2B5EF4-FFF2-40B4-BE49-F238E27FC236}">
                <a16:creationId xmlns:a16="http://schemas.microsoft.com/office/drawing/2014/main" id="{111B4A49-B930-4A89-A1CD-6CA2B3D95AED}"/>
              </a:ext>
            </a:extLst>
          </p:cNvPr>
          <p:cNvSpPr txBox="1"/>
          <p:nvPr/>
        </p:nvSpPr>
        <p:spPr>
          <a:xfrm>
            <a:off x="426720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Maintaining Ready Stock at Various Locations</a:t>
            </a:r>
          </a:p>
        </p:txBody>
      </p:sp>
      <p:sp>
        <p:nvSpPr>
          <p:cNvPr id="765" name="Description of a primary heading-1">
            <a:extLst>
              <a:ext uri="{FF2B5EF4-FFF2-40B4-BE49-F238E27FC236}">
                <a16:creationId xmlns:a16="http://schemas.microsoft.com/office/drawing/2014/main" id="{111B4A49-B930-4A89-A1CD-6CA2B3D95AED}"/>
              </a:ext>
            </a:extLst>
          </p:cNvPr>
          <p:cNvSpPr txBox="1"/>
          <p:nvPr/>
        </p:nvSpPr>
        <p:spPr>
          <a:xfrm>
            <a:off x="420052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Having fast-moving products readily available at multiple locations will enhance customer attractiveness by saving on inventory and transit time.</a:t>
            </a:r>
          </a:p>
        </p:txBody>
      </p:sp>
      <p:pic>
        <p:nvPicPr>
          <p:cNvPr id="766" name="imageNode2bb5b41e-f824-4236-8e5e-cc76dbd67c43">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1">
            <a:alphaModFix/>
          </a:blip>
          <a:srcRect/>
          <a:stretch/>
        </p:blipFill>
        <p:spPr>
          <a:xfrm>
            <a:off x="7439025" y="2628900"/>
            <a:ext cx="3409950" cy="7086600"/>
          </a:xfrm>
          <a:prstGeom prst="rect">
            <a:avLst/>
          </a:prstGeom>
        </p:spPr>
      </p:pic>
      <p:pic>
        <p:nvPicPr>
          <p:cNvPr id="76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7439025" y="2628900"/>
            <a:ext cx="3409950" cy="7086600"/>
          </a:xfrm>
          <a:prstGeom prst="rect">
            <a:avLst/>
          </a:prstGeom>
        </p:spPr>
      </p:pic>
      <p:pic>
        <p:nvPicPr>
          <p:cNvPr id="7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8572500" y="3448050"/>
            <a:ext cx="1143000" cy="1143000"/>
          </a:xfrm>
          <a:prstGeom prst="rect">
            <a:avLst/>
          </a:prstGeom>
        </p:spPr>
      </p:pic>
      <p:pic>
        <p:nvPicPr>
          <p:cNvPr id="769" name="iconNodea053b5b5-341e-4fe8-981b-ef71babd3572">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extLst>
              <a:ext uri="{1383B4D1-2F5F-4AD5-850B-46CCED4DF88D}">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858250" y="3733800"/>
            <a:ext cx="571500" cy="571500"/>
          </a:xfrm>
          <a:prstGeom prst="rect">
            <a:avLst/>
          </a:prstGeom>
        </p:spPr>
      </p:pic>
      <p:sp>
        <p:nvSpPr>
          <p:cNvPr id="770" name="Primary Heading-2">
            <a:extLst>
              <a:ext uri="{FF2B5EF4-FFF2-40B4-BE49-F238E27FC236}">
                <a16:creationId xmlns:a16="http://schemas.microsoft.com/office/drawing/2014/main" id="{111B4A49-B930-4A89-A1CD-6CA2B3D95AED}"/>
              </a:ext>
            </a:extLst>
          </p:cNvPr>
          <p:cNvSpPr txBox="1"/>
          <p:nvPr/>
        </p:nvSpPr>
        <p:spPr>
          <a:xfrm>
            <a:off x="7680960" y="5204174"/>
            <a:ext cx="3067050" cy="1143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Bulk Purchases for Customized Raw Materials</a:t>
            </a:r>
          </a:p>
        </p:txBody>
      </p:sp>
      <p:sp>
        <p:nvSpPr>
          <p:cNvPr id="771" name="Description of a primary heading-2">
            <a:extLst>
              <a:ext uri="{FF2B5EF4-FFF2-40B4-BE49-F238E27FC236}">
                <a16:creationId xmlns:a16="http://schemas.microsoft.com/office/drawing/2014/main" id="{111B4A49-B930-4A89-A1CD-6CA2B3D95AED}"/>
              </a:ext>
            </a:extLst>
          </p:cNvPr>
          <p:cNvSpPr txBox="1"/>
          <p:nvPr/>
        </p:nvSpPr>
        <p:spPr>
          <a:xfrm>
            <a:off x="7614285" y="6492430"/>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Procuring raw materials in bulk from mills for customized sizes will decrease scrap costs and provide better pricing advantages over competitors.</a:t>
            </a:r>
          </a:p>
        </p:txBody>
      </p:sp>
      <p:pic>
        <p:nvPicPr>
          <p:cNvPr id="772" name="imageNodebbbfbc40-58cf-4ee0-807b-7a8847c26949">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4">
            <a:alphaModFix/>
          </a:blip>
          <a:srcRect/>
          <a:stretch/>
        </p:blipFill>
        <p:spPr>
          <a:xfrm>
            <a:off x="10848975" y="2628900"/>
            <a:ext cx="3409950" cy="7086600"/>
          </a:xfrm>
          <a:prstGeom prst="rect">
            <a:avLst/>
          </a:prstGeom>
        </p:spPr>
      </p:pic>
      <p:pic>
        <p:nvPicPr>
          <p:cNvPr id="7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10848975" y="2628900"/>
            <a:ext cx="3409950" cy="7086600"/>
          </a:xfrm>
          <a:prstGeom prst="rect">
            <a:avLst/>
          </a:prstGeom>
        </p:spPr>
      </p:pic>
      <p:pic>
        <p:nvPicPr>
          <p:cNvPr id="7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11982450" y="3257550"/>
            <a:ext cx="1143000" cy="1143000"/>
          </a:xfrm>
          <a:prstGeom prst="rect">
            <a:avLst/>
          </a:prstGeom>
        </p:spPr>
      </p:pic>
      <p:pic>
        <p:nvPicPr>
          <p:cNvPr id="775" name="iconNode86bb7973-c6a6-4be0-bc9d-434786cacbe7">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extLst>
              <a:ext uri="{CA556BAD-CA15-4206-A0FF-19A209CA607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2268200" y="3543300"/>
            <a:ext cx="571500" cy="571500"/>
          </a:xfrm>
          <a:prstGeom prst="rect">
            <a:avLst/>
          </a:prstGeom>
        </p:spPr>
      </p:pic>
      <p:sp>
        <p:nvSpPr>
          <p:cNvPr id="776" name="Primary Heading-3">
            <a:extLst>
              <a:ext uri="{FF2B5EF4-FFF2-40B4-BE49-F238E27FC236}">
                <a16:creationId xmlns:a16="http://schemas.microsoft.com/office/drawing/2014/main" id="{111B4A49-B930-4A89-A1CD-6CA2B3D95AED}"/>
              </a:ext>
            </a:extLst>
          </p:cNvPr>
          <p:cNvSpPr txBox="1"/>
          <p:nvPr/>
        </p:nvSpPr>
        <p:spPr>
          <a:xfrm>
            <a:off x="11094720" y="5014912"/>
            <a:ext cx="3067050" cy="1524000"/>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Obtaining Certifications from European/American Agencies</a:t>
            </a:r>
          </a:p>
        </p:txBody>
      </p:sp>
      <p:sp>
        <p:nvSpPr>
          <p:cNvPr id="777" name="Description of a primary heading-3">
            <a:extLst>
              <a:ext uri="{FF2B5EF4-FFF2-40B4-BE49-F238E27FC236}">
                <a16:creationId xmlns:a16="http://schemas.microsoft.com/office/drawing/2014/main" id="{111B4A49-B930-4A89-A1CD-6CA2B3D95AED}"/>
              </a:ext>
            </a:extLst>
          </p:cNvPr>
          <p:cNvSpPr txBox="1"/>
          <p:nvPr/>
        </p:nvSpPr>
        <p:spPr>
          <a:xfrm>
            <a:off x="11028045" y="6681788"/>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Securing certifications from reputable agencies will lower input costs and help penetrate the market with a cost-effective and robust indigenous brand.</a:t>
            </a:r>
          </a:p>
        </p:txBody>
      </p:sp>
      <p:pic>
        <p:nvPicPr>
          <p:cNvPr id="778" name="imageNodecaa2a01e-c82f-4732-a436-ed8b392bebf2">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7">
            <a:alphaModFix/>
          </a:blip>
          <a:srcRect/>
          <a:stretch/>
        </p:blipFill>
        <p:spPr>
          <a:xfrm>
            <a:off x="14268450" y="2628900"/>
            <a:ext cx="3409950" cy="7086600"/>
          </a:xfrm>
          <a:prstGeom prst="rect">
            <a:avLst/>
          </a:prstGeom>
        </p:spPr>
      </p:pic>
      <p:pic>
        <p:nvPicPr>
          <p:cNvPr id="7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50000"/>
          </a:blip>
          <a:stretch/>
        </p:blipFill>
        <p:spPr>
          <a:xfrm>
            <a:off x="14268450" y="2628900"/>
            <a:ext cx="3409950" cy="7086600"/>
          </a:xfrm>
          <a:prstGeom prst="rect">
            <a:avLst/>
          </a:prstGeom>
        </p:spPr>
      </p:pic>
      <p:pic>
        <p:nvPicPr>
          <p:cNvPr id="7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5401925" y="3638550"/>
            <a:ext cx="1143000" cy="1143000"/>
          </a:xfrm>
          <a:prstGeom prst="rect">
            <a:avLst/>
          </a:prstGeom>
        </p:spPr>
      </p:pic>
      <p:pic>
        <p:nvPicPr>
          <p:cNvPr id="781" name="iconNode7e76f2e4-1650-4ce9-895a-493c888acf9b">
            <a:extLst>
              <a:ext uri="{FF2B5EF4-FFF2-40B4-BE49-F238E27FC236}">
                <a16:creationId xmlns:a16="http://schemas.microsoft.com/office/drawing/2014/main" id="{A8642F66-C0BB-4949-9A9C-024B120A5D52}"/>
              </a:ext>
            </a:extLst>
          </p:cNvPr>
          <p:cNvPicPr>
            <a:picLocks noChangeAspect="1"/>
          </p:cNvPicPr>
          <p:nvPr/>
        </p:nvPicPr>
        <p:blipFill rotWithShape="1">
          <a:blip r:embed="rId18">
            <a:alphaModFix/>
            <a:extLst>
              <a:ext uri="{8DB59BE5-2130-4664-9228-06BABC56317E}">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5687675" y="3924300"/>
            <a:ext cx="571500" cy="571500"/>
          </a:xfrm>
          <a:prstGeom prst="rect">
            <a:avLst/>
          </a:prstGeom>
        </p:spPr>
      </p:pic>
      <p:sp>
        <p:nvSpPr>
          <p:cNvPr id="782" name="Primary Heading-4">
            <a:extLst>
              <a:ext uri="{FF2B5EF4-FFF2-40B4-BE49-F238E27FC236}">
                <a16:creationId xmlns:a16="http://schemas.microsoft.com/office/drawing/2014/main" id="{111B4A49-B930-4A89-A1CD-6CA2B3D95AED}"/>
              </a:ext>
            </a:extLst>
          </p:cNvPr>
          <p:cNvSpPr txBox="1"/>
          <p:nvPr/>
        </p:nvSpPr>
        <p:spPr>
          <a:xfrm>
            <a:off x="14508480" y="5393531"/>
            <a:ext cx="3067050"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Investing in R&amp;D and Training</a:t>
            </a:r>
          </a:p>
        </p:txBody>
      </p:sp>
      <p:sp>
        <p:nvSpPr>
          <p:cNvPr id="783" name="Description of a primary heading-4">
            <a:extLst>
              <a:ext uri="{FF2B5EF4-FFF2-40B4-BE49-F238E27FC236}">
                <a16:creationId xmlns:a16="http://schemas.microsoft.com/office/drawing/2014/main" id="{111B4A49-B930-4A89-A1CD-6CA2B3D95AED}"/>
              </a:ext>
            </a:extLst>
          </p:cNvPr>
          <p:cNvSpPr txBox="1"/>
          <p:nvPr/>
        </p:nvSpPr>
        <p:spPr>
          <a:xfrm>
            <a:off x="14441805" y="6303169"/>
            <a:ext cx="3067050" cy="24098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Allocating resources towards research and development along with training programs will enable the creation of high-value products not currently offered.</a:t>
            </a:r>
          </a:p>
        </p:txBody>
      </p:sp>
      <p:sp>
        <p:nvSpPr>
          <p:cNvPr id="784" name="Click here to edit title-427">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Business Model</a:t>
            </a:r>
          </a:p>
        </p:txBody>
      </p:sp>
      <p:sp>
        <p:nvSpPr>
          <p:cNvPr id="785" name="Click here to edit subtitle-452">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Market Expansion and Competitive Positioning in India's Elevator Industry</a:t>
            </a:r>
          </a:p>
        </p:txBody>
      </p:sp>
      <p:sp>
        <p:nvSpPr>
          <p:cNvPr id="786" name="Click here to edit label-458">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MARKET EXPANSION STRATEGIES</a:t>
            </a:r>
          </a:p>
        </p:txBody>
      </p:sp>
      <p:pic>
        <p:nvPicPr>
          <p:cNvPr id="78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791"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7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3457575" y="6134100"/>
            <a:ext cx="14830425" cy="28575"/>
          </a:xfrm>
          <a:prstGeom prst="rect">
            <a:avLst/>
          </a:prstGeom>
        </p:spPr>
      </p:pic>
      <p:pic>
        <p:nvPicPr>
          <p:cNvPr id="79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362325" y="6057900"/>
            <a:ext cx="190500" cy="190500"/>
          </a:xfrm>
          <a:prstGeom prst="rect">
            <a:avLst/>
          </a:prstGeom>
        </p:spPr>
      </p:pic>
      <p:pic>
        <p:nvPicPr>
          <p:cNvPr id="7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048750" y="6057900"/>
            <a:ext cx="190500" cy="190500"/>
          </a:xfrm>
          <a:prstGeom prst="rect">
            <a:avLst/>
          </a:prstGeom>
        </p:spPr>
      </p:pic>
      <p:pic>
        <p:nvPicPr>
          <p:cNvPr id="7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744700" y="6057900"/>
            <a:ext cx="190500" cy="190500"/>
          </a:xfrm>
          <a:prstGeom prst="rect">
            <a:avLst/>
          </a:prstGeom>
        </p:spPr>
      </p:pic>
      <p:pic>
        <p:nvPicPr>
          <p:cNvPr id="7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114675" y="5810250"/>
            <a:ext cx="685800" cy="685800"/>
          </a:xfrm>
          <a:prstGeom prst="rect">
            <a:avLst/>
          </a:prstGeom>
        </p:spPr>
      </p:pic>
      <p:pic>
        <p:nvPicPr>
          <p:cNvPr id="797" name="iconNode92e7ce08-be29-4627-ba62-d8b3c4d2597b">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A9295C09-0E6F-4C64-BB3E-02517C62F94F}">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3286125" y="5981700"/>
            <a:ext cx="342900" cy="342900"/>
          </a:xfrm>
          <a:prstGeom prst="rect">
            <a:avLst/>
          </a:prstGeom>
        </p:spPr>
      </p:pic>
      <p:sp>
        <p:nvSpPr>
          <p:cNvPr id="798" name="Primary Heading-0">
            <a:extLst>
              <a:ext uri="{FF2B5EF4-FFF2-40B4-BE49-F238E27FC236}">
                <a16:creationId xmlns:a16="http://schemas.microsoft.com/office/drawing/2014/main" id="{111B4A49-B930-4A89-A1CD-6CA2B3D95AED}"/>
              </a:ext>
            </a:extLst>
          </p:cNvPr>
          <p:cNvSpPr txBox="1"/>
          <p:nvPr/>
        </p:nvSpPr>
        <p:spPr>
          <a:xfrm>
            <a:off x="705040"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FFFFF">
                    <a:alpha val="100000"/>
                  </a:srgbClr>
                </a:solidFill>
                <a:latin typeface="Montserrat" panose="00000700000000000000" pitchFamily="2" charset="0"/>
              </a:rPr>
              <a:t>Leading Innovator Vision</a:t>
            </a:r>
          </a:p>
        </p:txBody>
      </p:sp>
      <p:sp>
        <p:nvSpPr>
          <p:cNvPr id="799" name="Description of a primary heading-0">
            <a:extLst>
              <a:ext uri="{FF2B5EF4-FFF2-40B4-BE49-F238E27FC236}">
                <a16:creationId xmlns:a16="http://schemas.microsoft.com/office/drawing/2014/main" id="{111B4A49-B930-4A89-A1CD-6CA2B3D95AED}"/>
              </a:ext>
            </a:extLst>
          </p:cNvPr>
          <p:cNvSpPr txBox="1"/>
          <p:nvPr/>
        </p:nvSpPr>
        <p:spPr>
          <a:xfrm>
            <a:off x="638366" y="4555331"/>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FFFFF">
                    <a:alpha val="100000"/>
                  </a:srgbClr>
                </a:solidFill>
                <a:latin typeface="Montserrat Light" panose="00000700000000000000" pitchFamily="2" charset="0"/>
              </a:rPr>
              <a:t>Striving to lead India's elevator and parking solutions sector through innovation.</a:t>
            </a:r>
          </a:p>
        </p:txBody>
      </p:sp>
      <p:pic>
        <p:nvPicPr>
          <p:cNvPr id="8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8801100" y="5810250"/>
            <a:ext cx="685800" cy="685800"/>
          </a:xfrm>
          <a:prstGeom prst="rect">
            <a:avLst/>
          </a:prstGeom>
        </p:spPr>
      </p:pic>
      <p:pic>
        <p:nvPicPr>
          <p:cNvPr id="801" name="iconNode6f0a0c54-b7bb-4670-a0aa-2590c0450142">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06192BD3-F893-4A4C-B196-93598C034F6A}">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72550" y="5981700"/>
            <a:ext cx="342900" cy="342900"/>
          </a:xfrm>
          <a:prstGeom prst="rect">
            <a:avLst/>
          </a:prstGeom>
        </p:spPr>
      </p:pic>
      <p:sp>
        <p:nvSpPr>
          <p:cNvPr id="802" name="Primary Heading-1">
            <a:extLst>
              <a:ext uri="{FF2B5EF4-FFF2-40B4-BE49-F238E27FC236}">
                <a16:creationId xmlns:a16="http://schemas.microsoft.com/office/drawing/2014/main" id="{111B4A49-B930-4A89-A1CD-6CA2B3D95AED}"/>
              </a:ext>
            </a:extLst>
          </p:cNvPr>
          <p:cNvSpPr txBox="1"/>
          <p:nvPr/>
        </p:nvSpPr>
        <p:spPr>
          <a:xfrm>
            <a:off x="6394609"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F2F1F3">
                    <a:alpha val="100000"/>
                  </a:srgbClr>
                </a:solidFill>
                <a:latin typeface="Montserrat" panose="00000700000000000000" pitchFamily="2" charset="0"/>
              </a:rPr>
              <a:t>Competitive Market Presence</a:t>
            </a:r>
          </a:p>
        </p:txBody>
      </p:sp>
      <p:sp>
        <p:nvSpPr>
          <p:cNvPr id="803" name="Description of a primary heading-1">
            <a:extLst>
              <a:ext uri="{FF2B5EF4-FFF2-40B4-BE49-F238E27FC236}">
                <a16:creationId xmlns:a16="http://schemas.microsoft.com/office/drawing/2014/main" id="{111B4A49-B930-4A89-A1CD-6CA2B3D95AED}"/>
              </a:ext>
            </a:extLst>
          </p:cNvPr>
          <p:cNvSpPr txBox="1"/>
          <p:nvPr/>
        </p:nvSpPr>
        <p:spPr>
          <a:xfrm>
            <a:off x="6327934"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Facing challenges from global competitors while maintaining a strong market foothold.</a:t>
            </a:r>
          </a:p>
        </p:txBody>
      </p:sp>
      <p:pic>
        <p:nvPicPr>
          <p:cNvPr id="8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4487525" y="5810250"/>
            <a:ext cx="685800" cy="685800"/>
          </a:xfrm>
          <a:prstGeom prst="rect">
            <a:avLst/>
          </a:prstGeom>
        </p:spPr>
      </p:pic>
      <p:pic>
        <p:nvPicPr>
          <p:cNvPr id="805" name="iconNoded17265d3-12e7-40aa-98cf-3c6093e89415">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1E123FAF-3D66-4EFB-AA78-3C86F7B7CA36}">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4658975" y="5981700"/>
            <a:ext cx="342900" cy="342900"/>
          </a:xfrm>
          <a:prstGeom prst="rect">
            <a:avLst/>
          </a:prstGeom>
        </p:spPr>
      </p:pic>
      <p:sp>
        <p:nvSpPr>
          <p:cNvPr id="806" name="Primary Heading-2">
            <a:extLst>
              <a:ext uri="{FF2B5EF4-FFF2-40B4-BE49-F238E27FC236}">
                <a16:creationId xmlns:a16="http://schemas.microsoft.com/office/drawing/2014/main" id="{111B4A49-B930-4A89-A1CD-6CA2B3D95AED}"/>
              </a:ext>
            </a:extLst>
          </p:cNvPr>
          <p:cNvSpPr txBox="1"/>
          <p:nvPr/>
        </p:nvSpPr>
        <p:spPr>
          <a:xfrm>
            <a:off x="12084177"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EBEAED">
                    <a:alpha val="100000"/>
                  </a:srgbClr>
                </a:solidFill>
                <a:latin typeface="Montserrat" panose="00000700000000000000" pitchFamily="2" charset="0"/>
              </a:rPr>
              <a:t>Key Solutions Offered</a:t>
            </a:r>
          </a:p>
        </p:txBody>
      </p:sp>
      <p:sp>
        <p:nvSpPr>
          <p:cNvPr id="807" name="Description of a primary heading-2">
            <a:extLst>
              <a:ext uri="{FF2B5EF4-FFF2-40B4-BE49-F238E27FC236}">
                <a16:creationId xmlns:a16="http://schemas.microsoft.com/office/drawing/2014/main" id="{111B4A49-B930-4A89-A1CD-6CA2B3D95AED}"/>
              </a:ext>
            </a:extLst>
          </p:cNvPr>
          <p:cNvSpPr txBox="1"/>
          <p:nvPr/>
        </p:nvSpPr>
        <p:spPr>
          <a:xfrm>
            <a:off x="12017502" y="4555331"/>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Providing customized solutions, local expertise, and exceptional after-sales services.</a:t>
            </a:r>
          </a:p>
        </p:txBody>
      </p:sp>
      <p:sp>
        <p:nvSpPr>
          <p:cNvPr id="808" name="Click here to edit title-403">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Summary</a:t>
            </a:r>
          </a:p>
        </p:txBody>
      </p:sp>
      <p:sp>
        <p:nvSpPr>
          <p:cNvPr id="809" name="Click here to edit subtitle-452">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Dominance in India's Elevator and Parking Solutions Market</a:t>
            </a:r>
          </a:p>
        </p:txBody>
      </p:sp>
      <p:sp>
        <p:nvSpPr>
          <p:cNvPr id="810" name="Click here to edit label-421">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81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1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8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0" y="6134100"/>
            <a:ext cx="14744700" cy="28575"/>
          </a:xfrm>
          <a:prstGeom prst="rect">
            <a:avLst/>
          </a:prstGeom>
        </p:spPr>
      </p:pic>
      <p:pic>
        <p:nvPicPr>
          <p:cNvPr id="81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362325" y="6057900"/>
            <a:ext cx="190500" cy="190500"/>
          </a:xfrm>
          <a:prstGeom prst="rect">
            <a:avLst/>
          </a:prstGeom>
        </p:spPr>
      </p:pic>
      <p:pic>
        <p:nvPicPr>
          <p:cNvPr id="8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048750" y="6057900"/>
            <a:ext cx="190500" cy="190500"/>
          </a:xfrm>
          <a:prstGeom prst="rect">
            <a:avLst/>
          </a:prstGeom>
        </p:spPr>
      </p:pic>
      <p:pic>
        <p:nvPicPr>
          <p:cNvPr id="81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4744700" y="6057900"/>
            <a:ext cx="190500" cy="190500"/>
          </a:xfrm>
          <a:prstGeom prst="rect">
            <a:avLst/>
          </a:prstGeom>
        </p:spPr>
      </p:pic>
      <p:pic>
        <p:nvPicPr>
          <p:cNvPr id="82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3114675" y="5810250"/>
            <a:ext cx="685800" cy="685800"/>
          </a:xfrm>
          <a:prstGeom prst="rect">
            <a:avLst/>
          </a:prstGeom>
        </p:spPr>
      </p:pic>
      <p:pic>
        <p:nvPicPr>
          <p:cNvPr id="821" name="iconNode2c764039-9a00-42a7-a45e-047586ecc817">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extLst>
              <a:ext uri="{98591A70-DF62-4AD2-9BDD-1CE5AA19B29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3286125" y="5981700"/>
            <a:ext cx="342900" cy="342900"/>
          </a:xfrm>
          <a:prstGeom prst="rect">
            <a:avLst/>
          </a:prstGeom>
        </p:spPr>
      </p:pic>
      <p:sp>
        <p:nvSpPr>
          <p:cNvPr id="822" name="Primary Heading-3">
            <a:extLst>
              <a:ext uri="{FF2B5EF4-FFF2-40B4-BE49-F238E27FC236}">
                <a16:creationId xmlns:a16="http://schemas.microsoft.com/office/drawing/2014/main" id="{111B4A49-B930-4A89-A1CD-6CA2B3D95AED}"/>
              </a:ext>
            </a:extLst>
          </p:cNvPr>
          <p:cNvSpPr txBox="1"/>
          <p:nvPr/>
        </p:nvSpPr>
        <p:spPr>
          <a:xfrm>
            <a:off x="704850"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E5E3E7">
                    <a:alpha val="100000"/>
                  </a:srgbClr>
                </a:solidFill>
                <a:latin typeface="Montserrat" panose="00000700000000000000" pitchFamily="2" charset="0"/>
              </a:rPr>
              <a:t>Strategic Product Focus</a:t>
            </a:r>
          </a:p>
        </p:txBody>
      </p:sp>
      <p:sp>
        <p:nvSpPr>
          <p:cNvPr id="823" name="Description of a primary heading-3">
            <a:extLst>
              <a:ext uri="{FF2B5EF4-FFF2-40B4-BE49-F238E27FC236}">
                <a16:creationId xmlns:a16="http://schemas.microsoft.com/office/drawing/2014/main" id="{111B4A49-B930-4A89-A1CD-6CA2B3D95AED}"/>
              </a:ext>
            </a:extLst>
          </p:cNvPr>
          <p:cNvSpPr txBox="1"/>
          <p:nvPr/>
        </p:nvSpPr>
        <p:spPr>
          <a:xfrm>
            <a:off x="638175"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Emphasizing quality, reliability, and user safety in a diverse product portfolio.</a:t>
            </a:r>
          </a:p>
        </p:txBody>
      </p:sp>
      <p:pic>
        <p:nvPicPr>
          <p:cNvPr id="82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8801100" y="5810250"/>
            <a:ext cx="685800" cy="685800"/>
          </a:xfrm>
          <a:prstGeom prst="rect">
            <a:avLst/>
          </a:prstGeom>
        </p:spPr>
      </p:pic>
      <p:pic>
        <p:nvPicPr>
          <p:cNvPr id="825" name="iconNodef0cceb25-9f40-42b6-88ed-06537e4c0c85">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D07B24EB-BB04-434B-8243-295132665C9B}">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8972550" y="5981700"/>
            <a:ext cx="342900" cy="342900"/>
          </a:xfrm>
          <a:prstGeom prst="rect">
            <a:avLst/>
          </a:prstGeom>
        </p:spPr>
      </p:pic>
      <p:sp>
        <p:nvSpPr>
          <p:cNvPr id="826" name="Primary Heading-4">
            <a:extLst>
              <a:ext uri="{FF2B5EF4-FFF2-40B4-BE49-F238E27FC236}">
                <a16:creationId xmlns:a16="http://schemas.microsoft.com/office/drawing/2014/main" id="{111B4A49-B930-4A89-A1CD-6CA2B3D95AED}"/>
              </a:ext>
            </a:extLst>
          </p:cNvPr>
          <p:cNvSpPr txBox="1"/>
          <p:nvPr/>
        </p:nvSpPr>
        <p:spPr>
          <a:xfrm>
            <a:off x="6394418" y="5241131"/>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DEDCE1">
                    <a:alpha val="100000"/>
                  </a:srgbClr>
                </a:solidFill>
                <a:latin typeface="Montserrat" panose="00000700000000000000" pitchFamily="2" charset="0"/>
              </a:rPr>
              <a:t>Target Market Segments</a:t>
            </a:r>
          </a:p>
        </p:txBody>
      </p:sp>
      <p:sp>
        <p:nvSpPr>
          <p:cNvPr id="827" name="Description of a primary heading-4">
            <a:extLst>
              <a:ext uri="{FF2B5EF4-FFF2-40B4-BE49-F238E27FC236}">
                <a16:creationId xmlns:a16="http://schemas.microsoft.com/office/drawing/2014/main" id="{111B4A49-B930-4A89-A1CD-6CA2B3D95AED}"/>
              </a:ext>
            </a:extLst>
          </p:cNvPr>
          <p:cNvSpPr txBox="1"/>
          <p:nvPr/>
        </p:nvSpPr>
        <p:spPr>
          <a:xfrm>
            <a:off x="6327743" y="4212431"/>
            <a:ext cx="5638800" cy="10382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Targeting construction firms, real estate developers, and government infrastructure projects.</a:t>
            </a:r>
          </a:p>
        </p:txBody>
      </p:sp>
      <p:pic>
        <p:nvPicPr>
          <p:cNvPr id="82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14487525" y="5810250"/>
            <a:ext cx="685800" cy="685800"/>
          </a:xfrm>
          <a:prstGeom prst="rect">
            <a:avLst/>
          </a:prstGeom>
        </p:spPr>
      </p:pic>
      <p:pic>
        <p:nvPicPr>
          <p:cNvPr id="829" name="iconNode24604644-4433-4119-bfcd-526476dae10a">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extLst>
              <a:ext uri="{86B610EF-A0EE-4789-954F-6113C6767811}">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4658975" y="5981700"/>
            <a:ext cx="342900" cy="342900"/>
          </a:xfrm>
          <a:prstGeom prst="rect">
            <a:avLst/>
          </a:prstGeom>
        </p:spPr>
      </p:pic>
      <p:sp>
        <p:nvSpPr>
          <p:cNvPr id="830" name="Primary Heading-5">
            <a:extLst>
              <a:ext uri="{FF2B5EF4-FFF2-40B4-BE49-F238E27FC236}">
                <a16:creationId xmlns:a16="http://schemas.microsoft.com/office/drawing/2014/main" id="{111B4A49-B930-4A89-A1CD-6CA2B3D95AED}"/>
              </a:ext>
            </a:extLst>
          </p:cNvPr>
          <p:cNvSpPr txBox="1"/>
          <p:nvPr/>
        </p:nvSpPr>
        <p:spPr>
          <a:xfrm>
            <a:off x="12083891" y="6686550"/>
            <a:ext cx="56388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D8D6DC">
                    <a:alpha val="100000"/>
                  </a:srgbClr>
                </a:solidFill>
                <a:latin typeface="Montserrat" panose="00000700000000000000" pitchFamily="2" charset="0"/>
              </a:rPr>
              <a:t>Financial Stability and Growth</a:t>
            </a:r>
          </a:p>
        </p:txBody>
      </p:sp>
      <p:sp>
        <p:nvSpPr>
          <p:cNvPr id="831" name="Description of a primary heading-5">
            <a:extLst>
              <a:ext uri="{FF2B5EF4-FFF2-40B4-BE49-F238E27FC236}">
                <a16:creationId xmlns:a16="http://schemas.microsoft.com/office/drawing/2014/main" id="{111B4A49-B930-4A89-A1CD-6CA2B3D95AED}"/>
              </a:ext>
            </a:extLst>
          </p:cNvPr>
          <p:cNvSpPr txBox="1"/>
          <p:nvPr/>
        </p:nvSpPr>
        <p:spPr>
          <a:xfrm>
            <a:off x="12017216" y="7065169"/>
            <a:ext cx="5638800" cy="6953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Demonstrating steady financial growth with a robust business model.</a:t>
            </a:r>
          </a:p>
        </p:txBody>
      </p:sp>
      <p:sp>
        <p:nvSpPr>
          <p:cNvPr id="832" name="Click here to edit title-419">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Summary</a:t>
            </a:r>
          </a:p>
        </p:txBody>
      </p:sp>
      <p:sp>
        <p:nvSpPr>
          <p:cNvPr id="833" name="Click here to edit subtitle-463">
            <a:extLst>
              <a:ext uri="{FF2B5EF4-FFF2-40B4-BE49-F238E27FC236}">
                <a16:creationId xmlns:a16="http://schemas.microsoft.com/office/drawing/2014/main" id="{111B4A49-B930-4A89-A1CD-6CA2B3D95AED}"/>
              </a:ext>
            </a:extLst>
          </p:cNvPr>
          <p:cNvSpPr txBox="1"/>
          <p:nvPr/>
        </p:nvSpPr>
        <p:spPr>
          <a:xfrm>
            <a:off x="1219200" y="1790700"/>
            <a:ext cx="15992475"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Strategies for Dominance in India's Elevator and Parking Solutions Market</a:t>
            </a:r>
          </a:p>
        </p:txBody>
      </p:sp>
      <p:sp>
        <p:nvSpPr>
          <p:cNvPr id="834" name="Click here to edit label-426">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STRATEGY</a:t>
            </a:r>
          </a:p>
        </p:txBody>
      </p:sp>
      <p:pic>
        <p:nvPicPr>
          <p:cNvPr id="83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90550" y="571500"/>
            <a:ext cx="19050" cy="1590675"/>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83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31272"/>
            <a:ext cx="18288000" cy="10287000"/>
          </a:xfrm>
          <a:prstGeom prst="rect">
            <a:avLst/>
          </a:prstGeom>
        </p:spPr>
      </p:pic>
      <p:pic>
        <p:nvPicPr>
          <p:cNvPr id="8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847725" y="2867025"/>
            <a:ext cx="2133600" cy="1238250"/>
          </a:xfrm>
          <a:prstGeom prst="rect">
            <a:avLst/>
          </a:prstGeom>
        </p:spPr>
      </p:pic>
      <p:sp>
        <p:nvSpPr>
          <p:cNvPr id="841" name="Primary Heading-0,0">
            <a:extLst>
              <a:ext uri="{FF2B5EF4-FFF2-40B4-BE49-F238E27FC236}">
                <a16:creationId xmlns:a16="http://schemas.microsoft.com/office/drawing/2014/main" id="{111B4A49-B930-4A89-A1CD-6CA2B3D95AED}"/>
              </a:ext>
            </a:extLst>
          </p:cNvPr>
          <p:cNvSpPr txBox="1"/>
          <p:nvPr/>
        </p:nvSpPr>
        <p:spPr>
          <a:xfrm>
            <a:off x="1076325" y="3103245"/>
            <a:ext cx="1800225"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Financial Year</a:t>
            </a:r>
          </a:p>
        </p:txBody>
      </p:sp>
      <p:pic>
        <p:nvPicPr>
          <p:cNvPr id="8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2962275" y="2867025"/>
            <a:ext cx="2105025" cy="1238250"/>
          </a:xfrm>
          <a:prstGeom prst="rect">
            <a:avLst/>
          </a:prstGeom>
        </p:spPr>
      </p:pic>
      <p:sp>
        <p:nvSpPr>
          <p:cNvPr id="843" name="Primary Heading-0,1">
            <a:extLst>
              <a:ext uri="{FF2B5EF4-FFF2-40B4-BE49-F238E27FC236}">
                <a16:creationId xmlns:a16="http://schemas.microsoft.com/office/drawing/2014/main" id="{111B4A49-B930-4A89-A1CD-6CA2B3D95AED}"/>
              </a:ext>
            </a:extLst>
          </p:cNvPr>
          <p:cNvSpPr txBox="1"/>
          <p:nvPr/>
        </p:nvSpPr>
        <p:spPr>
          <a:xfrm>
            <a:off x="3531203"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Sales</a:t>
            </a:r>
          </a:p>
        </p:txBody>
      </p:sp>
      <p:sp>
        <p:nvSpPr>
          <p:cNvPr id="845" name="Primary Heading-0,2">
            <a:extLst>
              <a:ext uri="{FF2B5EF4-FFF2-40B4-BE49-F238E27FC236}">
                <a16:creationId xmlns:a16="http://schemas.microsoft.com/office/drawing/2014/main" id="{111B4A49-B930-4A89-A1CD-6CA2B3D95AED}"/>
              </a:ext>
            </a:extLst>
          </p:cNvPr>
          <p:cNvSpPr txBox="1"/>
          <p:nvPr/>
        </p:nvSpPr>
        <p:spPr>
          <a:xfrm>
            <a:off x="5479352" y="3292507"/>
            <a:ext cx="14001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Purchase</a:t>
            </a:r>
          </a:p>
        </p:txBody>
      </p:sp>
      <p:pic>
        <p:nvPicPr>
          <p:cNvPr id="8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070702" y="2867025"/>
            <a:ext cx="1933575" cy="1238250"/>
          </a:xfrm>
          <a:prstGeom prst="rect">
            <a:avLst/>
          </a:prstGeom>
        </p:spPr>
      </p:pic>
      <p:sp>
        <p:nvSpPr>
          <p:cNvPr id="847" name="Primary Heading-0,3">
            <a:extLst>
              <a:ext uri="{FF2B5EF4-FFF2-40B4-BE49-F238E27FC236}">
                <a16:creationId xmlns:a16="http://schemas.microsoft.com/office/drawing/2014/main" id="{111B4A49-B930-4A89-A1CD-6CA2B3D95AED}"/>
              </a:ext>
            </a:extLst>
          </p:cNvPr>
          <p:cNvSpPr txBox="1"/>
          <p:nvPr/>
        </p:nvSpPr>
        <p:spPr>
          <a:xfrm>
            <a:off x="5550762"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PAT</a:t>
            </a:r>
          </a:p>
        </p:txBody>
      </p:sp>
      <p:sp>
        <p:nvSpPr>
          <p:cNvPr id="849" name="Primary Heading-0,4">
            <a:extLst>
              <a:ext uri="{FF2B5EF4-FFF2-40B4-BE49-F238E27FC236}">
                <a16:creationId xmlns:a16="http://schemas.microsoft.com/office/drawing/2014/main" id="{111B4A49-B930-4A89-A1CD-6CA2B3D95AED}"/>
              </a:ext>
            </a:extLst>
          </p:cNvPr>
          <p:cNvSpPr txBox="1"/>
          <p:nvPr/>
        </p:nvSpPr>
        <p:spPr>
          <a:xfrm>
            <a:off x="9304020" y="3103245"/>
            <a:ext cx="1543050" cy="771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Head Count</a:t>
            </a:r>
          </a:p>
        </p:txBody>
      </p:sp>
      <p:sp>
        <p:nvSpPr>
          <p:cNvPr id="851" name="Primary Heading-0,5">
            <a:extLst>
              <a:ext uri="{FF2B5EF4-FFF2-40B4-BE49-F238E27FC236}">
                <a16:creationId xmlns:a16="http://schemas.microsoft.com/office/drawing/2014/main" id="{111B4A49-B930-4A89-A1CD-6CA2B3D95AED}"/>
              </a:ext>
            </a:extLst>
          </p:cNvPr>
          <p:cNvSpPr txBox="1"/>
          <p:nvPr/>
        </p:nvSpPr>
        <p:spPr>
          <a:xfrm>
            <a:off x="11160442" y="3292507"/>
            <a:ext cx="275272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Revenue/Employee</a:t>
            </a:r>
          </a:p>
        </p:txBody>
      </p:sp>
      <p:pic>
        <p:nvPicPr>
          <p:cNvPr id="8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7005167" y="2867025"/>
            <a:ext cx="2028825" cy="1238250"/>
          </a:xfrm>
          <a:prstGeom prst="rect">
            <a:avLst/>
          </a:prstGeom>
        </p:spPr>
      </p:pic>
      <p:sp>
        <p:nvSpPr>
          <p:cNvPr id="853" name="Primary Heading-0,6">
            <a:extLst>
              <a:ext uri="{FF2B5EF4-FFF2-40B4-BE49-F238E27FC236}">
                <a16:creationId xmlns:a16="http://schemas.microsoft.com/office/drawing/2014/main" id="{111B4A49-B930-4A89-A1CD-6CA2B3D95AED}"/>
              </a:ext>
            </a:extLst>
          </p:cNvPr>
          <p:cNvSpPr txBox="1"/>
          <p:nvPr/>
        </p:nvSpPr>
        <p:spPr>
          <a:xfrm>
            <a:off x="7495705" y="3292507"/>
            <a:ext cx="116205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EBITDA</a:t>
            </a:r>
          </a:p>
        </p:txBody>
      </p:sp>
      <p:pic>
        <p:nvPicPr>
          <p:cNvPr id="8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9014942" y="2867025"/>
            <a:ext cx="1428750" cy="1238250"/>
          </a:xfrm>
          <a:prstGeom prst="rect">
            <a:avLst/>
          </a:prstGeom>
        </p:spPr>
      </p:pic>
      <p:sp>
        <p:nvSpPr>
          <p:cNvPr id="855" name="Primary Heading-0,7">
            <a:extLst>
              <a:ext uri="{FF2B5EF4-FFF2-40B4-BE49-F238E27FC236}">
                <a16:creationId xmlns:a16="http://schemas.microsoft.com/office/drawing/2014/main" id="{111B4A49-B930-4A89-A1CD-6CA2B3D95AED}"/>
              </a:ext>
            </a:extLst>
          </p:cNvPr>
          <p:cNvSpPr txBox="1"/>
          <p:nvPr/>
        </p:nvSpPr>
        <p:spPr>
          <a:xfrm>
            <a:off x="9239637" y="3292507"/>
            <a:ext cx="1095375"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NPM</a:t>
            </a:r>
          </a:p>
        </p:txBody>
      </p:sp>
      <p:pic>
        <p:nvPicPr>
          <p:cNvPr id="8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4086225"/>
            <a:ext cx="2133600" cy="1162050"/>
          </a:xfrm>
          <a:prstGeom prst="rect">
            <a:avLst/>
          </a:prstGeom>
        </p:spPr>
      </p:pic>
      <p:pic>
        <p:nvPicPr>
          <p:cNvPr id="8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4086225"/>
            <a:ext cx="2105025" cy="1162050"/>
          </a:xfrm>
          <a:prstGeom prst="rect">
            <a:avLst/>
          </a:prstGeom>
        </p:spPr>
      </p:pic>
      <p:pic>
        <p:nvPicPr>
          <p:cNvPr id="8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4086225"/>
            <a:ext cx="1933575" cy="1162050"/>
          </a:xfrm>
          <a:prstGeom prst="rect">
            <a:avLst/>
          </a:prstGeom>
        </p:spPr>
      </p:pic>
      <p:pic>
        <p:nvPicPr>
          <p:cNvPr id="8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4086225"/>
            <a:ext cx="2028825" cy="1162050"/>
          </a:xfrm>
          <a:prstGeom prst="rect">
            <a:avLst/>
          </a:prstGeom>
        </p:spPr>
      </p:pic>
      <p:pic>
        <p:nvPicPr>
          <p:cNvPr id="8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4850810"/>
            <a:ext cx="2133600" cy="1162050"/>
          </a:xfrm>
          <a:prstGeom prst="rect">
            <a:avLst/>
          </a:prstGeom>
        </p:spPr>
      </p:pic>
      <p:pic>
        <p:nvPicPr>
          <p:cNvPr id="8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4850810"/>
            <a:ext cx="2105025" cy="1162050"/>
          </a:xfrm>
          <a:prstGeom prst="rect">
            <a:avLst/>
          </a:prstGeom>
        </p:spPr>
      </p:pic>
      <p:pic>
        <p:nvPicPr>
          <p:cNvPr id="8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4850810"/>
            <a:ext cx="1933575" cy="1162050"/>
          </a:xfrm>
          <a:prstGeom prst="rect">
            <a:avLst/>
          </a:prstGeom>
        </p:spPr>
      </p:pic>
      <p:pic>
        <p:nvPicPr>
          <p:cNvPr id="8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4850810"/>
            <a:ext cx="2028825" cy="1162050"/>
          </a:xfrm>
          <a:prstGeom prst="rect">
            <a:avLst/>
          </a:prstGeom>
        </p:spPr>
      </p:pic>
      <p:pic>
        <p:nvPicPr>
          <p:cNvPr id="8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4850810"/>
            <a:ext cx="1428750" cy="1162050"/>
          </a:xfrm>
          <a:prstGeom prst="rect">
            <a:avLst/>
          </a:prstGeom>
        </p:spPr>
      </p:pic>
      <p:pic>
        <p:nvPicPr>
          <p:cNvPr id="88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6003335"/>
            <a:ext cx="2133600" cy="1162050"/>
          </a:xfrm>
          <a:prstGeom prst="rect">
            <a:avLst/>
          </a:prstGeom>
        </p:spPr>
      </p:pic>
      <p:sp>
        <p:nvSpPr>
          <p:cNvPr id="889" name="Description of a primary heading-3,0">
            <a:extLst>
              <a:ext uri="{FF2B5EF4-FFF2-40B4-BE49-F238E27FC236}">
                <a16:creationId xmlns:a16="http://schemas.microsoft.com/office/drawing/2014/main" id="{111B4A49-B930-4A89-A1CD-6CA2B3D95AED}"/>
              </a:ext>
            </a:extLst>
          </p:cNvPr>
          <p:cNvSpPr txBox="1"/>
          <p:nvPr/>
        </p:nvSpPr>
        <p:spPr>
          <a:xfrm>
            <a:off x="1306449" y="4331866"/>
            <a:ext cx="12287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2021-2022</a:t>
            </a:r>
          </a:p>
        </p:txBody>
      </p:sp>
      <p:pic>
        <p:nvPicPr>
          <p:cNvPr id="8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6003335"/>
            <a:ext cx="2105025" cy="1162050"/>
          </a:xfrm>
          <a:prstGeom prst="rect">
            <a:avLst/>
          </a:prstGeom>
        </p:spPr>
      </p:pic>
      <p:sp>
        <p:nvSpPr>
          <p:cNvPr id="891" name="Description of a primary heading-3,1">
            <a:extLst>
              <a:ext uri="{FF2B5EF4-FFF2-40B4-BE49-F238E27FC236}">
                <a16:creationId xmlns:a16="http://schemas.microsoft.com/office/drawing/2014/main" id="{111B4A49-B930-4A89-A1CD-6CA2B3D95AED}"/>
              </a:ext>
            </a:extLst>
          </p:cNvPr>
          <p:cNvSpPr txBox="1"/>
          <p:nvPr/>
        </p:nvSpPr>
        <p:spPr>
          <a:xfrm>
            <a:off x="3137440" y="4349702"/>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12.39</a:t>
            </a:r>
          </a:p>
        </p:txBody>
      </p:sp>
      <p:pic>
        <p:nvPicPr>
          <p:cNvPr id="8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02" y="6003335"/>
            <a:ext cx="1933575" cy="1162050"/>
          </a:xfrm>
          <a:prstGeom prst="rect">
            <a:avLst/>
          </a:prstGeom>
        </p:spPr>
      </p:pic>
      <p:sp>
        <p:nvSpPr>
          <p:cNvPr id="895" name="Description of a primary heading-3,3">
            <a:extLst>
              <a:ext uri="{FF2B5EF4-FFF2-40B4-BE49-F238E27FC236}">
                <a16:creationId xmlns:a16="http://schemas.microsoft.com/office/drawing/2014/main" id="{111B4A49-B930-4A89-A1CD-6CA2B3D95AED}"/>
              </a:ext>
            </a:extLst>
          </p:cNvPr>
          <p:cNvSpPr txBox="1"/>
          <p:nvPr/>
        </p:nvSpPr>
        <p:spPr>
          <a:xfrm>
            <a:off x="5243200" y="4349702"/>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0.43</a:t>
            </a:r>
          </a:p>
        </p:txBody>
      </p:sp>
      <p:pic>
        <p:nvPicPr>
          <p:cNvPr id="9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6003335"/>
            <a:ext cx="2028825" cy="1162050"/>
          </a:xfrm>
          <a:prstGeom prst="rect">
            <a:avLst/>
          </a:prstGeom>
        </p:spPr>
      </p:pic>
      <p:sp>
        <p:nvSpPr>
          <p:cNvPr id="901" name="Description of a primary heading-3,6">
            <a:extLst>
              <a:ext uri="{FF2B5EF4-FFF2-40B4-BE49-F238E27FC236}">
                <a16:creationId xmlns:a16="http://schemas.microsoft.com/office/drawing/2014/main" id="{111B4A49-B930-4A89-A1CD-6CA2B3D95AED}"/>
              </a:ext>
            </a:extLst>
          </p:cNvPr>
          <p:cNvSpPr txBox="1"/>
          <p:nvPr/>
        </p:nvSpPr>
        <p:spPr>
          <a:xfrm>
            <a:off x="7173855" y="4349702"/>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1.</a:t>
            </a:r>
            <a:r>
              <a:rPr lang="en-US" spc="-18" dirty="0">
                <a:solidFill>
                  <a:srgbClr val="E5E3E7">
                    <a:alpha val="100000"/>
                  </a:srgbClr>
                </a:solidFill>
                <a:latin typeface="Montserrat Light" panose="00000700000000000000" pitchFamily="2" charset="0"/>
              </a:rPr>
              <a:t>39</a:t>
            </a:r>
            <a:endParaRPr lang="en-US" sz="1800" spc="-18" dirty="0">
              <a:solidFill>
                <a:srgbClr val="E5E3E7">
                  <a:alpha val="100000"/>
                </a:srgbClr>
              </a:solidFill>
              <a:latin typeface="Montserrat Light" panose="00000700000000000000" pitchFamily="2" charset="0"/>
            </a:endParaRPr>
          </a:p>
        </p:txBody>
      </p:sp>
      <p:pic>
        <p:nvPicPr>
          <p:cNvPr id="9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6003335"/>
            <a:ext cx="1428750" cy="1162050"/>
          </a:xfrm>
          <a:prstGeom prst="rect">
            <a:avLst/>
          </a:prstGeom>
        </p:spPr>
      </p:pic>
      <p:sp>
        <p:nvSpPr>
          <p:cNvPr id="903" name="Description of a primary heading-3,7">
            <a:extLst>
              <a:ext uri="{FF2B5EF4-FFF2-40B4-BE49-F238E27FC236}">
                <a16:creationId xmlns:a16="http://schemas.microsoft.com/office/drawing/2014/main" id="{111B4A49-B930-4A89-A1CD-6CA2B3D95AED}"/>
              </a:ext>
            </a:extLst>
          </p:cNvPr>
          <p:cNvSpPr txBox="1"/>
          <p:nvPr/>
        </p:nvSpPr>
        <p:spPr>
          <a:xfrm>
            <a:off x="9421660" y="4331866"/>
            <a:ext cx="6191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3.5%</a:t>
            </a:r>
          </a:p>
        </p:txBody>
      </p:sp>
      <p:pic>
        <p:nvPicPr>
          <p:cNvPr id="9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847725" y="7169715"/>
            <a:ext cx="2133600" cy="1162050"/>
          </a:xfrm>
          <a:prstGeom prst="rect">
            <a:avLst/>
          </a:prstGeom>
        </p:spPr>
      </p:pic>
      <p:sp>
        <p:nvSpPr>
          <p:cNvPr id="905" name="Description of a primary heading-4,0">
            <a:extLst>
              <a:ext uri="{FF2B5EF4-FFF2-40B4-BE49-F238E27FC236}">
                <a16:creationId xmlns:a16="http://schemas.microsoft.com/office/drawing/2014/main" id="{111B4A49-B930-4A89-A1CD-6CA2B3D95AED}"/>
              </a:ext>
            </a:extLst>
          </p:cNvPr>
          <p:cNvSpPr txBox="1"/>
          <p:nvPr/>
        </p:nvSpPr>
        <p:spPr>
          <a:xfrm>
            <a:off x="1283970" y="5330081"/>
            <a:ext cx="12763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2022-2023</a:t>
            </a:r>
          </a:p>
        </p:txBody>
      </p:sp>
      <p:pic>
        <p:nvPicPr>
          <p:cNvPr id="90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2962275" y="7169716"/>
            <a:ext cx="2105025" cy="1162050"/>
          </a:xfrm>
          <a:prstGeom prst="rect">
            <a:avLst/>
          </a:prstGeom>
        </p:spPr>
      </p:pic>
      <p:sp>
        <p:nvSpPr>
          <p:cNvPr id="907" name="Description of a primary heading-4,1">
            <a:extLst>
              <a:ext uri="{FF2B5EF4-FFF2-40B4-BE49-F238E27FC236}">
                <a16:creationId xmlns:a16="http://schemas.microsoft.com/office/drawing/2014/main" id="{111B4A49-B930-4A89-A1CD-6CA2B3D95AED}"/>
              </a:ext>
            </a:extLst>
          </p:cNvPr>
          <p:cNvSpPr txBox="1"/>
          <p:nvPr/>
        </p:nvSpPr>
        <p:spPr>
          <a:xfrm>
            <a:off x="3126867" y="5347917"/>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18.40</a:t>
            </a:r>
          </a:p>
        </p:txBody>
      </p:sp>
      <p:pic>
        <p:nvPicPr>
          <p:cNvPr id="91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5070730" y="7169715"/>
            <a:ext cx="1933575" cy="1162050"/>
          </a:xfrm>
          <a:prstGeom prst="rect">
            <a:avLst/>
          </a:prstGeom>
        </p:spPr>
      </p:pic>
      <p:sp>
        <p:nvSpPr>
          <p:cNvPr id="911" name="Description of a primary heading-4,3">
            <a:extLst>
              <a:ext uri="{FF2B5EF4-FFF2-40B4-BE49-F238E27FC236}">
                <a16:creationId xmlns:a16="http://schemas.microsoft.com/office/drawing/2014/main" id="{111B4A49-B930-4A89-A1CD-6CA2B3D95AED}"/>
              </a:ext>
            </a:extLst>
          </p:cNvPr>
          <p:cNvSpPr txBox="1"/>
          <p:nvPr/>
        </p:nvSpPr>
        <p:spPr>
          <a:xfrm>
            <a:off x="5232627" y="5347917"/>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0.92</a:t>
            </a:r>
          </a:p>
        </p:txBody>
      </p:sp>
      <p:pic>
        <p:nvPicPr>
          <p:cNvPr id="91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7005167" y="7169718"/>
            <a:ext cx="2028825" cy="1162050"/>
          </a:xfrm>
          <a:prstGeom prst="rect">
            <a:avLst/>
          </a:prstGeom>
        </p:spPr>
      </p:pic>
      <p:sp>
        <p:nvSpPr>
          <p:cNvPr id="917" name="Description of a primary heading-4,6">
            <a:extLst>
              <a:ext uri="{FF2B5EF4-FFF2-40B4-BE49-F238E27FC236}">
                <a16:creationId xmlns:a16="http://schemas.microsoft.com/office/drawing/2014/main" id="{111B4A49-B930-4A89-A1CD-6CA2B3D95AED}"/>
              </a:ext>
            </a:extLst>
          </p:cNvPr>
          <p:cNvSpPr txBox="1"/>
          <p:nvPr/>
        </p:nvSpPr>
        <p:spPr>
          <a:xfrm>
            <a:off x="7163282" y="5347917"/>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 2.31</a:t>
            </a:r>
          </a:p>
        </p:txBody>
      </p:sp>
      <p:pic>
        <p:nvPicPr>
          <p:cNvPr id="91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9014942" y="7169718"/>
            <a:ext cx="1428750" cy="1162050"/>
          </a:xfrm>
          <a:prstGeom prst="rect">
            <a:avLst/>
          </a:prstGeom>
        </p:spPr>
      </p:pic>
      <p:sp>
        <p:nvSpPr>
          <p:cNvPr id="919" name="Description of a primary heading-4,7">
            <a:extLst>
              <a:ext uri="{FF2B5EF4-FFF2-40B4-BE49-F238E27FC236}">
                <a16:creationId xmlns:a16="http://schemas.microsoft.com/office/drawing/2014/main" id="{111B4A49-B930-4A89-A1CD-6CA2B3D95AED}"/>
              </a:ext>
            </a:extLst>
          </p:cNvPr>
          <p:cNvSpPr txBox="1"/>
          <p:nvPr/>
        </p:nvSpPr>
        <p:spPr>
          <a:xfrm>
            <a:off x="9399657" y="5330081"/>
            <a:ext cx="6381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5.0%</a:t>
            </a:r>
          </a:p>
        </p:txBody>
      </p:sp>
      <p:sp>
        <p:nvSpPr>
          <p:cNvPr id="921" name="Description of a primary heading-5,0">
            <a:extLst>
              <a:ext uri="{FF2B5EF4-FFF2-40B4-BE49-F238E27FC236}">
                <a16:creationId xmlns:a16="http://schemas.microsoft.com/office/drawing/2014/main" id="{111B4A49-B930-4A89-A1CD-6CA2B3D95AED}"/>
              </a:ext>
            </a:extLst>
          </p:cNvPr>
          <p:cNvSpPr txBox="1"/>
          <p:nvPr/>
        </p:nvSpPr>
        <p:spPr>
          <a:xfrm>
            <a:off x="1264920" y="6430471"/>
            <a:ext cx="12954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2023-2024</a:t>
            </a:r>
          </a:p>
        </p:txBody>
      </p:sp>
      <p:sp>
        <p:nvSpPr>
          <p:cNvPr id="923" name="Description of a primary heading-5,1">
            <a:extLst>
              <a:ext uri="{FF2B5EF4-FFF2-40B4-BE49-F238E27FC236}">
                <a16:creationId xmlns:a16="http://schemas.microsoft.com/office/drawing/2014/main" id="{111B4A49-B930-4A89-A1CD-6CA2B3D95AED}"/>
              </a:ext>
            </a:extLst>
          </p:cNvPr>
          <p:cNvSpPr txBox="1"/>
          <p:nvPr/>
        </p:nvSpPr>
        <p:spPr>
          <a:xfrm>
            <a:off x="3126867" y="6448306"/>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28.70</a:t>
            </a:r>
          </a:p>
        </p:txBody>
      </p:sp>
      <p:sp>
        <p:nvSpPr>
          <p:cNvPr id="927" name="Description of a primary heading-5,3">
            <a:extLst>
              <a:ext uri="{FF2B5EF4-FFF2-40B4-BE49-F238E27FC236}">
                <a16:creationId xmlns:a16="http://schemas.microsoft.com/office/drawing/2014/main" id="{111B4A49-B930-4A89-A1CD-6CA2B3D95AED}"/>
              </a:ext>
            </a:extLst>
          </p:cNvPr>
          <p:cNvSpPr txBox="1"/>
          <p:nvPr/>
        </p:nvSpPr>
        <p:spPr>
          <a:xfrm>
            <a:off x="5232627" y="6448306"/>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2.12</a:t>
            </a:r>
          </a:p>
        </p:txBody>
      </p:sp>
      <p:sp>
        <p:nvSpPr>
          <p:cNvPr id="933" name="Description of a primary heading-5,6">
            <a:extLst>
              <a:ext uri="{FF2B5EF4-FFF2-40B4-BE49-F238E27FC236}">
                <a16:creationId xmlns:a16="http://schemas.microsoft.com/office/drawing/2014/main" id="{111B4A49-B930-4A89-A1CD-6CA2B3D95AED}"/>
              </a:ext>
            </a:extLst>
          </p:cNvPr>
          <p:cNvSpPr txBox="1"/>
          <p:nvPr/>
        </p:nvSpPr>
        <p:spPr>
          <a:xfrm>
            <a:off x="7163282" y="6420597"/>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4.50</a:t>
            </a:r>
          </a:p>
        </p:txBody>
      </p:sp>
      <p:sp>
        <p:nvSpPr>
          <p:cNvPr id="935" name="Description of a primary heading-5,7">
            <a:extLst>
              <a:ext uri="{FF2B5EF4-FFF2-40B4-BE49-F238E27FC236}">
                <a16:creationId xmlns:a16="http://schemas.microsoft.com/office/drawing/2014/main" id="{111B4A49-B930-4A89-A1CD-6CA2B3D95AED}"/>
              </a:ext>
            </a:extLst>
          </p:cNvPr>
          <p:cNvSpPr txBox="1"/>
          <p:nvPr/>
        </p:nvSpPr>
        <p:spPr>
          <a:xfrm>
            <a:off x="9410611" y="6375051"/>
            <a:ext cx="61912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7.2%</a:t>
            </a:r>
          </a:p>
        </p:txBody>
      </p:sp>
      <p:sp>
        <p:nvSpPr>
          <p:cNvPr id="936" name="Click here to edit title-410">
            <a:extLst>
              <a:ext uri="{FF2B5EF4-FFF2-40B4-BE49-F238E27FC236}">
                <a16:creationId xmlns:a16="http://schemas.microsoft.com/office/drawing/2014/main" id="{111B4A49-B930-4A89-A1CD-6CA2B3D95AED}"/>
              </a:ext>
            </a:extLst>
          </p:cNvPr>
          <p:cNvSpPr txBox="1"/>
          <p:nvPr/>
        </p:nvSpPr>
        <p:spPr>
          <a:xfrm>
            <a:off x="1219200" y="9239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Financials / P&amp;L Statement</a:t>
            </a:r>
          </a:p>
        </p:txBody>
      </p:sp>
      <p:sp>
        <p:nvSpPr>
          <p:cNvPr id="937" name="Click here to edit subtitle-430">
            <a:extLst>
              <a:ext uri="{FF2B5EF4-FFF2-40B4-BE49-F238E27FC236}">
                <a16:creationId xmlns:a16="http://schemas.microsoft.com/office/drawing/2014/main" id="{111B4A49-B930-4A89-A1CD-6CA2B3D95AED}"/>
              </a:ext>
            </a:extLst>
          </p:cNvPr>
          <p:cNvSpPr txBox="1"/>
          <p:nvPr/>
        </p:nvSpPr>
        <p:spPr>
          <a:xfrm>
            <a:off x="1219200" y="1808460"/>
            <a:ext cx="1599247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Summary of Financial Performance (Amount in Crores)</a:t>
            </a:r>
          </a:p>
        </p:txBody>
      </p:sp>
      <p:sp>
        <p:nvSpPr>
          <p:cNvPr id="938" name="Click here to edit label-476">
            <a:extLst>
              <a:ext uri="{FF2B5EF4-FFF2-40B4-BE49-F238E27FC236}">
                <a16:creationId xmlns:a16="http://schemas.microsoft.com/office/drawing/2014/main" id="{111B4A49-B930-4A89-A1CD-6CA2B3D95AED}"/>
              </a:ext>
            </a:extLst>
          </p:cNvPr>
          <p:cNvSpPr txBox="1"/>
          <p:nvPr/>
        </p:nvSpPr>
        <p:spPr>
          <a:xfrm>
            <a:off x="1219200" y="571500"/>
            <a:ext cx="159924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FINANCIAL PERFORMANCE OVERVIEW</a:t>
            </a:r>
          </a:p>
        </p:txBody>
      </p:sp>
      <p:pic>
        <p:nvPicPr>
          <p:cNvPr id="93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590550" y="571500"/>
            <a:ext cx="19050" cy="1590675"/>
          </a:xfrm>
          <a:prstGeom prst="rect">
            <a:avLst/>
          </a:prstGeom>
        </p:spPr>
      </p:pic>
      <p:graphicFrame>
        <p:nvGraphicFramePr>
          <p:cNvPr id="5" name="Chart 4">
            <a:extLst>
              <a:ext uri="{FF2B5EF4-FFF2-40B4-BE49-F238E27FC236}">
                <a16:creationId xmlns:a16="http://schemas.microsoft.com/office/drawing/2014/main" id="{16C77A50-F5C7-6AAF-8652-EA1F9A94C11F}"/>
              </a:ext>
            </a:extLst>
          </p:cNvPr>
          <p:cNvGraphicFramePr>
            <a:graphicFrameLocks/>
          </p:cNvGraphicFramePr>
          <p:nvPr>
            <p:extLst>
              <p:ext uri="{D42A27DB-BD31-4B8C-83A1-F6EECF244321}">
                <p14:modId xmlns:p14="http://schemas.microsoft.com/office/powerpoint/2010/main" val="1239668664"/>
              </p:ext>
            </p:extLst>
          </p:nvPr>
        </p:nvGraphicFramePr>
        <p:xfrm>
          <a:off x="11160442" y="4132070"/>
          <a:ext cx="4572000" cy="2743200"/>
        </p:xfrm>
        <a:graphic>
          <a:graphicData uri="http://schemas.openxmlformats.org/drawingml/2006/chart">
            <c:chart xmlns:c="http://schemas.openxmlformats.org/drawingml/2006/chart" xmlns:r="http://schemas.openxmlformats.org/officeDocument/2006/relationships" r:id="rId15"/>
          </a:graphicData>
        </a:graphic>
      </p:graphicFrame>
      <p:graphicFrame>
        <p:nvGraphicFramePr>
          <p:cNvPr id="6" name="Chart 5">
            <a:extLst>
              <a:ext uri="{FF2B5EF4-FFF2-40B4-BE49-F238E27FC236}">
                <a16:creationId xmlns:a16="http://schemas.microsoft.com/office/drawing/2014/main" id="{0B54D120-10DC-C75C-191F-1260AC970C49}"/>
              </a:ext>
            </a:extLst>
          </p:cNvPr>
          <p:cNvGraphicFramePr>
            <a:graphicFrameLocks/>
          </p:cNvGraphicFramePr>
          <p:nvPr>
            <p:extLst>
              <p:ext uri="{D42A27DB-BD31-4B8C-83A1-F6EECF244321}">
                <p14:modId xmlns:p14="http://schemas.microsoft.com/office/powerpoint/2010/main" val="3186547799"/>
              </p:ext>
            </p:extLst>
          </p:nvPr>
        </p:nvGraphicFramePr>
        <p:xfrm>
          <a:off x="11157623" y="1300676"/>
          <a:ext cx="4572000" cy="2743200"/>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7" name="Chart 6">
            <a:extLst>
              <a:ext uri="{FF2B5EF4-FFF2-40B4-BE49-F238E27FC236}">
                <a16:creationId xmlns:a16="http://schemas.microsoft.com/office/drawing/2014/main" id="{EDDD275F-D9F2-B323-4928-69448DDF8668}"/>
              </a:ext>
            </a:extLst>
          </p:cNvPr>
          <p:cNvGraphicFramePr>
            <a:graphicFrameLocks/>
          </p:cNvGraphicFramePr>
          <p:nvPr>
            <p:extLst>
              <p:ext uri="{D42A27DB-BD31-4B8C-83A1-F6EECF244321}">
                <p14:modId xmlns:p14="http://schemas.microsoft.com/office/powerpoint/2010/main" val="3808608044"/>
              </p:ext>
            </p:extLst>
          </p:nvPr>
        </p:nvGraphicFramePr>
        <p:xfrm>
          <a:off x="11158117" y="6922473"/>
          <a:ext cx="4572000" cy="2743200"/>
        </p:xfrm>
        <a:graphic>
          <a:graphicData uri="http://schemas.openxmlformats.org/drawingml/2006/chart">
            <c:chart xmlns:c="http://schemas.openxmlformats.org/drawingml/2006/chart" xmlns:r="http://schemas.openxmlformats.org/officeDocument/2006/relationships" r:id="rId17"/>
          </a:graphicData>
        </a:graphic>
      </p:graphicFrame>
      <p:sp>
        <p:nvSpPr>
          <p:cNvPr id="3" name="Description of a primary heading-5,0">
            <a:extLst>
              <a:ext uri="{FF2B5EF4-FFF2-40B4-BE49-F238E27FC236}">
                <a16:creationId xmlns:a16="http://schemas.microsoft.com/office/drawing/2014/main" id="{CE771B9C-1778-215B-F2B9-AF39EA774CB5}"/>
              </a:ext>
            </a:extLst>
          </p:cNvPr>
          <p:cNvSpPr txBox="1"/>
          <p:nvPr/>
        </p:nvSpPr>
        <p:spPr>
          <a:xfrm>
            <a:off x="1303070" y="7528640"/>
            <a:ext cx="12954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2024-2025</a:t>
            </a:r>
          </a:p>
        </p:txBody>
      </p:sp>
      <p:sp>
        <p:nvSpPr>
          <p:cNvPr id="4" name="Description of a primary heading-5,1">
            <a:extLst>
              <a:ext uri="{FF2B5EF4-FFF2-40B4-BE49-F238E27FC236}">
                <a16:creationId xmlns:a16="http://schemas.microsoft.com/office/drawing/2014/main" id="{A6DDAE67-007E-2EC6-016C-57293DCEF44F}"/>
              </a:ext>
            </a:extLst>
          </p:cNvPr>
          <p:cNvSpPr txBox="1"/>
          <p:nvPr/>
        </p:nvSpPr>
        <p:spPr>
          <a:xfrm>
            <a:off x="3165017" y="7584060"/>
            <a:ext cx="17716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a:t>
            </a:r>
            <a:r>
              <a:rPr lang="en-US" spc="-18" dirty="0">
                <a:solidFill>
                  <a:srgbClr val="D8D6DC">
                    <a:alpha val="100000"/>
                  </a:srgbClr>
                </a:solidFill>
                <a:latin typeface="Montserrat Light" panose="00000700000000000000" pitchFamily="2" charset="0"/>
              </a:rPr>
              <a:t>35</a:t>
            </a:r>
            <a:r>
              <a:rPr lang="en-US" sz="1800" spc="-18" dirty="0">
                <a:solidFill>
                  <a:srgbClr val="D8D6DC">
                    <a:alpha val="100000"/>
                  </a:srgbClr>
                </a:solidFill>
                <a:latin typeface="Montserrat Light" panose="00000700000000000000" pitchFamily="2" charset="0"/>
              </a:rPr>
              <a:t>.</a:t>
            </a:r>
            <a:r>
              <a:rPr lang="en-US" spc="-18" dirty="0">
                <a:solidFill>
                  <a:srgbClr val="D8D6DC">
                    <a:alpha val="100000"/>
                  </a:srgbClr>
                </a:solidFill>
                <a:latin typeface="Montserrat Light" panose="00000700000000000000" pitchFamily="2" charset="0"/>
              </a:rPr>
              <a:t>3</a:t>
            </a:r>
            <a:r>
              <a:rPr lang="en-US" sz="1800" spc="-18" dirty="0">
                <a:solidFill>
                  <a:srgbClr val="D8D6DC">
                    <a:alpha val="100000"/>
                  </a:srgbClr>
                </a:solidFill>
                <a:latin typeface="Montserrat Light" panose="00000700000000000000" pitchFamily="2" charset="0"/>
              </a:rPr>
              <a:t>0</a:t>
            </a:r>
          </a:p>
        </p:txBody>
      </p:sp>
      <p:sp>
        <p:nvSpPr>
          <p:cNvPr id="8" name="Description of a primary heading-5,3">
            <a:extLst>
              <a:ext uri="{FF2B5EF4-FFF2-40B4-BE49-F238E27FC236}">
                <a16:creationId xmlns:a16="http://schemas.microsoft.com/office/drawing/2014/main" id="{F7760804-563F-77F0-40A6-747981A77F5C}"/>
              </a:ext>
            </a:extLst>
          </p:cNvPr>
          <p:cNvSpPr txBox="1"/>
          <p:nvPr/>
        </p:nvSpPr>
        <p:spPr>
          <a:xfrm>
            <a:off x="5270777" y="7611791"/>
            <a:ext cx="16002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2.07</a:t>
            </a:r>
          </a:p>
        </p:txBody>
      </p:sp>
      <p:sp>
        <p:nvSpPr>
          <p:cNvPr id="9" name="Description of a primary heading-5,6">
            <a:extLst>
              <a:ext uri="{FF2B5EF4-FFF2-40B4-BE49-F238E27FC236}">
                <a16:creationId xmlns:a16="http://schemas.microsoft.com/office/drawing/2014/main" id="{2EB4C439-C574-F611-3991-C70A7B40A1A5}"/>
              </a:ext>
            </a:extLst>
          </p:cNvPr>
          <p:cNvSpPr txBox="1"/>
          <p:nvPr/>
        </p:nvSpPr>
        <p:spPr>
          <a:xfrm>
            <a:off x="7201432" y="7625625"/>
            <a:ext cx="16954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8D6DC">
                    <a:alpha val="100000"/>
                  </a:srgbClr>
                </a:solidFill>
                <a:latin typeface="Montserrat Light" panose="00000700000000000000" pitchFamily="2" charset="0"/>
              </a:rPr>
              <a:t>₹ 4.50</a:t>
            </a:r>
          </a:p>
        </p:txBody>
      </p:sp>
      <p:sp>
        <p:nvSpPr>
          <p:cNvPr id="10" name="Description of a primary heading-5,7">
            <a:extLst>
              <a:ext uri="{FF2B5EF4-FFF2-40B4-BE49-F238E27FC236}">
                <a16:creationId xmlns:a16="http://schemas.microsoft.com/office/drawing/2014/main" id="{8FE83D88-C8DD-4FBB-D2D6-2D1120575619}"/>
              </a:ext>
            </a:extLst>
          </p:cNvPr>
          <p:cNvSpPr txBox="1"/>
          <p:nvPr/>
        </p:nvSpPr>
        <p:spPr>
          <a:xfrm>
            <a:off x="9448761" y="7625625"/>
            <a:ext cx="619125"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D8D6DC">
                    <a:alpha val="100000"/>
                  </a:srgbClr>
                </a:solidFill>
                <a:latin typeface="Montserrat Light" panose="00000700000000000000" pitchFamily="2" charset="0"/>
              </a:rPr>
              <a:t>5.2</a:t>
            </a:r>
            <a:r>
              <a:rPr lang="en-US" sz="1800" spc="-18" dirty="0">
                <a:solidFill>
                  <a:srgbClr val="D8D6DC">
                    <a:alpha val="100000"/>
                  </a:srgbClr>
                </a:solidFill>
                <a:latin typeface="Montserrat Light" panose="00000700000000000000" pitchFamily="2" charset="0"/>
              </a:rPr>
              <a:t>%</a:t>
            </a:r>
          </a:p>
        </p:txBody>
      </p:sp>
    </p:spTree>
    <p:extLst>
      <p:ext uri="{BB962C8B-B14F-4D97-AF65-F5344CB8AC3E}">
        <p14:creationId xmlns:p14="http://schemas.microsoft.com/office/powerpoint/2010/main" val="364804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943" name="b2aa6229-e144-4dcf-afbc-e1e76b1e42d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3">
            <a:alphaModFix/>
          </a:blip>
          <a:stretch/>
        </p:blipFill>
        <p:spPr>
          <a:xfrm>
            <a:off x="0" y="0"/>
            <a:ext cx="18288000" cy="10287000"/>
          </a:xfrm>
          <a:prstGeom prst="rect">
            <a:avLst/>
          </a:prstGeom>
        </p:spPr>
      </p:pic>
      <p:pic>
        <p:nvPicPr>
          <p:cNvPr id="94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mt="70000"/>
          </a:blip>
          <a:stretch/>
        </p:blipFill>
        <p:spPr>
          <a:xfrm>
            <a:off x="0" y="0"/>
            <a:ext cx="18288000" cy="10287000"/>
          </a:xfrm>
          <a:prstGeom prst="rect">
            <a:avLst/>
          </a:prstGeom>
        </p:spPr>
      </p:pic>
      <p:sp>
        <p:nvSpPr>
          <p:cNvPr id="945" name="Click here to edit title-423">
            <a:extLst>
              <a:ext uri="{FF2B5EF4-FFF2-40B4-BE49-F238E27FC236}">
                <a16:creationId xmlns:a16="http://schemas.microsoft.com/office/drawing/2014/main" id="{111B4A49-B930-4A89-A1CD-6CA2B3D95AED}"/>
              </a:ext>
            </a:extLst>
          </p:cNvPr>
          <p:cNvSpPr txBox="1"/>
          <p:nvPr/>
        </p:nvSpPr>
        <p:spPr>
          <a:xfrm>
            <a:off x="609600" y="914400"/>
            <a:ext cx="172116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Use of Funds</a:t>
            </a:r>
          </a:p>
        </p:txBody>
      </p:sp>
      <p:sp>
        <p:nvSpPr>
          <p:cNvPr id="946" name="Click here to edit subtitle-407">
            <a:extLst>
              <a:ext uri="{FF2B5EF4-FFF2-40B4-BE49-F238E27FC236}">
                <a16:creationId xmlns:a16="http://schemas.microsoft.com/office/drawing/2014/main" id="{111B4A49-B930-4A89-A1CD-6CA2B3D95AED}"/>
              </a:ext>
            </a:extLst>
          </p:cNvPr>
          <p:cNvSpPr txBox="1"/>
          <p:nvPr/>
        </p:nvSpPr>
        <p:spPr>
          <a:xfrm>
            <a:off x="609600" y="2037060"/>
            <a:ext cx="17211675" cy="345479"/>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Deployment of the ₹23.75 Cr promoter loan into growth capex &amp; working capital</a:t>
            </a:r>
          </a:p>
        </p:txBody>
      </p:sp>
      <p:sp>
        <p:nvSpPr>
          <p:cNvPr id="947" name="Click here to edit label-479">
            <a:extLst>
              <a:ext uri="{FF2B5EF4-FFF2-40B4-BE49-F238E27FC236}">
                <a16:creationId xmlns:a16="http://schemas.microsoft.com/office/drawing/2014/main" id="{111B4A49-B930-4A89-A1CD-6CA2B3D95AED}"/>
              </a:ext>
            </a:extLst>
          </p:cNvPr>
          <p:cNvSpPr txBox="1"/>
          <p:nvPr/>
        </p:nvSpPr>
        <p:spPr>
          <a:xfrm>
            <a:off x="609600" y="571500"/>
            <a:ext cx="17211675" cy="295275"/>
          </a:xfrm>
          <a:prstGeom prst="rect">
            <a:avLst/>
          </a:prstGeom>
          <a:noFill/>
        </p:spPr>
        <p:txBody>
          <a:bodyPr vertOverflow="clip" horzOverflow="clip" wrap="square" lIns="0" tIns="0" rIns="0" bIns="0" rtlCol="0" anchor="ctr">
            <a:spAutoFit/>
          </a:bodyPr>
          <a:lstStyle/>
          <a:p>
            <a:pPr algn="l">
              <a:lnSpc>
                <a:spcPts val="2196"/>
              </a:lnSpc>
            </a:pPr>
            <a:r>
              <a:rPr lang="en-US" sz="1800" spc="990" dirty="0">
                <a:solidFill>
                  <a:srgbClr val="FFFFFF">
                    <a:alpha val="100000"/>
                  </a:srgbClr>
                </a:solidFill>
                <a:latin typeface="Montserrat" panose="00000700000000000000" pitchFamily="2" charset="0"/>
              </a:rPr>
              <a:t>USE OF FUNDS  —  TOTAL ₹23.75 CRORES</a:t>
            </a:r>
          </a:p>
        </p:txBody>
      </p:sp>
      <p:pic>
        <p:nvPicPr>
          <p:cNvPr id="94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09600" y="3162300"/>
            <a:ext cx="8439150" cy="3181350"/>
          </a:xfrm>
          <a:prstGeom prst="rect">
            <a:avLst/>
          </a:prstGeom>
          <a:effectLst>
            <a:outerShdw blurRad="285750" dir="2700000" algn="ctr" rotWithShape="0">
              <a:srgbClr val="000000">
                <a:alpha val="40000"/>
              </a:srgbClr>
            </a:outerShdw>
          </a:effectLst>
        </p:spPr>
      </p:pic>
      <p:pic>
        <p:nvPicPr>
          <p:cNvPr id="94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09600" y="3162300"/>
            <a:ext cx="8439150" cy="762000"/>
          </a:xfrm>
          <a:prstGeom prst="rect">
            <a:avLst/>
          </a:prstGeom>
        </p:spPr>
      </p:pic>
      <p:sp>
        <p:nvSpPr>
          <p:cNvPr id="950" name="Primary Heading-0">
            <a:extLst>
              <a:ext uri="{FF2B5EF4-FFF2-40B4-BE49-F238E27FC236}">
                <a16:creationId xmlns:a16="http://schemas.microsoft.com/office/drawing/2014/main" id="{111B4A49-B930-4A89-A1CD-6CA2B3D95AED}"/>
              </a:ext>
            </a:extLst>
          </p:cNvPr>
          <p:cNvSpPr txBox="1"/>
          <p:nvPr/>
        </p:nvSpPr>
        <p:spPr>
          <a:xfrm>
            <a:off x="914400" y="333241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Factory Land &amp; Building in </a:t>
            </a:r>
            <a:r>
              <a:rPr lang="en-US" sz="2100" b="1" spc="-32" dirty="0" err="1">
                <a:solidFill>
                  <a:srgbClr val="15092E">
                    <a:alpha val="100000"/>
                  </a:srgbClr>
                </a:solidFill>
                <a:latin typeface="Montserrat" panose="00000700000000000000" pitchFamily="2" charset="0"/>
              </a:rPr>
              <a:t>Ambernath</a:t>
            </a:r>
            <a:r>
              <a:rPr lang="en-US" sz="2100" b="1" spc="-32" dirty="0">
                <a:solidFill>
                  <a:srgbClr val="15092E">
                    <a:alpha val="100000"/>
                  </a:srgbClr>
                </a:solidFill>
                <a:latin typeface="Montserrat" panose="00000700000000000000" pitchFamily="2" charset="0"/>
              </a:rPr>
              <a:t> (8.9 Crores)</a:t>
            </a:r>
          </a:p>
        </p:txBody>
      </p:sp>
      <p:pic>
        <p:nvPicPr>
          <p:cNvPr id="9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895350" y="4343400"/>
            <a:ext cx="1504950" cy="1504950"/>
          </a:xfrm>
          <a:prstGeom prst="rect">
            <a:avLst/>
          </a:prstGeom>
        </p:spPr>
      </p:pic>
      <p:pic>
        <p:nvPicPr>
          <p:cNvPr id="95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914400" y="4362450"/>
            <a:ext cx="1466850" cy="1466850"/>
          </a:xfrm>
          <a:prstGeom prst="rect">
            <a:avLst/>
          </a:prstGeom>
        </p:spPr>
      </p:pic>
      <p:pic>
        <p:nvPicPr>
          <p:cNvPr id="953" name="imageNode3d9aca69-cecb-4ae0-8934-b0370c131bc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9">
            <a:alphaModFix/>
          </a:blip>
          <a:srcRect/>
          <a:stretch/>
        </p:blipFill>
        <p:spPr>
          <a:xfrm>
            <a:off x="1066800" y="4514850"/>
            <a:ext cx="1162050" cy="1162050"/>
          </a:xfrm>
          <a:prstGeom prst="rect">
            <a:avLst/>
          </a:prstGeom>
        </p:spPr>
      </p:pic>
      <p:sp>
        <p:nvSpPr>
          <p:cNvPr id="954" name="Description of a primary heading-0">
            <a:extLst>
              <a:ext uri="{FF2B5EF4-FFF2-40B4-BE49-F238E27FC236}">
                <a16:creationId xmlns:a16="http://schemas.microsoft.com/office/drawing/2014/main" id="{111B4A49-B930-4A89-A1CD-6CA2B3D95AED}"/>
              </a:ext>
            </a:extLst>
          </p:cNvPr>
          <p:cNvSpPr txBox="1"/>
          <p:nvPr/>
        </p:nvSpPr>
        <p:spPr>
          <a:xfrm>
            <a:off x="2691764" y="4508768"/>
            <a:ext cx="5288453" cy="1254511"/>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FFFFFF">
                    <a:alpha val="100000"/>
                  </a:srgbClr>
                </a:solidFill>
                <a:latin typeface="Montserrat Light" panose="00000700000000000000" pitchFamily="2" charset="0"/>
              </a:rPr>
              <a:t>Construction + Debt Reduction</a:t>
            </a:r>
          </a:p>
          <a:p>
            <a:pPr algn="l">
              <a:lnSpc>
                <a:spcPts val="2475"/>
              </a:lnSpc>
            </a:pPr>
            <a:endParaRPr lang="en-US" sz="1650" spc="-15" dirty="0">
              <a:solidFill>
                <a:srgbClr val="FFFFFF">
                  <a:alpha val="100000"/>
                </a:srgbClr>
              </a:solidFill>
              <a:latin typeface="Montserrat Light" panose="00000700000000000000" pitchFamily="2" charset="0"/>
            </a:endParaRPr>
          </a:p>
          <a:p>
            <a:pPr algn="l">
              <a:lnSpc>
                <a:spcPts val="2475"/>
              </a:lnSpc>
            </a:pPr>
            <a:r>
              <a:rPr lang="en-US" sz="1650" spc="-15" dirty="0">
                <a:solidFill>
                  <a:srgbClr val="FFFFFF">
                    <a:alpha val="100000"/>
                  </a:srgbClr>
                </a:solidFill>
                <a:latin typeface="Montserrat Light" panose="00000700000000000000" pitchFamily="2" charset="0"/>
              </a:rPr>
              <a:t>* Potential impact on bottom-line – 2 Crores / Year.</a:t>
            </a:r>
          </a:p>
          <a:p>
            <a:pPr algn="l">
              <a:lnSpc>
                <a:spcPts val="2475"/>
              </a:lnSpc>
            </a:pPr>
            <a:endParaRPr lang="en-US" sz="1650" spc="-15" dirty="0">
              <a:solidFill>
                <a:srgbClr val="FFFFFF">
                  <a:alpha val="100000"/>
                </a:srgbClr>
              </a:solidFill>
              <a:latin typeface="Montserrat Light" panose="00000700000000000000" pitchFamily="2" charset="0"/>
            </a:endParaRPr>
          </a:p>
        </p:txBody>
      </p:sp>
      <p:pic>
        <p:nvPicPr>
          <p:cNvPr id="95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9239250" y="3162300"/>
            <a:ext cx="8439150" cy="3181350"/>
          </a:xfrm>
          <a:prstGeom prst="rect">
            <a:avLst/>
          </a:prstGeom>
          <a:effectLst>
            <a:outerShdw blurRad="285750" dir="2700000" algn="ctr" rotWithShape="0">
              <a:srgbClr val="000000">
                <a:alpha val="40000"/>
              </a:srgbClr>
            </a:outerShdw>
          </a:effectLst>
        </p:spPr>
      </p:pic>
      <p:pic>
        <p:nvPicPr>
          <p:cNvPr id="9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9239250" y="3162300"/>
            <a:ext cx="8439150" cy="762000"/>
          </a:xfrm>
          <a:prstGeom prst="rect">
            <a:avLst/>
          </a:prstGeom>
        </p:spPr>
      </p:pic>
      <p:sp>
        <p:nvSpPr>
          <p:cNvPr id="957" name="Primary Heading-1">
            <a:extLst>
              <a:ext uri="{FF2B5EF4-FFF2-40B4-BE49-F238E27FC236}">
                <a16:creationId xmlns:a16="http://schemas.microsoft.com/office/drawing/2014/main" id="{111B4A49-B930-4A89-A1CD-6CA2B3D95AED}"/>
              </a:ext>
            </a:extLst>
          </p:cNvPr>
          <p:cNvSpPr txBox="1"/>
          <p:nvPr/>
        </p:nvSpPr>
        <p:spPr>
          <a:xfrm>
            <a:off x="9544050" y="333241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Investment in Machinery (7.8 Crores)</a:t>
            </a:r>
          </a:p>
        </p:txBody>
      </p:sp>
      <p:pic>
        <p:nvPicPr>
          <p:cNvPr id="9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9525000" y="4343400"/>
            <a:ext cx="1504950" cy="1504950"/>
          </a:xfrm>
          <a:prstGeom prst="rect">
            <a:avLst/>
          </a:prstGeom>
        </p:spPr>
      </p:pic>
      <p:pic>
        <p:nvPicPr>
          <p:cNvPr id="95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9544050" y="4362450"/>
            <a:ext cx="1466850" cy="1466850"/>
          </a:xfrm>
          <a:prstGeom prst="rect">
            <a:avLst/>
          </a:prstGeom>
        </p:spPr>
      </p:pic>
      <p:pic>
        <p:nvPicPr>
          <p:cNvPr id="960" name="imageNode68eca17f-e072-44a9-a66d-5db161c8b18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3">
            <a:alphaModFix/>
          </a:blip>
          <a:srcRect/>
          <a:stretch/>
        </p:blipFill>
        <p:spPr>
          <a:xfrm>
            <a:off x="9696450" y="4514850"/>
            <a:ext cx="1162050" cy="1162050"/>
          </a:xfrm>
          <a:prstGeom prst="rect">
            <a:avLst/>
          </a:prstGeom>
        </p:spPr>
      </p:pic>
      <p:sp>
        <p:nvSpPr>
          <p:cNvPr id="961" name="Description of a primary heading-1">
            <a:extLst>
              <a:ext uri="{FF2B5EF4-FFF2-40B4-BE49-F238E27FC236}">
                <a16:creationId xmlns:a16="http://schemas.microsoft.com/office/drawing/2014/main" id="{111B4A49-B930-4A89-A1CD-6CA2B3D95AED}"/>
              </a:ext>
            </a:extLst>
          </p:cNvPr>
          <p:cNvSpPr txBox="1"/>
          <p:nvPr/>
        </p:nvSpPr>
        <p:spPr>
          <a:xfrm>
            <a:off x="11321415" y="4150401"/>
            <a:ext cx="6124575" cy="1895712"/>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F2F1F3">
                    <a:alpha val="100000"/>
                  </a:srgbClr>
                </a:solidFill>
                <a:latin typeface="Montserrat Light" panose="00000700000000000000" pitchFamily="2" charset="0"/>
              </a:rPr>
              <a:t>Procure key equipment: Material Handling Cranes/Forklifts (INR 0.5 Crores), Amada Make Turret Punching Machine (INR 2.3 Crores), DMG-Mori Make 5 Axis VMC (1.5 Crores), Powder Coating Plant (1 Crore), Shot Blasting &amp; Hard Chrome Plating Plant (1 Crore), Tool Room Machines (1.5 Crores)</a:t>
            </a:r>
          </a:p>
        </p:txBody>
      </p:sp>
      <p:pic>
        <p:nvPicPr>
          <p:cNvPr id="9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609600" y="6534150"/>
            <a:ext cx="8439150" cy="3181350"/>
          </a:xfrm>
          <a:prstGeom prst="rect">
            <a:avLst/>
          </a:prstGeom>
          <a:effectLst>
            <a:outerShdw blurRad="285750" dir="2700000" algn="ctr" rotWithShape="0">
              <a:srgbClr val="000000">
                <a:alpha val="40000"/>
              </a:srgbClr>
            </a:outerShdw>
          </a:effectLst>
        </p:spPr>
      </p:pic>
      <p:pic>
        <p:nvPicPr>
          <p:cNvPr id="96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609600" y="6534150"/>
            <a:ext cx="8439150" cy="762000"/>
          </a:xfrm>
          <a:prstGeom prst="rect">
            <a:avLst/>
          </a:prstGeom>
        </p:spPr>
      </p:pic>
      <p:sp>
        <p:nvSpPr>
          <p:cNvPr id="964" name="Primary Heading-2">
            <a:extLst>
              <a:ext uri="{FF2B5EF4-FFF2-40B4-BE49-F238E27FC236}">
                <a16:creationId xmlns:a16="http://schemas.microsoft.com/office/drawing/2014/main" id="{111B4A49-B930-4A89-A1CD-6CA2B3D95AED}"/>
              </a:ext>
            </a:extLst>
          </p:cNvPr>
          <p:cNvSpPr txBox="1"/>
          <p:nvPr/>
        </p:nvSpPr>
        <p:spPr>
          <a:xfrm>
            <a:off x="914400" y="670426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Inventory &amp; Certifications (5.55 Crores)</a:t>
            </a:r>
          </a:p>
        </p:txBody>
      </p:sp>
      <p:pic>
        <p:nvPicPr>
          <p:cNvPr id="96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895350" y="7715250"/>
            <a:ext cx="1504950" cy="1504950"/>
          </a:xfrm>
          <a:prstGeom prst="rect">
            <a:avLst/>
          </a:prstGeom>
        </p:spPr>
      </p:pic>
      <p:pic>
        <p:nvPicPr>
          <p:cNvPr id="9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7">
            <a:alphaModFix/>
          </a:blip>
          <a:stretch/>
        </p:blipFill>
        <p:spPr>
          <a:xfrm>
            <a:off x="914400" y="7734300"/>
            <a:ext cx="1466850" cy="1466850"/>
          </a:xfrm>
          <a:prstGeom prst="rect">
            <a:avLst/>
          </a:prstGeom>
        </p:spPr>
      </p:pic>
      <p:pic>
        <p:nvPicPr>
          <p:cNvPr id="967" name="imageNode3ca5edfe-7474-4530-9c5e-a7871053972a">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18">
            <a:alphaModFix/>
          </a:blip>
          <a:srcRect/>
          <a:stretch/>
        </p:blipFill>
        <p:spPr>
          <a:xfrm>
            <a:off x="1066800" y="7886700"/>
            <a:ext cx="1162050" cy="1162050"/>
          </a:xfrm>
          <a:prstGeom prst="rect">
            <a:avLst/>
          </a:prstGeom>
        </p:spPr>
      </p:pic>
      <p:sp>
        <p:nvSpPr>
          <p:cNvPr id="968" name="Description of a primary heading-2">
            <a:extLst>
              <a:ext uri="{FF2B5EF4-FFF2-40B4-BE49-F238E27FC236}">
                <a16:creationId xmlns:a16="http://schemas.microsoft.com/office/drawing/2014/main" id="{111B4A49-B930-4A89-A1CD-6CA2B3D95AED}"/>
              </a:ext>
            </a:extLst>
          </p:cNvPr>
          <p:cNvSpPr txBox="1"/>
          <p:nvPr/>
        </p:nvSpPr>
        <p:spPr>
          <a:xfrm>
            <a:off x="2691765" y="8163452"/>
            <a:ext cx="6124575" cy="613309"/>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EBEAED">
                    <a:alpha val="100000"/>
                  </a:srgbClr>
                </a:solidFill>
                <a:latin typeface="Montserrat Light" panose="00000700000000000000" pitchFamily="2" charset="0"/>
              </a:rPr>
              <a:t>Allocate funds for Inventory (INR 5 Crores) and Certifications (INR 0.55 Crores)</a:t>
            </a:r>
          </a:p>
        </p:txBody>
      </p:sp>
      <p:pic>
        <p:nvPicPr>
          <p:cNvPr id="9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9239250" y="6534150"/>
            <a:ext cx="8439150" cy="3181350"/>
          </a:xfrm>
          <a:prstGeom prst="rect">
            <a:avLst/>
          </a:prstGeom>
          <a:effectLst>
            <a:outerShdw blurRad="285750" dir="2700000" algn="ctr" rotWithShape="0">
              <a:srgbClr val="000000">
                <a:alpha val="40000"/>
              </a:srgbClr>
            </a:outerShdw>
          </a:effectLst>
        </p:spPr>
      </p:pic>
      <p:pic>
        <p:nvPicPr>
          <p:cNvPr id="9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9239250" y="6534150"/>
            <a:ext cx="8439150" cy="762000"/>
          </a:xfrm>
          <a:prstGeom prst="rect">
            <a:avLst/>
          </a:prstGeom>
        </p:spPr>
      </p:pic>
      <p:sp>
        <p:nvSpPr>
          <p:cNvPr id="971" name="Primary Heading-3">
            <a:extLst>
              <a:ext uri="{FF2B5EF4-FFF2-40B4-BE49-F238E27FC236}">
                <a16:creationId xmlns:a16="http://schemas.microsoft.com/office/drawing/2014/main" id="{111B4A49-B930-4A89-A1CD-6CA2B3D95AED}"/>
              </a:ext>
            </a:extLst>
          </p:cNvPr>
          <p:cNvSpPr txBox="1"/>
          <p:nvPr/>
        </p:nvSpPr>
        <p:spPr>
          <a:xfrm>
            <a:off x="9544050" y="6704264"/>
            <a:ext cx="79724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Branding &amp; Promotions (1.5 Crores)</a:t>
            </a:r>
          </a:p>
        </p:txBody>
      </p:sp>
      <p:pic>
        <p:nvPicPr>
          <p:cNvPr id="9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0">
            <a:alphaModFix/>
          </a:blip>
          <a:stretch/>
        </p:blipFill>
        <p:spPr>
          <a:xfrm>
            <a:off x="9525000" y="7715250"/>
            <a:ext cx="1504950" cy="1504950"/>
          </a:xfrm>
          <a:prstGeom prst="rect">
            <a:avLst/>
          </a:prstGeom>
        </p:spPr>
      </p:pic>
      <p:pic>
        <p:nvPicPr>
          <p:cNvPr id="97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1">
            <a:alphaModFix/>
          </a:blip>
          <a:stretch/>
        </p:blipFill>
        <p:spPr>
          <a:xfrm>
            <a:off x="9544050" y="7734300"/>
            <a:ext cx="1466850" cy="1466850"/>
          </a:xfrm>
          <a:prstGeom prst="rect">
            <a:avLst/>
          </a:prstGeom>
        </p:spPr>
      </p:pic>
      <p:pic>
        <p:nvPicPr>
          <p:cNvPr id="974" name="imageNodeb546b43e-0314-40ed-9e38-24268c94664b">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22">
            <a:alphaModFix/>
          </a:blip>
          <a:srcRect/>
          <a:stretch/>
        </p:blipFill>
        <p:spPr>
          <a:xfrm>
            <a:off x="9696450" y="7886700"/>
            <a:ext cx="1162050" cy="1162050"/>
          </a:xfrm>
          <a:prstGeom prst="rect">
            <a:avLst/>
          </a:prstGeom>
        </p:spPr>
      </p:pic>
      <p:sp>
        <p:nvSpPr>
          <p:cNvPr id="975" name="Description of a primary heading-3">
            <a:extLst>
              <a:ext uri="{FF2B5EF4-FFF2-40B4-BE49-F238E27FC236}">
                <a16:creationId xmlns:a16="http://schemas.microsoft.com/office/drawing/2014/main" id="{111B4A49-B930-4A89-A1CD-6CA2B3D95AED}"/>
              </a:ext>
            </a:extLst>
          </p:cNvPr>
          <p:cNvSpPr txBox="1"/>
          <p:nvPr/>
        </p:nvSpPr>
        <p:spPr>
          <a:xfrm>
            <a:off x="11321415" y="8163452"/>
            <a:ext cx="6124575" cy="613309"/>
          </a:xfrm>
          <a:prstGeom prst="rect">
            <a:avLst/>
          </a:prstGeom>
          <a:noFill/>
        </p:spPr>
        <p:txBody>
          <a:bodyPr vertOverflow="clip" horzOverflow="clip" wrap="square" lIns="0" tIns="0" rIns="0" bIns="0" rtlCol="0" anchor="ctr">
            <a:spAutoFit/>
          </a:bodyPr>
          <a:lstStyle/>
          <a:p>
            <a:pPr algn="l">
              <a:lnSpc>
                <a:spcPts val="2475"/>
              </a:lnSpc>
            </a:pPr>
            <a:r>
              <a:rPr lang="en-US" sz="1650" spc="-15" dirty="0">
                <a:solidFill>
                  <a:srgbClr val="E5E3E7">
                    <a:alpha val="100000"/>
                  </a:srgbClr>
                </a:solidFill>
                <a:latin typeface="Montserrat Light" panose="00000700000000000000" pitchFamily="2" charset="0"/>
              </a:rPr>
              <a:t>Invest INR 1.5 Crores for branding and promotional activities in the first year</a:t>
            </a:r>
          </a:p>
        </p:txBody>
      </p:sp>
    </p:spTree>
    <p:extLst>
      <p:ext uri="{BB962C8B-B14F-4D97-AF65-F5344CB8AC3E}">
        <p14:creationId xmlns:p14="http://schemas.microsoft.com/office/powerpoint/2010/main" val="36480479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979"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980" name="Picture 979">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24458D32-3AAB-4B4D-BEF6-77F4AB19538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09600" y="3467100"/>
            <a:ext cx="2476500" cy="2476500"/>
          </a:xfrm>
          <a:prstGeom prst="rect">
            <a:avLst/>
          </a:prstGeom>
        </p:spPr>
      </p:pic>
      <p:sp>
        <p:nvSpPr>
          <p:cNvPr id="981" name="-0">
            <a:extLst>
              <a:ext uri="{FF2B5EF4-FFF2-40B4-BE49-F238E27FC236}">
                <a16:creationId xmlns:a16="http://schemas.microsoft.com/office/drawing/2014/main" id="{111B4A49-B930-4A89-A1CD-6CA2B3D95AED}"/>
              </a:ext>
            </a:extLst>
          </p:cNvPr>
          <p:cNvSpPr txBox="1"/>
          <p:nvPr/>
        </p:nvSpPr>
        <p:spPr>
          <a:xfrm>
            <a:off x="1206722" y="4335011"/>
            <a:ext cx="1428750"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52%</a:t>
            </a:r>
          </a:p>
        </p:txBody>
      </p:sp>
      <p:sp>
        <p:nvSpPr>
          <p:cNvPr id="982" name="Primary Heading-0">
            <a:extLst>
              <a:ext uri="{FF2B5EF4-FFF2-40B4-BE49-F238E27FC236}">
                <a16:creationId xmlns:a16="http://schemas.microsoft.com/office/drawing/2014/main" id="{111B4A49-B930-4A89-A1CD-6CA2B3D95AED}"/>
              </a:ext>
            </a:extLst>
          </p:cNvPr>
          <p:cNvSpPr txBox="1"/>
          <p:nvPr/>
        </p:nvSpPr>
        <p:spPr>
          <a:xfrm>
            <a:off x="609600"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Revenue Growth</a:t>
            </a:r>
          </a:p>
        </p:txBody>
      </p:sp>
      <p:sp>
        <p:nvSpPr>
          <p:cNvPr id="983" name="Description of a primary heading-0">
            <a:extLst>
              <a:ext uri="{FF2B5EF4-FFF2-40B4-BE49-F238E27FC236}">
                <a16:creationId xmlns:a16="http://schemas.microsoft.com/office/drawing/2014/main" id="{111B4A49-B930-4A89-A1CD-6CA2B3D95AED}"/>
              </a:ext>
            </a:extLst>
          </p:cNvPr>
          <p:cNvSpPr txBox="1"/>
          <p:nvPr/>
        </p:nvSpPr>
        <p:spPr>
          <a:xfrm>
            <a:off x="542925" y="7271831"/>
            <a:ext cx="52006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Strong Revenue Growth of ~52% Y-O-Y for past 3 Years</a:t>
            </a:r>
            <a:endParaRPr lang="en-US" sz="1800" spc="-18" dirty="0">
              <a:solidFill>
                <a:srgbClr val="FFFFFF">
                  <a:alpha val="100000"/>
                </a:srgbClr>
              </a:solidFill>
              <a:latin typeface="Montserrat Light" panose="00000700000000000000" pitchFamily="2" charset="0"/>
            </a:endParaRPr>
          </a:p>
        </p:txBody>
      </p:sp>
      <p:pic>
        <p:nvPicPr>
          <p:cNvPr id="9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34100" y="3467100"/>
            <a:ext cx="9525" cy="4648200"/>
          </a:xfrm>
          <a:prstGeom prst="rect">
            <a:avLst/>
          </a:prstGeom>
        </p:spPr>
      </p:pic>
      <p:pic>
        <p:nvPicPr>
          <p:cNvPr id="985" name="Picture 984">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extLst>
              <a:ext uri="{9E2A1A47-1ED5-415B-A077-E0EBDD4E39D4}">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619875" y="3467100"/>
            <a:ext cx="2476500" cy="2476500"/>
          </a:xfrm>
          <a:prstGeom prst="rect">
            <a:avLst/>
          </a:prstGeom>
        </p:spPr>
      </p:pic>
      <p:sp>
        <p:nvSpPr>
          <p:cNvPr id="986" name="-1">
            <a:extLst>
              <a:ext uri="{FF2B5EF4-FFF2-40B4-BE49-F238E27FC236}">
                <a16:creationId xmlns:a16="http://schemas.microsoft.com/office/drawing/2014/main" id="{111B4A49-B930-4A89-A1CD-6CA2B3D95AED}"/>
              </a:ext>
            </a:extLst>
          </p:cNvPr>
          <p:cNvSpPr txBox="1"/>
          <p:nvPr/>
        </p:nvSpPr>
        <p:spPr>
          <a:xfrm>
            <a:off x="6957179" y="4335011"/>
            <a:ext cx="1760792"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100%</a:t>
            </a:r>
          </a:p>
        </p:txBody>
      </p:sp>
      <p:sp>
        <p:nvSpPr>
          <p:cNvPr id="987" name="Primary Heading-1">
            <a:extLst>
              <a:ext uri="{FF2B5EF4-FFF2-40B4-BE49-F238E27FC236}">
                <a16:creationId xmlns:a16="http://schemas.microsoft.com/office/drawing/2014/main" id="{111B4A49-B930-4A89-A1CD-6CA2B3D95AED}"/>
              </a:ext>
            </a:extLst>
          </p:cNvPr>
          <p:cNvSpPr txBox="1"/>
          <p:nvPr/>
        </p:nvSpPr>
        <p:spPr>
          <a:xfrm>
            <a:off x="6616636"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Profit Growth</a:t>
            </a:r>
          </a:p>
        </p:txBody>
      </p:sp>
      <p:sp>
        <p:nvSpPr>
          <p:cNvPr id="988" name="Description of a primary heading-1">
            <a:extLst>
              <a:ext uri="{FF2B5EF4-FFF2-40B4-BE49-F238E27FC236}">
                <a16:creationId xmlns:a16="http://schemas.microsoft.com/office/drawing/2014/main" id="{111B4A49-B930-4A89-A1CD-6CA2B3D95AED}"/>
              </a:ext>
            </a:extLst>
          </p:cNvPr>
          <p:cNvSpPr txBox="1"/>
          <p:nvPr/>
        </p:nvSpPr>
        <p:spPr>
          <a:xfrm>
            <a:off x="6549962" y="7273505"/>
            <a:ext cx="5200650" cy="316753"/>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100% plus growth in past 2 years</a:t>
            </a:r>
          </a:p>
        </p:txBody>
      </p:sp>
      <p:pic>
        <p:nvPicPr>
          <p:cNvPr id="98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2144375" y="3467100"/>
            <a:ext cx="9525" cy="4648200"/>
          </a:xfrm>
          <a:prstGeom prst="rect">
            <a:avLst/>
          </a:prstGeom>
        </p:spPr>
      </p:pic>
      <p:pic>
        <p:nvPicPr>
          <p:cNvPr id="990" name="Picture 989">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extLst>
              <a:ext uri="{E8332892-4178-490E-9ABC-550E5E51689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12620625" y="3467100"/>
            <a:ext cx="2476500" cy="2476500"/>
          </a:xfrm>
          <a:prstGeom prst="rect">
            <a:avLst/>
          </a:prstGeom>
        </p:spPr>
      </p:pic>
      <p:sp>
        <p:nvSpPr>
          <p:cNvPr id="991" name="-2">
            <a:extLst>
              <a:ext uri="{FF2B5EF4-FFF2-40B4-BE49-F238E27FC236}">
                <a16:creationId xmlns:a16="http://schemas.microsoft.com/office/drawing/2014/main" id="{111B4A49-B930-4A89-A1CD-6CA2B3D95AED}"/>
              </a:ext>
            </a:extLst>
          </p:cNvPr>
          <p:cNvSpPr txBox="1"/>
          <p:nvPr/>
        </p:nvSpPr>
        <p:spPr>
          <a:xfrm>
            <a:off x="13236892" y="4335011"/>
            <a:ext cx="1390650" cy="750205"/>
          </a:xfrm>
          <a:prstGeom prst="rect">
            <a:avLst/>
          </a:prstGeom>
          <a:noFill/>
        </p:spPr>
        <p:txBody>
          <a:bodyPr vertOverflow="clip" horzOverflow="clip" wrap="square" lIns="0" tIns="0" rIns="0" bIns="0" rtlCol="0" anchor="ctr">
            <a:spAutoFit/>
          </a:bodyPr>
          <a:lstStyle/>
          <a:p>
            <a:pPr algn="ctr"/>
            <a:r>
              <a:rPr lang="en-US" sz="4875" b="1" dirty="0">
                <a:solidFill>
                  <a:srgbClr val="FFFFFF">
                    <a:alpha val="100000"/>
                  </a:srgbClr>
                </a:solidFill>
                <a:latin typeface="Montserrat" panose="00000700000000000000" pitchFamily="2" charset="0"/>
              </a:rPr>
              <a:t>78%</a:t>
            </a:r>
          </a:p>
        </p:txBody>
      </p:sp>
      <p:sp>
        <p:nvSpPr>
          <p:cNvPr id="992" name="Primary Heading-2">
            <a:extLst>
              <a:ext uri="{FF2B5EF4-FFF2-40B4-BE49-F238E27FC236}">
                <a16:creationId xmlns:a16="http://schemas.microsoft.com/office/drawing/2014/main" id="{111B4A49-B930-4A89-A1CD-6CA2B3D95AED}"/>
              </a:ext>
            </a:extLst>
          </p:cNvPr>
          <p:cNvSpPr txBox="1"/>
          <p:nvPr/>
        </p:nvSpPr>
        <p:spPr>
          <a:xfrm>
            <a:off x="12623768" y="6570914"/>
            <a:ext cx="52006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EBITDA Growth</a:t>
            </a:r>
          </a:p>
        </p:txBody>
      </p:sp>
      <p:sp>
        <p:nvSpPr>
          <p:cNvPr id="993" name="Description of a primary heading-2">
            <a:extLst>
              <a:ext uri="{FF2B5EF4-FFF2-40B4-BE49-F238E27FC236}">
                <a16:creationId xmlns:a16="http://schemas.microsoft.com/office/drawing/2014/main" id="{111B4A49-B930-4A89-A1CD-6CA2B3D95AED}"/>
              </a:ext>
            </a:extLst>
          </p:cNvPr>
          <p:cNvSpPr txBox="1"/>
          <p:nvPr/>
        </p:nvSpPr>
        <p:spPr>
          <a:xfrm>
            <a:off x="12557093" y="7271831"/>
            <a:ext cx="52006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Consistent 78%+ growth in EBITDA Y-o-Y over the past 3 years</a:t>
            </a:r>
            <a:endParaRPr lang="en-US" sz="1800" spc="-18" dirty="0">
              <a:solidFill>
                <a:srgbClr val="EBEAED">
                  <a:alpha val="100000"/>
                </a:srgbClr>
              </a:solidFill>
              <a:latin typeface="Montserrat Light" panose="00000700000000000000" pitchFamily="2" charset="0"/>
            </a:endParaRPr>
          </a:p>
        </p:txBody>
      </p:sp>
      <p:sp>
        <p:nvSpPr>
          <p:cNvPr id="994" name="Click here to edit title-450">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Supporting Evidence 2022-2025</a:t>
            </a:r>
          </a:p>
        </p:txBody>
      </p:sp>
      <p:pic>
        <p:nvPicPr>
          <p:cNvPr id="99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590550" y="733425"/>
            <a:ext cx="19050" cy="666750"/>
          </a:xfrm>
          <a:prstGeom prst="rect">
            <a:avLst/>
          </a:prstGeom>
        </p:spPr>
      </p:pic>
      <p:sp>
        <p:nvSpPr>
          <p:cNvPr id="2" name="TextBox 1">
            <a:extLst>
              <a:ext uri="{FF2B5EF4-FFF2-40B4-BE49-F238E27FC236}">
                <a16:creationId xmlns:a16="http://schemas.microsoft.com/office/drawing/2014/main" id="{520EB2B0-DABB-A945-4A64-27C7A1EA54A6}"/>
              </a:ext>
            </a:extLst>
          </p:cNvPr>
          <p:cNvSpPr txBox="1"/>
          <p:nvPr/>
        </p:nvSpPr>
        <p:spPr>
          <a:xfrm>
            <a:off x="1685837" y="1982844"/>
            <a:ext cx="14916326" cy="1200329"/>
          </a:xfrm>
          <a:prstGeom prst="rect">
            <a:avLst/>
          </a:prstGeom>
          <a:noFill/>
        </p:spPr>
        <p:txBody>
          <a:bodyPr wrap="square" rtlCol="0">
            <a:spAutoFit/>
          </a:bodyPr>
          <a:lstStyle/>
          <a:p>
            <a:r>
              <a:rPr lang="en-IN" sz="2400" dirty="0">
                <a:solidFill>
                  <a:srgbClr val="FF0000"/>
                </a:solidFill>
              </a:rPr>
              <a:t>Financial Years 2024- 2025-2026 was a capex heavy year due to land acquisition and construction along with product developments. We don’t use it for benchmarking as we had already factored in the flat to a negative year in terms of revenue as well as profit margins. This period was utilised for capacity addition and product development.</a:t>
            </a:r>
          </a:p>
        </p:txBody>
      </p:sp>
    </p:spTree>
    <p:extLst>
      <p:ext uri="{BB962C8B-B14F-4D97-AF65-F5344CB8AC3E}">
        <p14:creationId xmlns:p14="http://schemas.microsoft.com/office/powerpoint/2010/main" val="3648047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03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03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09600" y="1866900"/>
            <a:ext cx="5057775" cy="6477000"/>
          </a:xfrm>
          <a:prstGeom prst="rect">
            <a:avLst/>
          </a:prstGeom>
          <a:effectLst>
            <a:outerShdw blurRad="114300" dir="2700000" algn="ctr" rotWithShape="0">
              <a:srgbClr val="000000">
                <a:alpha val="40000"/>
              </a:srgbClr>
            </a:outerShdw>
          </a:effectLst>
        </p:spPr>
      </p:pic>
      <p:sp>
        <p:nvSpPr>
          <p:cNvPr id="1038" name="Name-0">
            <a:extLst>
              <a:ext uri="{FF2B5EF4-FFF2-40B4-BE49-F238E27FC236}">
                <a16:creationId xmlns:a16="http://schemas.microsoft.com/office/drawing/2014/main" id="{111B4A49-B930-4A89-A1CD-6CA2B3D95AED}"/>
              </a:ext>
            </a:extLst>
          </p:cNvPr>
          <p:cNvSpPr txBox="1"/>
          <p:nvPr/>
        </p:nvSpPr>
        <p:spPr>
          <a:xfrm>
            <a:off x="609600" y="8971214"/>
            <a:ext cx="213360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K. Ravishankar</a:t>
            </a:r>
          </a:p>
        </p:txBody>
      </p:sp>
      <p:sp>
        <p:nvSpPr>
          <p:cNvPr id="1039" name="Designation-0">
            <a:extLst>
              <a:ext uri="{FF2B5EF4-FFF2-40B4-BE49-F238E27FC236}">
                <a16:creationId xmlns:a16="http://schemas.microsoft.com/office/drawing/2014/main" id="{111B4A49-B930-4A89-A1CD-6CA2B3D95AED}"/>
              </a:ext>
            </a:extLst>
          </p:cNvPr>
          <p:cNvSpPr txBox="1"/>
          <p:nvPr/>
        </p:nvSpPr>
        <p:spPr>
          <a:xfrm>
            <a:off x="609600" y="9388055"/>
            <a:ext cx="2133600" cy="316753"/>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A7A7A7">
                    <a:alpha val="100000"/>
                  </a:srgbClr>
                </a:solidFill>
                <a:latin typeface="Montserrat Light" panose="00000700000000000000" pitchFamily="2" charset="0"/>
              </a:rPr>
              <a:t>Founder </a:t>
            </a:r>
            <a:r>
              <a:rPr lang="en-US" spc="-18" dirty="0">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pic>
        <p:nvPicPr>
          <p:cNvPr id="104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6134100" y="1866900"/>
            <a:ext cx="9525" cy="7848600"/>
          </a:xfrm>
          <a:prstGeom prst="rect">
            <a:avLst/>
          </a:prstGeom>
        </p:spPr>
      </p:pic>
      <p:pic>
        <p:nvPicPr>
          <p:cNvPr id="104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6619875" y="1866900"/>
            <a:ext cx="5057775" cy="6477000"/>
          </a:xfrm>
          <a:prstGeom prst="rect">
            <a:avLst/>
          </a:prstGeom>
          <a:effectLst>
            <a:outerShdw blurRad="114300" dir="2700000" algn="ctr" rotWithShape="0">
              <a:srgbClr val="000000">
                <a:alpha val="40000"/>
              </a:srgbClr>
            </a:outerShdw>
          </a:effectLst>
        </p:spPr>
      </p:pic>
      <p:sp>
        <p:nvSpPr>
          <p:cNvPr id="1043" name="Name-1">
            <a:extLst>
              <a:ext uri="{FF2B5EF4-FFF2-40B4-BE49-F238E27FC236}">
                <a16:creationId xmlns:a16="http://schemas.microsoft.com/office/drawing/2014/main" id="{111B4A49-B930-4A89-A1CD-6CA2B3D95AED}"/>
              </a:ext>
            </a:extLst>
          </p:cNvPr>
          <p:cNvSpPr txBox="1"/>
          <p:nvPr/>
        </p:nvSpPr>
        <p:spPr>
          <a:xfrm>
            <a:off x="6616636" y="8971214"/>
            <a:ext cx="32099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Vishal Kulkarni</a:t>
            </a:r>
          </a:p>
        </p:txBody>
      </p:sp>
      <p:sp>
        <p:nvSpPr>
          <p:cNvPr id="1044" name="Designation-1">
            <a:extLst>
              <a:ext uri="{FF2B5EF4-FFF2-40B4-BE49-F238E27FC236}">
                <a16:creationId xmlns:a16="http://schemas.microsoft.com/office/drawing/2014/main" id="{111B4A49-B930-4A89-A1CD-6CA2B3D95AED}"/>
              </a:ext>
            </a:extLst>
          </p:cNvPr>
          <p:cNvSpPr txBox="1"/>
          <p:nvPr/>
        </p:nvSpPr>
        <p:spPr>
          <a:xfrm>
            <a:off x="6616636" y="9388055"/>
            <a:ext cx="3209925" cy="316753"/>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pic>
        <p:nvPicPr>
          <p:cNvPr id="104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12144375" y="1866900"/>
            <a:ext cx="9525" cy="7848600"/>
          </a:xfrm>
          <a:prstGeom prst="rect">
            <a:avLst/>
          </a:prstGeom>
        </p:spPr>
      </p:pic>
      <p:pic>
        <p:nvPicPr>
          <p:cNvPr id="104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2620625" y="1866900"/>
            <a:ext cx="5057775" cy="6477000"/>
          </a:xfrm>
          <a:prstGeom prst="rect">
            <a:avLst/>
          </a:prstGeom>
          <a:effectLst>
            <a:outerShdw blurRad="114300" dir="2700000" algn="ctr" rotWithShape="0">
              <a:srgbClr val="000000">
                <a:alpha val="40000"/>
              </a:srgbClr>
            </a:outerShdw>
          </a:effectLst>
        </p:spPr>
      </p:pic>
      <p:sp>
        <p:nvSpPr>
          <p:cNvPr id="1048" name="Name-2">
            <a:extLst>
              <a:ext uri="{FF2B5EF4-FFF2-40B4-BE49-F238E27FC236}">
                <a16:creationId xmlns:a16="http://schemas.microsoft.com/office/drawing/2014/main" id="{111B4A49-B930-4A89-A1CD-6CA2B3D95AED}"/>
              </a:ext>
            </a:extLst>
          </p:cNvPr>
          <p:cNvSpPr txBox="1"/>
          <p:nvPr/>
        </p:nvSpPr>
        <p:spPr>
          <a:xfrm>
            <a:off x="12623768" y="8971214"/>
            <a:ext cx="2823184"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Pushpa Ravishankar</a:t>
            </a:r>
          </a:p>
        </p:txBody>
      </p:sp>
      <p:sp>
        <p:nvSpPr>
          <p:cNvPr id="1049" name="Designation-2">
            <a:extLst>
              <a:ext uri="{FF2B5EF4-FFF2-40B4-BE49-F238E27FC236}">
                <a16:creationId xmlns:a16="http://schemas.microsoft.com/office/drawing/2014/main" id="{111B4A49-B930-4A89-A1CD-6CA2B3D95AED}"/>
              </a:ext>
            </a:extLst>
          </p:cNvPr>
          <p:cNvSpPr txBox="1"/>
          <p:nvPr/>
        </p:nvSpPr>
        <p:spPr>
          <a:xfrm>
            <a:off x="12623768" y="9388055"/>
            <a:ext cx="2752725" cy="316753"/>
          </a:xfrm>
          <a:prstGeom prst="rect">
            <a:avLst/>
          </a:prstGeom>
          <a:noFill/>
        </p:spPr>
        <p:txBody>
          <a:bodyPr vertOverflow="clip" horzOverflow="clip" wrap="square" lIns="0" tIns="0" rIns="0" bIns="0" rtlCol="0" anchor="ctr">
            <a:spAutoFit/>
          </a:bodyPr>
          <a:lstStyle/>
          <a:p>
            <a:pPr algn="l">
              <a:lnSpc>
                <a:spcPts val="2700"/>
              </a:lnSpc>
            </a:pPr>
            <a:r>
              <a:rPr lang="en-US" spc="-18">
                <a:solidFill>
                  <a:srgbClr val="A7A7A7">
                    <a:alpha val="100000"/>
                  </a:srgbClr>
                </a:solidFill>
                <a:latin typeface="Montserrat Light" panose="00000700000000000000" pitchFamily="2" charset="0"/>
              </a:rPr>
              <a:t>Director</a:t>
            </a:r>
            <a:endParaRPr lang="en-US" sz="1800" spc="-18" dirty="0">
              <a:solidFill>
                <a:srgbClr val="A7A7A7">
                  <a:alpha val="100000"/>
                </a:srgbClr>
              </a:solidFill>
              <a:latin typeface="Montserrat Light" panose="00000700000000000000" pitchFamily="2" charset="0"/>
            </a:endParaRPr>
          </a:p>
        </p:txBody>
      </p:sp>
      <p:sp>
        <p:nvSpPr>
          <p:cNvPr id="1050" name="Click here to edit title-436">
            <a:extLst>
              <a:ext uri="{FF2B5EF4-FFF2-40B4-BE49-F238E27FC236}">
                <a16:creationId xmlns:a16="http://schemas.microsoft.com/office/drawing/2014/main" id="{111B4A49-B930-4A89-A1CD-6CA2B3D95AED}"/>
              </a:ext>
            </a:extLst>
          </p:cNvPr>
          <p:cNvSpPr txBox="1"/>
          <p:nvPr/>
        </p:nvSpPr>
        <p:spPr>
          <a:xfrm>
            <a:off x="1219200" y="733425"/>
            <a:ext cx="15992475" cy="67627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The Team</a:t>
            </a:r>
          </a:p>
        </p:txBody>
      </p:sp>
      <p:pic>
        <p:nvPicPr>
          <p:cNvPr id="1051"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590550" y="733425"/>
            <a:ext cx="19050" cy="666750"/>
          </a:xfrm>
          <a:prstGeom prst="rect">
            <a:avLst/>
          </a:prstGeom>
        </p:spPr>
      </p:pic>
      <p:sp>
        <p:nvSpPr>
          <p:cNvPr id="5" name="TextBox 4">
            <a:extLst>
              <a:ext uri="{FF2B5EF4-FFF2-40B4-BE49-F238E27FC236}">
                <a16:creationId xmlns:a16="http://schemas.microsoft.com/office/drawing/2014/main" id="{FC98A541-3A75-F951-B64F-C5F3F7BF9133}"/>
              </a:ext>
            </a:extLst>
          </p:cNvPr>
          <p:cNvSpPr txBox="1"/>
          <p:nvPr/>
        </p:nvSpPr>
        <p:spPr>
          <a:xfrm>
            <a:off x="609600" y="2826327"/>
            <a:ext cx="5048250" cy="4555093"/>
          </a:xfrm>
          <a:prstGeom prst="rect">
            <a:avLst/>
          </a:prstGeom>
          <a:noFill/>
        </p:spPr>
        <p:txBody>
          <a:bodyPr wrap="square" rtlCol="0">
            <a:spAutoFit/>
          </a:bodyPr>
          <a:lstStyle/>
          <a:p>
            <a:r>
              <a:rPr lang="en-US" sz="2400" b="1" spc="-32" dirty="0">
                <a:solidFill>
                  <a:srgbClr val="F2F1F3">
                    <a:alpha val="100000"/>
                  </a:srgbClr>
                </a:solidFill>
                <a:latin typeface="Montserrat" panose="00000700000000000000" pitchFamily="2" charset="0"/>
              </a:rPr>
              <a:t>With over 35 years of experience in mechanical design and manufacturing, Mr. Ravishankar is a seasoned mechanical engineer. His expertise lies in creating complex machines that push the boundaries of innovation. His passion for precision and attention to detail have been instrumental in our success.</a:t>
            </a:r>
          </a:p>
          <a:p>
            <a:endParaRPr lang="en-IN" sz="2600" dirty="0"/>
          </a:p>
        </p:txBody>
      </p:sp>
      <p:sp>
        <p:nvSpPr>
          <p:cNvPr id="6" name="TextBox 5">
            <a:extLst>
              <a:ext uri="{FF2B5EF4-FFF2-40B4-BE49-F238E27FC236}">
                <a16:creationId xmlns:a16="http://schemas.microsoft.com/office/drawing/2014/main" id="{25F6D5AA-2089-7B45-9F08-8E4BEB244C38}"/>
              </a:ext>
            </a:extLst>
          </p:cNvPr>
          <p:cNvSpPr txBox="1"/>
          <p:nvPr/>
        </p:nvSpPr>
        <p:spPr>
          <a:xfrm>
            <a:off x="6686550" y="2826326"/>
            <a:ext cx="5048250" cy="6001643"/>
          </a:xfrm>
          <a:prstGeom prst="rect">
            <a:avLst/>
          </a:prstGeom>
          <a:noFill/>
        </p:spPr>
        <p:txBody>
          <a:bodyPr wrap="square" rtlCol="0">
            <a:spAutoFit/>
          </a:bodyPr>
          <a:lstStyle/>
          <a:p>
            <a:pPr algn="l"/>
            <a:r>
              <a:rPr lang="en-US" sz="2400" b="1" spc="-32" dirty="0">
                <a:solidFill>
                  <a:srgbClr val="F2F1F3">
                    <a:alpha val="100000"/>
                  </a:srgbClr>
                </a:solidFill>
                <a:latin typeface="Montserrat" panose="00000700000000000000" pitchFamily="2" charset="0"/>
              </a:rPr>
              <a:t>Also a qualified mechanical engineer with 22 years of experience in Design, manufacturing, process planning &amp; operations, Vishal brings a wealth of knowledge to our team. His 15-year long business partnership with Mr. Ravishankar has been the cornerstone of our achievements. Together, they’ve navigated challenges, celebrated victories, and built a legacy of excellence.</a:t>
            </a:r>
          </a:p>
          <a:p>
            <a:endParaRPr lang="en-IN" sz="2400" b="1" spc="-32" dirty="0">
              <a:solidFill>
                <a:srgbClr val="F2F1F3">
                  <a:alpha val="100000"/>
                </a:srgbClr>
              </a:solidFill>
              <a:latin typeface="Montserrat" panose="00000700000000000000" pitchFamily="2" charset="0"/>
            </a:endParaRPr>
          </a:p>
        </p:txBody>
      </p:sp>
      <p:sp>
        <p:nvSpPr>
          <p:cNvPr id="9" name="TextBox 8">
            <a:extLst>
              <a:ext uri="{FF2B5EF4-FFF2-40B4-BE49-F238E27FC236}">
                <a16:creationId xmlns:a16="http://schemas.microsoft.com/office/drawing/2014/main" id="{653106FB-CCF8-6034-B11C-48132DB70602}"/>
              </a:ext>
            </a:extLst>
          </p:cNvPr>
          <p:cNvSpPr txBox="1"/>
          <p:nvPr/>
        </p:nvSpPr>
        <p:spPr>
          <a:xfrm>
            <a:off x="12687300" y="2826326"/>
            <a:ext cx="4367645" cy="2308324"/>
          </a:xfrm>
          <a:prstGeom prst="rect">
            <a:avLst/>
          </a:prstGeom>
          <a:noFill/>
        </p:spPr>
        <p:txBody>
          <a:bodyPr wrap="square" rtlCol="0">
            <a:spAutoFit/>
          </a:bodyPr>
          <a:lstStyle/>
          <a:p>
            <a:pPr marL="0" indent="0" algn="l">
              <a:buNone/>
            </a:pPr>
            <a:r>
              <a:rPr lang="en-US" sz="2400" b="1" spc="-32" dirty="0">
                <a:solidFill>
                  <a:srgbClr val="F2F1F3">
                    <a:alpha val="100000"/>
                  </a:srgbClr>
                </a:solidFill>
                <a:latin typeface="Montserrat" panose="00000700000000000000" pitchFamily="2" charset="0"/>
              </a:rPr>
              <a:t>Looking after administration, Mrs. Pushpa has a keen interest in the growth of the business.</a:t>
            </a:r>
          </a:p>
          <a:p>
            <a:endParaRPr lang="en-IN" sz="2400" b="1" spc="-32" dirty="0">
              <a:solidFill>
                <a:srgbClr val="F2F1F3">
                  <a:alpha val="100000"/>
                </a:srgbClr>
              </a:solidFill>
              <a:latin typeface="Montserrat" panose="00000700000000000000" pitchFamily="2" charset="0"/>
            </a:endParaRPr>
          </a:p>
        </p:txBody>
      </p:sp>
    </p:spTree>
    <p:extLst>
      <p:ext uri="{BB962C8B-B14F-4D97-AF65-F5344CB8AC3E}">
        <p14:creationId xmlns:p14="http://schemas.microsoft.com/office/powerpoint/2010/main" val="36480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055"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05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762000" y="1981200"/>
            <a:ext cx="2314575" cy="1581150"/>
          </a:xfrm>
          <a:prstGeom prst="rect">
            <a:avLst/>
          </a:prstGeom>
        </p:spPr>
      </p:pic>
      <p:sp>
        <p:nvSpPr>
          <p:cNvPr id="1057" name="Primary Heading-0,0">
            <a:extLst>
              <a:ext uri="{FF2B5EF4-FFF2-40B4-BE49-F238E27FC236}">
                <a16:creationId xmlns:a16="http://schemas.microsoft.com/office/drawing/2014/main" id="{111B4A49-B930-4A89-A1CD-6CA2B3D95AED}"/>
              </a:ext>
            </a:extLst>
          </p:cNvPr>
          <p:cNvSpPr txBox="1"/>
          <p:nvPr/>
        </p:nvSpPr>
        <p:spPr>
          <a:xfrm>
            <a:off x="1383982" y="2577179"/>
            <a:ext cx="1181100" cy="390525"/>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Quarter</a:t>
            </a:r>
          </a:p>
        </p:txBody>
      </p:sp>
      <p:pic>
        <p:nvPicPr>
          <p:cNvPr id="105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3048000" y="1981200"/>
            <a:ext cx="3648075" cy="1581150"/>
          </a:xfrm>
          <a:prstGeom prst="rect">
            <a:avLst/>
          </a:prstGeom>
        </p:spPr>
      </p:pic>
      <p:sp>
        <p:nvSpPr>
          <p:cNvPr id="1059" name="Primary Heading-0,1">
            <a:extLst>
              <a:ext uri="{FF2B5EF4-FFF2-40B4-BE49-F238E27FC236}">
                <a16:creationId xmlns:a16="http://schemas.microsoft.com/office/drawing/2014/main" id="{111B4A49-B930-4A89-A1CD-6CA2B3D95AED}"/>
              </a:ext>
            </a:extLst>
          </p:cNvPr>
          <p:cNvSpPr txBox="1"/>
          <p:nvPr/>
        </p:nvSpPr>
        <p:spPr>
          <a:xfrm>
            <a:off x="3910489" y="2594893"/>
            <a:ext cx="204787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Revenue</a:t>
            </a:r>
          </a:p>
        </p:txBody>
      </p:sp>
      <p:pic>
        <p:nvPicPr>
          <p:cNvPr id="106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6677025" y="1981200"/>
            <a:ext cx="3790950" cy="1581150"/>
          </a:xfrm>
          <a:prstGeom prst="rect">
            <a:avLst/>
          </a:prstGeom>
        </p:spPr>
      </p:pic>
      <p:sp>
        <p:nvSpPr>
          <p:cNvPr id="1061" name="Primary Heading-0,2">
            <a:extLst>
              <a:ext uri="{FF2B5EF4-FFF2-40B4-BE49-F238E27FC236}">
                <a16:creationId xmlns:a16="http://schemas.microsoft.com/office/drawing/2014/main" id="{111B4A49-B930-4A89-A1CD-6CA2B3D95AED}"/>
              </a:ext>
            </a:extLst>
          </p:cNvPr>
          <p:cNvSpPr txBox="1"/>
          <p:nvPr/>
        </p:nvSpPr>
        <p:spPr>
          <a:xfrm>
            <a:off x="7561898" y="2594893"/>
            <a:ext cx="21431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Expenses</a:t>
            </a:r>
          </a:p>
        </p:txBody>
      </p:sp>
      <p:pic>
        <p:nvPicPr>
          <p:cNvPr id="106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0448925" y="1981200"/>
            <a:ext cx="2971800" cy="1581150"/>
          </a:xfrm>
          <a:prstGeom prst="rect">
            <a:avLst/>
          </a:prstGeom>
        </p:spPr>
      </p:pic>
      <p:sp>
        <p:nvSpPr>
          <p:cNvPr id="1063" name="Primary Heading-0,3">
            <a:extLst>
              <a:ext uri="{FF2B5EF4-FFF2-40B4-BE49-F238E27FC236}">
                <a16:creationId xmlns:a16="http://schemas.microsoft.com/office/drawing/2014/main" id="{111B4A49-B930-4A89-A1CD-6CA2B3D95AED}"/>
              </a:ext>
            </a:extLst>
          </p:cNvPr>
          <p:cNvSpPr txBox="1"/>
          <p:nvPr/>
        </p:nvSpPr>
        <p:spPr>
          <a:xfrm>
            <a:off x="11189780" y="2594893"/>
            <a:ext cx="1609725"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Profit-PAT</a:t>
            </a:r>
          </a:p>
        </p:txBody>
      </p:sp>
      <p:pic>
        <p:nvPicPr>
          <p:cNvPr id="10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8">
            <a:alphaModFix/>
          </a:blip>
          <a:stretch/>
        </p:blipFill>
        <p:spPr>
          <a:xfrm>
            <a:off x="13401675" y="1981200"/>
            <a:ext cx="4124325" cy="1581150"/>
          </a:xfrm>
          <a:prstGeom prst="rect">
            <a:avLst/>
          </a:prstGeom>
        </p:spPr>
      </p:pic>
      <p:sp>
        <p:nvSpPr>
          <p:cNvPr id="1065" name="Primary Heading-0,4">
            <a:extLst>
              <a:ext uri="{FF2B5EF4-FFF2-40B4-BE49-F238E27FC236}">
                <a16:creationId xmlns:a16="http://schemas.microsoft.com/office/drawing/2014/main" id="{111B4A49-B930-4A89-A1CD-6CA2B3D95AED}"/>
              </a:ext>
            </a:extLst>
          </p:cNvPr>
          <p:cNvSpPr txBox="1"/>
          <p:nvPr/>
        </p:nvSpPr>
        <p:spPr>
          <a:xfrm>
            <a:off x="14343698" y="2594893"/>
            <a:ext cx="2362200" cy="355097"/>
          </a:xfrm>
          <a:prstGeom prst="rect">
            <a:avLst/>
          </a:prstGeom>
          <a:noFill/>
        </p:spPr>
        <p:txBody>
          <a:bodyPr vertOverflow="clip" horzOverflow="clip" wrap="square" lIns="0" tIns="0" rIns="0" bIns="0" rtlCol="0" anchor="ctr">
            <a:spAutoFit/>
          </a:bodyPr>
          <a:lstStyle/>
          <a:p>
            <a:pPr algn="ctr">
              <a:lnSpc>
                <a:spcPts val="2982"/>
              </a:lnSpc>
            </a:pPr>
            <a:r>
              <a:rPr lang="en-US" sz="2100" b="1" spc="-32" dirty="0">
                <a:solidFill>
                  <a:srgbClr val="15092E">
                    <a:alpha val="100000"/>
                  </a:srgbClr>
                </a:solidFill>
                <a:latin typeface="Montserrat" panose="00000700000000000000" pitchFamily="2" charset="0"/>
              </a:rPr>
              <a:t>PAT Margin (%)</a:t>
            </a:r>
          </a:p>
        </p:txBody>
      </p:sp>
      <p:pic>
        <p:nvPicPr>
          <p:cNvPr id="10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3592960"/>
            <a:ext cx="2314575" cy="1514475"/>
          </a:xfrm>
          <a:prstGeom prst="rect">
            <a:avLst/>
          </a:prstGeom>
        </p:spPr>
      </p:pic>
      <p:sp>
        <p:nvSpPr>
          <p:cNvPr id="1067" name="Description of a primary heading-1,0">
            <a:extLst>
              <a:ext uri="{FF2B5EF4-FFF2-40B4-BE49-F238E27FC236}">
                <a16:creationId xmlns:a16="http://schemas.microsoft.com/office/drawing/2014/main" id="{111B4A49-B930-4A89-A1CD-6CA2B3D95AED}"/>
              </a:ext>
            </a:extLst>
          </p:cNvPr>
          <p:cNvSpPr txBox="1"/>
          <p:nvPr/>
        </p:nvSpPr>
        <p:spPr>
          <a:xfrm>
            <a:off x="1705832" y="4132421"/>
            <a:ext cx="409575"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F2F1F3">
                    <a:alpha val="100000"/>
                  </a:srgbClr>
                </a:solidFill>
                <a:latin typeface="Montserrat Light" panose="00000700000000000000" pitchFamily="2" charset="0"/>
              </a:rPr>
              <a:t>Q1</a:t>
            </a:r>
          </a:p>
        </p:txBody>
      </p:sp>
      <p:pic>
        <p:nvPicPr>
          <p:cNvPr id="106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3552825"/>
            <a:ext cx="3648075" cy="1514475"/>
          </a:xfrm>
          <a:prstGeom prst="rect">
            <a:avLst/>
          </a:prstGeom>
        </p:spPr>
      </p:pic>
      <p:sp>
        <p:nvSpPr>
          <p:cNvPr id="1069" name="Description of a primary heading-1,1">
            <a:extLst>
              <a:ext uri="{FF2B5EF4-FFF2-40B4-BE49-F238E27FC236}">
                <a16:creationId xmlns:a16="http://schemas.microsoft.com/office/drawing/2014/main" id="{111B4A49-B930-4A89-A1CD-6CA2B3D95AED}"/>
              </a:ext>
            </a:extLst>
          </p:cNvPr>
          <p:cNvSpPr txBox="1"/>
          <p:nvPr/>
        </p:nvSpPr>
        <p:spPr>
          <a:xfrm>
            <a:off x="4333875" y="4150257"/>
            <a:ext cx="10668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10.0</a:t>
            </a:r>
            <a:endParaRPr lang="en-US" sz="1800" spc="-18" dirty="0">
              <a:solidFill>
                <a:srgbClr val="F2F1F3">
                  <a:alpha val="100000"/>
                </a:srgbClr>
              </a:solidFill>
              <a:latin typeface="Montserrat Light" panose="00000700000000000000" pitchFamily="2" charset="0"/>
            </a:endParaRPr>
          </a:p>
        </p:txBody>
      </p:sp>
      <p:pic>
        <p:nvPicPr>
          <p:cNvPr id="10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3552825"/>
            <a:ext cx="3790950" cy="1514475"/>
          </a:xfrm>
          <a:prstGeom prst="rect">
            <a:avLst/>
          </a:prstGeom>
        </p:spPr>
      </p:pic>
      <p:sp>
        <p:nvSpPr>
          <p:cNvPr id="1071" name="Description of a primary heading-1,2">
            <a:extLst>
              <a:ext uri="{FF2B5EF4-FFF2-40B4-BE49-F238E27FC236}">
                <a16:creationId xmlns:a16="http://schemas.microsoft.com/office/drawing/2014/main" id="{111B4A49-B930-4A89-A1CD-6CA2B3D95AED}"/>
              </a:ext>
            </a:extLst>
          </p:cNvPr>
          <p:cNvSpPr txBox="1"/>
          <p:nvPr/>
        </p:nvSpPr>
        <p:spPr>
          <a:xfrm>
            <a:off x="8047101" y="4150257"/>
            <a:ext cx="1106424"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2.20</a:t>
            </a:r>
            <a:endParaRPr lang="en-US" sz="1800" spc="-18" dirty="0">
              <a:solidFill>
                <a:srgbClr val="F2F1F3">
                  <a:alpha val="100000"/>
                </a:srgbClr>
              </a:solidFill>
              <a:latin typeface="Montserrat Light" panose="00000700000000000000" pitchFamily="2" charset="0"/>
            </a:endParaRPr>
          </a:p>
        </p:txBody>
      </p:sp>
      <p:pic>
        <p:nvPicPr>
          <p:cNvPr id="107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3552825"/>
            <a:ext cx="2971800" cy="1514475"/>
          </a:xfrm>
          <a:prstGeom prst="rect">
            <a:avLst/>
          </a:prstGeom>
        </p:spPr>
      </p:pic>
      <p:sp>
        <p:nvSpPr>
          <p:cNvPr id="1073" name="Description of a primary heading-1,3">
            <a:extLst>
              <a:ext uri="{FF2B5EF4-FFF2-40B4-BE49-F238E27FC236}">
                <a16:creationId xmlns:a16="http://schemas.microsoft.com/office/drawing/2014/main" id="{111B4A49-B930-4A89-A1CD-6CA2B3D95AED}"/>
              </a:ext>
            </a:extLst>
          </p:cNvPr>
          <p:cNvSpPr txBox="1"/>
          <p:nvPr/>
        </p:nvSpPr>
        <p:spPr>
          <a:xfrm>
            <a:off x="11478672" y="4150257"/>
            <a:ext cx="1059691"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F2F1F3">
                    <a:alpha val="100000"/>
                  </a:srgbClr>
                </a:solidFill>
                <a:latin typeface="Montserrat Light" panose="00000700000000000000" pitchFamily="2" charset="0"/>
              </a:rPr>
              <a:t>1.00</a:t>
            </a:r>
            <a:endParaRPr lang="en-US" sz="1800" spc="-18" dirty="0">
              <a:solidFill>
                <a:srgbClr val="F2F1F3">
                  <a:alpha val="100000"/>
                </a:srgbClr>
              </a:solidFill>
              <a:latin typeface="Montserrat Light" panose="00000700000000000000" pitchFamily="2" charset="0"/>
            </a:endParaRPr>
          </a:p>
        </p:txBody>
      </p:sp>
      <p:pic>
        <p:nvPicPr>
          <p:cNvPr id="10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3552825"/>
            <a:ext cx="4124325" cy="1514475"/>
          </a:xfrm>
          <a:prstGeom prst="rect">
            <a:avLst/>
          </a:prstGeom>
        </p:spPr>
      </p:pic>
      <p:sp>
        <p:nvSpPr>
          <p:cNvPr id="1075" name="Description of a primary heading-1,4">
            <a:extLst>
              <a:ext uri="{FF2B5EF4-FFF2-40B4-BE49-F238E27FC236}">
                <a16:creationId xmlns:a16="http://schemas.microsoft.com/office/drawing/2014/main" id="{111B4A49-B930-4A89-A1CD-6CA2B3D95AED}"/>
              </a:ext>
            </a:extLst>
          </p:cNvPr>
          <p:cNvSpPr txBox="1"/>
          <p:nvPr/>
        </p:nvSpPr>
        <p:spPr>
          <a:xfrm>
            <a:off x="15161419" y="4150257"/>
            <a:ext cx="5905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F2F1F3">
                    <a:alpha val="100000"/>
                  </a:srgbClr>
                </a:solidFill>
                <a:latin typeface="Montserrat Light" panose="00000700000000000000" pitchFamily="2" charset="0"/>
              </a:rPr>
              <a:t>10</a:t>
            </a:r>
            <a:r>
              <a:rPr lang="en-US" sz="1800" spc="-18" dirty="0">
                <a:solidFill>
                  <a:srgbClr val="F2F1F3">
                    <a:alpha val="100000"/>
                  </a:srgbClr>
                </a:solidFill>
                <a:latin typeface="Montserrat Light" panose="00000700000000000000" pitchFamily="2" charset="0"/>
              </a:rPr>
              <a:t>%</a:t>
            </a:r>
          </a:p>
        </p:txBody>
      </p:sp>
      <p:pic>
        <p:nvPicPr>
          <p:cNvPr id="107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5048250"/>
            <a:ext cx="2314575" cy="1514475"/>
          </a:xfrm>
          <a:prstGeom prst="rect">
            <a:avLst/>
          </a:prstGeom>
        </p:spPr>
      </p:pic>
      <p:sp>
        <p:nvSpPr>
          <p:cNvPr id="1077" name="Description of a primary heading-2,0">
            <a:extLst>
              <a:ext uri="{FF2B5EF4-FFF2-40B4-BE49-F238E27FC236}">
                <a16:creationId xmlns:a16="http://schemas.microsoft.com/office/drawing/2014/main" id="{111B4A49-B930-4A89-A1CD-6CA2B3D95AED}"/>
              </a:ext>
            </a:extLst>
          </p:cNvPr>
          <p:cNvSpPr txBox="1"/>
          <p:nvPr/>
        </p:nvSpPr>
        <p:spPr>
          <a:xfrm>
            <a:off x="1681734" y="5634609"/>
            <a:ext cx="4572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BEAED">
                    <a:alpha val="100000"/>
                  </a:srgbClr>
                </a:solidFill>
                <a:latin typeface="Montserrat Light" panose="00000700000000000000" pitchFamily="2" charset="0"/>
              </a:rPr>
              <a:t>Q2</a:t>
            </a:r>
          </a:p>
        </p:txBody>
      </p:sp>
      <p:pic>
        <p:nvPicPr>
          <p:cNvPr id="10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5048250"/>
            <a:ext cx="3648075" cy="1514475"/>
          </a:xfrm>
          <a:prstGeom prst="rect">
            <a:avLst/>
          </a:prstGeom>
        </p:spPr>
      </p:pic>
      <p:sp>
        <p:nvSpPr>
          <p:cNvPr id="1079" name="Description of a primary heading-2,1">
            <a:extLst>
              <a:ext uri="{FF2B5EF4-FFF2-40B4-BE49-F238E27FC236}">
                <a16:creationId xmlns:a16="http://schemas.microsoft.com/office/drawing/2014/main" id="{111B4A49-B930-4A89-A1CD-6CA2B3D95AED}"/>
              </a:ext>
            </a:extLst>
          </p:cNvPr>
          <p:cNvSpPr txBox="1"/>
          <p:nvPr/>
        </p:nvSpPr>
        <p:spPr>
          <a:xfrm>
            <a:off x="4324255" y="5652445"/>
            <a:ext cx="10953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z="1800" spc="-18" dirty="0">
                <a:solidFill>
                  <a:srgbClr val="EBEAED">
                    <a:alpha val="100000"/>
                  </a:srgbClr>
                </a:solidFill>
                <a:latin typeface="Montserrat Light" panose="00000700000000000000" pitchFamily="2" charset="0"/>
              </a:rPr>
              <a:t>12.00</a:t>
            </a:r>
          </a:p>
        </p:txBody>
      </p:sp>
      <p:pic>
        <p:nvPicPr>
          <p:cNvPr id="108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5048250"/>
            <a:ext cx="3790950" cy="1514475"/>
          </a:xfrm>
          <a:prstGeom prst="rect">
            <a:avLst/>
          </a:prstGeom>
        </p:spPr>
      </p:pic>
      <p:sp>
        <p:nvSpPr>
          <p:cNvPr id="1081" name="Description of a primary heading-2,2">
            <a:extLst>
              <a:ext uri="{FF2B5EF4-FFF2-40B4-BE49-F238E27FC236}">
                <a16:creationId xmlns:a16="http://schemas.microsoft.com/office/drawing/2014/main" id="{111B4A49-B930-4A89-A1CD-6CA2B3D95AED}"/>
              </a:ext>
            </a:extLst>
          </p:cNvPr>
          <p:cNvSpPr txBox="1"/>
          <p:nvPr/>
        </p:nvSpPr>
        <p:spPr>
          <a:xfrm>
            <a:off x="8021384" y="5652445"/>
            <a:ext cx="10953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BEAED">
                    <a:alpha val="100000"/>
                  </a:srgbClr>
                </a:solidFill>
                <a:latin typeface="Montserrat Light" panose="00000700000000000000" pitchFamily="2" charset="0"/>
              </a:rPr>
              <a:t>2.80</a:t>
            </a:r>
            <a:endParaRPr lang="en-US" sz="1800" spc="-18" dirty="0">
              <a:solidFill>
                <a:srgbClr val="EBEAED">
                  <a:alpha val="100000"/>
                </a:srgbClr>
              </a:solidFill>
              <a:latin typeface="Montserrat Light" panose="00000700000000000000" pitchFamily="2" charset="0"/>
            </a:endParaRPr>
          </a:p>
        </p:txBody>
      </p:sp>
      <p:pic>
        <p:nvPicPr>
          <p:cNvPr id="10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5048250"/>
            <a:ext cx="2971800" cy="1514475"/>
          </a:xfrm>
          <a:prstGeom prst="rect">
            <a:avLst/>
          </a:prstGeom>
        </p:spPr>
      </p:pic>
      <p:sp>
        <p:nvSpPr>
          <p:cNvPr id="1083" name="Description of a primary heading-2,3">
            <a:extLst>
              <a:ext uri="{FF2B5EF4-FFF2-40B4-BE49-F238E27FC236}">
                <a16:creationId xmlns:a16="http://schemas.microsoft.com/office/drawing/2014/main" id="{111B4A49-B930-4A89-A1CD-6CA2B3D95AED}"/>
              </a:ext>
            </a:extLst>
          </p:cNvPr>
          <p:cNvSpPr txBox="1"/>
          <p:nvPr/>
        </p:nvSpPr>
        <p:spPr>
          <a:xfrm>
            <a:off x="11470576" y="5652445"/>
            <a:ext cx="9144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BEAED">
                    <a:alpha val="100000"/>
                  </a:srgbClr>
                </a:solidFill>
                <a:latin typeface="Montserrat Light" panose="00000700000000000000" pitchFamily="2" charset="0"/>
              </a:rPr>
              <a:t>1.64</a:t>
            </a:r>
            <a:endParaRPr lang="en-US" sz="1800" spc="-18" dirty="0">
              <a:solidFill>
                <a:srgbClr val="EBEAED">
                  <a:alpha val="100000"/>
                </a:srgbClr>
              </a:solidFill>
              <a:latin typeface="Montserrat Light" panose="00000700000000000000" pitchFamily="2" charset="0"/>
            </a:endParaRPr>
          </a:p>
        </p:txBody>
      </p:sp>
      <p:pic>
        <p:nvPicPr>
          <p:cNvPr id="108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5048250"/>
            <a:ext cx="4124325" cy="1514475"/>
          </a:xfrm>
          <a:prstGeom prst="rect">
            <a:avLst/>
          </a:prstGeom>
        </p:spPr>
      </p:pic>
      <p:sp>
        <p:nvSpPr>
          <p:cNvPr id="1085" name="Description of a primary heading-2,4">
            <a:extLst>
              <a:ext uri="{FF2B5EF4-FFF2-40B4-BE49-F238E27FC236}">
                <a16:creationId xmlns:a16="http://schemas.microsoft.com/office/drawing/2014/main" id="{111B4A49-B930-4A89-A1CD-6CA2B3D95AED}"/>
              </a:ext>
            </a:extLst>
          </p:cNvPr>
          <p:cNvSpPr txBox="1"/>
          <p:nvPr/>
        </p:nvSpPr>
        <p:spPr>
          <a:xfrm>
            <a:off x="15163800" y="5652445"/>
            <a:ext cx="5905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BEAED">
                    <a:alpha val="100000"/>
                  </a:srgbClr>
                </a:solidFill>
                <a:latin typeface="Montserrat Light" panose="00000700000000000000" pitchFamily="2" charset="0"/>
              </a:rPr>
              <a:t>14</a:t>
            </a:r>
            <a:r>
              <a:rPr lang="en-US" sz="1800" spc="-18" dirty="0">
                <a:solidFill>
                  <a:srgbClr val="EBEAED">
                    <a:alpha val="100000"/>
                  </a:srgbClr>
                </a:solidFill>
                <a:latin typeface="Montserrat Light" panose="00000700000000000000" pitchFamily="2" charset="0"/>
              </a:rPr>
              <a:t>%</a:t>
            </a:r>
          </a:p>
        </p:txBody>
      </p:sp>
      <p:pic>
        <p:nvPicPr>
          <p:cNvPr id="10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9">
            <a:alphaModFix/>
          </a:blip>
          <a:stretch/>
        </p:blipFill>
        <p:spPr>
          <a:xfrm>
            <a:off x="762000" y="6553200"/>
            <a:ext cx="2314575" cy="1514475"/>
          </a:xfrm>
          <a:prstGeom prst="rect">
            <a:avLst/>
          </a:prstGeom>
        </p:spPr>
      </p:pic>
      <p:sp>
        <p:nvSpPr>
          <p:cNvPr id="1087" name="Description of a primary heading-3,0">
            <a:extLst>
              <a:ext uri="{FF2B5EF4-FFF2-40B4-BE49-F238E27FC236}">
                <a16:creationId xmlns:a16="http://schemas.microsoft.com/office/drawing/2014/main" id="{111B4A49-B930-4A89-A1CD-6CA2B3D95AED}"/>
              </a:ext>
            </a:extLst>
          </p:cNvPr>
          <p:cNvSpPr txBox="1"/>
          <p:nvPr/>
        </p:nvSpPr>
        <p:spPr>
          <a:xfrm>
            <a:off x="1682496" y="7136797"/>
            <a:ext cx="45720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Q3</a:t>
            </a:r>
          </a:p>
        </p:txBody>
      </p:sp>
      <p:pic>
        <p:nvPicPr>
          <p:cNvPr id="108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0">
            <a:alphaModFix/>
          </a:blip>
          <a:stretch/>
        </p:blipFill>
        <p:spPr>
          <a:xfrm>
            <a:off x="3048000" y="6553200"/>
            <a:ext cx="3648075" cy="1514475"/>
          </a:xfrm>
          <a:prstGeom prst="rect">
            <a:avLst/>
          </a:prstGeom>
        </p:spPr>
      </p:pic>
      <p:sp>
        <p:nvSpPr>
          <p:cNvPr id="1089" name="Description of a primary heading-3,1">
            <a:extLst>
              <a:ext uri="{FF2B5EF4-FFF2-40B4-BE49-F238E27FC236}">
                <a16:creationId xmlns:a16="http://schemas.microsoft.com/office/drawing/2014/main" id="{111B4A49-B930-4A89-A1CD-6CA2B3D95AED}"/>
              </a:ext>
            </a:extLst>
          </p:cNvPr>
          <p:cNvSpPr txBox="1"/>
          <p:nvPr/>
        </p:nvSpPr>
        <p:spPr>
          <a:xfrm>
            <a:off x="4325302" y="7154633"/>
            <a:ext cx="108585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E5E3E7">
                    <a:alpha val="100000"/>
                  </a:srgbClr>
                </a:solidFill>
                <a:latin typeface="Montserrat Light" panose="00000700000000000000" pitchFamily="2" charset="0"/>
              </a:rPr>
              <a:t>17.00</a:t>
            </a:r>
            <a:endParaRPr lang="en-US" sz="1800" spc="-18" dirty="0">
              <a:solidFill>
                <a:srgbClr val="E5E3E7">
                  <a:alpha val="100000"/>
                </a:srgbClr>
              </a:solidFill>
              <a:latin typeface="Montserrat Light" panose="00000700000000000000" pitchFamily="2" charset="0"/>
            </a:endParaRPr>
          </a:p>
        </p:txBody>
      </p:sp>
      <p:pic>
        <p:nvPicPr>
          <p:cNvPr id="109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1">
            <a:alphaModFix/>
          </a:blip>
          <a:stretch/>
        </p:blipFill>
        <p:spPr>
          <a:xfrm>
            <a:off x="6677025" y="6553200"/>
            <a:ext cx="3790950" cy="1514475"/>
          </a:xfrm>
          <a:prstGeom prst="rect">
            <a:avLst/>
          </a:prstGeom>
        </p:spPr>
      </p:pic>
      <p:sp>
        <p:nvSpPr>
          <p:cNvPr id="1091" name="Description of a primary heading-3,2">
            <a:extLst>
              <a:ext uri="{FF2B5EF4-FFF2-40B4-BE49-F238E27FC236}">
                <a16:creationId xmlns:a16="http://schemas.microsoft.com/office/drawing/2014/main" id="{111B4A49-B930-4A89-A1CD-6CA2B3D95AED}"/>
              </a:ext>
            </a:extLst>
          </p:cNvPr>
          <p:cNvSpPr txBox="1"/>
          <p:nvPr/>
        </p:nvSpPr>
        <p:spPr>
          <a:xfrm>
            <a:off x="8056245" y="7154633"/>
            <a:ext cx="1212446"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3.50</a:t>
            </a:r>
          </a:p>
        </p:txBody>
      </p:sp>
      <p:pic>
        <p:nvPicPr>
          <p:cNvPr id="109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2">
            <a:alphaModFix/>
          </a:blip>
          <a:stretch/>
        </p:blipFill>
        <p:spPr>
          <a:xfrm>
            <a:off x="10448925" y="6553200"/>
            <a:ext cx="2971800" cy="1514475"/>
          </a:xfrm>
          <a:prstGeom prst="rect">
            <a:avLst/>
          </a:prstGeom>
        </p:spPr>
      </p:pic>
      <p:sp>
        <p:nvSpPr>
          <p:cNvPr id="1093" name="Description of a primary heading-3,3">
            <a:extLst>
              <a:ext uri="{FF2B5EF4-FFF2-40B4-BE49-F238E27FC236}">
                <a16:creationId xmlns:a16="http://schemas.microsoft.com/office/drawing/2014/main" id="{111B4A49-B930-4A89-A1CD-6CA2B3D95AED}"/>
              </a:ext>
            </a:extLst>
          </p:cNvPr>
          <p:cNvSpPr txBox="1"/>
          <p:nvPr/>
        </p:nvSpPr>
        <p:spPr>
          <a:xfrm>
            <a:off x="11474006" y="7154633"/>
            <a:ext cx="90487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2.04</a:t>
            </a:r>
          </a:p>
        </p:txBody>
      </p:sp>
      <p:pic>
        <p:nvPicPr>
          <p:cNvPr id="109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3">
            <a:alphaModFix/>
          </a:blip>
          <a:stretch/>
        </p:blipFill>
        <p:spPr>
          <a:xfrm>
            <a:off x="13401675" y="6553200"/>
            <a:ext cx="4124325" cy="1514475"/>
          </a:xfrm>
          <a:prstGeom prst="rect">
            <a:avLst/>
          </a:prstGeom>
        </p:spPr>
      </p:pic>
      <p:sp>
        <p:nvSpPr>
          <p:cNvPr id="1095" name="Description of a primary heading-3,4">
            <a:extLst>
              <a:ext uri="{FF2B5EF4-FFF2-40B4-BE49-F238E27FC236}">
                <a16:creationId xmlns:a16="http://schemas.microsoft.com/office/drawing/2014/main" id="{111B4A49-B930-4A89-A1CD-6CA2B3D95AED}"/>
              </a:ext>
            </a:extLst>
          </p:cNvPr>
          <p:cNvSpPr txBox="1"/>
          <p:nvPr/>
        </p:nvSpPr>
        <p:spPr>
          <a:xfrm>
            <a:off x="15157990" y="7154633"/>
            <a:ext cx="600075"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5E3E7">
                    <a:alpha val="100000"/>
                  </a:srgbClr>
                </a:solidFill>
                <a:latin typeface="Montserrat Light" panose="00000700000000000000" pitchFamily="2" charset="0"/>
              </a:rPr>
              <a:t>12</a:t>
            </a:r>
            <a:r>
              <a:rPr lang="en-US" sz="1800" spc="-18" dirty="0">
                <a:solidFill>
                  <a:srgbClr val="E5E3E7">
                    <a:alpha val="100000"/>
                  </a:srgbClr>
                </a:solidFill>
                <a:latin typeface="Montserrat Light" panose="00000700000000000000" pitchFamily="2" charset="0"/>
              </a:rPr>
              <a:t>%</a:t>
            </a:r>
          </a:p>
        </p:txBody>
      </p:sp>
      <p:pic>
        <p:nvPicPr>
          <p:cNvPr id="109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4">
            <a:alphaModFix/>
          </a:blip>
          <a:stretch/>
        </p:blipFill>
        <p:spPr>
          <a:xfrm>
            <a:off x="762000" y="8058150"/>
            <a:ext cx="2314575" cy="1533525"/>
          </a:xfrm>
          <a:prstGeom prst="rect">
            <a:avLst/>
          </a:prstGeom>
        </p:spPr>
      </p:pic>
      <p:sp>
        <p:nvSpPr>
          <p:cNvPr id="1097" name="Description of a primary heading-4,0">
            <a:extLst>
              <a:ext uri="{FF2B5EF4-FFF2-40B4-BE49-F238E27FC236}">
                <a16:creationId xmlns:a16="http://schemas.microsoft.com/office/drawing/2014/main" id="{111B4A49-B930-4A89-A1CD-6CA2B3D95AED}"/>
              </a:ext>
            </a:extLst>
          </p:cNvPr>
          <p:cNvSpPr txBox="1"/>
          <p:nvPr/>
        </p:nvSpPr>
        <p:spPr>
          <a:xfrm>
            <a:off x="1670209" y="8647843"/>
            <a:ext cx="476250" cy="352425"/>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DEDCE1">
                    <a:alpha val="100000"/>
                  </a:srgbClr>
                </a:solidFill>
                <a:latin typeface="Montserrat Light" panose="00000700000000000000" pitchFamily="2" charset="0"/>
              </a:rPr>
              <a:t>Q4</a:t>
            </a:r>
          </a:p>
        </p:txBody>
      </p:sp>
      <p:pic>
        <p:nvPicPr>
          <p:cNvPr id="10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5">
            <a:alphaModFix/>
          </a:blip>
          <a:stretch/>
        </p:blipFill>
        <p:spPr>
          <a:xfrm>
            <a:off x="3048000" y="8058150"/>
            <a:ext cx="3648075" cy="1533525"/>
          </a:xfrm>
          <a:prstGeom prst="rect">
            <a:avLst/>
          </a:prstGeom>
        </p:spPr>
      </p:pic>
      <p:sp>
        <p:nvSpPr>
          <p:cNvPr id="1099" name="Description of a primary heading-4,1">
            <a:extLst>
              <a:ext uri="{FF2B5EF4-FFF2-40B4-BE49-F238E27FC236}">
                <a16:creationId xmlns:a16="http://schemas.microsoft.com/office/drawing/2014/main" id="{111B4A49-B930-4A89-A1CD-6CA2B3D95AED}"/>
              </a:ext>
            </a:extLst>
          </p:cNvPr>
          <p:cNvSpPr txBox="1"/>
          <p:nvPr/>
        </p:nvSpPr>
        <p:spPr>
          <a:xfrm>
            <a:off x="4334256" y="8665679"/>
            <a:ext cx="1066800"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DEDCE1">
                    <a:alpha val="100000"/>
                  </a:srgbClr>
                </a:solidFill>
                <a:latin typeface="Montserrat Light" panose="00000700000000000000" pitchFamily="2" charset="0"/>
              </a:rPr>
              <a:t>19.00</a:t>
            </a:r>
            <a:endParaRPr lang="en-US" sz="1800" spc="-18" dirty="0">
              <a:solidFill>
                <a:srgbClr val="DEDCE1">
                  <a:alpha val="100000"/>
                </a:srgbClr>
              </a:solidFill>
              <a:latin typeface="Montserrat Light" panose="00000700000000000000" pitchFamily="2" charset="0"/>
            </a:endParaRPr>
          </a:p>
        </p:txBody>
      </p:sp>
      <p:pic>
        <p:nvPicPr>
          <p:cNvPr id="11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6">
            <a:alphaModFix/>
          </a:blip>
          <a:stretch/>
        </p:blipFill>
        <p:spPr>
          <a:xfrm>
            <a:off x="6677025" y="8058150"/>
            <a:ext cx="3790950" cy="1533525"/>
          </a:xfrm>
          <a:prstGeom prst="rect">
            <a:avLst/>
          </a:prstGeom>
        </p:spPr>
      </p:pic>
      <p:sp>
        <p:nvSpPr>
          <p:cNvPr id="1101" name="Description of a primary heading-4,2">
            <a:extLst>
              <a:ext uri="{FF2B5EF4-FFF2-40B4-BE49-F238E27FC236}">
                <a16:creationId xmlns:a16="http://schemas.microsoft.com/office/drawing/2014/main" id="{111B4A49-B930-4A89-A1CD-6CA2B3D95AED}"/>
              </a:ext>
            </a:extLst>
          </p:cNvPr>
          <p:cNvSpPr txBox="1"/>
          <p:nvPr/>
        </p:nvSpPr>
        <p:spPr>
          <a:xfrm>
            <a:off x="8030146" y="8665679"/>
            <a:ext cx="1123379"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pc="-18" dirty="0">
                <a:solidFill>
                  <a:srgbClr val="DEDCE1">
                    <a:alpha val="100000"/>
                  </a:srgbClr>
                </a:solidFill>
                <a:latin typeface="Montserrat Light" panose="00000700000000000000" pitchFamily="2" charset="0"/>
              </a:rPr>
              <a:t>4.00</a:t>
            </a:r>
            <a:endParaRPr lang="en-US" sz="1800" spc="-18" dirty="0">
              <a:solidFill>
                <a:srgbClr val="DEDCE1">
                  <a:alpha val="100000"/>
                </a:srgbClr>
              </a:solidFill>
              <a:latin typeface="Montserrat Light" panose="00000700000000000000" pitchFamily="2" charset="0"/>
            </a:endParaRPr>
          </a:p>
        </p:txBody>
      </p:sp>
      <p:pic>
        <p:nvPicPr>
          <p:cNvPr id="110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7">
            <a:alphaModFix/>
          </a:blip>
          <a:stretch/>
        </p:blipFill>
        <p:spPr>
          <a:xfrm>
            <a:off x="10448925" y="8058150"/>
            <a:ext cx="2971800" cy="1533525"/>
          </a:xfrm>
          <a:prstGeom prst="rect">
            <a:avLst/>
          </a:prstGeom>
        </p:spPr>
      </p:pic>
      <p:sp>
        <p:nvSpPr>
          <p:cNvPr id="1103" name="Description of a primary heading-4,3">
            <a:extLst>
              <a:ext uri="{FF2B5EF4-FFF2-40B4-BE49-F238E27FC236}">
                <a16:creationId xmlns:a16="http://schemas.microsoft.com/office/drawing/2014/main" id="{111B4A49-B930-4A89-A1CD-6CA2B3D95AED}"/>
              </a:ext>
            </a:extLst>
          </p:cNvPr>
          <p:cNvSpPr txBox="1"/>
          <p:nvPr/>
        </p:nvSpPr>
        <p:spPr>
          <a:xfrm>
            <a:off x="11428476" y="8665679"/>
            <a:ext cx="1000125" cy="316753"/>
          </a:xfrm>
          <a:prstGeom prst="rect">
            <a:avLst/>
          </a:prstGeom>
          <a:noFill/>
        </p:spPr>
        <p:txBody>
          <a:bodyPr vertOverflow="clip" horzOverflow="clip" wrap="square" lIns="0" tIns="0" rIns="0" bIns="0" rtlCol="0" anchor="ctr">
            <a:spAutoFit/>
          </a:bodyPr>
          <a:lstStyle/>
          <a:p>
            <a:pPr algn="ctr">
              <a:lnSpc>
                <a:spcPts val="2700"/>
              </a:lnSpc>
            </a:pPr>
            <a:r>
              <a:rPr lang="en-US" sz="1800" spc="-18" dirty="0">
                <a:solidFill>
                  <a:srgbClr val="E5E3E7">
                    <a:alpha val="100000"/>
                  </a:srgbClr>
                </a:solidFill>
                <a:latin typeface="Montserrat Light" panose="00000700000000000000" pitchFamily="2" charset="0"/>
              </a:rPr>
              <a:t>₹ </a:t>
            </a:r>
            <a:r>
              <a:rPr lang="en-US" sz="1800" spc="-18" dirty="0">
                <a:solidFill>
                  <a:srgbClr val="DEDCE1">
                    <a:alpha val="100000"/>
                  </a:srgbClr>
                </a:solidFill>
                <a:latin typeface="Montserrat Light" panose="00000700000000000000" pitchFamily="2" charset="0"/>
              </a:rPr>
              <a:t>2.30</a:t>
            </a:r>
          </a:p>
        </p:txBody>
      </p:sp>
      <p:pic>
        <p:nvPicPr>
          <p:cNvPr id="110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8">
            <a:alphaModFix/>
          </a:blip>
          <a:stretch/>
        </p:blipFill>
        <p:spPr>
          <a:xfrm>
            <a:off x="13420725" y="8058735"/>
            <a:ext cx="4124325" cy="1533525"/>
          </a:xfrm>
          <a:prstGeom prst="rect">
            <a:avLst/>
          </a:prstGeom>
        </p:spPr>
      </p:pic>
      <p:sp>
        <p:nvSpPr>
          <p:cNvPr id="1105" name="Description of a primary heading-4,4">
            <a:extLst>
              <a:ext uri="{FF2B5EF4-FFF2-40B4-BE49-F238E27FC236}">
                <a16:creationId xmlns:a16="http://schemas.microsoft.com/office/drawing/2014/main" id="{111B4A49-B930-4A89-A1CD-6CA2B3D95AED}"/>
              </a:ext>
            </a:extLst>
          </p:cNvPr>
          <p:cNvSpPr txBox="1"/>
          <p:nvPr/>
        </p:nvSpPr>
        <p:spPr>
          <a:xfrm>
            <a:off x="15192756" y="8665679"/>
            <a:ext cx="53340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DEDCE1">
                    <a:alpha val="100000"/>
                  </a:srgbClr>
                </a:solidFill>
                <a:latin typeface="Montserrat Light" panose="00000700000000000000" pitchFamily="2" charset="0"/>
              </a:rPr>
              <a:t>12</a:t>
            </a:r>
            <a:r>
              <a:rPr lang="en-US" sz="1800" spc="-18" dirty="0">
                <a:solidFill>
                  <a:srgbClr val="DEDCE1">
                    <a:alpha val="100000"/>
                  </a:srgbClr>
                </a:solidFill>
                <a:latin typeface="Montserrat Light" panose="00000700000000000000" pitchFamily="2" charset="0"/>
              </a:rPr>
              <a:t>%</a:t>
            </a:r>
          </a:p>
        </p:txBody>
      </p:sp>
      <p:sp>
        <p:nvSpPr>
          <p:cNvPr id="1106" name="Click here to edit title-453">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Quarterly Projections for FY 26-27</a:t>
            </a:r>
          </a:p>
        </p:txBody>
      </p:sp>
      <p:pic>
        <p:nvPicPr>
          <p:cNvPr id="1107"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19">
            <a:alphaModFix/>
          </a:blip>
          <a:stretch/>
        </p:blipFill>
        <p:spPr>
          <a:xfrm>
            <a:off x="590550" y="733425"/>
            <a:ext cx="19050" cy="666750"/>
          </a:xfrm>
          <a:prstGeom prst="rect">
            <a:avLst/>
          </a:prstGeom>
        </p:spPr>
      </p:pic>
      <p:sp>
        <p:nvSpPr>
          <p:cNvPr id="2" name="Description of a primary heading-1,1">
            <a:extLst>
              <a:ext uri="{FF2B5EF4-FFF2-40B4-BE49-F238E27FC236}">
                <a16:creationId xmlns:a16="http://schemas.microsoft.com/office/drawing/2014/main" id="{8341183B-20E4-02B0-43C3-A44E9EAFAF00}"/>
              </a:ext>
            </a:extLst>
          </p:cNvPr>
          <p:cNvSpPr txBox="1"/>
          <p:nvPr/>
        </p:nvSpPr>
        <p:spPr>
          <a:xfrm>
            <a:off x="14362748" y="1396055"/>
            <a:ext cx="2343150" cy="316753"/>
          </a:xfrm>
          <a:prstGeom prst="rect">
            <a:avLst/>
          </a:prstGeom>
          <a:noFill/>
        </p:spPr>
        <p:txBody>
          <a:bodyPr vertOverflow="clip" horzOverflow="clip" wrap="square" lIns="0" tIns="0" rIns="0" bIns="0" rtlCol="0" anchor="ctr">
            <a:spAutoFit/>
          </a:bodyPr>
          <a:lstStyle/>
          <a:p>
            <a:pPr algn="ctr">
              <a:lnSpc>
                <a:spcPts val="2700"/>
              </a:lnSpc>
            </a:pPr>
            <a:r>
              <a:rPr lang="en-US" spc="-18" dirty="0">
                <a:solidFill>
                  <a:srgbClr val="E5E3E7">
                    <a:alpha val="100000"/>
                  </a:srgbClr>
                </a:solidFill>
                <a:latin typeface="Montserrat Light" panose="00000700000000000000" pitchFamily="2" charset="0"/>
              </a:rPr>
              <a:t>Amount in Crores</a:t>
            </a:r>
            <a:endParaRPr lang="en-US" sz="1800" spc="-18" dirty="0">
              <a:solidFill>
                <a:srgbClr val="F2F1F3">
                  <a:alpha val="100000"/>
                </a:srgbClr>
              </a:solidFill>
              <a:latin typeface="Montserrat Light" panose="00000700000000000000" pitchFamily="2" charset="0"/>
            </a:endParaRPr>
          </a:p>
        </p:txBody>
      </p:sp>
      <p:sp>
        <p:nvSpPr>
          <p:cNvPr id="1108" name="TextBox 1107"/>
          <p:cNvSpPr txBox="1"/>
          <p:nvPr/>
        </p:nvSpPr>
        <p:spPr>
          <a:xfrm>
            <a:off x="1216152" y="9857232"/>
            <a:ext cx="16002000" cy="310896"/>
          </a:xfrm>
          <a:prstGeom prst="rect">
            <a:avLst/>
          </a:prstGeom>
          <a:noFill/>
        </p:spPr>
        <p:txBody>
          <a:bodyPr wrap="square" anchor="t" lIns="54864" rIns="54864" tIns="18288" bIns="18288">
            <a:spAutoFit/>
          </a:bodyPr>
          <a:lstStyle/>
          <a:p>
            <a:pPr algn="l"/>
            <a:r>
              <a:rPr sz="1150" b="0">
                <a:solidFill>
                  <a:srgbClr val="C8B8FF"/>
                </a:solidFill>
                <a:latin typeface="Montserrat Light"/>
              </a:rPr>
              <a:t>All projections are indicative and subject to availability of funds at the right time.</a:t>
            </a:r>
          </a:p>
        </p:txBody>
      </p:sp>
    </p:spTree>
    <p:extLst>
      <p:ext uri="{BB962C8B-B14F-4D97-AF65-F5344CB8AC3E}">
        <p14:creationId xmlns:p14="http://schemas.microsoft.com/office/powerpoint/2010/main" val="3648047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0" name="Rect"/>
          <p:cNvPicPr>
            <a:picLocks noChangeAspect="1"/>
          </p:cNvPicPr>
          <p:nvPr/>
        </p:nvPicPr>
        <p:blipFill rotWithShape="1">
          <a:blip r:embed="rId2">
            <a:alphaModFix/>
          </a:blip>
          <a:stretch/>
        </p:blipFill>
        <p:spPr>
          <a:xfrm>
            <a:off x="0" y="0"/>
            <a:ext cx="18288000" cy="10287000"/>
          </a:xfrm>
          <a:prstGeom prst="rect">
            <a:avLst/>
          </a:prstGeom>
        </p:spPr>
      </p:pic>
      <p:pic>
        <p:nvPicPr>
          <p:cNvPr id="2001" name="layoutShapeInnerChild1"/>
          <p:cNvPicPr>
            <a:picLocks noChangeAspect="1"/>
          </p:cNvPicPr>
          <p:nvPr/>
        </p:nvPicPr>
        <p:blipFill rotWithShape="1">
          <a:blip r:embed="rId3">
            <a:alphaModFix/>
          </a:blip>
          <a:stretch/>
        </p:blipFill>
        <p:spPr>
          <a:xfrm>
            <a:off x="0" y="0"/>
            <a:ext cx="18288000" cy="10287000"/>
          </a:xfrm>
          <a:prstGeom prst="rect">
            <a:avLst/>
          </a:prstGeom>
        </p:spPr>
      </p:pic>
      <p:sp>
        <p:nvSpPr>
          <p:cNvPr id="2002" name="slide-title"/>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Annual Projections</a:t>
            </a:r>
          </a:p>
        </p:txBody>
      </p:sp>
      <p:pic>
        <p:nvPicPr>
          <p:cNvPr id="2003" name="Rect-accent"/>
          <p:cNvPicPr>
            <a:picLocks noChangeAspect="1"/>
          </p:cNvPicPr>
          <p:nvPr/>
        </p:nvPicPr>
        <p:blipFill rotWithShape="1">
          <a:blip r:embed="rId4">
            <a:alphaModFix/>
          </a:blip>
          <a:stretch/>
        </p:blipFill>
        <p:spPr>
          <a:xfrm>
            <a:off x="590550" y="733425"/>
            <a:ext cx="19050" cy="666750"/>
          </a:xfrm>
          <a:prstGeom prst="rect">
            <a:avLst/>
          </a:prstGeom>
        </p:spPr>
      </p:pic>
      <p:sp>
        <p:nvSpPr>
          <p:cNvPr id="2004" name="amount-label"/>
          <p:cNvSpPr txBox="1"/>
          <p:nvPr/>
        </p:nvSpPr>
        <p:spPr>
          <a:xfrm>
            <a:off x="14500000" y="1460394"/>
            <a:ext cx="2500000" cy="316753"/>
          </a:xfrm>
          <a:prstGeom prst="rect">
            <a:avLst/>
          </a:prstGeom>
          <a:noFill/>
        </p:spPr>
        <p:txBody>
          <a:bodyPr vertOverflow="clip" horzOverflow="clip" wrap="square" lIns="0" tIns="0" rIns="0" bIns="0" rtlCol="0" anchor="ctr">
            <a:spAutoFit/>
          </a:bodyPr>
          <a:lstStyle/>
          <a:p>
            <a:pPr algn="l">
              <a:lnSpc>
                <a:spcPts val="2700"/>
              </a:lnSpc>
            </a:pPr>
            <a:r>
              <a:rPr lang="en-US" sz="1600" spc="-18" dirty="0">
                <a:solidFill>
                  <a:srgbClr val="F2F1F3">
                    <a:alpha val="100000"/>
                  </a:srgbClr>
                </a:solidFill>
                <a:latin typeface="Montserrat Light" panose="00000700000000000000" pitchFamily="2" charset="0"/>
              </a:rPr>
              <a:t>Amount in Crores</a:t>
            </a:r>
          </a:p>
        </p:txBody>
      </p:sp>
      <p:pic>
        <p:nvPicPr>
          <p:cNvPr id="2005" name="hdr-bg-metric"/>
          <p:cNvPicPr>
            <a:picLocks noChangeAspect="1"/>
          </p:cNvPicPr>
          <p:nvPr/>
        </p:nvPicPr>
        <p:blipFill rotWithShape="1">
          <a:blip r:embed="rId5">
            <a:alphaModFix/>
          </a:blip>
          <a:stretch/>
        </p:blipFill>
        <p:spPr>
          <a:xfrm>
            <a:off x="752475" y="1962150"/>
            <a:ext cx="2800000" cy="1323975"/>
          </a:xfrm>
          <a:prstGeom prst="rect">
            <a:avLst/>
          </a:prstGeom>
        </p:spPr>
      </p:pic>
      <p:sp>
        <p:nvSpPr>
          <p:cNvPr id="2006" name="hdr-txt-metric"/>
          <p:cNvSpPr txBox="1"/>
          <p:nvPr/>
        </p:nvSpPr>
        <p:spPr>
          <a:xfrm>
            <a:off x="952475" y="2392150"/>
            <a:ext cx="2600000" cy="40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Metric</a:t>
            </a:r>
          </a:p>
        </p:txBody>
      </p:sp>
      <p:pic>
        <p:nvPicPr>
          <p:cNvPr id="2007" name="hdr-bg-0"/>
          <p:cNvPicPr>
            <a:picLocks noChangeAspect="1"/>
          </p:cNvPicPr>
          <p:nvPr/>
        </p:nvPicPr>
        <p:blipFill rotWithShape="1">
          <a:blip r:embed="rId6">
            <a:alphaModFix/>
          </a:blip>
          <a:stretch/>
        </p:blipFill>
        <p:spPr>
          <a:xfrm>
            <a:off x="3552475" y="1962150"/>
            <a:ext cx="3495000" cy="1323975"/>
          </a:xfrm>
          <a:prstGeom prst="rect">
            <a:avLst/>
          </a:prstGeom>
        </p:spPr>
      </p:pic>
      <p:sp>
        <p:nvSpPr>
          <p:cNvPr id="2008" name="hdr-txt-0"/>
          <p:cNvSpPr txBox="1"/>
          <p:nvPr/>
        </p:nvSpPr>
        <p:spPr>
          <a:xfrm>
            <a:off x="3702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Mar-2027 (FY 26-27)</a:t>
            </a:r>
          </a:p>
        </p:txBody>
      </p:sp>
      <p:pic>
        <p:nvPicPr>
          <p:cNvPr id="2009" name="hdr-bg-1"/>
          <p:cNvPicPr>
            <a:picLocks noChangeAspect="1"/>
          </p:cNvPicPr>
          <p:nvPr/>
        </p:nvPicPr>
        <p:blipFill rotWithShape="1">
          <a:blip r:embed="rId7">
            <a:alphaModFix/>
          </a:blip>
          <a:stretch/>
        </p:blipFill>
        <p:spPr>
          <a:xfrm>
            <a:off x="7047475" y="1962150"/>
            <a:ext cx="3495000" cy="1323975"/>
          </a:xfrm>
          <a:prstGeom prst="rect">
            <a:avLst/>
          </a:prstGeom>
        </p:spPr>
      </p:pic>
      <p:sp>
        <p:nvSpPr>
          <p:cNvPr id="2010" name="hdr-txt-1"/>
          <p:cNvSpPr txBox="1"/>
          <p:nvPr/>
        </p:nvSpPr>
        <p:spPr>
          <a:xfrm>
            <a:off x="7197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Mar-2028 (FY 27-28)</a:t>
            </a:r>
          </a:p>
        </p:txBody>
      </p:sp>
      <p:pic>
        <p:nvPicPr>
          <p:cNvPr id="2011" name="hdr-bg-2"/>
          <p:cNvPicPr>
            <a:picLocks noChangeAspect="1"/>
          </p:cNvPicPr>
          <p:nvPr/>
        </p:nvPicPr>
        <p:blipFill rotWithShape="1">
          <a:blip r:embed="rId8">
            <a:alphaModFix/>
          </a:blip>
          <a:stretch/>
        </p:blipFill>
        <p:spPr>
          <a:xfrm>
            <a:off x="10542475" y="1962150"/>
            <a:ext cx="3495000" cy="1323975"/>
          </a:xfrm>
          <a:prstGeom prst="rect">
            <a:avLst/>
          </a:prstGeom>
        </p:spPr>
      </p:pic>
      <p:sp>
        <p:nvSpPr>
          <p:cNvPr id="2012" name="hdr-txt-2"/>
          <p:cNvSpPr txBox="1"/>
          <p:nvPr/>
        </p:nvSpPr>
        <p:spPr>
          <a:xfrm>
            <a:off x="10692475" y="2392150"/>
            <a:ext cx="334500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Mar-2029 (FY 28-29)</a:t>
            </a:r>
          </a:p>
        </p:txBody>
      </p:sp>
      <p:pic>
        <p:nvPicPr>
          <p:cNvPr id="2013" name="hdr-bg-3"/>
          <p:cNvPicPr>
            <a:picLocks noChangeAspect="1"/>
          </p:cNvPicPr>
          <p:nvPr/>
        </p:nvPicPr>
        <p:blipFill rotWithShape="1">
          <a:blip r:embed="rId8">
            <a:alphaModFix/>
          </a:blip>
          <a:stretch/>
        </p:blipFill>
        <p:spPr>
          <a:xfrm>
            <a:off x="14037475" y="1962150"/>
            <a:ext cx="3498050" cy="1323975"/>
          </a:xfrm>
          <a:prstGeom prst="rect">
            <a:avLst/>
          </a:prstGeom>
        </p:spPr>
      </p:pic>
      <p:sp>
        <p:nvSpPr>
          <p:cNvPr id="2014" name="hdr-txt-3"/>
          <p:cNvSpPr txBox="1"/>
          <p:nvPr/>
        </p:nvSpPr>
        <p:spPr>
          <a:xfrm>
            <a:off x="14187475" y="2392150"/>
            <a:ext cx="3348050" cy="420000"/>
          </a:xfrm>
          <a:prstGeom prst="rect">
            <a:avLst/>
          </a:prstGeom>
          <a:noFill/>
        </p:spPr>
        <p:txBody>
          <a:bodyPr vertOverflow="clip" horzOverflow="clip" wrap="square" lIns="0" tIns="0" rIns="0" bIns="0" rtlCol="0" anchor="ctr">
            <a:spAutoFit/>
          </a:bodyPr>
          <a:lstStyle/>
          <a:p>
            <a:pPr algn="l">
              <a:lnSpc>
                <a:spcPts val="2400"/>
              </a:lnSpc>
            </a:pPr>
            <a:r>
              <a:rPr lang="en-US" sz="1600" b="1" spc="-32" dirty="0">
                <a:solidFill>
                  <a:srgbClr val="15092E">
                    <a:alpha val="100000"/>
                  </a:srgbClr>
                </a:solidFill>
                <a:latin typeface="Montserrat" panose="00000700000000000000" pitchFamily="2" charset="0"/>
              </a:rPr>
              <a:t>Mar-2030 (FY 29-30)</a:t>
            </a:r>
          </a:p>
        </p:txBody>
      </p:sp>
      <p:pic>
        <p:nvPicPr>
          <p:cNvPr id="2015" name="row0-bg-metric"/>
          <p:cNvPicPr>
            <a:picLocks noChangeAspect="1"/>
          </p:cNvPicPr>
          <p:nvPr/>
        </p:nvPicPr>
        <p:blipFill rotWithShape="1">
          <a:blip r:embed="rId9">
            <a:alphaModFix/>
          </a:blip>
          <a:stretch/>
        </p:blipFill>
        <p:spPr>
          <a:xfrm>
            <a:off x="752475" y="3286125"/>
            <a:ext cx="2800000" cy="1257300"/>
          </a:xfrm>
          <a:prstGeom prst="rect">
            <a:avLst/>
          </a:prstGeom>
        </p:spPr>
      </p:pic>
      <p:sp>
        <p:nvSpPr>
          <p:cNvPr id="2016" name="row0-label"/>
          <p:cNvSpPr txBox="1"/>
          <p:nvPr/>
        </p:nvSpPr>
        <p:spPr>
          <a:xfrm>
            <a:off x="922475" y="37647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F2F1F3">
                    <a:alpha val="100000"/>
                  </a:srgbClr>
                </a:solidFill>
                <a:latin typeface="Montserrat Light" panose="00000700000000000000" pitchFamily="2" charset="0"/>
              </a:rPr>
              <a:t>Revenue</a:t>
            </a:r>
          </a:p>
        </p:txBody>
      </p:sp>
      <p:pic>
        <p:nvPicPr>
          <p:cNvPr id="2017" name="row0-bg-0"/>
          <p:cNvPicPr>
            <a:picLocks noChangeAspect="1"/>
          </p:cNvPicPr>
          <p:nvPr/>
        </p:nvPicPr>
        <p:blipFill rotWithShape="1">
          <a:blip r:embed="rId10">
            <a:alphaModFix/>
          </a:blip>
          <a:stretch/>
        </p:blipFill>
        <p:spPr>
          <a:xfrm>
            <a:off x="3552475" y="3286125"/>
            <a:ext cx="3495000" cy="1257300"/>
          </a:xfrm>
          <a:prstGeom prst="rect">
            <a:avLst/>
          </a:prstGeom>
        </p:spPr>
      </p:pic>
      <p:sp>
        <p:nvSpPr>
          <p:cNvPr id="2018" name="row0-val-0"/>
          <p:cNvSpPr txBox="1"/>
          <p:nvPr/>
        </p:nvSpPr>
        <p:spPr>
          <a:xfrm>
            <a:off x="3702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53.0</a:t>
            </a:r>
          </a:p>
        </p:txBody>
      </p:sp>
      <p:pic>
        <p:nvPicPr>
          <p:cNvPr id="2019" name="row0-bg-1"/>
          <p:cNvPicPr>
            <a:picLocks noChangeAspect="1"/>
          </p:cNvPicPr>
          <p:nvPr/>
        </p:nvPicPr>
        <p:blipFill rotWithShape="1">
          <a:blip r:embed="rId11">
            <a:alphaModFix/>
          </a:blip>
          <a:stretch/>
        </p:blipFill>
        <p:spPr>
          <a:xfrm>
            <a:off x="7047475" y="3286125"/>
            <a:ext cx="3495000" cy="1257300"/>
          </a:xfrm>
          <a:prstGeom prst="rect">
            <a:avLst/>
          </a:prstGeom>
        </p:spPr>
      </p:pic>
      <p:sp>
        <p:nvSpPr>
          <p:cNvPr id="2020" name="row0-val-1"/>
          <p:cNvSpPr txBox="1"/>
          <p:nvPr/>
        </p:nvSpPr>
        <p:spPr>
          <a:xfrm>
            <a:off x="7197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89.0</a:t>
            </a:r>
          </a:p>
        </p:txBody>
      </p:sp>
      <p:pic>
        <p:nvPicPr>
          <p:cNvPr id="2021" name="row0-bg-2"/>
          <p:cNvPicPr>
            <a:picLocks noChangeAspect="1"/>
          </p:cNvPicPr>
          <p:nvPr/>
        </p:nvPicPr>
        <p:blipFill rotWithShape="1">
          <a:blip r:embed="rId12">
            <a:alphaModFix/>
          </a:blip>
          <a:stretch/>
        </p:blipFill>
        <p:spPr>
          <a:xfrm>
            <a:off x="10542475" y="3286125"/>
            <a:ext cx="3495000" cy="1257300"/>
          </a:xfrm>
          <a:prstGeom prst="rect">
            <a:avLst/>
          </a:prstGeom>
        </p:spPr>
      </p:pic>
      <p:sp>
        <p:nvSpPr>
          <p:cNvPr id="2022" name="row0-val-2"/>
          <p:cNvSpPr txBox="1"/>
          <p:nvPr/>
        </p:nvSpPr>
        <p:spPr>
          <a:xfrm>
            <a:off x="10692475" y="38118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160.0</a:t>
            </a:r>
          </a:p>
        </p:txBody>
      </p:sp>
      <p:pic>
        <p:nvPicPr>
          <p:cNvPr id="2023" name="row0-bg-3"/>
          <p:cNvPicPr>
            <a:picLocks noChangeAspect="1"/>
          </p:cNvPicPr>
          <p:nvPr/>
        </p:nvPicPr>
        <p:blipFill rotWithShape="1">
          <a:blip r:embed="rId12">
            <a:alphaModFix/>
          </a:blip>
          <a:stretch/>
        </p:blipFill>
        <p:spPr>
          <a:xfrm>
            <a:off x="14037475" y="3286125"/>
            <a:ext cx="3498050" cy="1257300"/>
          </a:xfrm>
          <a:prstGeom prst="rect">
            <a:avLst/>
          </a:prstGeom>
        </p:spPr>
      </p:pic>
      <p:sp>
        <p:nvSpPr>
          <p:cNvPr id="2024" name="row0-val-3"/>
          <p:cNvSpPr txBox="1"/>
          <p:nvPr/>
        </p:nvSpPr>
        <p:spPr>
          <a:xfrm>
            <a:off x="14187475" y="37647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280.0</a:t>
            </a:r>
          </a:p>
        </p:txBody>
      </p:sp>
      <p:pic>
        <p:nvPicPr>
          <p:cNvPr id="2025" name="row1-bg-metric"/>
          <p:cNvPicPr>
            <a:picLocks noChangeAspect="1"/>
          </p:cNvPicPr>
          <p:nvPr/>
        </p:nvPicPr>
        <p:blipFill rotWithShape="1">
          <a:blip r:embed="rId9">
            <a:alphaModFix/>
          </a:blip>
          <a:stretch/>
        </p:blipFill>
        <p:spPr>
          <a:xfrm>
            <a:off x="752475" y="4543425"/>
            <a:ext cx="2800000" cy="1257300"/>
          </a:xfrm>
          <a:prstGeom prst="rect">
            <a:avLst/>
          </a:prstGeom>
        </p:spPr>
      </p:pic>
      <p:sp>
        <p:nvSpPr>
          <p:cNvPr id="2026" name="row1-label"/>
          <p:cNvSpPr txBox="1"/>
          <p:nvPr/>
        </p:nvSpPr>
        <p:spPr>
          <a:xfrm>
            <a:off x="922475" y="50220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EBEAED">
                    <a:alpha val="100000"/>
                  </a:srgbClr>
                </a:solidFill>
                <a:latin typeface="Montserrat Light" panose="00000700000000000000" pitchFamily="2" charset="0"/>
              </a:rPr>
              <a:t>PAT</a:t>
            </a:r>
          </a:p>
        </p:txBody>
      </p:sp>
      <p:pic>
        <p:nvPicPr>
          <p:cNvPr id="2027" name="row1-bg-0"/>
          <p:cNvPicPr>
            <a:picLocks noChangeAspect="1"/>
          </p:cNvPicPr>
          <p:nvPr/>
        </p:nvPicPr>
        <p:blipFill rotWithShape="1">
          <a:blip r:embed="rId10">
            <a:alphaModFix/>
          </a:blip>
          <a:stretch/>
        </p:blipFill>
        <p:spPr>
          <a:xfrm>
            <a:off x="3552475" y="4543425"/>
            <a:ext cx="3495000" cy="1257300"/>
          </a:xfrm>
          <a:prstGeom prst="rect">
            <a:avLst/>
          </a:prstGeom>
        </p:spPr>
      </p:pic>
      <p:sp>
        <p:nvSpPr>
          <p:cNvPr id="2028" name="row1-val-0"/>
          <p:cNvSpPr txBox="1"/>
          <p:nvPr/>
        </p:nvSpPr>
        <p:spPr>
          <a:xfrm>
            <a:off x="3702475" y="50691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5.4</a:t>
            </a:r>
          </a:p>
        </p:txBody>
      </p:sp>
      <p:pic>
        <p:nvPicPr>
          <p:cNvPr id="2029" name="row1-bg-1"/>
          <p:cNvPicPr>
            <a:picLocks noChangeAspect="1"/>
          </p:cNvPicPr>
          <p:nvPr/>
        </p:nvPicPr>
        <p:blipFill rotWithShape="1">
          <a:blip r:embed="rId11">
            <a:alphaModFix/>
          </a:blip>
          <a:stretch/>
        </p:blipFill>
        <p:spPr>
          <a:xfrm>
            <a:off x="7047475" y="4543425"/>
            <a:ext cx="3495000" cy="1257300"/>
          </a:xfrm>
          <a:prstGeom prst="rect">
            <a:avLst/>
          </a:prstGeom>
        </p:spPr>
      </p:pic>
      <p:sp>
        <p:nvSpPr>
          <p:cNvPr id="2030" name="row1-val-1"/>
          <p:cNvSpPr txBox="1"/>
          <p:nvPr/>
        </p:nvSpPr>
        <p:spPr>
          <a:xfrm>
            <a:off x="7197475" y="50691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10.2</a:t>
            </a:r>
          </a:p>
        </p:txBody>
      </p:sp>
      <p:pic>
        <p:nvPicPr>
          <p:cNvPr id="2031" name="row1-bg-2"/>
          <p:cNvPicPr>
            <a:picLocks noChangeAspect="1"/>
          </p:cNvPicPr>
          <p:nvPr/>
        </p:nvPicPr>
        <p:blipFill rotWithShape="1">
          <a:blip r:embed="rId12">
            <a:alphaModFix/>
          </a:blip>
          <a:stretch/>
        </p:blipFill>
        <p:spPr>
          <a:xfrm>
            <a:off x="10542475" y="4543425"/>
            <a:ext cx="3495000" cy="1257300"/>
          </a:xfrm>
          <a:prstGeom prst="rect">
            <a:avLst/>
          </a:prstGeom>
        </p:spPr>
      </p:pic>
      <p:sp>
        <p:nvSpPr>
          <p:cNvPr id="2032" name="row1-val-2"/>
          <p:cNvSpPr txBox="1"/>
          <p:nvPr/>
        </p:nvSpPr>
        <p:spPr>
          <a:xfrm>
            <a:off x="10692475" y="50220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22.75</a:t>
            </a:r>
          </a:p>
        </p:txBody>
      </p:sp>
      <p:pic>
        <p:nvPicPr>
          <p:cNvPr id="2033" name="row1-bg-3"/>
          <p:cNvPicPr>
            <a:picLocks noChangeAspect="1"/>
          </p:cNvPicPr>
          <p:nvPr/>
        </p:nvPicPr>
        <p:blipFill rotWithShape="1">
          <a:blip r:embed="rId12">
            <a:alphaModFix/>
          </a:blip>
          <a:stretch/>
        </p:blipFill>
        <p:spPr>
          <a:xfrm>
            <a:off x="14037475" y="4543425"/>
            <a:ext cx="3498050" cy="1257300"/>
          </a:xfrm>
          <a:prstGeom prst="rect">
            <a:avLst/>
          </a:prstGeom>
        </p:spPr>
      </p:pic>
      <p:sp>
        <p:nvSpPr>
          <p:cNvPr id="2034" name="row1-val-3"/>
          <p:cNvSpPr txBox="1"/>
          <p:nvPr/>
        </p:nvSpPr>
        <p:spPr>
          <a:xfrm>
            <a:off x="14187475" y="50220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39.2</a:t>
            </a:r>
          </a:p>
        </p:txBody>
      </p:sp>
      <p:pic>
        <p:nvPicPr>
          <p:cNvPr id="2035" name="row2-bg-metric"/>
          <p:cNvPicPr>
            <a:picLocks noChangeAspect="1"/>
          </p:cNvPicPr>
          <p:nvPr/>
        </p:nvPicPr>
        <p:blipFill rotWithShape="1">
          <a:blip r:embed="rId9">
            <a:alphaModFix/>
          </a:blip>
          <a:stretch/>
        </p:blipFill>
        <p:spPr>
          <a:xfrm>
            <a:off x="752475" y="5800725"/>
            <a:ext cx="2800000" cy="1257300"/>
          </a:xfrm>
          <a:prstGeom prst="rect">
            <a:avLst/>
          </a:prstGeom>
        </p:spPr>
      </p:pic>
      <p:sp>
        <p:nvSpPr>
          <p:cNvPr id="2036" name="row2-label"/>
          <p:cNvSpPr txBox="1"/>
          <p:nvPr/>
        </p:nvSpPr>
        <p:spPr>
          <a:xfrm>
            <a:off x="922475" y="62793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E5E3E7">
                    <a:alpha val="100000"/>
                  </a:srgbClr>
                </a:solidFill>
                <a:latin typeface="Montserrat Light" panose="00000700000000000000" pitchFamily="2" charset="0"/>
              </a:rPr>
              <a:t>NET Margin (%)</a:t>
            </a:r>
          </a:p>
        </p:txBody>
      </p:sp>
      <p:pic>
        <p:nvPicPr>
          <p:cNvPr id="2037" name="row2-bg-0"/>
          <p:cNvPicPr>
            <a:picLocks noChangeAspect="1"/>
          </p:cNvPicPr>
          <p:nvPr/>
        </p:nvPicPr>
        <p:blipFill rotWithShape="1">
          <a:blip r:embed="rId10">
            <a:alphaModFix/>
          </a:blip>
          <a:stretch/>
        </p:blipFill>
        <p:spPr>
          <a:xfrm>
            <a:off x="3552475" y="5800725"/>
            <a:ext cx="3495000" cy="1257300"/>
          </a:xfrm>
          <a:prstGeom prst="rect">
            <a:avLst/>
          </a:prstGeom>
        </p:spPr>
      </p:pic>
      <p:sp>
        <p:nvSpPr>
          <p:cNvPr id="2038" name="row2-val-0"/>
          <p:cNvSpPr txBox="1"/>
          <p:nvPr/>
        </p:nvSpPr>
        <p:spPr>
          <a:xfrm>
            <a:off x="3702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10.20%</a:t>
            </a:r>
          </a:p>
        </p:txBody>
      </p:sp>
      <p:pic>
        <p:nvPicPr>
          <p:cNvPr id="2039" name="row2-bg-1"/>
          <p:cNvPicPr>
            <a:picLocks noChangeAspect="1"/>
          </p:cNvPicPr>
          <p:nvPr/>
        </p:nvPicPr>
        <p:blipFill rotWithShape="1">
          <a:blip r:embed="rId11">
            <a:alphaModFix/>
          </a:blip>
          <a:stretch/>
        </p:blipFill>
        <p:spPr>
          <a:xfrm>
            <a:off x="7047475" y="5800725"/>
            <a:ext cx="3495000" cy="1257300"/>
          </a:xfrm>
          <a:prstGeom prst="rect">
            <a:avLst/>
          </a:prstGeom>
        </p:spPr>
      </p:pic>
      <p:sp>
        <p:nvSpPr>
          <p:cNvPr id="2040" name="row2-val-1"/>
          <p:cNvSpPr txBox="1"/>
          <p:nvPr/>
        </p:nvSpPr>
        <p:spPr>
          <a:xfrm>
            <a:off x="7197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11.40%</a:t>
            </a:r>
          </a:p>
        </p:txBody>
      </p:sp>
      <p:pic>
        <p:nvPicPr>
          <p:cNvPr id="2041" name="row2-bg-2"/>
          <p:cNvPicPr>
            <a:picLocks noChangeAspect="1"/>
          </p:cNvPicPr>
          <p:nvPr/>
        </p:nvPicPr>
        <p:blipFill rotWithShape="1">
          <a:blip r:embed="rId12">
            <a:alphaModFix/>
          </a:blip>
          <a:stretch/>
        </p:blipFill>
        <p:spPr>
          <a:xfrm>
            <a:off x="10542475" y="5800725"/>
            <a:ext cx="3495000" cy="1257300"/>
          </a:xfrm>
          <a:prstGeom prst="rect">
            <a:avLst/>
          </a:prstGeom>
        </p:spPr>
      </p:pic>
      <p:sp>
        <p:nvSpPr>
          <p:cNvPr id="2042" name="row2-val-2"/>
          <p:cNvSpPr txBox="1"/>
          <p:nvPr/>
        </p:nvSpPr>
        <p:spPr>
          <a:xfrm>
            <a:off x="10692475" y="6326455"/>
            <a:ext cx="3345000" cy="255839"/>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14.20%</a:t>
            </a:r>
          </a:p>
        </p:txBody>
      </p:sp>
      <p:pic>
        <p:nvPicPr>
          <p:cNvPr id="2043" name="row2-bg-3"/>
          <p:cNvPicPr>
            <a:picLocks noChangeAspect="1"/>
          </p:cNvPicPr>
          <p:nvPr/>
        </p:nvPicPr>
        <p:blipFill rotWithShape="1">
          <a:blip r:embed="rId12">
            <a:alphaModFix/>
          </a:blip>
          <a:stretch/>
        </p:blipFill>
        <p:spPr>
          <a:xfrm>
            <a:off x="14037475" y="5800725"/>
            <a:ext cx="3498050" cy="1257300"/>
          </a:xfrm>
          <a:prstGeom prst="rect">
            <a:avLst/>
          </a:prstGeom>
        </p:spPr>
      </p:pic>
      <p:sp>
        <p:nvSpPr>
          <p:cNvPr id="2044" name="row2-val-3"/>
          <p:cNvSpPr txBox="1"/>
          <p:nvPr/>
        </p:nvSpPr>
        <p:spPr>
          <a:xfrm>
            <a:off x="14187475" y="62793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14.0%</a:t>
            </a:r>
          </a:p>
        </p:txBody>
      </p:sp>
      <p:pic>
        <p:nvPicPr>
          <p:cNvPr id="2045" name="row3-bg-metric"/>
          <p:cNvPicPr>
            <a:picLocks noChangeAspect="1"/>
          </p:cNvPicPr>
          <p:nvPr/>
        </p:nvPicPr>
        <p:blipFill rotWithShape="1">
          <a:blip r:embed="rId9">
            <a:alphaModFix/>
          </a:blip>
          <a:stretch/>
        </p:blipFill>
        <p:spPr>
          <a:xfrm>
            <a:off x="752475" y="7058025"/>
            <a:ext cx="2800000" cy="1257300"/>
          </a:xfrm>
          <a:prstGeom prst="rect">
            <a:avLst/>
          </a:prstGeom>
        </p:spPr>
      </p:pic>
      <p:sp>
        <p:nvSpPr>
          <p:cNvPr id="2046" name="row3-label"/>
          <p:cNvSpPr txBox="1"/>
          <p:nvPr/>
        </p:nvSpPr>
        <p:spPr>
          <a:xfrm>
            <a:off x="922475" y="7536675"/>
            <a:ext cx="2630000" cy="350000"/>
          </a:xfrm>
          <a:prstGeom prst="rect">
            <a:avLst/>
          </a:prstGeom>
          <a:noFill/>
        </p:spPr>
        <p:txBody>
          <a:bodyPr vertOverflow="clip" horzOverflow="clip" wrap="square" lIns="0" tIns="0" rIns="0" bIns="0" rtlCol="0" anchor="ctr">
            <a:spAutoFit/>
          </a:bodyPr>
          <a:lstStyle/>
          <a:p>
            <a:pPr algn="l">
              <a:lnSpc>
                <a:spcPts val="2130"/>
              </a:lnSpc>
            </a:pPr>
            <a:r>
              <a:rPr lang="en-US" sz="1700" spc="-18" dirty="0">
                <a:solidFill>
                  <a:srgbClr val="DEDCE1">
                    <a:alpha val="100000"/>
                  </a:srgbClr>
                </a:solidFill>
                <a:latin typeface="Montserrat Light" panose="00000700000000000000" pitchFamily="2" charset="0"/>
              </a:rPr>
              <a:t>Operating Expenses</a:t>
            </a:r>
          </a:p>
        </p:txBody>
      </p:sp>
      <p:pic>
        <p:nvPicPr>
          <p:cNvPr id="2047" name="row3-bg-0"/>
          <p:cNvPicPr>
            <a:picLocks noChangeAspect="1"/>
          </p:cNvPicPr>
          <p:nvPr/>
        </p:nvPicPr>
        <p:blipFill rotWithShape="1">
          <a:blip r:embed="rId10">
            <a:alphaModFix/>
          </a:blip>
          <a:stretch/>
        </p:blipFill>
        <p:spPr>
          <a:xfrm>
            <a:off x="3552475" y="7058025"/>
            <a:ext cx="3495000" cy="1257300"/>
          </a:xfrm>
          <a:prstGeom prst="rect">
            <a:avLst/>
          </a:prstGeom>
        </p:spPr>
      </p:pic>
      <p:sp>
        <p:nvSpPr>
          <p:cNvPr id="2048" name="row3-val-0"/>
          <p:cNvSpPr txBox="1"/>
          <p:nvPr/>
        </p:nvSpPr>
        <p:spPr>
          <a:xfrm>
            <a:off x="3702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12.80</a:t>
            </a:r>
          </a:p>
        </p:txBody>
      </p:sp>
      <p:pic>
        <p:nvPicPr>
          <p:cNvPr id="2049" name="row3-bg-1"/>
          <p:cNvPicPr>
            <a:picLocks noChangeAspect="1"/>
          </p:cNvPicPr>
          <p:nvPr/>
        </p:nvPicPr>
        <p:blipFill rotWithShape="1">
          <a:blip r:embed="rId11">
            <a:alphaModFix/>
          </a:blip>
          <a:stretch/>
        </p:blipFill>
        <p:spPr>
          <a:xfrm>
            <a:off x="7047475" y="7058025"/>
            <a:ext cx="3495000" cy="1257300"/>
          </a:xfrm>
          <a:prstGeom prst="rect">
            <a:avLst/>
          </a:prstGeom>
        </p:spPr>
      </p:pic>
      <p:sp>
        <p:nvSpPr>
          <p:cNvPr id="2050" name="row3-val-1"/>
          <p:cNvSpPr txBox="1"/>
          <p:nvPr/>
        </p:nvSpPr>
        <p:spPr>
          <a:xfrm>
            <a:off x="7197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19.50</a:t>
            </a:r>
          </a:p>
        </p:txBody>
      </p:sp>
      <p:pic>
        <p:nvPicPr>
          <p:cNvPr id="2051" name="row3-bg-2"/>
          <p:cNvPicPr>
            <a:picLocks noChangeAspect="1"/>
          </p:cNvPicPr>
          <p:nvPr/>
        </p:nvPicPr>
        <p:blipFill rotWithShape="1">
          <a:blip r:embed="rId12">
            <a:alphaModFix/>
          </a:blip>
          <a:stretch/>
        </p:blipFill>
        <p:spPr>
          <a:xfrm>
            <a:off x="10542475" y="7058025"/>
            <a:ext cx="3495000" cy="1257300"/>
          </a:xfrm>
          <a:prstGeom prst="rect">
            <a:avLst/>
          </a:prstGeom>
        </p:spPr>
      </p:pic>
      <p:sp>
        <p:nvSpPr>
          <p:cNvPr id="2052" name="row3-val-2"/>
          <p:cNvSpPr txBox="1"/>
          <p:nvPr/>
        </p:nvSpPr>
        <p:spPr>
          <a:xfrm>
            <a:off x="10692475" y="7536675"/>
            <a:ext cx="334500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32.00</a:t>
            </a:r>
          </a:p>
        </p:txBody>
      </p:sp>
      <p:pic>
        <p:nvPicPr>
          <p:cNvPr id="2053" name="row3-bg-3"/>
          <p:cNvPicPr>
            <a:picLocks noChangeAspect="1"/>
          </p:cNvPicPr>
          <p:nvPr/>
        </p:nvPicPr>
        <p:blipFill rotWithShape="1">
          <a:blip r:embed="rId12">
            <a:alphaModFix/>
          </a:blip>
          <a:stretch/>
        </p:blipFill>
        <p:spPr>
          <a:xfrm>
            <a:off x="14037475" y="7058025"/>
            <a:ext cx="3498050" cy="1257300"/>
          </a:xfrm>
          <a:prstGeom prst="rect">
            <a:avLst/>
          </a:prstGeom>
        </p:spPr>
      </p:pic>
      <p:sp>
        <p:nvSpPr>
          <p:cNvPr id="2054" name="row3-val-3"/>
          <p:cNvSpPr txBox="1"/>
          <p:nvPr/>
        </p:nvSpPr>
        <p:spPr>
          <a:xfrm>
            <a:off x="14187475" y="7536675"/>
            <a:ext cx="3348050" cy="350000"/>
          </a:xfrm>
          <a:prstGeom prst="rect">
            <a:avLst/>
          </a:prstGeom>
          <a:noFill/>
        </p:spPr>
        <p:txBody>
          <a:bodyPr vertOverflow="clip" horzOverflow="clip" wrap="square" lIns="0" tIns="0" rIns="0" bIns="0" rtlCol="0" anchor="ctr">
            <a:spAutoFit/>
          </a:bodyPr>
          <a:lstStyle/>
          <a:p>
            <a:pPr algn="l">
              <a:lnSpc>
                <a:spcPts val="2130"/>
              </a:lnSpc>
            </a:pPr>
            <a:r>
              <a:rPr lang="en-US" sz="1700" b="1" spc="-18" dirty="0">
                <a:solidFill>
                  <a:schemeClr val="bg1"/>
                </a:solidFill>
                <a:latin typeface="Montserrat Light" panose="00000700000000000000" pitchFamily="2" charset="0"/>
              </a:rPr>
              <a:t>₹ 49.00</a:t>
            </a:r>
          </a:p>
        </p:txBody>
      </p:sp>
      <p:pic>
        <p:nvPicPr>
          <p:cNvPr id="2055" name="footer-bg-0"/>
          <p:cNvPicPr>
            <a:picLocks noChangeAspect="1"/>
          </p:cNvPicPr>
          <p:nvPr/>
        </p:nvPicPr>
        <p:blipFill rotWithShape="1">
          <a:blip r:embed="rId13">
            <a:alphaModFix/>
          </a:blip>
          <a:stretch/>
        </p:blipFill>
        <p:spPr>
          <a:xfrm>
            <a:off x="752475" y="8315325"/>
            <a:ext cx="2800000" cy="1285875"/>
          </a:xfrm>
          <a:prstGeom prst="rect">
            <a:avLst/>
          </a:prstGeom>
        </p:spPr>
      </p:pic>
      <p:pic>
        <p:nvPicPr>
          <p:cNvPr id="2056" name="footer-bg-1"/>
          <p:cNvPicPr>
            <a:picLocks noChangeAspect="1"/>
          </p:cNvPicPr>
          <p:nvPr/>
        </p:nvPicPr>
        <p:blipFill rotWithShape="1">
          <a:blip r:embed="rId14">
            <a:alphaModFix/>
          </a:blip>
          <a:stretch/>
        </p:blipFill>
        <p:spPr>
          <a:xfrm>
            <a:off x="3552475" y="8315325"/>
            <a:ext cx="3495000" cy="1285875"/>
          </a:xfrm>
          <a:prstGeom prst="rect">
            <a:avLst/>
          </a:prstGeom>
        </p:spPr>
      </p:pic>
      <p:pic>
        <p:nvPicPr>
          <p:cNvPr id="2057" name="footer-bg-2"/>
          <p:cNvPicPr>
            <a:picLocks noChangeAspect="1"/>
          </p:cNvPicPr>
          <p:nvPr/>
        </p:nvPicPr>
        <p:blipFill rotWithShape="1">
          <a:blip r:embed="rId15">
            <a:alphaModFix/>
          </a:blip>
          <a:stretch/>
        </p:blipFill>
        <p:spPr>
          <a:xfrm>
            <a:off x="7047475" y="8315325"/>
            <a:ext cx="3495000" cy="1285875"/>
          </a:xfrm>
          <a:prstGeom prst="rect">
            <a:avLst/>
          </a:prstGeom>
        </p:spPr>
      </p:pic>
      <p:pic>
        <p:nvPicPr>
          <p:cNvPr id="2058" name="footer-bg-3"/>
          <p:cNvPicPr>
            <a:picLocks noChangeAspect="1"/>
          </p:cNvPicPr>
          <p:nvPr/>
        </p:nvPicPr>
        <p:blipFill rotWithShape="1">
          <a:blip r:embed="rId16">
            <a:alphaModFix/>
          </a:blip>
          <a:stretch/>
        </p:blipFill>
        <p:spPr>
          <a:xfrm>
            <a:off x="10542475" y="8315325"/>
            <a:ext cx="3495000" cy="1285875"/>
          </a:xfrm>
          <a:prstGeom prst="rect">
            <a:avLst/>
          </a:prstGeom>
        </p:spPr>
      </p:pic>
      <p:pic>
        <p:nvPicPr>
          <p:cNvPr id="2059" name="footer-bg-4"/>
          <p:cNvPicPr>
            <a:picLocks noChangeAspect="1"/>
          </p:cNvPicPr>
          <p:nvPr/>
        </p:nvPicPr>
        <p:blipFill rotWithShape="1">
          <a:blip r:embed="rId16">
            <a:alphaModFix/>
          </a:blip>
          <a:stretch/>
        </p:blipFill>
        <p:spPr>
          <a:xfrm>
            <a:off x="14037475" y="8315325"/>
            <a:ext cx="3498050" cy="1285875"/>
          </a:xfrm>
          <a:prstGeom prst="rect">
            <a:avLst/>
          </a:prstGeom>
        </p:spPr>
      </p:pic>
      <p:sp>
        <p:nvSpPr>
          <p:cNvPr id="2060" name="TextBox 2059"/>
          <p:cNvSpPr txBox="1"/>
          <p:nvPr/>
        </p:nvSpPr>
        <p:spPr>
          <a:xfrm>
            <a:off x="1216152" y="9857232"/>
            <a:ext cx="16002000" cy="310896"/>
          </a:xfrm>
          <a:prstGeom prst="rect">
            <a:avLst/>
          </a:prstGeom>
          <a:noFill/>
        </p:spPr>
        <p:txBody>
          <a:bodyPr wrap="square" anchor="t" lIns="54864" rIns="54864" tIns="18288" bIns="18288">
            <a:spAutoFit/>
          </a:bodyPr>
          <a:lstStyle/>
          <a:p>
            <a:pPr algn="l"/>
            <a:r>
              <a:rPr sz="1150" b="0">
                <a:solidFill>
                  <a:srgbClr val="C8B8FF"/>
                </a:solidFill>
                <a:latin typeface="Montserrat Light"/>
              </a:rPr>
              <a:t>All projections are indicative and subject to availability of funds at the right time.</a:t>
            </a:r>
          </a:p>
        </p:txBody>
      </p:sp>
    </p:spTree>
    <p:extLst>
      <p:ext uri="{BB962C8B-B14F-4D97-AF65-F5344CB8AC3E}">
        <p14:creationId xmlns:p14="http://schemas.microsoft.com/office/powerpoint/2010/main" val="3648047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bg1"/>
          <p:cNvPicPr>
            <a:picLocks noChangeAspect="1"/>
          </p:cNvPicPr>
          <p:nvPr/>
        </p:nvPicPr>
        <p:blipFill rotWithShape="1">
          <a:blip r:embed="rId2">
            <a:alphaModFix/>
          </a:blip>
          <a:stretch/>
        </p:blipFill>
        <p:spPr>
          <a:xfrm>
            <a:off x="0" y="0"/>
            <a:ext cx="18288000" cy="10287000"/>
          </a:xfrm>
          <a:prstGeom prst="rect">
            <a:avLst/>
          </a:prstGeom>
        </p:spPr>
      </p:pic>
      <p:pic>
        <p:nvPicPr>
          <p:cNvPr id="101" name="bg2"/>
          <p:cNvPicPr>
            <a:picLocks noChangeAspect="1"/>
          </p:cNvPicPr>
          <p:nvPr/>
        </p:nvPicPr>
        <p:blipFill rotWithShape="1">
          <a:blip r:embed="rId3">
            <a:alphaModFix/>
          </a:blip>
          <a:stretch/>
        </p:blipFill>
        <p:spPr>
          <a:xfrm>
            <a:off x="0" y="0"/>
            <a:ext cx="18288000" cy="10287000"/>
          </a:xfrm>
          <a:prstGeom prst="rect">
            <a:avLst/>
          </a:prstGeom>
        </p:spPr>
      </p:pic>
      <p:pic>
        <p:nvPicPr>
          <p:cNvPr id="102" name="accent"/>
          <p:cNvPicPr>
            <a:picLocks noChangeAspect="1"/>
          </p:cNvPicPr>
          <p:nvPr/>
        </p:nvPicPr>
        <p:blipFill rotWithShape="1">
          <a:blip r:embed="rId4">
            <a:alphaModFix/>
          </a:blip>
          <a:stretch/>
        </p:blipFill>
        <p:spPr>
          <a:xfrm>
            <a:off x="590550" y="733425"/>
            <a:ext cx="19050" cy="666750"/>
          </a:xfrm>
          <a:prstGeom prst="rect">
            <a:avLst/>
          </a:prstGeom>
        </p:spPr>
      </p:pic>
      <p:sp>
        <p:nvSpPr>
          <p:cNvPr id="103" name="main-title"/>
          <p:cNvSpPr txBox="1"/>
          <p:nvPr/>
        </p:nvSpPr>
        <p:spPr>
          <a:xfrm>
            <a:off x="1219200" y="730000"/>
            <a:ext cx="15992475" cy="700000"/>
          </a:xfrm>
          <a:prstGeom prst="rect">
            <a:avLst/>
          </a:prstGeom>
          <a:noFill/>
        </p:spPr>
        <p:txBody>
          <a:bodyPr vertOverflow="clip" horzOverflow="clip" wrap="square" lIns="0" tIns="0" rIns="0" bIns="0" rtlCol="0" anchor="ctr">
            <a:spAutoFit/>
          </a:bodyPr>
          <a:lstStyle/>
          <a:p>
            <a:pPr algn="l">
              <a:lnSpc>
                <a:spcPts val="5250"/>
              </a:lnSpc>
            </a:pPr>
            <a:r>
              <a:rPr lang="en-US" sz="4000" spc="-84" dirty="0">
                <a:solidFill>
                  <a:srgbClr val="FFFFFF">
                    <a:alpha val="100000"/>
                  </a:srgbClr>
                </a:solidFill>
                <a:latin typeface="Montserrat Light" panose="00000700000000000000" pitchFamily="2" charset="0"/>
              </a:rPr>
              <a:t>Near-Term Impact: First Tranche</a:t>
            </a:r>
          </a:p>
        </p:txBody>
      </p:sp>
      <p:sp>
        <p:nvSpPr>
          <p:cNvPr id="104" name="sub-title"/>
          <p:cNvSpPr txBox="1"/>
          <p:nvPr/>
        </p:nvSpPr>
        <p:spPr>
          <a:xfrm>
            <a:off x="1219200" y="1450000"/>
            <a:ext cx="15992475" cy="420000"/>
          </a:xfrm>
          <a:prstGeom prst="rect">
            <a:avLst/>
          </a:prstGeom>
          <a:noFill/>
        </p:spPr>
        <p:txBody>
          <a:bodyPr vertOverflow="clip" horzOverflow="clip" wrap="square" lIns="0" tIns="0" rIns="0" bIns="0" rtlCol="0" anchor="ctr">
            <a:spAutoFit/>
          </a:bodyPr>
          <a:lstStyle/>
          <a:p>
            <a:pPr algn="l">
              <a:lnSpc>
                <a:spcPts val="2700"/>
              </a:lnSpc>
            </a:pPr>
            <a:r>
              <a:rPr lang="en-US" sz="1900" spc="-18" dirty="0">
                <a:solidFill>
                  <a:srgbClr val="C8B8FF">
                    <a:alpha val="100000"/>
                  </a:srgbClr>
                </a:solidFill>
                <a:latin typeface="Montserrat Light" panose="00000700000000000000" pitchFamily="2" charset="0"/>
              </a:rPr>
              <a:t>What an immediate ₹5 Cr first tranche unlocks in H1 FY 26-27  |  Subject to timely infusion</a:t>
            </a:r>
          </a:p>
        </p:txBody>
      </p:sp>
      <p:pic>
        <p:nvPicPr>
          <p:cNvPr id="200" name="card1-bg"/>
          <p:cNvPicPr>
            <a:picLocks noChangeAspect="1"/>
          </p:cNvPicPr>
          <p:nvPr/>
        </p:nvPicPr>
        <p:blipFill rotWithShape="1">
          <a:blip r:embed="rId5">
            <a:alphaModFix/>
          </a:blip>
          <a:stretch/>
        </p:blipFill>
        <p:spPr>
          <a:xfrm>
            <a:off x="752475" y="2150000"/>
            <a:ext cx="5150000" cy="4000000"/>
          </a:xfrm>
          <a:prstGeom prst="rect">
            <a:avLst/>
          </a:prstGeom>
        </p:spPr>
      </p:pic>
      <p:sp>
        <p:nvSpPr>
          <p:cNvPr id="202" name="card1-num"/>
          <p:cNvSpPr txBox="1"/>
          <p:nvPr/>
        </p:nvSpPr>
        <p:spPr>
          <a:xfrm>
            <a:off x="75247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15092E">
                    <a:alpha val="100000"/>
                  </a:srgbClr>
                </a:solidFill>
                <a:latin typeface="Montserrat" panose="00000700000000000000" pitchFamily="2" charset="0"/>
              </a:rPr>
              <a:t>₹22 Cr</a:t>
            </a:r>
          </a:p>
        </p:txBody>
      </p:sp>
      <p:sp>
        <p:nvSpPr>
          <p:cNvPr id="203" name="card1-lbl"/>
          <p:cNvSpPr txBox="1"/>
          <p:nvPr/>
        </p:nvSpPr>
        <p:spPr>
          <a:xfrm>
            <a:off x="75247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15092E">
                    <a:alpha val="100000"/>
                  </a:srgbClr>
                </a:solidFill>
                <a:latin typeface="Montserrat" panose="00000700000000000000" pitchFamily="2" charset="0"/>
              </a:rPr>
              <a:t>Target Sales</a:t>
            </a:r>
          </a:p>
        </p:txBody>
      </p:sp>
      <p:sp>
        <p:nvSpPr>
          <p:cNvPr id="204" name="card1-sub"/>
          <p:cNvSpPr txBox="1"/>
          <p:nvPr/>
        </p:nvSpPr>
        <p:spPr>
          <a:xfrm>
            <a:off x="75247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3A2860">
                    <a:alpha val="100000"/>
                  </a:srgbClr>
                </a:solidFill>
                <a:latin typeface="Montserrat Light" panose="00000700000000000000" pitchFamily="2" charset="0"/>
              </a:rPr>
              <a:t>April – September 2026</a:t>
            </a:r>
          </a:p>
        </p:txBody>
      </p:sp>
      <p:pic>
        <p:nvPicPr>
          <p:cNvPr id="210" name="card2-bg"/>
          <p:cNvPicPr>
            <a:picLocks noChangeAspect="1"/>
          </p:cNvPicPr>
          <p:nvPr/>
        </p:nvPicPr>
        <p:blipFill rotWithShape="1">
          <a:blip r:embed="rId6">
            <a:alphaModFix/>
          </a:blip>
          <a:stretch/>
        </p:blipFill>
        <p:spPr>
          <a:xfrm>
            <a:off x="6602475" y="2150000"/>
            <a:ext cx="5150000" cy="4000000"/>
          </a:xfrm>
          <a:prstGeom prst="rect">
            <a:avLst/>
          </a:prstGeom>
        </p:spPr>
      </p:pic>
      <p:sp>
        <p:nvSpPr>
          <p:cNvPr id="212" name="card2-num"/>
          <p:cNvSpPr txBox="1"/>
          <p:nvPr/>
        </p:nvSpPr>
        <p:spPr>
          <a:xfrm>
            <a:off x="660247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15092E">
                    <a:alpha val="100000"/>
                  </a:srgbClr>
                </a:solidFill>
                <a:latin typeface="Montserrat" panose="00000700000000000000" pitchFamily="2" charset="0"/>
              </a:rPr>
              <a:t>12%</a:t>
            </a:r>
          </a:p>
        </p:txBody>
      </p:sp>
      <p:sp>
        <p:nvSpPr>
          <p:cNvPr id="213" name="card2-lbl"/>
          <p:cNvSpPr txBox="1"/>
          <p:nvPr/>
        </p:nvSpPr>
        <p:spPr>
          <a:xfrm>
            <a:off x="660247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15092E">
                    <a:alpha val="100000"/>
                  </a:srgbClr>
                </a:solidFill>
                <a:latin typeface="Montserrat" panose="00000700000000000000" pitchFamily="2" charset="0"/>
              </a:rPr>
              <a:t>PAT Margin</a:t>
            </a:r>
          </a:p>
        </p:txBody>
      </p:sp>
      <p:sp>
        <p:nvSpPr>
          <p:cNvPr id="214" name="card2-sub"/>
          <p:cNvSpPr txBox="1"/>
          <p:nvPr/>
        </p:nvSpPr>
        <p:spPr>
          <a:xfrm>
            <a:off x="660247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3A2860">
                    <a:alpha val="100000"/>
                  </a:srgbClr>
                </a:solidFill>
                <a:latin typeface="Montserrat Light" panose="00000700000000000000" pitchFamily="2" charset="0"/>
              </a:rPr>
              <a:t>PAT = ₹2.64 Crores</a:t>
            </a:r>
          </a:p>
        </p:txBody>
      </p:sp>
      <p:pic>
        <p:nvPicPr>
          <p:cNvPr id="220" name="card3-bg"/>
          <p:cNvPicPr>
            <a:picLocks noChangeAspect="1"/>
          </p:cNvPicPr>
          <p:nvPr/>
        </p:nvPicPr>
        <p:blipFill rotWithShape="1">
          <a:blip r:embed="rId7">
            <a:alphaModFix/>
          </a:blip>
          <a:stretch/>
        </p:blipFill>
        <p:spPr>
          <a:xfrm>
            <a:off x="12385525" y="2150000"/>
            <a:ext cx="5150000" cy="4000000"/>
          </a:xfrm>
          <a:prstGeom prst="rect">
            <a:avLst/>
          </a:prstGeom>
        </p:spPr>
      </p:pic>
      <p:sp>
        <p:nvSpPr>
          <p:cNvPr id="222" name="card3-num"/>
          <p:cNvSpPr txBox="1"/>
          <p:nvPr/>
        </p:nvSpPr>
        <p:spPr>
          <a:xfrm>
            <a:off x="12385525" y="2750000"/>
            <a:ext cx="5150000" cy="950000"/>
          </a:xfrm>
          <a:prstGeom prst="rect">
            <a:avLst/>
          </a:prstGeom>
          <a:noFill/>
        </p:spPr>
        <p:txBody>
          <a:bodyPr vertOverflow="clip" horzOverflow="clip" wrap="square" lIns="0" tIns="0" rIns="0" bIns="0" rtlCol="0" anchor="ctr">
            <a:spAutoFit/>
          </a:bodyPr>
          <a:lstStyle/>
          <a:p>
            <a:pPr algn="ctr">
              <a:lnSpc>
                <a:spcPts val="2700"/>
              </a:lnSpc>
            </a:pPr>
            <a:r>
              <a:rPr lang="en-US" sz="6800" b="1" spc="-68" dirty="0">
                <a:solidFill>
                  <a:srgbClr val="15092E">
                    <a:alpha val="100000"/>
                  </a:srgbClr>
                </a:solidFill>
                <a:latin typeface="Montserrat" panose="00000700000000000000" pitchFamily="2" charset="0"/>
              </a:rPr>
              <a:t>₹5 Cr</a:t>
            </a:r>
          </a:p>
        </p:txBody>
      </p:sp>
      <p:sp>
        <p:nvSpPr>
          <p:cNvPr id="223" name="card3-lbl"/>
          <p:cNvSpPr txBox="1"/>
          <p:nvPr/>
        </p:nvSpPr>
        <p:spPr>
          <a:xfrm>
            <a:off x="12385525" y="3780000"/>
            <a:ext cx="5150000" cy="550000"/>
          </a:xfrm>
          <a:prstGeom prst="rect">
            <a:avLst/>
          </a:prstGeom>
          <a:noFill/>
        </p:spPr>
        <p:txBody>
          <a:bodyPr vertOverflow="clip" horzOverflow="clip" wrap="square" lIns="0" tIns="0" rIns="0" bIns="0" rtlCol="0" anchor="ctr">
            <a:spAutoFit/>
          </a:bodyPr>
          <a:lstStyle/>
          <a:p>
            <a:pPr algn="ctr">
              <a:lnSpc>
                <a:spcPts val="2700"/>
              </a:lnSpc>
            </a:pPr>
            <a:r>
              <a:rPr lang="en-US" sz="2200" b="1" spc="-22" dirty="0">
                <a:solidFill>
                  <a:srgbClr val="15092E">
                    <a:alpha val="100000"/>
                  </a:srgbClr>
                </a:solidFill>
                <a:latin typeface="Montserrat" panose="00000700000000000000" pitchFamily="2" charset="0"/>
              </a:rPr>
              <a:t>First Tranche</a:t>
            </a:r>
          </a:p>
        </p:txBody>
      </p:sp>
      <p:sp>
        <p:nvSpPr>
          <p:cNvPr id="224" name="card3-sub"/>
          <p:cNvSpPr txBox="1"/>
          <p:nvPr/>
        </p:nvSpPr>
        <p:spPr>
          <a:xfrm>
            <a:off x="12385525" y="4400000"/>
            <a:ext cx="5150000" cy="500000"/>
          </a:xfrm>
          <a:prstGeom prst="rect">
            <a:avLst/>
          </a:prstGeom>
          <a:noFill/>
        </p:spPr>
        <p:txBody>
          <a:bodyPr vertOverflow="clip" horzOverflow="clip" wrap="square" lIns="0" tIns="0" rIns="0" bIns="0" rtlCol="0" anchor="ctr">
            <a:spAutoFit/>
          </a:bodyPr>
          <a:lstStyle/>
          <a:p>
            <a:pPr algn="ctr">
              <a:lnSpc>
                <a:spcPts val="2700"/>
              </a:lnSpc>
            </a:pPr>
            <a:r>
              <a:rPr lang="en-US" sz="1700" spc="-17" dirty="0">
                <a:solidFill>
                  <a:srgbClr val="3A2860">
                    <a:alpha val="100000"/>
                  </a:srgbClr>
                </a:solidFill>
                <a:latin typeface="Montserrat Light" panose="00000700000000000000" pitchFamily="2" charset="0"/>
              </a:rPr>
              <a:t>First draw of the ₹23.75 Cr promoter loan</a:t>
            </a:r>
          </a:p>
        </p:txBody>
      </p:sp>
      <p:pic>
        <p:nvPicPr>
          <p:cNvPr id="300" name="strip-bg"/>
          <p:cNvPicPr>
            <a:picLocks noChangeAspect="1"/>
          </p:cNvPicPr>
          <p:nvPr/>
        </p:nvPicPr>
        <p:blipFill rotWithShape="1">
          <a:blip r:embed="rId8">
            <a:alphaModFix/>
          </a:blip>
          <a:stretch/>
        </p:blipFill>
        <p:spPr>
          <a:xfrm>
            <a:off x="752475" y="6500000"/>
            <a:ext cx="16783050" cy="3100000"/>
          </a:xfrm>
          <a:prstGeom prst="rect">
            <a:avLst/>
          </a:prstGeom>
        </p:spPr>
      </p:pic>
      <p:sp>
        <p:nvSpPr>
          <p:cNvPr id="301" name="bullets"/>
          <p:cNvSpPr txBox="1"/>
          <p:nvPr/>
        </p:nvSpPr>
        <p:spPr>
          <a:xfrm>
            <a:off x="1050000" y="6580000"/>
            <a:ext cx="16100000" cy="2950000"/>
          </a:xfrm>
          <a:prstGeom prst="rect">
            <a:avLst/>
          </a:prstGeom>
          <a:noFill/>
        </p:spPr>
        <p:txBody>
          <a:bodyPr vertOverflow="clip" horzOverflow="clip" wrap="square" lIns="0" tIns="120000" rIns="0" bIns="0" rtlCol="0" anchor="t">
            <a:spAutoFit/>
          </a:bodyPr>
          <a:lstStyle/>
          <a:p>
            <a:pPr algn="l">
              <a:lnSpc>
                <a:spcPts val="3000"/>
              </a:lnSpc>
            </a:pPr>
            <a:r>
              <a:rPr lang="en-US" sz="1900" b="1" spc="-19" dirty="0">
                <a:solidFill>
                  <a:srgbClr val="15092E">
                    <a:alpha val="100000"/>
                  </a:srgbClr>
                </a:solidFill>
                <a:latin typeface="Montserrat" panose="00000700000000000000" pitchFamily="2" charset="0"/>
              </a:rPr>
              <a:t>✓  Immediate capital enables bulk raw material procurement — boosting margins significantly</a:t>
            </a:r>
          </a:p>
          <a:p>
            <a:pPr algn="l">
              <a:lnSpc>
                <a:spcPts val="3000"/>
              </a:lnSpc>
            </a:pPr>
            <a:r>
              <a:rPr lang="en-US" sz="1900" b="1" spc="-19" dirty="0">
                <a:solidFill>
                  <a:srgbClr val="15092E">
                    <a:alpha val="100000"/>
                  </a:srgbClr>
                </a:solidFill>
                <a:latin typeface="Montserrat" panose="00000700000000000000" pitchFamily="2" charset="0"/>
              </a:rPr>
              <a:t>✓  Premium Home Lifts and new products launched — driving higher revenue mix from H1 itself</a:t>
            </a:r>
          </a:p>
          <a:p>
            <a:pPr algn="l">
              <a:lnSpc>
                <a:spcPts val="3000"/>
              </a:lnSpc>
            </a:pPr>
            <a:r>
              <a:rPr lang="en-US" sz="1900" b="1" spc="-19" dirty="0">
                <a:solidFill>
                  <a:srgbClr val="15092E">
                    <a:alpha val="100000"/>
                  </a:srgbClr>
                </a:solidFill>
                <a:latin typeface="Montserrat" panose="00000700000000000000" pitchFamily="2" charset="0"/>
              </a:rPr>
              <a:t>✓  Export pipeline (Kuwait, Canada, Australia) activated — delivering incremental revenue from Q1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F0234">
            <a:alpha val="86667"/>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276C8-8F05-7D9F-8613-80D6F402DFB1}"/>
              </a:ext>
            </a:extLst>
          </p:cNvPr>
          <p:cNvPicPr>
            <a:picLocks noChangeAspect="1"/>
          </p:cNvPicPr>
          <p:nvPr/>
        </p:nvPicPr>
        <p:blipFill>
          <a:blip r:embed="rId3">
            <a:alphaModFix amt="49000"/>
            <a:extLst>
              <a:ext uri="{BEBA8EAE-BF5A-486C-A8C5-ECC9F3942E4B}">
                <a14:imgProps xmlns:a14="http://schemas.microsoft.com/office/drawing/2010/main">
                  <a14:imgLayer r:embed="rId4">
                    <a14:imgEffect>
                      <a14:artisticPhotocopy trans="0" detail="10"/>
                    </a14:imgEffect>
                  </a14:imgLayer>
                </a14:imgProps>
              </a:ext>
            </a:extLst>
          </a:blip>
          <a:stretch>
            <a:fillRect/>
          </a:stretch>
        </p:blipFill>
        <p:spPr>
          <a:xfrm>
            <a:off x="748145" y="270877"/>
            <a:ext cx="16985673" cy="9755804"/>
          </a:xfrm>
          <a:prstGeom prst="rect">
            <a:avLst/>
          </a:prstGeom>
          <a:effectLst>
            <a:glow rad="127000">
              <a:schemeClr val="bg1"/>
            </a:glow>
          </a:effectLst>
        </p:spPr>
      </p:pic>
    </p:spTree>
    <p:extLst>
      <p:ext uri="{BB962C8B-B14F-4D97-AF65-F5344CB8AC3E}">
        <p14:creationId xmlns:p14="http://schemas.microsoft.com/office/powerpoint/2010/main" val="3623531531"/>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165" name="0ee6190d-0f1b-4d93-b3e5-4a4e1a114fa8">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3">
            <a:alphaModFix/>
          </a:blip>
          <a:stretch/>
        </p:blipFill>
        <p:spPr>
          <a:xfrm>
            <a:off x="0" y="0"/>
            <a:ext cx="18288000" cy="10287000"/>
          </a:xfrm>
          <a:prstGeom prst="rect">
            <a:avLst/>
          </a:prstGeom>
        </p:spPr>
      </p:pic>
      <p:pic>
        <p:nvPicPr>
          <p:cNvPr id="116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1123950" y="3219450"/>
            <a:ext cx="4781550" cy="2305050"/>
          </a:xfrm>
          <a:prstGeom prst="rect">
            <a:avLst/>
          </a:prstGeom>
          <a:effectLst>
            <a:outerShdw blurRad="285750" dir="2700000" algn="ctr" rotWithShape="0">
              <a:srgbClr val="000000">
                <a:alpha val="40000"/>
              </a:srgbClr>
            </a:outerShdw>
          </a:effectLst>
        </p:spPr>
      </p:pic>
      <p:sp>
        <p:nvSpPr>
          <p:cNvPr id="1167" name="-0">
            <a:extLst>
              <a:ext uri="{FF2B5EF4-FFF2-40B4-BE49-F238E27FC236}">
                <a16:creationId xmlns:a16="http://schemas.microsoft.com/office/drawing/2014/main" id="{111B4A49-B930-4A89-A1CD-6CA2B3D95AED}"/>
              </a:ext>
            </a:extLst>
          </p:cNvPr>
          <p:cNvSpPr txBox="1"/>
          <p:nvPr/>
        </p:nvSpPr>
        <p:spPr>
          <a:xfrm>
            <a:off x="5202079" y="4207288"/>
            <a:ext cx="495300" cy="333375"/>
          </a:xfrm>
          <a:prstGeom prst="rect">
            <a:avLst/>
          </a:prstGeom>
          <a:noFill/>
        </p:spPr>
        <p:txBody>
          <a:bodyPr vertOverflow="clip" horzOverflow="clip" wrap="square" lIns="0" tIns="0" rIns="0" bIns="0" rtlCol="0" anchor="ctr">
            <a:spAutoFit/>
          </a:bodyPr>
          <a:lstStyle/>
          <a:p>
            <a:pPr algn="r"/>
            <a:r>
              <a:rPr lang="en-US" sz="2520" b="1" dirty="0">
                <a:solidFill>
                  <a:srgbClr val="FFFFFF">
                    <a:alpha val="100000"/>
                  </a:srgbClr>
                </a:solidFill>
                <a:latin typeface="Montserrat" panose="00000700000000000000" pitchFamily="2" charset="0"/>
              </a:rPr>
              <a:t>#1</a:t>
            </a:r>
          </a:p>
        </p:txBody>
      </p:sp>
      <p:sp>
        <p:nvSpPr>
          <p:cNvPr id="1168" name="Primary Heading-0">
            <a:extLst>
              <a:ext uri="{FF2B5EF4-FFF2-40B4-BE49-F238E27FC236}">
                <a16:creationId xmlns:a16="http://schemas.microsoft.com/office/drawing/2014/main" id="{111B4A49-B930-4A89-A1CD-6CA2B3D95AED}"/>
              </a:ext>
            </a:extLst>
          </p:cNvPr>
          <p:cNvSpPr txBox="1"/>
          <p:nvPr/>
        </p:nvSpPr>
        <p:spPr>
          <a:xfrm>
            <a:off x="1350169" y="3462335"/>
            <a:ext cx="3705225"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FFFFFF">
                    <a:alpha val="100000"/>
                  </a:srgbClr>
                </a:solidFill>
                <a:latin typeface="Montserrat" panose="00000700000000000000" pitchFamily="2" charset="0"/>
              </a:rPr>
              <a:t>MATERIAL HANDLING</a:t>
            </a:r>
          </a:p>
        </p:txBody>
      </p:sp>
      <p:sp>
        <p:nvSpPr>
          <p:cNvPr id="1169" name="Description of a primary heading-0">
            <a:extLst>
              <a:ext uri="{FF2B5EF4-FFF2-40B4-BE49-F238E27FC236}">
                <a16:creationId xmlns:a16="http://schemas.microsoft.com/office/drawing/2014/main" id="{111B4A49-B930-4A89-A1CD-6CA2B3D95AED}"/>
              </a:ext>
            </a:extLst>
          </p:cNvPr>
          <p:cNvSpPr txBox="1"/>
          <p:nvPr/>
        </p:nvSpPr>
        <p:spPr>
          <a:xfrm>
            <a:off x="1283494" y="3758179"/>
            <a:ext cx="3705225" cy="1701748"/>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FFFFFF">
                    <a:alpha val="100000"/>
                  </a:srgbClr>
                </a:solidFill>
                <a:latin typeface="Montserrat Light" panose="00000700000000000000" pitchFamily="2" charset="0"/>
              </a:rPr>
              <a:t>Eliminate the expense of material handling by implementing efficient equipment and a well-planned plant layout</a:t>
            </a:r>
            <a:r>
              <a:rPr lang="en-US" sz="1800" spc="-18" dirty="0">
                <a:solidFill>
                  <a:srgbClr val="FFFFFF">
                    <a:alpha val="100000"/>
                  </a:srgbClr>
                </a:solidFill>
                <a:latin typeface="Montserrat Light" panose="00000700000000000000" pitchFamily="2" charset="0"/>
              </a:rPr>
              <a:t>.</a:t>
            </a:r>
          </a:p>
        </p:txBody>
      </p:sp>
      <p:pic>
        <p:nvPicPr>
          <p:cNvPr id="117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blip>
          <a:stretch/>
        </p:blipFill>
        <p:spPr>
          <a:xfrm>
            <a:off x="12725400" y="2914650"/>
            <a:ext cx="4781550" cy="1962150"/>
          </a:xfrm>
          <a:prstGeom prst="rect">
            <a:avLst/>
          </a:prstGeom>
          <a:effectLst>
            <a:outerShdw blurRad="285750" dir="2700000" algn="ctr" rotWithShape="0">
              <a:srgbClr val="000000">
                <a:alpha val="40000"/>
              </a:srgbClr>
            </a:outerShdw>
          </a:effectLst>
        </p:spPr>
      </p:pic>
      <p:sp>
        <p:nvSpPr>
          <p:cNvPr id="1171" name="-1">
            <a:extLst>
              <a:ext uri="{FF2B5EF4-FFF2-40B4-BE49-F238E27FC236}">
                <a16:creationId xmlns:a16="http://schemas.microsoft.com/office/drawing/2014/main" id="{111B4A49-B930-4A89-A1CD-6CA2B3D95AED}"/>
              </a:ext>
            </a:extLst>
          </p:cNvPr>
          <p:cNvSpPr txBox="1"/>
          <p:nvPr/>
        </p:nvSpPr>
        <p:spPr>
          <a:xfrm>
            <a:off x="12912185" y="3734181"/>
            <a:ext cx="552450" cy="333375"/>
          </a:xfrm>
          <a:prstGeom prst="rect">
            <a:avLst/>
          </a:prstGeom>
          <a:noFill/>
        </p:spPr>
        <p:txBody>
          <a:bodyPr vertOverflow="clip" horzOverflow="clip" wrap="square" lIns="0" tIns="0" rIns="0" bIns="0" rtlCol="0" anchor="ctr">
            <a:spAutoFit/>
          </a:bodyPr>
          <a:lstStyle/>
          <a:p>
            <a:pPr algn="l"/>
            <a:r>
              <a:rPr lang="en-US" sz="2520" b="1" dirty="0">
                <a:solidFill>
                  <a:srgbClr val="F2F1F3">
                    <a:alpha val="100000"/>
                  </a:srgbClr>
                </a:solidFill>
                <a:latin typeface="Montserrat" panose="00000700000000000000" pitchFamily="2" charset="0"/>
              </a:rPr>
              <a:t>#2</a:t>
            </a:r>
          </a:p>
        </p:txBody>
      </p:sp>
      <p:sp>
        <p:nvSpPr>
          <p:cNvPr id="1172" name="Primary Heading-1">
            <a:extLst>
              <a:ext uri="{FF2B5EF4-FFF2-40B4-BE49-F238E27FC236}">
                <a16:creationId xmlns:a16="http://schemas.microsoft.com/office/drawing/2014/main" id="{111B4A49-B930-4A89-A1CD-6CA2B3D95AED}"/>
              </a:ext>
            </a:extLst>
          </p:cNvPr>
          <p:cNvSpPr txBox="1"/>
          <p:nvPr/>
        </p:nvSpPr>
        <p:spPr>
          <a:xfrm>
            <a:off x="13719238" y="3160583"/>
            <a:ext cx="37052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TRANSPORT</a:t>
            </a:r>
          </a:p>
        </p:txBody>
      </p:sp>
      <p:sp>
        <p:nvSpPr>
          <p:cNvPr id="1173" name="Description of a primary heading-1">
            <a:extLst>
              <a:ext uri="{FF2B5EF4-FFF2-40B4-BE49-F238E27FC236}">
                <a16:creationId xmlns:a16="http://schemas.microsoft.com/office/drawing/2014/main" id="{111B4A49-B930-4A89-A1CD-6CA2B3D95AED}"/>
              </a:ext>
            </a:extLst>
          </p:cNvPr>
          <p:cNvSpPr txBox="1"/>
          <p:nvPr/>
        </p:nvSpPr>
        <p:spPr>
          <a:xfrm>
            <a:off x="13652564" y="3458102"/>
            <a:ext cx="3705225" cy="1355499"/>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2F1F3">
                    <a:alpha val="100000"/>
                  </a:srgbClr>
                </a:solidFill>
                <a:latin typeface="Montserrat Light" panose="00000700000000000000" pitchFamily="2" charset="0"/>
              </a:rPr>
              <a:t>Save material transportation costs by optimizing MOQ’s and efficiently manage dispatches to avoid multiple trips to same site.</a:t>
            </a:r>
          </a:p>
        </p:txBody>
      </p:sp>
      <p:pic>
        <p:nvPicPr>
          <p:cNvPr id="1174"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2486025" y="7239000"/>
            <a:ext cx="4781550" cy="2305050"/>
          </a:xfrm>
          <a:prstGeom prst="rect">
            <a:avLst/>
          </a:prstGeom>
          <a:effectLst>
            <a:outerShdw blurRad="285750" dir="2700000" algn="ctr" rotWithShape="0">
              <a:srgbClr val="000000">
                <a:alpha val="40000"/>
              </a:srgbClr>
            </a:outerShdw>
          </a:effectLst>
        </p:spPr>
      </p:pic>
      <p:sp>
        <p:nvSpPr>
          <p:cNvPr id="1175" name="-2">
            <a:extLst>
              <a:ext uri="{FF2B5EF4-FFF2-40B4-BE49-F238E27FC236}">
                <a16:creationId xmlns:a16="http://schemas.microsoft.com/office/drawing/2014/main" id="{111B4A49-B930-4A89-A1CD-6CA2B3D95AED}"/>
              </a:ext>
            </a:extLst>
          </p:cNvPr>
          <p:cNvSpPr txBox="1"/>
          <p:nvPr/>
        </p:nvSpPr>
        <p:spPr>
          <a:xfrm>
            <a:off x="6535484" y="8229600"/>
            <a:ext cx="552450" cy="333375"/>
          </a:xfrm>
          <a:prstGeom prst="rect">
            <a:avLst/>
          </a:prstGeom>
          <a:noFill/>
        </p:spPr>
        <p:txBody>
          <a:bodyPr vertOverflow="clip" horzOverflow="clip" wrap="square" lIns="0" tIns="0" rIns="0" bIns="0" rtlCol="0" anchor="ctr">
            <a:spAutoFit/>
          </a:bodyPr>
          <a:lstStyle/>
          <a:p>
            <a:pPr algn="r"/>
            <a:r>
              <a:rPr lang="en-US" sz="2520" b="1" dirty="0">
                <a:solidFill>
                  <a:srgbClr val="EBEAED">
                    <a:alpha val="100000"/>
                  </a:srgbClr>
                </a:solidFill>
                <a:latin typeface="Montserrat" panose="00000700000000000000" pitchFamily="2" charset="0"/>
              </a:rPr>
              <a:t>#3</a:t>
            </a:r>
          </a:p>
        </p:txBody>
      </p:sp>
      <p:sp>
        <p:nvSpPr>
          <p:cNvPr id="1176" name="Primary Heading-2">
            <a:extLst>
              <a:ext uri="{FF2B5EF4-FFF2-40B4-BE49-F238E27FC236}">
                <a16:creationId xmlns:a16="http://schemas.microsoft.com/office/drawing/2014/main" id="{111B4A49-B930-4A89-A1CD-6CA2B3D95AED}"/>
              </a:ext>
            </a:extLst>
          </p:cNvPr>
          <p:cNvSpPr txBox="1"/>
          <p:nvPr/>
        </p:nvSpPr>
        <p:spPr>
          <a:xfrm>
            <a:off x="2715673" y="7484552"/>
            <a:ext cx="3705225"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BEAED">
                    <a:alpha val="100000"/>
                  </a:srgbClr>
                </a:solidFill>
                <a:latin typeface="Montserrat" panose="00000700000000000000" pitchFamily="2" charset="0"/>
              </a:rPr>
              <a:t>PRODUCTIVITY</a:t>
            </a:r>
          </a:p>
        </p:txBody>
      </p:sp>
      <p:sp>
        <p:nvSpPr>
          <p:cNvPr id="1177" name="Description of a primary heading-2">
            <a:extLst>
              <a:ext uri="{FF2B5EF4-FFF2-40B4-BE49-F238E27FC236}">
                <a16:creationId xmlns:a16="http://schemas.microsoft.com/office/drawing/2014/main" id="{111B4A49-B930-4A89-A1CD-6CA2B3D95AED}"/>
              </a:ext>
            </a:extLst>
          </p:cNvPr>
          <p:cNvSpPr txBox="1"/>
          <p:nvPr/>
        </p:nvSpPr>
        <p:spPr>
          <a:xfrm>
            <a:off x="2648998" y="7953520"/>
            <a:ext cx="3705225" cy="1355499"/>
          </a:xfrm>
          <a:prstGeom prst="rect">
            <a:avLst/>
          </a:prstGeom>
          <a:noFill/>
        </p:spPr>
        <p:txBody>
          <a:bodyPr vertOverflow="clip" horzOverflow="clip" wrap="square" lIns="0" tIns="0" rIns="0" bIns="0" rtlCol="0" anchor="ctr">
            <a:spAutoFit/>
          </a:bodyPr>
          <a:lstStyle/>
          <a:p>
            <a:pPr algn="r">
              <a:lnSpc>
                <a:spcPts val="2700"/>
              </a:lnSpc>
            </a:pPr>
            <a:r>
              <a:rPr lang="en-US" sz="1800" spc="-18" dirty="0">
                <a:solidFill>
                  <a:srgbClr val="EBEAED">
                    <a:alpha val="100000"/>
                  </a:srgbClr>
                </a:solidFill>
                <a:latin typeface="Montserrat Light" panose="00000700000000000000" pitchFamily="2" charset="0"/>
              </a:rPr>
              <a:t>Control the labor cost by installing advanced machinery with best in class features as well as speed.</a:t>
            </a:r>
          </a:p>
        </p:txBody>
      </p:sp>
      <p:pic>
        <p:nvPicPr>
          <p:cNvPr id="117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7">
            <a:alphaModFix/>
          </a:blip>
          <a:stretch/>
        </p:blipFill>
        <p:spPr>
          <a:xfrm>
            <a:off x="11534775" y="7391400"/>
            <a:ext cx="4781550" cy="2305050"/>
          </a:xfrm>
          <a:prstGeom prst="rect">
            <a:avLst/>
          </a:prstGeom>
          <a:effectLst>
            <a:outerShdw blurRad="285750" dir="2700000" algn="ctr" rotWithShape="0">
              <a:srgbClr val="000000">
                <a:alpha val="40000"/>
              </a:srgbClr>
            </a:outerShdw>
          </a:effectLst>
        </p:spPr>
      </p:pic>
      <p:sp>
        <p:nvSpPr>
          <p:cNvPr id="1179" name="-3">
            <a:extLst>
              <a:ext uri="{FF2B5EF4-FFF2-40B4-BE49-F238E27FC236}">
                <a16:creationId xmlns:a16="http://schemas.microsoft.com/office/drawing/2014/main" id="{111B4A49-B930-4A89-A1CD-6CA2B3D95AED}"/>
              </a:ext>
            </a:extLst>
          </p:cNvPr>
          <p:cNvSpPr txBox="1"/>
          <p:nvPr/>
        </p:nvSpPr>
        <p:spPr>
          <a:xfrm>
            <a:off x="11701844" y="8387239"/>
            <a:ext cx="590550" cy="333375"/>
          </a:xfrm>
          <a:prstGeom prst="rect">
            <a:avLst/>
          </a:prstGeom>
          <a:noFill/>
        </p:spPr>
        <p:txBody>
          <a:bodyPr vertOverflow="clip" horzOverflow="clip" wrap="square" lIns="0" tIns="0" rIns="0" bIns="0" rtlCol="0" anchor="ctr">
            <a:spAutoFit/>
          </a:bodyPr>
          <a:lstStyle/>
          <a:p>
            <a:pPr algn="l"/>
            <a:r>
              <a:rPr lang="en-US" sz="2520" b="1" dirty="0">
                <a:solidFill>
                  <a:srgbClr val="E5E3E7">
                    <a:alpha val="100000"/>
                  </a:srgbClr>
                </a:solidFill>
                <a:latin typeface="Montserrat" panose="00000700000000000000" pitchFamily="2" charset="0"/>
              </a:rPr>
              <a:t>#4</a:t>
            </a:r>
          </a:p>
        </p:txBody>
      </p:sp>
      <p:sp>
        <p:nvSpPr>
          <p:cNvPr id="1180" name="Primary Heading-3">
            <a:extLst>
              <a:ext uri="{FF2B5EF4-FFF2-40B4-BE49-F238E27FC236}">
                <a16:creationId xmlns:a16="http://schemas.microsoft.com/office/drawing/2014/main" id="{111B4A49-B930-4A89-A1CD-6CA2B3D95AED}"/>
              </a:ext>
            </a:extLst>
          </p:cNvPr>
          <p:cNvSpPr txBox="1"/>
          <p:nvPr/>
        </p:nvSpPr>
        <p:spPr>
          <a:xfrm>
            <a:off x="12524422" y="7642191"/>
            <a:ext cx="370522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5E3E7">
                    <a:alpha val="100000"/>
                  </a:srgbClr>
                </a:solidFill>
                <a:latin typeface="Montserrat" panose="00000700000000000000" pitchFamily="2" charset="0"/>
              </a:rPr>
              <a:t>Raw Material</a:t>
            </a:r>
          </a:p>
        </p:txBody>
      </p:sp>
      <p:sp>
        <p:nvSpPr>
          <p:cNvPr id="1181" name="Description of a primary heading-3">
            <a:extLst>
              <a:ext uri="{FF2B5EF4-FFF2-40B4-BE49-F238E27FC236}">
                <a16:creationId xmlns:a16="http://schemas.microsoft.com/office/drawing/2014/main" id="{111B4A49-B930-4A89-A1CD-6CA2B3D95AED}"/>
              </a:ext>
            </a:extLst>
          </p:cNvPr>
          <p:cNvSpPr txBox="1"/>
          <p:nvPr/>
        </p:nvSpPr>
        <p:spPr>
          <a:xfrm>
            <a:off x="12457748" y="8284379"/>
            <a:ext cx="3705225" cy="1009251"/>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5E3E7">
                    <a:alpha val="100000"/>
                  </a:srgbClr>
                </a:solidFill>
                <a:latin typeface="Montserrat Light" panose="00000700000000000000" pitchFamily="2" charset="0"/>
              </a:rPr>
              <a:t>Leveraging the advantages of capital by buying material in bulk </a:t>
            </a:r>
            <a:r>
              <a:rPr lang="en-US" spc="-18" dirty="0">
                <a:solidFill>
                  <a:srgbClr val="E5E3E7">
                    <a:alpha val="100000"/>
                  </a:srgbClr>
                </a:solidFill>
                <a:latin typeface="Montserrat Light" panose="00000700000000000000" pitchFamily="2" charset="0"/>
              </a:rPr>
              <a:t>and getting better bargain</a:t>
            </a:r>
            <a:endParaRPr lang="en-US" sz="1800" spc="-18" dirty="0">
              <a:solidFill>
                <a:srgbClr val="E5E3E7">
                  <a:alpha val="100000"/>
                </a:srgbClr>
              </a:solidFill>
              <a:latin typeface="Montserrat Light" panose="00000700000000000000" pitchFamily="2" charset="0"/>
            </a:endParaRPr>
          </a:p>
        </p:txBody>
      </p:sp>
      <p:sp>
        <p:nvSpPr>
          <p:cNvPr id="1182" name="Click here to edit title-493">
            <a:extLst>
              <a:ext uri="{FF2B5EF4-FFF2-40B4-BE49-F238E27FC236}">
                <a16:creationId xmlns:a16="http://schemas.microsoft.com/office/drawing/2014/main" id="{111B4A49-B930-4A89-A1CD-6CA2B3D95AED}"/>
              </a:ext>
            </a:extLst>
          </p:cNvPr>
          <p:cNvSpPr txBox="1"/>
          <p:nvPr/>
        </p:nvSpPr>
        <p:spPr>
          <a:xfrm>
            <a:off x="609600" y="712060"/>
            <a:ext cx="17211675" cy="642805"/>
          </a:xfrm>
          <a:prstGeom prst="rect">
            <a:avLst/>
          </a:prstGeom>
          <a:noFill/>
        </p:spPr>
        <p:txBody>
          <a:bodyPr vertOverflow="clip" horzOverflow="clip" wrap="square" lIns="0" tIns="0" rIns="0" bIns="0" rtlCol="0" anchor="ctr">
            <a:spAutoFit/>
          </a:bodyPr>
          <a:lstStyle/>
          <a:p>
            <a:pPr algn="ctr">
              <a:lnSpc>
                <a:spcPts val="5250"/>
              </a:lnSpc>
            </a:pPr>
            <a:r>
              <a:rPr lang="en-US" sz="4200" spc="-84" dirty="0">
                <a:solidFill>
                  <a:srgbClr val="FFFFFF">
                    <a:alpha val="100000"/>
                  </a:srgbClr>
                </a:solidFill>
                <a:latin typeface="Montserrat Light" panose="00000700000000000000" pitchFamily="2" charset="0"/>
              </a:rPr>
              <a:t>EFFICIENCY DRIVES PROFITABILITY</a:t>
            </a:r>
          </a:p>
        </p:txBody>
      </p:sp>
    </p:spTree>
    <p:extLst>
      <p:ext uri="{BB962C8B-B14F-4D97-AF65-F5344CB8AC3E}">
        <p14:creationId xmlns:p14="http://schemas.microsoft.com/office/powerpoint/2010/main" val="3648047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186"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187" name="svgbase">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extLst>
              <a:ext uri="{5351C34A-9ECD-4F52-AB22-00CE2AE4AD27}">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609600" y="1866900"/>
            <a:ext cx="17068800" cy="7848600"/>
          </a:xfrm>
          <a:prstGeom prst="rect">
            <a:avLst/>
          </a:prstGeom>
        </p:spPr>
      </p:pic>
      <p:pic>
        <p:nvPicPr>
          <p:cNvPr id="1188" name="iconNoded0f9af2e-2465-4cf2-bed8-b879e042051e">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extLst>
              <a:ext uri="{4DCEFD52-E80D-42D3-955A-035C0171E119}">
                <a14:useLocalDpi xmlns="" xmlns:a16="http://schemas.microsoft.com/office/drawing/2014/main" xmlns:asvg="http://schemas.microsoft.com/office/drawing/2016/SVG/main" xmlns:p14="http://schemas.microsoft.com/office/powerpoint/2010/main" xmlns:a14="http://schemas.microsoft.com/office/drawing/2010/main" val="0"/>
              </a:ext>
            </a:extLst>
          </a:blip>
          <a:srcRect/>
          <a:stretch/>
        </p:blipFill>
        <p:spPr>
          <a:xfrm>
            <a:off x="7848600" y="4495800"/>
            <a:ext cx="2590800" cy="2590800"/>
          </a:xfrm>
          <a:prstGeom prst="rect">
            <a:avLst/>
          </a:prstGeom>
        </p:spPr>
      </p:pic>
      <p:sp>
        <p:nvSpPr>
          <p:cNvPr id="1189" name="Primary Heading-0">
            <a:extLst>
              <a:ext uri="{FF2B5EF4-FFF2-40B4-BE49-F238E27FC236}">
                <a16:creationId xmlns:a16="http://schemas.microsoft.com/office/drawing/2014/main" id="{111B4A49-B930-4A89-A1CD-6CA2B3D95AED}"/>
              </a:ext>
            </a:extLst>
          </p:cNvPr>
          <p:cNvSpPr txBox="1"/>
          <p:nvPr/>
        </p:nvSpPr>
        <p:spPr>
          <a:xfrm>
            <a:off x="12040552" y="3320222"/>
            <a:ext cx="480060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Transport</a:t>
            </a:r>
          </a:p>
        </p:txBody>
      </p:sp>
      <p:sp>
        <p:nvSpPr>
          <p:cNvPr id="1190" name="Description of a primary heading-0">
            <a:extLst>
              <a:ext uri="{FF2B5EF4-FFF2-40B4-BE49-F238E27FC236}">
                <a16:creationId xmlns:a16="http://schemas.microsoft.com/office/drawing/2014/main" id="{111B4A49-B930-4A89-A1CD-6CA2B3D95AED}"/>
              </a:ext>
            </a:extLst>
          </p:cNvPr>
          <p:cNvSpPr txBox="1"/>
          <p:nvPr/>
        </p:nvSpPr>
        <p:spPr>
          <a:xfrm>
            <a:off x="11973878" y="3683500"/>
            <a:ext cx="4800600" cy="1009251"/>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FY 23-24 transport cost of 45 Lacs is due to lack of space forcing us to carry-out partial dispatches.</a:t>
            </a:r>
            <a:endParaRPr lang="en-US" sz="1800" spc="-18" dirty="0">
              <a:solidFill>
                <a:srgbClr val="FFFFFF">
                  <a:alpha val="100000"/>
                </a:srgbClr>
              </a:solidFill>
              <a:latin typeface="Montserrat Light" panose="00000700000000000000" pitchFamily="2" charset="0"/>
            </a:endParaRPr>
          </a:p>
        </p:txBody>
      </p:sp>
      <p:sp>
        <p:nvSpPr>
          <p:cNvPr id="1191" name="Primary Heading-1">
            <a:extLst>
              <a:ext uri="{FF2B5EF4-FFF2-40B4-BE49-F238E27FC236}">
                <a16:creationId xmlns:a16="http://schemas.microsoft.com/office/drawing/2014/main" id="{111B4A49-B930-4A89-A1CD-6CA2B3D95AED}"/>
              </a:ext>
            </a:extLst>
          </p:cNvPr>
          <p:cNvSpPr txBox="1"/>
          <p:nvPr/>
        </p:nvSpPr>
        <p:spPr>
          <a:xfrm>
            <a:off x="12039886" y="7482552"/>
            <a:ext cx="41338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Raw Material</a:t>
            </a:r>
          </a:p>
        </p:txBody>
      </p:sp>
      <p:sp>
        <p:nvSpPr>
          <p:cNvPr id="1192" name="Description of a primary heading-1">
            <a:extLst>
              <a:ext uri="{FF2B5EF4-FFF2-40B4-BE49-F238E27FC236}">
                <a16:creationId xmlns:a16="http://schemas.microsoft.com/office/drawing/2014/main" id="{111B4A49-B930-4A89-A1CD-6CA2B3D95AED}"/>
              </a:ext>
            </a:extLst>
          </p:cNvPr>
          <p:cNvSpPr txBox="1"/>
          <p:nvPr/>
        </p:nvSpPr>
        <p:spPr>
          <a:xfrm>
            <a:off x="11973211" y="7873659"/>
            <a:ext cx="4133850" cy="1701748"/>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Currently Raw material worth 18 Crores being bought thru Dealers, when bulk purchases start from direct mills there would be potential saving of 10% in the input costs.</a:t>
            </a:r>
            <a:endParaRPr lang="en-US" sz="1800" spc="-18" dirty="0">
              <a:solidFill>
                <a:srgbClr val="F2F1F3">
                  <a:alpha val="100000"/>
                </a:srgbClr>
              </a:solidFill>
              <a:latin typeface="Montserrat Light" panose="00000700000000000000" pitchFamily="2" charset="0"/>
            </a:endParaRPr>
          </a:p>
        </p:txBody>
      </p:sp>
      <p:sp>
        <p:nvSpPr>
          <p:cNvPr id="1193" name="Primary Heading-2">
            <a:extLst>
              <a:ext uri="{FF2B5EF4-FFF2-40B4-BE49-F238E27FC236}">
                <a16:creationId xmlns:a16="http://schemas.microsoft.com/office/drawing/2014/main" id="{111B4A49-B930-4A89-A1CD-6CA2B3D95AED}"/>
              </a:ext>
            </a:extLst>
          </p:cNvPr>
          <p:cNvSpPr txBox="1"/>
          <p:nvPr/>
        </p:nvSpPr>
        <p:spPr>
          <a:xfrm>
            <a:off x="2084070" y="7482552"/>
            <a:ext cx="4305300"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BEAED">
                    <a:alpha val="100000"/>
                  </a:srgbClr>
                </a:solidFill>
                <a:latin typeface="Montserrat" panose="00000700000000000000" pitchFamily="2" charset="0"/>
              </a:rPr>
              <a:t>Productivity</a:t>
            </a:r>
          </a:p>
        </p:txBody>
      </p:sp>
      <p:sp>
        <p:nvSpPr>
          <p:cNvPr id="1194" name="Description of a primary heading-2">
            <a:extLst>
              <a:ext uri="{FF2B5EF4-FFF2-40B4-BE49-F238E27FC236}">
                <a16:creationId xmlns:a16="http://schemas.microsoft.com/office/drawing/2014/main" id="{111B4A49-B930-4A89-A1CD-6CA2B3D95AED}"/>
              </a:ext>
            </a:extLst>
          </p:cNvPr>
          <p:cNvSpPr txBox="1"/>
          <p:nvPr/>
        </p:nvSpPr>
        <p:spPr>
          <a:xfrm>
            <a:off x="2017395" y="7908234"/>
            <a:ext cx="4305300" cy="1355499"/>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EBEAED">
                    <a:alpha val="100000"/>
                  </a:srgbClr>
                </a:solidFill>
                <a:latin typeface="Montserrat Light" panose="00000700000000000000" pitchFamily="2" charset="0"/>
              </a:rPr>
              <a:t>40</a:t>
            </a:r>
            <a:r>
              <a:rPr lang="en-US" sz="1800" spc="-18" dirty="0">
                <a:solidFill>
                  <a:srgbClr val="EBEAED">
                    <a:alpha val="100000"/>
                  </a:srgbClr>
                </a:solidFill>
                <a:latin typeface="Montserrat Light" panose="00000700000000000000" pitchFamily="2" charset="0"/>
              </a:rPr>
              <a:t> Lacs from the heading Wages is due to overtime because of speed limitation of existing machines which should get completely eliminated.</a:t>
            </a:r>
          </a:p>
        </p:txBody>
      </p:sp>
      <p:sp>
        <p:nvSpPr>
          <p:cNvPr id="1195" name="Primary Heading-3">
            <a:extLst>
              <a:ext uri="{FF2B5EF4-FFF2-40B4-BE49-F238E27FC236}">
                <a16:creationId xmlns:a16="http://schemas.microsoft.com/office/drawing/2014/main" id="{111B4A49-B930-4A89-A1CD-6CA2B3D95AED}"/>
              </a:ext>
            </a:extLst>
          </p:cNvPr>
          <p:cNvSpPr txBox="1"/>
          <p:nvPr/>
        </p:nvSpPr>
        <p:spPr>
          <a:xfrm>
            <a:off x="1441609" y="3320222"/>
            <a:ext cx="4953000" cy="355097"/>
          </a:xfrm>
          <a:prstGeom prst="rect">
            <a:avLst/>
          </a:prstGeom>
          <a:noFill/>
        </p:spPr>
        <p:txBody>
          <a:bodyPr vertOverflow="clip" horzOverflow="clip" wrap="square" lIns="0" tIns="0" rIns="0" bIns="0" rtlCol="0" anchor="ctr">
            <a:spAutoFit/>
          </a:bodyPr>
          <a:lstStyle/>
          <a:p>
            <a:pPr algn="r">
              <a:lnSpc>
                <a:spcPts val="2982"/>
              </a:lnSpc>
            </a:pPr>
            <a:r>
              <a:rPr lang="en-US" sz="2100" b="1" spc="-32" dirty="0">
                <a:solidFill>
                  <a:srgbClr val="E5E3E7">
                    <a:alpha val="100000"/>
                  </a:srgbClr>
                </a:solidFill>
                <a:latin typeface="Montserrat" panose="00000700000000000000" pitchFamily="2" charset="0"/>
              </a:rPr>
              <a:t>Material Handling</a:t>
            </a:r>
          </a:p>
        </p:txBody>
      </p:sp>
      <p:sp>
        <p:nvSpPr>
          <p:cNvPr id="1196" name="Description of a primary heading-3">
            <a:extLst>
              <a:ext uri="{FF2B5EF4-FFF2-40B4-BE49-F238E27FC236}">
                <a16:creationId xmlns:a16="http://schemas.microsoft.com/office/drawing/2014/main" id="{111B4A49-B930-4A89-A1CD-6CA2B3D95AED}"/>
              </a:ext>
            </a:extLst>
          </p:cNvPr>
          <p:cNvSpPr txBox="1"/>
          <p:nvPr/>
        </p:nvSpPr>
        <p:spPr>
          <a:xfrm>
            <a:off x="1374934" y="3926026"/>
            <a:ext cx="4953000" cy="1355499"/>
          </a:xfrm>
          <a:prstGeom prst="rect">
            <a:avLst/>
          </a:prstGeom>
          <a:noFill/>
        </p:spPr>
        <p:txBody>
          <a:bodyPr vertOverflow="clip" horzOverflow="clip" wrap="square" lIns="0" tIns="0" rIns="0" bIns="0" rtlCol="0" anchor="ctr">
            <a:spAutoFit/>
          </a:bodyPr>
          <a:lstStyle/>
          <a:p>
            <a:pPr algn="r">
              <a:lnSpc>
                <a:spcPts val="2700"/>
              </a:lnSpc>
            </a:pPr>
            <a:r>
              <a:rPr lang="en-US" spc="-18" dirty="0">
                <a:solidFill>
                  <a:srgbClr val="E5E3E7">
                    <a:alpha val="100000"/>
                  </a:srgbClr>
                </a:solidFill>
                <a:latin typeface="Montserrat Light" panose="00000700000000000000" pitchFamily="2" charset="0"/>
              </a:rPr>
              <a:t>50</a:t>
            </a:r>
            <a:r>
              <a:rPr lang="en-US" sz="1800" spc="-18" dirty="0">
                <a:solidFill>
                  <a:srgbClr val="E5E3E7">
                    <a:alpha val="100000"/>
                  </a:srgbClr>
                </a:solidFill>
                <a:latin typeface="Montserrat Light" panose="00000700000000000000" pitchFamily="2" charset="0"/>
              </a:rPr>
              <a:t> Lacs worth labor cost in FY 23-24 for Loading &amp; Unloading expense should come down by 80% once operations at new plant are commenced. .</a:t>
            </a:r>
          </a:p>
        </p:txBody>
      </p:sp>
      <p:sp>
        <p:nvSpPr>
          <p:cNvPr id="1197" name="Click here to edit title-488">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Impact of Cost Saving measures on Bottomline</a:t>
            </a:r>
          </a:p>
        </p:txBody>
      </p:sp>
      <p:pic>
        <p:nvPicPr>
          <p:cNvPr id="1198"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90550" y="733425"/>
            <a:ext cx="19050" cy="66675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27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1273" name="-0">
            <a:extLst>
              <a:ext uri="{FF2B5EF4-FFF2-40B4-BE49-F238E27FC236}">
                <a16:creationId xmlns:a16="http://schemas.microsoft.com/office/drawing/2014/main" id="{111B4A49-B930-4A89-A1CD-6CA2B3D95AED}"/>
              </a:ext>
            </a:extLst>
          </p:cNvPr>
          <p:cNvSpPr txBox="1"/>
          <p:nvPr/>
        </p:nvSpPr>
        <p:spPr>
          <a:xfrm>
            <a:off x="5141976" y="2384934"/>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1274" name="Primary Heading-0">
            <a:extLst>
              <a:ext uri="{FF2B5EF4-FFF2-40B4-BE49-F238E27FC236}">
                <a16:creationId xmlns:a16="http://schemas.microsoft.com/office/drawing/2014/main" id="{111B4A49-B930-4A89-A1CD-6CA2B3D95AED}"/>
              </a:ext>
            </a:extLst>
          </p:cNvPr>
          <p:cNvSpPr txBox="1"/>
          <p:nvPr/>
        </p:nvSpPr>
        <p:spPr>
          <a:xfrm>
            <a:off x="5840635" y="2334068"/>
            <a:ext cx="1145857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Larger Floor Space</a:t>
            </a:r>
          </a:p>
        </p:txBody>
      </p:sp>
      <p:sp>
        <p:nvSpPr>
          <p:cNvPr id="1275" name="Description of a primary heading-0">
            <a:extLst>
              <a:ext uri="{FF2B5EF4-FFF2-40B4-BE49-F238E27FC236}">
                <a16:creationId xmlns:a16="http://schemas.microsoft.com/office/drawing/2014/main" id="{111B4A49-B930-4A89-A1CD-6CA2B3D95AED}"/>
              </a:ext>
            </a:extLst>
          </p:cNvPr>
          <p:cNvSpPr txBox="1"/>
          <p:nvPr/>
        </p:nvSpPr>
        <p:spPr>
          <a:xfrm>
            <a:off x="5773960" y="2634935"/>
            <a:ext cx="11458575" cy="663002"/>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FFFFFF">
                    <a:alpha val="100000"/>
                  </a:srgbClr>
                </a:solidFill>
                <a:latin typeface="Montserrat Light" panose="00000700000000000000" pitchFamily="2" charset="0"/>
              </a:rPr>
              <a:t>Allows better material storage and movement enhances productivity and helps cater to additional orders</a:t>
            </a:r>
          </a:p>
        </p:txBody>
      </p:sp>
      <p:sp>
        <p:nvSpPr>
          <p:cNvPr id="1276" name="-1">
            <a:extLst>
              <a:ext uri="{FF2B5EF4-FFF2-40B4-BE49-F238E27FC236}">
                <a16:creationId xmlns:a16="http://schemas.microsoft.com/office/drawing/2014/main" id="{111B4A49-B930-4A89-A1CD-6CA2B3D95AED}"/>
              </a:ext>
            </a:extLst>
          </p:cNvPr>
          <p:cNvSpPr txBox="1"/>
          <p:nvPr/>
        </p:nvSpPr>
        <p:spPr>
          <a:xfrm>
            <a:off x="5109782" y="3645043"/>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1277" name="Primary Heading-1">
            <a:extLst>
              <a:ext uri="{FF2B5EF4-FFF2-40B4-BE49-F238E27FC236}">
                <a16:creationId xmlns:a16="http://schemas.microsoft.com/office/drawing/2014/main" id="{111B4A49-B930-4A89-A1CD-6CA2B3D95AED}"/>
              </a:ext>
            </a:extLst>
          </p:cNvPr>
          <p:cNvSpPr txBox="1"/>
          <p:nvPr/>
        </p:nvSpPr>
        <p:spPr>
          <a:xfrm>
            <a:off x="5840635" y="3594177"/>
            <a:ext cx="82867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Automation</a:t>
            </a:r>
          </a:p>
        </p:txBody>
      </p:sp>
      <p:sp>
        <p:nvSpPr>
          <p:cNvPr id="1278" name="Description of a primary heading-1">
            <a:extLst>
              <a:ext uri="{FF2B5EF4-FFF2-40B4-BE49-F238E27FC236}">
                <a16:creationId xmlns:a16="http://schemas.microsoft.com/office/drawing/2014/main" id="{111B4A49-B930-4A89-A1CD-6CA2B3D95AED}"/>
              </a:ext>
            </a:extLst>
          </p:cNvPr>
          <p:cNvSpPr txBox="1"/>
          <p:nvPr/>
        </p:nvSpPr>
        <p:spPr>
          <a:xfrm>
            <a:off x="5773960" y="3895044"/>
            <a:ext cx="82867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Inducting Semi-Robotic Lines to reduce labor costs and produce consistent quality products helping in increasing profitability</a:t>
            </a:r>
            <a:endParaRPr lang="en-US" sz="1800" spc="-18" dirty="0">
              <a:solidFill>
                <a:srgbClr val="F2F1F3">
                  <a:alpha val="100000"/>
                </a:srgbClr>
              </a:solidFill>
              <a:latin typeface="Montserrat Light" panose="00000700000000000000" pitchFamily="2" charset="0"/>
            </a:endParaRPr>
          </a:p>
        </p:txBody>
      </p:sp>
      <p:sp>
        <p:nvSpPr>
          <p:cNvPr id="1279" name="-2">
            <a:extLst>
              <a:ext uri="{FF2B5EF4-FFF2-40B4-BE49-F238E27FC236}">
                <a16:creationId xmlns:a16="http://schemas.microsoft.com/office/drawing/2014/main" id="{111B4A49-B930-4A89-A1CD-6CA2B3D95AED}"/>
              </a:ext>
            </a:extLst>
          </p:cNvPr>
          <p:cNvSpPr txBox="1"/>
          <p:nvPr/>
        </p:nvSpPr>
        <p:spPr>
          <a:xfrm>
            <a:off x="5109782" y="4849738"/>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1280" name="Primary Heading-2">
            <a:extLst>
              <a:ext uri="{FF2B5EF4-FFF2-40B4-BE49-F238E27FC236}">
                <a16:creationId xmlns:a16="http://schemas.microsoft.com/office/drawing/2014/main" id="{111B4A49-B930-4A89-A1CD-6CA2B3D95AED}"/>
              </a:ext>
            </a:extLst>
          </p:cNvPr>
          <p:cNvSpPr txBox="1"/>
          <p:nvPr/>
        </p:nvSpPr>
        <p:spPr>
          <a:xfrm>
            <a:off x="5840635" y="4798872"/>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Capital</a:t>
            </a:r>
          </a:p>
        </p:txBody>
      </p:sp>
      <p:sp>
        <p:nvSpPr>
          <p:cNvPr id="1281" name="Description of a primary heading-2">
            <a:extLst>
              <a:ext uri="{FF2B5EF4-FFF2-40B4-BE49-F238E27FC236}">
                <a16:creationId xmlns:a16="http://schemas.microsoft.com/office/drawing/2014/main" id="{111B4A49-B930-4A89-A1CD-6CA2B3D95AED}"/>
              </a:ext>
            </a:extLst>
          </p:cNvPr>
          <p:cNvSpPr txBox="1"/>
          <p:nvPr/>
        </p:nvSpPr>
        <p:spPr>
          <a:xfrm>
            <a:off x="5773960" y="5098064"/>
            <a:ext cx="11982450" cy="1009251"/>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Availability of adequate capital allows competitive advantage in terms of keeping statistically derived inventory and giving clients material just in time.</a:t>
            </a:r>
          </a:p>
          <a:p>
            <a:pPr algn="l">
              <a:lnSpc>
                <a:spcPts val="2700"/>
              </a:lnSpc>
            </a:pPr>
            <a:r>
              <a:rPr lang="en-US" sz="1800" spc="-18" dirty="0">
                <a:solidFill>
                  <a:srgbClr val="EBEAED">
                    <a:alpha val="100000"/>
                  </a:srgbClr>
                </a:solidFill>
                <a:latin typeface="Montserrat Light" panose="00000700000000000000" pitchFamily="2" charset="0"/>
              </a:rPr>
              <a:t>Better negotiated rates from suppliers by giving attractive payment terms and  quantum</a:t>
            </a:r>
          </a:p>
        </p:txBody>
      </p:sp>
      <p:sp>
        <p:nvSpPr>
          <p:cNvPr id="1282" name="Click here to edit title-438">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Fueling Growth: Impactful Factors</a:t>
            </a:r>
          </a:p>
        </p:txBody>
      </p:sp>
      <p:pic>
        <p:nvPicPr>
          <p:cNvPr id="1283"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733425"/>
            <a:ext cx="19050" cy="666750"/>
          </a:xfrm>
          <a:prstGeom prst="rect">
            <a:avLst/>
          </a:prstGeom>
        </p:spPr>
      </p:pic>
      <p:sp>
        <p:nvSpPr>
          <p:cNvPr id="5" name="-2">
            <a:extLst>
              <a:ext uri="{FF2B5EF4-FFF2-40B4-BE49-F238E27FC236}">
                <a16:creationId xmlns:a16="http://schemas.microsoft.com/office/drawing/2014/main" id="{49AF033D-D18B-9C52-1391-7A900BC8F9C8}"/>
              </a:ext>
            </a:extLst>
          </p:cNvPr>
          <p:cNvSpPr txBox="1"/>
          <p:nvPr/>
        </p:nvSpPr>
        <p:spPr>
          <a:xfrm>
            <a:off x="5109782" y="6468662"/>
            <a:ext cx="552450" cy="387798"/>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#4</a:t>
            </a:r>
          </a:p>
        </p:txBody>
      </p:sp>
      <p:sp>
        <p:nvSpPr>
          <p:cNvPr id="6" name="Primary Heading-2">
            <a:extLst>
              <a:ext uri="{FF2B5EF4-FFF2-40B4-BE49-F238E27FC236}">
                <a16:creationId xmlns:a16="http://schemas.microsoft.com/office/drawing/2014/main" id="{371F7DF0-55C7-9AAB-710B-42E66DBDA90C}"/>
              </a:ext>
            </a:extLst>
          </p:cNvPr>
          <p:cNvSpPr txBox="1"/>
          <p:nvPr/>
        </p:nvSpPr>
        <p:spPr>
          <a:xfrm>
            <a:off x="5840635" y="6445007"/>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New Products</a:t>
            </a:r>
          </a:p>
        </p:txBody>
      </p:sp>
      <p:sp>
        <p:nvSpPr>
          <p:cNvPr id="7" name="Description of a primary heading-2">
            <a:extLst>
              <a:ext uri="{FF2B5EF4-FFF2-40B4-BE49-F238E27FC236}">
                <a16:creationId xmlns:a16="http://schemas.microsoft.com/office/drawing/2014/main" id="{0684B94C-6100-1D99-1D21-92C166D3E73B}"/>
              </a:ext>
            </a:extLst>
          </p:cNvPr>
          <p:cNvSpPr txBox="1"/>
          <p:nvPr/>
        </p:nvSpPr>
        <p:spPr>
          <a:xfrm>
            <a:off x="5773960" y="6917323"/>
            <a:ext cx="119824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Attracting better talent to manage new product launches  which would allow sales team to upsell to the same customers</a:t>
            </a:r>
          </a:p>
        </p:txBody>
      </p:sp>
      <p:sp>
        <p:nvSpPr>
          <p:cNvPr id="8" name="-2">
            <a:extLst>
              <a:ext uri="{FF2B5EF4-FFF2-40B4-BE49-F238E27FC236}">
                <a16:creationId xmlns:a16="http://schemas.microsoft.com/office/drawing/2014/main" id="{8D5B67AD-C172-AD74-17D6-3F66334DE9FD}"/>
              </a:ext>
            </a:extLst>
          </p:cNvPr>
          <p:cNvSpPr txBox="1"/>
          <p:nvPr/>
        </p:nvSpPr>
        <p:spPr>
          <a:xfrm>
            <a:off x="5179052" y="7826419"/>
            <a:ext cx="552450" cy="387798"/>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#5</a:t>
            </a:r>
          </a:p>
        </p:txBody>
      </p:sp>
      <p:sp>
        <p:nvSpPr>
          <p:cNvPr id="9" name="Primary Heading-2">
            <a:extLst>
              <a:ext uri="{FF2B5EF4-FFF2-40B4-BE49-F238E27FC236}">
                <a16:creationId xmlns:a16="http://schemas.microsoft.com/office/drawing/2014/main" id="{6AA6D213-BD13-B927-157F-66F44AF80115}"/>
              </a:ext>
            </a:extLst>
          </p:cNvPr>
          <p:cNvSpPr txBox="1"/>
          <p:nvPr/>
        </p:nvSpPr>
        <p:spPr>
          <a:xfrm>
            <a:off x="5909905" y="7802764"/>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Expanding geographically</a:t>
            </a:r>
          </a:p>
        </p:txBody>
      </p:sp>
      <p:sp>
        <p:nvSpPr>
          <p:cNvPr id="10" name="Description of a primary heading-2">
            <a:extLst>
              <a:ext uri="{FF2B5EF4-FFF2-40B4-BE49-F238E27FC236}">
                <a16:creationId xmlns:a16="http://schemas.microsoft.com/office/drawing/2014/main" id="{8E9560A4-0D92-4F55-FF89-3E0EE706020B}"/>
              </a:ext>
            </a:extLst>
          </p:cNvPr>
          <p:cNvSpPr txBox="1"/>
          <p:nvPr/>
        </p:nvSpPr>
        <p:spPr>
          <a:xfrm>
            <a:off x="5843230" y="8275080"/>
            <a:ext cx="11982450" cy="663002"/>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EBEAED">
                    <a:alpha val="100000"/>
                  </a:srgbClr>
                </a:solidFill>
                <a:latin typeface="Montserrat Light" panose="00000700000000000000" pitchFamily="2" charset="0"/>
              </a:rPr>
              <a:t>Certifying products to comply with native regulations and expanding the base  by becoming a global solutions provider.</a:t>
            </a:r>
          </a:p>
        </p:txBody>
      </p:sp>
      <p:pic>
        <p:nvPicPr>
          <p:cNvPr id="12" name="Picture 11">
            <a:extLst>
              <a:ext uri="{FF2B5EF4-FFF2-40B4-BE49-F238E27FC236}">
                <a16:creationId xmlns:a16="http://schemas.microsoft.com/office/drawing/2014/main" id="{F470E5A6-F092-3225-CE37-9A6E7E4472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328" y="2994046"/>
            <a:ext cx="4760051" cy="4760051"/>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6"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287"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sp>
        <p:nvSpPr>
          <p:cNvPr id="1290" name="-0">
            <a:extLst>
              <a:ext uri="{FF2B5EF4-FFF2-40B4-BE49-F238E27FC236}">
                <a16:creationId xmlns:a16="http://schemas.microsoft.com/office/drawing/2014/main" id="{111B4A49-B930-4A89-A1CD-6CA2B3D95AED}"/>
              </a:ext>
            </a:extLst>
          </p:cNvPr>
          <p:cNvSpPr txBox="1"/>
          <p:nvPr/>
        </p:nvSpPr>
        <p:spPr>
          <a:xfrm>
            <a:off x="5141976" y="2343374"/>
            <a:ext cx="49530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#1</a:t>
            </a:r>
          </a:p>
        </p:txBody>
      </p:sp>
      <p:sp>
        <p:nvSpPr>
          <p:cNvPr id="1291" name="Primary Heading-0">
            <a:extLst>
              <a:ext uri="{FF2B5EF4-FFF2-40B4-BE49-F238E27FC236}">
                <a16:creationId xmlns:a16="http://schemas.microsoft.com/office/drawing/2014/main" id="{111B4A49-B930-4A89-A1CD-6CA2B3D95AED}"/>
              </a:ext>
            </a:extLst>
          </p:cNvPr>
          <p:cNvSpPr txBox="1"/>
          <p:nvPr/>
        </p:nvSpPr>
        <p:spPr>
          <a:xfrm>
            <a:off x="5840635" y="2292508"/>
            <a:ext cx="11458575"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FFFFF">
                    <a:alpha val="100000"/>
                  </a:srgbClr>
                </a:solidFill>
                <a:latin typeface="Montserrat" panose="00000700000000000000" pitchFamily="2" charset="0"/>
              </a:rPr>
              <a:t>Capital</a:t>
            </a:r>
          </a:p>
        </p:txBody>
      </p:sp>
      <p:sp>
        <p:nvSpPr>
          <p:cNvPr id="1292" name="Description of a primary heading-0">
            <a:extLst>
              <a:ext uri="{FF2B5EF4-FFF2-40B4-BE49-F238E27FC236}">
                <a16:creationId xmlns:a16="http://schemas.microsoft.com/office/drawing/2014/main" id="{111B4A49-B930-4A89-A1CD-6CA2B3D95AED}"/>
              </a:ext>
            </a:extLst>
          </p:cNvPr>
          <p:cNvSpPr txBox="1"/>
          <p:nvPr/>
        </p:nvSpPr>
        <p:spPr>
          <a:xfrm>
            <a:off x="5773960" y="2766499"/>
            <a:ext cx="11458575" cy="316753"/>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FFFFF">
                    <a:alpha val="100000"/>
                  </a:srgbClr>
                </a:solidFill>
                <a:latin typeface="Montserrat Light" panose="00000700000000000000" pitchFamily="2" charset="0"/>
              </a:rPr>
              <a:t>Infusing capital by availing CC Limit </a:t>
            </a:r>
            <a:endParaRPr lang="en-US" sz="1800" spc="-18" dirty="0">
              <a:solidFill>
                <a:srgbClr val="FFFFFF">
                  <a:alpha val="100000"/>
                </a:srgbClr>
              </a:solidFill>
              <a:latin typeface="Montserrat Light" panose="00000700000000000000" pitchFamily="2" charset="0"/>
            </a:endParaRPr>
          </a:p>
        </p:txBody>
      </p:sp>
      <p:sp>
        <p:nvSpPr>
          <p:cNvPr id="1293" name="-1">
            <a:extLst>
              <a:ext uri="{FF2B5EF4-FFF2-40B4-BE49-F238E27FC236}">
                <a16:creationId xmlns:a16="http://schemas.microsoft.com/office/drawing/2014/main" id="{111B4A49-B930-4A89-A1CD-6CA2B3D95AED}"/>
              </a:ext>
            </a:extLst>
          </p:cNvPr>
          <p:cNvSpPr txBox="1"/>
          <p:nvPr/>
        </p:nvSpPr>
        <p:spPr>
          <a:xfrm>
            <a:off x="5109782" y="3769743"/>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#2</a:t>
            </a:r>
          </a:p>
        </p:txBody>
      </p:sp>
      <p:sp>
        <p:nvSpPr>
          <p:cNvPr id="1294" name="Primary Heading-1">
            <a:extLst>
              <a:ext uri="{FF2B5EF4-FFF2-40B4-BE49-F238E27FC236}">
                <a16:creationId xmlns:a16="http://schemas.microsoft.com/office/drawing/2014/main" id="{111B4A49-B930-4A89-A1CD-6CA2B3D95AED}"/>
              </a:ext>
            </a:extLst>
          </p:cNvPr>
          <p:cNvSpPr txBox="1"/>
          <p:nvPr/>
        </p:nvSpPr>
        <p:spPr>
          <a:xfrm>
            <a:off x="5840635" y="3718877"/>
            <a:ext cx="82867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F2F1F3">
                    <a:alpha val="100000"/>
                  </a:srgbClr>
                </a:solidFill>
                <a:latin typeface="Montserrat" panose="00000700000000000000" pitchFamily="2" charset="0"/>
              </a:rPr>
              <a:t>Commencement of Export Orders</a:t>
            </a:r>
          </a:p>
        </p:txBody>
      </p:sp>
      <p:sp>
        <p:nvSpPr>
          <p:cNvPr id="1295" name="Description of a primary heading-1">
            <a:extLst>
              <a:ext uri="{FF2B5EF4-FFF2-40B4-BE49-F238E27FC236}">
                <a16:creationId xmlns:a16="http://schemas.microsoft.com/office/drawing/2014/main" id="{111B4A49-B930-4A89-A1CD-6CA2B3D95AED}"/>
              </a:ext>
            </a:extLst>
          </p:cNvPr>
          <p:cNvSpPr txBox="1"/>
          <p:nvPr/>
        </p:nvSpPr>
        <p:spPr>
          <a:xfrm>
            <a:off x="5773960" y="4504789"/>
            <a:ext cx="8286750" cy="1355499"/>
          </a:xfrm>
          <a:prstGeom prst="rect">
            <a:avLst/>
          </a:prstGeom>
          <a:noFill/>
        </p:spPr>
        <p:txBody>
          <a:bodyPr vertOverflow="clip" horzOverflow="clip" wrap="square" lIns="0" tIns="0" rIns="0" bIns="0" rtlCol="0" anchor="ctr">
            <a:spAutoFit/>
          </a:bodyPr>
          <a:lstStyle/>
          <a:p>
            <a:pPr algn="l">
              <a:lnSpc>
                <a:spcPts val="2700"/>
              </a:lnSpc>
            </a:pPr>
            <a:r>
              <a:rPr lang="en-US" spc="-18" dirty="0">
                <a:solidFill>
                  <a:srgbClr val="F2F1F3">
                    <a:alpha val="100000"/>
                  </a:srgbClr>
                </a:solidFill>
                <a:latin typeface="Montserrat Light" panose="00000700000000000000" pitchFamily="2" charset="0"/>
              </a:rPr>
              <a:t>1</a:t>
            </a:r>
            <a:r>
              <a:rPr lang="en-US" spc="-18" baseline="30000" dirty="0">
                <a:solidFill>
                  <a:srgbClr val="F2F1F3">
                    <a:alpha val="100000"/>
                  </a:srgbClr>
                </a:solidFill>
                <a:latin typeface="Montserrat Light" panose="00000700000000000000" pitchFamily="2" charset="0"/>
              </a:rPr>
              <a:t>st</a:t>
            </a:r>
            <a:r>
              <a:rPr lang="en-US" spc="-18" dirty="0">
                <a:solidFill>
                  <a:srgbClr val="F2F1F3">
                    <a:alpha val="100000"/>
                  </a:srgbClr>
                </a:solidFill>
                <a:latin typeface="Montserrat Light" panose="00000700000000000000" pitchFamily="2" charset="0"/>
              </a:rPr>
              <a:t> Shipment to Kuwait has been dispatched,</a:t>
            </a:r>
          </a:p>
          <a:p>
            <a:pPr algn="l">
              <a:lnSpc>
                <a:spcPts val="2700"/>
              </a:lnSpc>
            </a:pPr>
            <a:r>
              <a:rPr lang="en-US" sz="1800" spc="-18" dirty="0">
                <a:solidFill>
                  <a:srgbClr val="F2F1F3">
                    <a:alpha val="100000"/>
                  </a:srgbClr>
                </a:solidFill>
                <a:latin typeface="Montserrat Light" panose="00000700000000000000" pitchFamily="2" charset="0"/>
              </a:rPr>
              <a:t>Repeat order from Kuwait getting dispatched in 4</a:t>
            </a:r>
            <a:r>
              <a:rPr lang="en-US" sz="1800" spc="-18" baseline="30000" dirty="0">
                <a:solidFill>
                  <a:srgbClr val="F2F1F3">
                    <a:alpha val="100000"/>
                  </a:srgbClr>
                </a:solidFill>
                <a:latin typeface="Montserrat Light" panose="00000700000000000000" pitchFamily="2" charset="0"/>
              </a:rPr>
              <a:t>th</a:t>
            </a:r>
            <a:r>
              <a:rPr lang="en-US" sz="1800" spc="-18" dirty="0">
                <a:solidFill>
                  <a:srgbClr val="F2F1F3">
                    <a:alpha val="100000"/>
                  </a:srgbClr>
                </a:solidFill>
                <a:latin typeface="Montserrat Light" panose="00000700000000000000" pitchFamily="2" charset="0"/>
              </a:rPr>
              <a:t> week of June</a:t>
            </a:r>
          </a:p>
          <a:p>
            <a:pPr algn="l">
              <a:lnSpc>
                <a:spcPts val="2700"/>
              </a:lnSpc>
            </a:pPr>
            <a:r>
              <a:rPr lang="en-US" spc="-18" dirty="0">
                <a:solidFill>
                  <a:srgbClr val="F2F1F3">
                    <a:alpha val="100000"/>
                  </a:srgbClr>
                </a:solidFill>
                <a:latin typeface="Montserrat Light" panose="00000700000000000000" pitchFamily="2" charset="0"/>
              </a:rPr>
              <a:t>1</a:t>
            </a:r>
            <a:r>
              <a:rPr lang="en-US" spc="-18" baseline="30000" dirty="0">
                <a:solidFill>
                  <a:srgbClr val="F2F1F3">
                    <a:alpha val="100000"/>
                  </a:srgbClr>
                </a:solidFill>
                <a:latin typeface="Montserrat Light" panose="00000700000000000000" pitchFamily="2" charset="0"/>
              </a:rPr>
              <a:t>st</a:t>
            </a:r>
            <a:r>
              <a:rPr lang="en-US" spc="-18" dirty="0">
                <a:solidFill>
                  <a:srgbClr val="F2F1F3">
                    <a:alpha val="100000"/>
                  </a:srgbClr>
                </a:solidFill>
                <a:latin typeface="Montserrat Light" panose="00000700000000000000" pitchFamily="2" charset="0"/>
              </a:rPr>
              <a:t> Order from Canada getting dispatched in last week of June</a:t>
            </a:r>
            <a:endParaRPr lang="en-US" sz="1800" spc="-18" dirty="0">
              <a:solidFill>
                <a:srgbClr val="F2F1F3">
                  <a:alpha val="100000"/>
                </a:srgbClr>
              </a:solidFill>
              <a:latin typeface="Montserrat Light" panose="00000700000000000000" pitchFamily="2" charset="0"/>
            </a:endParaRPr>
          </a:p>
          <a:p>
            <a:pPr algn="l">
              <a:lnSpc>
                <a:spcPts val="2700"/>
              </a:lnSpc>
            </a:pPr>
            <a:r>
              <a:rPr lang="en-US" sz="1800" spc="-18" dirty="0">
                <a:solidFill>
                  <a:srgbClr val="F2F1F3">
                    <a:alpha val="100000"/>
                  </a:srgbClr>
                </a:solidFill>
                <a:latin typeface="Montserrat Light" panose="00000700000000000000" pitchFamily="2" charset="0"/>
              </a:rPr>
              <a:t>Regular Sales to Australia Started since 1 year</a:t>
            </a:r>
          </a:p>
        </p:txBody>
      </p:sp>
      <p:sp>
        <p:nvSpPr>
          <p:cNvPr id="1296" name="-2">
            <a:extLst>
              <a:ext uri="{FF2B5EF4-FFF2-40B4-BE49-F238E27FC236}">
                <a16:creationId xmlns:a16="http://schemas.microsoft.com/office/drawing/2014/main" id="{111B4A49-B930-4A89-A1CD-6CA2B3D95AED}"/>
              </a:ext>
            </a:extLst>
          </p:cNvPr>
          <p:cNvSpPr txBox="1"/>
          <p:nvPr/>
        </p:nvSpPr>
        <p:spPr>
          <a:xfrm>
            <a:off x="5109782" y="6332198"/>
            <a:ext cx="552450" cy="333375"/>
          </a:xfrm>
          <a:prstGeom prst="rect">
            <a:avLst/>
          </a:prstGeom>
          <a:noFill/>
        </p:spPr>
        <p:txBody>
          <a:bodyPr vertOverflow="clip" horzOverflow="clip" wrap="square" lIns="0" tIns="0" rIns="0" bIns="0" rtlCol="0" anchor="ctr">
            <a:spAutoFit/>
          </a:bodyPr>
          <a:lstStyle/>
          <a:p>
            <a:pPr algn="ctr"/>
            <a:r>
              <a:rPr lang="en-US" sz="2520" b="1" dirty="0">
                <a:solidFill>
                  <a:srgbClr val="FBC76E">
                    <a:alpha val="100000"/>
                  </a:srgbClr>
                </a:solidFill>
                <a:latin typeface="Montserrat" panose="00000700000000000000" pitchFamily="2" charset="0"/>
              </a:rPr>
              <a:t>#3</a:t>
            </a:r>
          </a:p>
        </p:txBody>
      </p:sp>
      <p:sp>
        <p:nvSpPr>
          <p:cNvPr id="1297" name="Primary Heading-2">
            <a:extLst>
              <a:ext uri="{FF2B5EF4-FFF2-40B4-BE49-F238E27FC236}">
                <a16:creationId xmlns:a16="http://schemas.microsoft.com/office/drawing/2014/main" id="{111B4A49-B930-4A89-A1CD-6CA2B3D95AED}"/>
              </a:ext>
            </a:extLst>
          </p:cNvPr>
          <p:cNvSpPr txBox="1"/>
          <p:nvPr/>
        </p:nvSpPr>
        <p:spPr>
          <a:xfrm>
            <a:off x="5840635" y="6281332"/>
            <a:ext cx="11982450" cy="355097"/>
          </a:xfrm>
          <a:prstGeom prst="rect">
            <a:avLst/>
          </a:prstGeom>
          <a:noFill/>
        </p:spPr>
        <p:txBody>
          <a:bodyPr vertOverflow="clip" horzOverflow="clip" wrap="square" lIns="0" tIns="0" rIns="0" bIns="0" rtlCol="0" anchor="ctr">
            <a:spAutoFit/>
          </a:bodyPr>
          <a:lstStyle/>
          <a:p>
            <a:pPr algn="l">
              <a:lnSpc>
                <a:spcPts val="2982"/>
              </a:lnSpc>
            </a:pPr>
            <a:r>
              <a:rPr lang="en-US" sz="2100" b="1" spc="-32" dirty="0">
                <a:solidFill>
                  <a:srgbClr val="EBEAED">
                    <a:alpha val="100000"/>
                  </a:srgbClr>
                </a:solidFill>
                <a:latin typeface="Montserrat" panose="00000700000000000000" pitchFamily="2" charset="0"/>
              </a:rPr>
              <a:t>Extending Product Offerings</a:t>
            </a:r>
          </a:p>
        </p:txBody>
      </p:sp>
      <p:sp>
        <p:nvSpPr>
          <p:cNvPr id="1298" name="Description of a primary heading-2">
            <a:extLst>
              <a:ext uri="{FF2B5EF4-FFF2-40B4-BE49-F238E27FC236}">
                <a16:creationId xmlns:a16="http://schemas.microsoft.com/office/drawing/2014/main" id="{111B4A49-B930-4A89-A1CD-6CA2B3D95AED}"/>
              </a:ext>
            </a:extLst>
          </p:cNvPr>
          <p:cNvSpPr txBox="1"/>
          <p:nvPr/>
        </p:nvSpPr>
        <p:spPr>
          <a:xfrm>
            <a:off x="5773960" y="6719318"/>
            <a:ext cx="11982450" cy="2394245"/>
          </a:xfrm>
          <a:prstGeom prst="rect">
            <a:avLst/>
          </a:prstGeom>
          <a:noFill/>
        </p:spPr>
        <p:txBody>
          <a:bodyPr vertOverflow="clip" horzOverflow="clip" wrap="square" lIns="0" tIns="0" rIns="0" bIns="0" rtlCol="0" anchor="ctr">
            <a:spAutoFit/>
          </a:bodyPr>
          <a:lstStyle/>
          <a:p>
            <a:pPr algn="l">
              <a:lnSpc>
                <a:spcPts val="2700"/>
              </a:lnSpc>
            </a:pPr>
            <a:r>
              <a:rPr lang="en-US" sz="1800" spc="-18" dirty="0">
                <a:solidFill>
                  <a:srgbClr val="EBEAED">
                    <a:alpha val="100000"/>
                  </a:srgbClr>
                </a:solidFill>
                <a:latin typeface="Montserrat Light" panose="00000700000000000000" pitchFamily="2" charset="0"/>
              </a:rPr>
              <a:t>Actively pursuing orders for Car Parking Products which were not in focus for past year due to space constraints</a:t>
            </a:r>
          </a:p>
          <a:p>
            <a:pPr algn="l">
              <a:lnSpc>
                <a:spcPts val="2700"/>
              </a:lnSpc>
            </a:pPr>
            <a:r>
              <a:rPr lang="en-US" sz="1800" spc="-18" dirty="0">
                <a:solidFill>
                  <a:srgbClr val="EBEAED">
                    <a:alpha val="100000"/>
                  </a:srgbClr>
                </a:solidFill>
                <a:latin typeface="Montserrat Light" panose="00000700000000000000" pitchFamily="2" charset="0"/>
              </a:rPr>
              <a:t>Overcoming capital &amp; Capacity </a:t>
            </a:r>
            <a:r>
              <a:rPr lang="en-US" spc="-18" dirty="0">
                <a:solidFill>
                  <a:srgbClr val="EBEAED">
                    <a:alpha val="100000"/>
                  </a:srgbClr>
                </a:solidFill>
                <a:latin typeface="Montserrat Light" panose="00000700000000000000" pitchFamily="2" charset="0"/>
              </a:rPr>
              <a:t>constraints and delivering already developed products</a:t>
            </a:r>
          </a:p>
          <a:p>
            <a:pPr algn="l">
              <a:lnSpc>
                <a:spcPts val="2700"/>
              </a:lnSpc>
            </a:pPr>
            <a:r>
              <a:rPr lang="en-US" spc="-18" dirty="0">
                <a:solidFill>
                  <a:srgbClr val="EBEAED">
                    <a:alpha val="100000"/>
                  </a:srgbClr>
                </a:solidFill>
                <a:latin typeface="Montserrat Light" panose="00000700000000000000" pitchFamily="2" charset="0"/>
              </a:rPr>
              <a:t>Vertical Auto Doors with a slight variation are one of the most in-demand product in Australian market, currently Chamberlin is the only company dominating the market due to lack of competition. We have already secured expressions of interest from few of the dealers of Chamberlin, we expect to launch the product in first quarter of Fisc. Year 2025</a:t>
            </a:r>
          </a:p>
        </p:txBody>
      </p:sp>
      <p:sp>
        <p:nvSpPr>
          <p:cNvPr id="1299" name="Click here to edit title-433">
            <a:extLst>
              <a:ext uri="{FF2B5EF4-FFF2-40B4-BE49-F238E27FC236}">
                <a16:creationId xmlns:a16="http://schemas.microsoft.com/office/drawing/2014/main" id="{111B4A49-B930-4A89-A1CD-6CA2B3D95AED}"/>
              </a:ext>
            </a:extLst>
          </p:cNvPr>
          <p:cNvSpPr txBox="1"/>
          <p:nvPr/>
        </p:nvSpPr>
        <p:spPr>
          <a:xfrm>
            <a:off x="1219200" y="750160"/>
            <a:ext cx="15992475" cy="642805"/>
          </a:xfrm>
          <a:prstGeom prst="rect">
            <a:avLst/>
          </a:prstGeom>
          <a:noFill/>
        </p:spPr>
        <p:txBody>
          <a:bodyPr vertOverflow="clip" horzOverflow="clip" wrap="square" lIns="0" tIns="0" rIns="0" bIns="0" rtlCol="0" anchor="ctr">
            <a:spAutoFit/>
          </a:bodyPr>
          <a:lstStyle/>
          <a:p>
            <a:pPr algn="l">
              <a:lnSpc>
                <a:spcPts val="5250"/>
              </a:lnSpc>
            </a:pPr>
            <a:r>
              <a:rPr lang="en-US" sz="4200" spc="-84" dirty="0">
                <a:solidFill>
                  <a:srgbClr val="FFFFFF">
                    <a:alpha val="100000"/>
                  </a:srgbClr>
                </a:solidFill>
                <a:latin typeface="Montserrat Light" panose="00000700000000000000" pitchFamily="2" charset="0"/>
              </a:rPr>
              <a:t>Revenue Drivers for FY 2025-2026</a:t>
            </a:r>
          </a:p>
        </p:txBody>
      </p:sp>
      <p:pic>
        <p:nvPicPr>
          <p:cNvPr id="1300"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4">
            <a:alphaModFix/>
          </a:blip>
          <a:stretch/>
        </p:blipFill>
        <p:spPr>
          <a:xfrm>
            <a:off x="590550" y="733425"/>
            <a:ext cx="19050" cy="666750"/>
          </a:xfrm>
          <a:prstGeom prst="rect">
            <a:avLst/>
          </a:prstGeom>
        </p:spPr>
      </p:pic>
      <p:pic>
        <p:nvPicPr>
          <p:cNvPr id="3" name="Picture 2">
            <a:extLst>
              <a:ext uri="{FF2B5EF4-FFF2-40B4-BE49-F238E27FC236}">
                <a16:creationId xmlns:a16="http://schemas.microsoft.com/office/drawing/2014/main" id="{553BD8EE-2910-9694-7A71-1D9A5396F6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983" y="3505937"/>
            <a:ext cx="4095994" cy="2047997"/>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9"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2">
            <a:alphaModFix/>
          </a:blip>
          <a:stretch/>
        </p:blipFill>
        <p:spPr>
          <a:xfrm>
            <a:off x="0" y="0"/>
            <a:ext cx="18288000" cy="10287000"/>
          </a:xfrm>
          <a:prstGeom prst="rect">
            <a:avLst/>
          </a:prstGeom>
        </p:spPr>
      </p:pic>
      <p:pic>
        <p:nvPicPr>
          <p:cNvPr id="1380" name="layoutShapeInnerChild1">
            <a:extLst>
              <a:ext uri="{FF2B5EF4-FFF2-40B4-BE49-F238E27FC236}">
                <a16:creationId xmlns:a16="http://schemas.microsoft.com/office/drawing/2014/main" id="{A8642F66-C0BB-4949-9A9C-024B120A5D52}"/>
              </a:ext>
            </a:extLst>
          </p:cNvPr>
          <p:cNvPicPr>
            <a:picLocks noChangeAspect="1"/>
          </p:cNvPicPr>
          <p:nvPr/>
        </p:nvPicPr>
        <p:blipFill rotWithShape="1">
          <a:blip r:embed="rId3">
            <a:alphaModFix/>
          </a:blip>
          <a:stretch/>
        </p:blipFill>
        <p:spPr>
          <a:xfrm>
            <a:off x="0" y="0"/>
            <a:ext cx="18288000" cy="10287000"/>
          </a:xfrm>
          <a:prstGeom prst="rect">
            <a:avLst/>
          </a:prstGeom>
        </p:spPr>
      </p:pic>
      <p:pic>
        <p:nvPicPr>
          <p:cNvPr id="1381" name="coverimage">
            <a:extLst>
              <a:ext uri="{FF2B5EF4-FFF2-40B4-BE49-F238E27FC236}">
                <a16:creationId xmlns:a16="http://schemas.microsoft.com/office/drawing/2014/main" id="{A8642F66-C0BB-4949-9A9C-024B120A5D52}"/>
              </a:ext>
            </a:extLst>
          </p:cNvPr>
          <p:cNvPicPr preferRelativeResize="0">
            <a:picLocks noChangeAspect="1"/>
          </p:cNvPicPr>
          <p:nvPr/>
        </p:nvPicPr>
        <p:blipFill rotWithShape="1">
          <a:blip r:embed="rId4">
            <a:alphaModFix/>
          </a:blip>
          <a:stretch/>
        </p:blipFill>
        <p:spPr>
          <a:xfrm>
            <a:off x="0" y="0"/>
            <a:ext cx="18288000" cy="10287000"/>
          </a:xfrm>
          <a:prstGeom prst="rect">
            <a:avLst/>
          </a:prstGeom>
        </p:spPr>
      </p:pic>
      <p:pic>
        <p:nvPicPr>
          <p:cNvPr id="1382"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5">
            <a:alphaModFix amt="70000"/>
          </a:blip>
          <a:stretch/>
        </p:blipFill>
        <p:spPr>
          <a:xfrm>
            <a:off x="0" y="0"/>
            <a:ext cx="18288000" cy="10287000"/>
          </a:xfrm>
          <a:prstGeom prst="rect">
            <a:avLst/>
          </a:prstGeom>
        </p:spPr>
      </p:pic>
      <p:sp>
        <p:nvSpPr>
          <p:cNvPr id="1383" name="Thank You-0">
            <a:extLst>
              <a:ext uri="{FF2B5EF4-FFF2-40B4-BE49-F238E27FC236}">
                <a16:creationId xmlns:a16="http://schemas.microsoft.com/office/drawing/2014/main" id="{111B4A49-B930-4A89-A1CD-6CA2B3D95AED}"/>
              </a:ext>
            </a:extLst>
          </p:cNvPr>
          <p:cNvSpPr txBox="1"/>
          <p:nvPr/>
        </p:nvSpPr>
        <p:spPr>
          <a:xfrm>
            <a:off x="1219200" y="4181189"/>
            <a:ext cx="10229850" cy="1104900"/>
          </a:xfrm>
          <a:prstGeom prst="rect">
            <a:avLst/>
          </a:prstGeom>
          <a:noFill/>
        </p:spPr>
        <p:txBody>
          <a:bodyPr vertOverflow="clip" horzOverflow="clip" wrap="square" lIns="0" tIns="0" rIns="0" bIns="0" rtlCol="0" anchor="ctr">
            <a:spAutoFit/>
          </a:bodyPr>
          <a:lstStyle/>
          <a:p>
            <a:pPr algn="l">
              <a:lnSpc>
                <a:spcPts val="8496"/>
              </a:lnSpc>
            </a:pPr>
            <a:r>
              <a:rPr lang="en-US" sz="7200" spc="-180" dirty="0">
                <a:solidFill>
                  <a:srgbClr val="FFFFFF">
                    <a:alpha val="100000"/>
                  </a:srgbClr>
                </a:solidFill>
                <a:latin typeface="Montserrat Light" panose="00000700000000000000" pitchFamily="2" charset="0"/>
              </a:rPr>
              <a:t>Thank You</a:t>
            </a:r>
          </a:p>
        </p:txBody>
      </p:sp>
      <p:sp>
        <p:nvSpPr>
          <p:cNvPr id="1384" name="A small sentence which explains all about this presentation-0">
            <a:extLst>
              <a:ext uri="{FF2B5EF4-FFF2-40B4-BE49-F238E27FC236}">
                <a16:creationId xmlns:a16="http://schemas.microsoft.com/office/drawing/2014/main" id="{111B4A49-B930-4A89-A1CD-6CA2B3D95AED}"/>
              </a:ext>
            </a:extLst>
          </p:cNvPr>
          <p:cNvSpPr txBox="1"/>
          <p:nvPr/>
        </p:nvSpPr>
        <p:spPr>
          <a:xfrm>
            <a:off x="1152525" y="5735098"/>
            <a:ext cx="10229850" cy="381000"/>
          </a:xfrm>
          <a:prstGeom prst="rect">
            <a:avLst/>
          </a:prstGeom>
          <a:noFill/>
        </p:spPr>
        <p:txBody>
          <a:bodyPr vertOverflow="clip" horzOverflow="clip" wrap="square" lIns="0" tIns="0" rIns="0" bIns="0" rtlCol="0" anchor="ctr">
            <a:spAutoFit/>
          </a:bodyPr>
          <a:lstStyle/>
          <a:p>
            <a:pPr algn="l">
              <a:lnSpc>
                <a:spcPts val="2919"/>
              </a:lnSpc>
            </a:pPr>
            <a:r>
              <a:rPr lang="en-US" sz="2100" spc="-21" dirty="0">
                <a:solidFill>
                  <a:srgbClr val="FFFFFF">
                    <a:alpha val="100000"/>
                  </a:srgbClr>
                </a:solidFill>
                <a:latin typeface="Montserrat Light" panose="00000700000000000000" pitchFamily="2" charset="0"/>
              </a:rPr>
              <a:t>Vishal Kulkarni vishal@portalengg.com</a:t>
            </a:r>
          </a:p>
        </p:txBody>
      </p:sp>
      <p:pic>
        <p:nvPicPr>
          <p:cNvPr id="1385" name="Rect">
            <a:extLst>
              <a:ext uri="{FF2B5EF4-FFF2-40B4-BE49-F238E27FC236}">
                <a16:creationId xmlns:a16="http://schemas.microsoft.com/office/drawing/2014/main" id="{A8642F66-C0BB-4949-9A9C-024B120A5D52}"/>
              </a:ext>
            </a:extLst>
          </p:cNvPr>
          <p:cNvPicPr>
            <a:picLocks noChangeAspect="1"/>
          </p:cNvPicPr>
          <p:nvPr/>
        </p:nvPicPr>
        <p:blipFill rotWithShape="1">
          <a:blip r:embed="rId6">
            <a:alphaModFix/>
          </a:blip>
          <a:stretch/>
        </p:blipFill>
        <p:spPr>
          <a:xfrm>
            <a:off x="590550" y="4181475"/>
            <a:ext cx="19050" cy="1924050"/>
          </a:xfrm>
          <a:prstGeom prst="rect">
            <a:avLst/>
          </a:prstGeom>
        </p:spPr>
      </p:pic>
    </p:spTree>
    <p:extLst>
      <p:ext uri="{BB962C8B-B14F-4D97-AF65-F5344CB8AC3E}">
        <p14:creationId xmlns:p14="http://schemas.microsoft.com/office/powerpoint/2010/main" val="3648047976"/>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bin"/>
          <p:cNvPicPr>
            <a:picLocks noChangeAspect="1"/>
          </p:cNvPicPr>
          <p:nvPr/>
        </p:nvPicPr>
        <p:blipFill>
          <a:blip r:embed="rId2"/>
          <a:stretch>
            <a:fillRect/>
          </a:stretch>
        </p:blipFill>
        <p:spPr>
          <a:xfrm>
            <a:off x="0" y="0"/>
            <a:ext cx="18288000" cy="10287000"/>
          </a:xfrm>
          <a:prstGeom prst="rect">
            <a:avLst/>
          </a:prstGeom>
        </p:spPr>
      </p:pic>
      <p:pic>
        <p:nvPicPr>
          <p:cNvPr id="3" name="Picture 2" descr="image.bin"/>
          <p:cNvPicPr>
            <a:picLocks noChangeAspect="1"/>
          </p:cNvPicPr>
          <p:nvPr/>
        </p:nvPicPr>
        <p:blipFill>
          <a:blip r:embed="rId3"/>
          <a:stretch>
            <a:fillRect/>
          </a:stretch>
        </p:blipFill>
        <p:spPr>
          <a:xfrm>
            <a:off x="0" y="0"/>
            <a:ext cx="18288000" cy="10287000"/>
          </a:xfrm>
          <a:prstGeom prst="rect">
            <a:avLst/>
          </a:prstGeom>
        </p:spPr>
      </p:pic>
      <p:sp>
        <p:nvSpPr>
          <p:cNvPr id="4" name="Rectangle 3"/>
          <p:cNvSpPr/>
          <p:nvPr/>
        </p:nvSpPr>
        <p:spPr>
          <a:xfrm>
            <a:off x="594360" y="731520"/>
            <a:ext cx="64008" cy="667512"/>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6152" y="502920"/>
            <a:ext cx="16002000" cy="292608"/>
          </a:xfrm>
          <a:prstGeom prst="rect">
            <a:avLst/>
          </a:prstGeom>
          <a:noFill/>
        </p:spPr>
        <p:txBody>
          <a:bodyPr wrap="square" anchor="t" lIns="54864" rIns="54864" tIns="18288" bIns="18288">
            <a:spAutoFit/>
          </a:bodyPr>
          <a:lstStyle/>
          <a:p>
            <a:pPr algn="l"/>
            <a:r>
              <a:rPr sz="1500" b="1">
                <a:solidFill>
                  <a:srgbClr val="FBC76E"/>
                </a:solidFill>
                <a:latin typeface="Montserrat"/>
              </a:rPr>
              <a:t>WHY PORTAL ENGINEERING</a:t>
            </a:r>
          </a:p>
        </p:txBody>
      </p:sp>
      <p:sp>
        <p:nvSpPr>
          <p:cNvPr id="6" name="TextBox 5"/>
          <p:cNvSpPr txBox="1"/>
          <p:nvPr/>
        </p:nvSpPr>
        <p:spPr>
          <a:xfrm>
            <a:off x="1188720" y="786384"/>
            <a:ext cx="16002000" cy="713232"/>
          </a:xfrm>
          <a:prstGeom prst="rect">
            <a:avLst/>
          </a:prstGeom>
          <a:noFill/>
        </p:spPr>
        <p:txBody>
          <a:bodyPr wrap="square" anchor="t" lIns="54864" rIns="54864" tIns="18288" bIns="18288">
            <a:spAutoFit/>
          </a:bodyPr>
          <a:lstStyle/>
          <a:p>
            <a:pPr algn="l"/>
            <a:r>
              <a:rPr sz="4000" b="0">
                <a:solidFill>
                  <a:srgbClr val="FFFFFF"/>
                </a:solidFill>
                <a:latin typeface="Montserrat Light"/>
              </a:rPr>
              <a:t>Key Investment Highlights</a:t>
            </a:r>
          </a:p>
        </p:txBody>
      </p:sp>
      <p:sp>
        <p:nvSpPr>
          <p:cNvPr id="7" name="TextBox 6"/>
          <p:cNvSpPr txBox="1"/>
          <p:nvPr/>
        </p:nvSpPr>
        <p:spPr>
          <a:xfrm>
            <a:off x="1216152" y="1591056"/>
            <a:ext cx="16002000" cy="457200"/>
          </a:xfrm>
          <a:prstGeom prst="rect">
            <a:avLst/>
          </a:prstGeom>
          <a:noFill/>
        </p:spPr>
        <p:txBody>
          <a:bodyPr wrap="square" anchor="t" lIns="54864" rIns="54864" tIns="18288" bIns="18288">
            <a:spAutoFit/>
          </a:bodyPr>
          <a:lstStyle/>
          <a:p>
            <a:pPr algn="l"/>
            <a:r>
              <a:rPr sz="1800" b="0">
                <a:solidFill>
                  <a:srgbClr val="C8B8FF"/>
                </a:solidFill>
                <a:latin typeface="Montserrat Light"/>
              </a:rPr>
              <a:t>A profitable, fast-growing import-substitution play in India's elevator &amp; parking systems market</a:t>
            </a:r>
          </a:p>
        </p:txBody>
      </p:sp>
      <p:sp>
        <p:nvSpPr>
          <p:cNvPr id="8" name="Rounded Rectangle 7"/>
          <p:cNvSpPr/>
          <p:nvPr/>
        </p:nvSpPr>
        <p:spPr>
          <a:xfrm>
            <a:off x="749808" y="233172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233172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7" y="258775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15+ Yrs</a:t>
            </a:r>
          </a:p>
        </p:txBody>
      </p:sp>
      <p:sp>
        <p:nvSpPr>
          <p:cNvPr id="11" name="TextBox 10"/>
          <p:cNvSpPr txBox="1"/>
          <p:nvPr/>
        </p:nvSpPr>
        <p:spPr>
          <a:xfrm>
            <a:off x="1024127" y="350215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Proven Track Record</a:t>
            </a:r>
          </a:p>
        </p:txBody>
      </p:sp>
      <p:sp>
        <p:nvSpPr>
          <p:cNvPr id="12" name="TextBox 11"/>
          <p:cNvSpPr txBox="1"/>
          <p:nvPr/>
        </p:nvSpPr>
        <p:spPr>
          <a:xfrm>
            <a:off x="1024127" y="397763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Established maker of automatic lift doors, hydraulic systems &amp; multi-level parking</a:t>
            </a:r>
          </a:p>
        </p:txBody>
      </p:sp>
      <p:sp>
        <p:nvSpPr>
          <p:cNvPr id="13" name="Rounded Rectangle 12"/>
          <p:cNvSpPr/>
          <p:nvPr/>
        </p:nvSpPr>
        <p:spPr>
          <a:xfrm>
            <a:off x="6400800" y="233172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233172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58775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~52%</a:t>
            </a:r>
          </a:p>
        </p:txBody>
      </p:sp>
      <p:sp>
        <p:nvSpPr>
          <p:cNvPr id="16" name="TextBox 15"/>
          <p:cNvSpPr txBox="1"/>
          <p:nvPr/>
        </p:nvSpPr>
        <p:spPr>
          <a:xfrm>
            <a:off x="6675120" y="350215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Revenue CAGR</a:t>
            </a:r>
          </a:p>
        </p:txBody>
      </p:sp>
      <p:sp>
        <p:nvSpPr>
          <p:cNvPr id="17" name="TextBox 16"/>
          <p:cNvSpPr txBox="1"/>
          <p:nvPr/>
        </p:nvSpPr>
        <p:spPr>
          <a:xfrm>
            <a:off x="6675120" y="397763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Y-o-Y revenue growth sustained over FY22–FY25</a:t>
            </a:r>
          </a:p>
        </p:txBody>
      </p:sp>
      <p:sp>
        <p:nvSpPr>
          <p:cNvPr id="18" name="Rounded Rectangle 17"/>
          <p:cNvSpPr/>
          <p:nvPr/>
        </p:nvSpPr>
        <p:spPr>
          <a:xfrm>
            <a:off x="12051792" y="233172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51792" y="233172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26112" y="258775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100%+</a:t>
            </a:r>
          </a:p>
        </p:txBody>
      </p:sp>
      <p:sp>
        <p:nvSpPr>
          <p:cNvPr id="21" name="TextBox 20"/>
          <p:cNvSpPr txBox="1"/>
          <p:nvPr/>
        </p:nvSpPr>
        <p:spPr>
          <a:xfrm>
            <a:off x="12326112" y="350215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PAT Growth</a:t>
            </a:r>
          </a:p>
        </p:txBody>
      </p:sp>
      <p:sp>
        <p:nvSpPr>
          <p:cNvPr id="22" name="TextBox 21"/>
          <p:cNvSpPr txBox="1"/>
          <p:nvPr/>
        </p:nvSpPr>
        <p:spPr>
          <a:xfrm>
            <a:off x="12326112" y="397763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Profit after tax more than doubled over the last two years</a:t>
            </a:r>
          </a:p>
        </p:txBody>
      </p:sp>
      <p:sp>
        <p:nvSpPr>
          <p:cNvPr id="23" name="Rounded Rectangle 22"/>
          <p:cNvSpPr/>
          <p:nvPr/>
        </p:nvSpPr>
        <p:spPr>
          <a:xfrm>
            <a:off x="749808" y="557784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9808" y="557784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4127" y="583387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3 Geographies</a:t>
            </a:r>
          </a:p>
        </p:txBody>
      </p:sp>
      <p:sp>
        <p:nvSpPr>
          <p:cNvPr id="26" name="TextBox 25"/>
          <p:cNvSpPr txBox="1"/>
          <p:nvPr/>
        </p:nvSpPr>
        <p:spPr>
          <a:xfrm>
            <a:off x="1024127" y="674827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Live Export Traction</a:t>
            </a:r>
          </a:p>
        </p:txBody>
      </p:sp>
      <p:sp>
        <p:nvSpPr>
          <p:cNvPr id="27" name="TextBox 26"/>
          <p:cNvSpPr txBox="1"/>
          <p:nvPr/>
        </p:nvSpPr>
        <p:spPr>
          <a:xfrm>
            <a:off x="1024127" y="722375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Recurring orders from Kuwait, Canada &amp; Australia</a:t>
            </a:r>
          </a:p>
        </p:txBody>
      </p:sp>
      <p:sp>
        <p:nvSpPr>
          <p:cNvPr id="28" name="Rounded Rectangle 27"/>
          <p:cNvSpPr/>
          <p:nvPr/>
        </p:nvSpPr>
        <p:spPr>
          <a:xfrm>
            <a:off x="6400800" y="557784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0" y="557784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0" y="583387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New Plant</a:t>
            </a:r>
          </a:p>
        </p:txBody>
      </p:sp>
      <p:sp>
        <p:nvSpPr>
          <p:cNvPr id="31" name="TextBox 30"/>
          <p:cNvSpPr txBox="1"/>
          <p:nvPr/>
        </p:nvSpPr>
        <p:spPr>
          <a:xfrm>
            <a:off x="6675120" y="674827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Capacity Scale-Up</a:t>
            </a:r>
          </a:p>
        </p:txBody>
      </p:sp>
      <p:sp>
        <p:nvSpPr>
          <p:cNvPr id="32" name="TextBox 31"/>
          <p:cNvSpPr txBox="1"/>
          <p:nvPr/>
        </p:nvSpPr>
        <p:spPr>
          <a:xfrm>
            <a:off x="6675120" y="722375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Ambernath facility + advanced machinery driving margin gains</a:t>
            </a:r>
          </a:p>
        </p:txBody>
      </p:sp>
      <p:sp>
        <p:nvSpPr>
          <p:cNvPr id="33" name="Rounded Rectangle 32"/>
          <p:cNvSpPr/>
          <p:nvPr/>
        </p:nvSpPr>
        <p:spPr>
          <a:xfrm>
            <a:off x="12051792" y="5577840"/>
            <a:ext cx="5285232"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2051792" y="5577840"/>
            <a:ext cx="128016" cy="283464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326112" y="5833872"/>
            <a:ext cx="4828032" cy="868680"/>
          </a:xfrm>
          <a:prstGeom prst="rect">
            <a:avLst/>
          </a:prstGeom>
          <a:noFill/>
        </p:spPr>
        <p:txBody>
          <a:bodyPr wrap="square" anchor="t" lIns="54864" rIns="54864" tIns="18288" bIns="18288">
            <a:spAutoFit/>
          </a:bodyPr>
          <a:lstStyle/>
          <a:p>
            <a:pPr algn="l"/>
            <a:r>
              <a:rPr sz="3800" b="1">
                <a:solidFill>
                  <a:srgbClr val="15092E"/>
                </a:solidFill>
                <a:latin typeface="Montserrat"/>
              </a:rPr>
              <a:t>25% Stake</a:t>
            </a:r>
          </a:p>
        </p:txBody>
      </p:sp>
      <p:sp>
        <p:nvSpPr>
          <p:cNvPr id="36" name="TextBox 35"/>
          <p:cNvSpPr txBox="1"/>
          <p:nvPr/>
        </p:nvSpPr>
        <p:spPr>
          <a:xfrm>
            <a:off x="12326112" y="6748272"/>
            <a:ext cx="4828032" cy="411480"/>
          </a:xfrm>
          <a:prstGeom prst="rect">
            <a:avLst/>
          </a:prstGeom>
          <a:noFill/>
        </p:spPr>
        <p:txBody>
          <a:bodyPr wrap="square" anchor="t" lIns="54864" rIns="54864" tIns="18288" bIns="18288">
            <a:spAutoFit/>
          </a:bodyPr>
          <a:lstStyle/>
          <a:p>
            <a:pPr algn="l"/>
            <a:r>
              <a:rPr sz="1700" b="1">
                <a:solidFill>
                  <a:srgbClr val="15092E"/>
                </a:solidFill>
                <a:latin typeface="Montserrat"/>
              </a:rPr>
              <a:t>Secondary on Offer</a:t>
            </a:r>
          </a:p>
        </p:txBody>
      </p:sp>
      <p:sp>
        <p:nvSpPr>
          <p:cNvPr id="37" name="TextBox 36"/>
          <p:cNvSpPr txBox="1"/>
          <p:nvPr/>
        </p:nvSpPr>
        <p:spPr>
          <a:xfrm>
            <a:off x="12326112" y="7223759"/>
            <a:ext cx="4782312" cy="1051560"/>
          </a:xfrm>
          <a:prstGeom prst="rect">
            <a:avLst/>
          </a:prstGeom>
          <a:noFill/>
        </p:spPr>
        <p:txBody>
          <a:bodyPr wrap="square" anchor="t" lIns="54864" rIns="54864" tIns="18288" bIns="18288">
            <a:spAutoFit/>
          </a:bodyPr>
          <a:lstStyle/>
          <a:p>
            <a:pPr algn="l">
              <a:lnSpc>
                <a:spcPct val="105000"/>
              </a:lnSpc>
            </a:pPr>
            <a:r>
              <a:rPr sz="1350" b="0">
                <a:solidFill>
                  <a:srgbClr val="3A2860"/>
                </a:solidFill>
                <a:latin typeface="Montserrat Light"/>
              </a:rPr>
              <a:t>Promoter stake sale at ~₹95 Cr equity value</a:t>
            </a:r>
          </a:p>
        </p:txBody>
      </p:sp>
      <p:sp>
        <p:nvSpPr>
          <p:cNvPr id="38" name="TextBox 37"/>
          <p:cNvSpPr txBox="1"/>
          <p:nvPr/>
        </p:nvSpPr>
        <p:spPr>
          <a:xfrm>
            <a:off x="1216152" y="9710928"/>
            <a:ext cx="16002000" cy="310896"/>
          </a:xfrm>
          <a:prstGeom prst="rect">
            <a:avLst/>
          </a:prstGeom>
          <a:noFill/>
        </p:spPr>
        <p:txBody>
          <a:bodyPr wrap="square" anchor="t" lIns="54864" rIns="54864" tIns="18288" bIns="18288">
            <a:spAutoFit/>
          </a:bodyPr>
          <a:lstStyle/>
          <a:p>
            <a:pPr algn="l"/>
            <a:r>
              <a:rPr sz="1150" b="0">
                <a:solidFill>
                  <a:srgbClr val="C8B8FF"/>
                </a:solidFill>
                <a:latin typeface="Montserrat Light"/>
              </a:rPr>
              <a:t>All projections are indicative and subject to availability of funds at the right time.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bin"/>
          <p:cNvPicPr>
            <a:picLocks noChangeAspect="1"/>
          </p:cNvPicPr>
          <p:nvPr/>
        </p:nvPicPr>
        <p:blipFill>
          <a:blip r:embed="rId2"/>
          <a:stretch>
            <a:fillRect/>
          </a:stretch>
        </p:blipFill>
        <p:spPr>
          <a:xfrm>
            <a:off x="0" y="0"/>
            <a:ext cx="18288000" cy="10287000"/>
          </a:xfrm>
          <a:prstGeom prst="rect">
            <a:avLst/>
          </a:prstGeom>
        </p:spPr>
      </p:pic>
      <p:pic>
        <p:nvPicPr>
          <p:cNvPr id="3" name="Picture 2" descr="image.bin"/>
          <p:cNvPicPr>
            <a:picLocks noChangeAspect="1"/>
          </p:cNvPicPr>
          <p:nvPr/>
        </p:nvPicPr>
        <p:blipFill>
          <a:blip r:embed="rId3"/>
          <a:stretch>
            <a:fillRect/>
          </a:stretch>
        </p:blipFill>
        <p:spPr>
          <a:xfrm>
            <a:off x="0" y="0"/>
            <a:ext cx="18288000" cy="10287000"/>
          </a:xfrm>
          <a:prstGeom prst="rect">
            <a:avLst/>
          </a:prstGeom>
        </p:spPr>
      </p:pic>
      <p:sp>
        <p:nvSpPr>
          <p:cNvPr id="4" name="Rectangle 3"/>
          <p:cNvSpPr/>
          <p:nvPr/>
        </p:nvSpPr>
        <p:spPr>
          <a:xfrm>
            <a:off x="594360" y="731520"/>
            <a:ext cx="64008" cy="667512"/>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6152" y="502920"/>
            <a:ext cx="16002000" cy="292608"/>
          </a:xfrm>
          <a:prstGeom prst="rect">
            <a:avLst/>
          </a:prstGeom>
          <a:noFill/>
        </p:spPr>
        <p:txBody>
          <a:bodyPr wrap="square" anchor="t" lIns="54864" rIns="54864" tIns="18288" bIns="18288">
            <a:spAutoFit/>
          </a:bodyPr>
          <a:lstStyle/>
          <a:p>
            <a:pPr algn="l"/>
            <a:r>
              <a:rPr sz="1500" b="1">
                <a:solidFill>
                  <a:srgbClr val="FBC76E"/>
                </a:solidFill>
                <a:latin typeface="Montserrat"/>
              </a:rPr>
              <a:t>THE PROPOSAL</a:t>
            </a:r>
          </a:p>
        </p:txBody>
      </p:sp>
      <p:sp>
        <p:nvSpPr>
          <p:cNvPr id="6" name="TextBox 5"/>
          <p:cNvSpPr txBox="1"/>
          <p:nvPr/>
        </p:nvSpPr>
        <p:spPr>
          <a:xfrm>
            <a:off x="1188720" y="786384"/>
            <a:ext cx="16002000" cy="713232"/>
          </a:xfrm>
          <a:prstGeom prst="rect">
            <a:avLst/>
          </a:prstGeom>
          <a:noFill/>
        </p:spPr>
        <p:txBody>
          <a:bodyPr wrap="square" anchor="t" lIns="54864" rIns="54864" tIns="18288" bIns="18288">
            <a:spAutoFit/>
          </a:bodyPr>
          <a:lstStyle/>
          <a:p>
            <a:pPr algn="l"/>
            <a:r>
              <a:rPr sz="4000" b="0">
                <a:solidFill>
                  <a:srgbClr val="FFFFFF"/>
                </a:solidFill>
                <a:latin typeface="Montserrat Light"/>
              </a:rPr>
              <a:t>Transaction Structure</a:t>
            </a:r>
          </a:p>
        </p:txBody>
      </p:sp>
      <p:sp>
        <p:nvSpPr>
          <p:cNvPr id="7" name="TextBox 6"/>
          <p:cNvSpPr txBox="1"/>
          <p:nvPr/>
        </p:nvSpPr>
        <p:spPr>
          <a:xfrm>
            <a:off x="1216152" y="1591056"/>
            <a:ext cx="16002000" cy="457200"/>
          </a:xfrm>
          <a:prstGeom prst="rect">
            <a:avLst/>
          </a:prstGeom>
          <a:noFill/>
        </p:spPr>
        <p:txBody>
          <a:bodyPr wrap="square" anchor="t" lIns="54864" rIns="54864" tIns="18288" bIns="18288">
            <a:spAutoFit/>
          </a:bodyPr>
          <a:lstStyle/>
          <a:p>
            <a:pPr algn="l"/>
            <a:r>
              <a:rPr sz="1800" b="0">
                <a:solidFill>
                  <a:srgbClr val="C8B8FF"/>
                </a:solidFill>
                <a:latin typeface="Montserrat Light"/>
              </a:rPr>
              <a:t>A secondary stake sale — funded straight back into the business as interest-free promoter capital</a:t>
            </a:r>
          </a:p>
        </p:txBody>
      </p:sp>
      <p:sp>
        <p:nvSpPr>
          <p:cNvPr id="8" name="Rounded Rectangle 7"/>
          <p:cNvSpPr/>
          <p:nvPr/>
        </p:nvSpPr>
        <p:spPr>
          <a:xfrm>
            <a:off x="749808" y="3246120"/>
            <a:ext cx="3703320" cy="41605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3246120"/>
            <a:ext cx="3703320" cy="128016"/>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24127" y="3575303"/>
            <a:ext cx="713232" cy="713232"/>
          </a:xfrm>
          <a:prstGeom prst="roundRect">
            <a:avLst>
              <a:gd name="adj" fmla="val 50000"/>
            </a:avLst>
          </a:prstGeom>
          <a:solidFill>
            <a:srgbClr val="150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3666744"/>
            <a:ext cx="713232" cy="548640"/>
          </a:xfrm>
          <a:prstGeom prst="rect">
            <a:avLst/>
          </a:prstGeom>
          <a:noFill/>
        </p:spPr>
        <p:txBody>
          <a:bodyPr wrap="square" anchor="t" lIns="54864" rIns="54864" tIns="18288" bIns="18288">
            <a:spAutoFit/>
          </a:bodyPr>
          <a:lstStyle/>
          <a:p>
            <a:pPr algn="ctr"/>
            <a:r>
              <a:rPr sz="2600" b="1">
                <a:solidFill>
                  <a:srgbClr val="FBC76E"/>
                </a:solidFill>
                <a:latin typeface="Montserrat"/>
              </a:rPr>
              <a:t>1</a:t>
            </a:r>
          </a:p>
        </p:txBody>
      </p:sp>
      <p:sp>
        <p:nvSpPr>
          <p:cNvPr id="12" name="TextBox 11"/>
          <p:cNvSpPr txBox="1"/>
          <p:nvPr/>
        </p:nvSpPr>
        <p:spPr>
          <a:xfrm>
            <a:off x="1024127" y="4526279"/>
            <a:ext cx="3154679" cy="731520"/>
          </a:xfrm>
          <a:prstGeom prst="rect">
            <a:avLst/>
          </a:prstGeom>
          <a:noFill/>
        </p:spPr>
        <p:txBody>
          <a:bodyPr wrap="square" anchor="t" lIns="54864" rIns="54864" tIns="18288" bIns="18288">
            <a:spAutoFit/>
          </a:bodyPr>
          <a:lstStyle/>
          <a:p>
            <a:pPr algn="l"/>
            <a:r>
              <a:rPr sz="1900" b="1">
                <a:solidFill>
                  <a:srgbClr val="15092E"/>
                </a:solidFill>
                <a:latin typeface="Montserrat"/>
              </a:rPr>
              <a:t>Secondary Sale</a:t>
            </a:r>
          </a:p>
        </p:txBody>
      </p:sp>
      <p:sp>
        <p:nvSpPr>
          <p:cNvPr id="13" name="TextBox 12"/>
          <p:cNvSpPr txBox="1"/>
          <p:nvPr/>
        </p:nvSpPr>
        <p:spPr>
          <a:xfrm>
            <a:off x="1024127" y="5349240"/>
            <a:ext cx="3136391" cy="1828800"/>
          </a:xfrm>
          <a:prstGeom prst="rect">
            <a:avLst/>
          </a:prstGeom>
          <a:noFill/>
        </p:spPr>
        <p:txBody>
          <a:bodyPr wrap="square" anchor="t" lIns="54864" rIns="54864" tIns="18288" bIns="18288">
            <a:spAutoFit/>
          </a:bodyPr>
          <a:lstStyle/>
          <a:p>
            <a:pPr algn="l">
              <a:lnSpc>
                <a:spcPct val="108000"/>
              </a:lnSpc>
            </a:pPr>
            <a:r>
              <a:rPr sz="1400" b="0">
                <a:solidFill>
                  <a:srgbClr val="3A2860"/>
                </a:solidFill>
                <a:latin typeface="Montserrat Light"/>
              </a:rPr>
              <a:t>PE investor acquires 25% equity by buying existing shares from the promoter. No new shares are issued — zero primary dilution.</a:t>
            </a:r>
          </a:p>
        </p:txBody>
      </p:sp>
      <p:sp>
        <p:nvSpPr>
          <p:cNvPr id="14" name="Chevron 13"/>
          <p:cNvSpPr/>
          <p:nvPr/>
        </p:nvSpPr>
        <p:spPr>
          <a:xfrm>
            <a:off x="4544568" y="5052059"/>
            <a:ext cx="457200" cy="548640"/>
          </a:xfrm>
          <a:prstGeom prst="chevron">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93208" y="3246120"/>
            <a:ext cx="3703320" cy="41605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93208" y="3246120"/>
            <a:ext cx="3703320" cy="128016"/>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67528" y="3575303"/>
            <a:ext cx="713232" cy="713232"/>
          </a:xfrm>
          <a:prstGeom prst="roundRect">
            <a:avLst>
              <a:gd name="adj" fmla="val 50000"/>
            </a:avLst>
          </a:prstGeom>
          <a:solidFill>
            <a:srgbClr val="150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67528" y="3666744"/>
            <a:ext cx="713232" cy="548640"/>
          </a:xfrm>
          <a:prstGeom prst="rect">
            <a:avLst/>
          </a:prstGeom>
          <a:noFill/>
        </p:spPr>
        <p:txBody>
          <a:bodyPr wrap="square" anchor="t" lIns="54864" rIns="54864" tIns="18288" bIns="18288">
            <a:spAutoFit/>
          </a:bodyPr>
          <a:lstStyle/>
          <a:p>
            <a:pPr algn="ctr"/>
            <a:r>
              <a:rPr sz="2600" b="1">
                <a:solidFill>
                  <a:srgbClr val="FBC76E"/>
                </a:solidFill>
                <a:latin typeface="Montserrat"/>
              </a:rPr>
              <a:t>2</a:t>
            </a:r>
          </a:p>
        </p:txBody>
      </p:sp>
      <p:sp>
        <p:nvSpPr>
          <p:cNvPr id="19" name="TextBox 18"/>
          <p:cNvSpPr txBox="1"/>
          <p:nvPr/>
        </p:nvSpPr>
        <p:spPr>
          <a:xfrm>
            <a:off x="5367528" y="4526279"/>
            <a:ext cx="3154679" cy="731520"/>
          </a:xfrm>
          <a:prstGeom prst="rect">
            <a:avLst/>
          </a:prstGeom>
          <a:noFill/>
        </p:spPr>
        <p:txBody>
          <a:bodyPr wrap="square" anchor="t" lIns="54864" rIns="54864" tIns="18288" bIns="18288">
            <a:spAutoFit/>
          </a:bodyPr>
          <a:lstStyle/>
          <a:p>
            <a:pPr algn="l"/>
            <a:r>
              <a:rPr sz="1900" b="1">
                <a:solidFill>
                  <a:srgbClr val="15092E"/>
                </a:solidFill>
                <a:latin typeface="Montserrat"/>
              </a:rPr>
              <a:t>Proceeds to Promoter</a:t>
            </a:r>
          </a:p>
        </p:txBody>
      </p:sp>
      <p:sp>
        <p:nvSpPr>
          <p:cNvPr id="20" name="TextBox 19"/>
          <p:cNvSpPr txBox="1"/>
          <p:nvPr/>
        </p:nvSpPr>
        <p:spPr>
          <a:xfrm>
            <a:off x="5367528" y="5349240"/>
            <a:ext cx="3136391" cy="1828800"/>
          </a:xfrm>
          <a:prstGeom prst="rect">
            <a:avLst/>
          </a:prstGeom>
          <a:noFill/>
        </p:spPr>
        <p:txBody>
          <a:bodyPr wrap="square" anchor="t" lIns="54864" rIns="54864" tIns="18288" bIns="18288">
            <a:spAutoFit/>
          </a:bodyPr>
          <a:lstStyle/>
          <a:p>
            <a:pPr algn="l">
              <a:lnSpc>
                <a:spcPct val="108000"/>
              </a:lnSpc>
            </a:pPr>
            <a:r>
              <a:rPr sz="1400" b="0">
                <a:solidFill>
                  <a:srgbClr val="3A2860"/>
                </a:solidFill>
                <a:latin typeface="Montserrat Light"/>
              </a:rPr>
              <a:t>Promoter receives ₹23.75 Cr. The company's share capital and balance sheet are unchanged at this step.</a:t>
            </a:r>
          </a:p>
        </p:txBody>
      </p:sp>
      <p:sp>
        <p:nvSpPr>
          <p:cNvPr id="21" name="Chevron 20"/>
          <p:cNvSpPr/>
          <p:nvPr/>
        </p:nvSpPr>
        <p:spPr>
          <a:xfrm>
            <a:off x="8887968" y="5052059"/>
            <a:ext cx="457200" cy="548640"/>
          </a:xfrm>
          <a:prstGeom prst="chevron">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436608" y="3246120"/>
            <a:ext cx="3703320" cy="41605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36608" y="3246120"/>
            <a:ext cx="3703320" cy="128016"/>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10928" y="3575303"/>
            <a:ext cx="713232" cy="713232"/>
          </a:xfrm>
          <a:prstGeom prst="roundRect">
            <a:avLst>
              <a:gd name="adj" fmla="val 50000"/>
            </a:avLst>
          </a:prstGeom>
          <a:solidFill>
            <a:srgbClr val="150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0928" y="3666744"/>
            <a:ext cx="713232" cy="548640"/>
          </a:xfrm>
          <a:prstGeom prst="rect">
            <a:avLst/>
          </a:prstGeom>
          <a:noFill/>
        </p:spPr>
        <p:txBody>
          <a:bodyPr wrap="square" anchor="t" lIns="54864" rIns="54864" tIns="18288" bIns="18288">
            <a:spAutoFit/>
          </a:bodyPr>
          <a:lstStyle/>
          <a:p>
            <a:pPr algn="ctr"/>
            <a:r>
              <a:rPr sz="2600" b="1">
                <a:solidFill>
                  <a:srgbClr val="FBC76E"/>
                </a:solidFill>
                <a:latin typeface="Montserrat"/>
              </a:rPr>
              <a:t>3</a:t>
            </a:r>
          </a:p>
        </p:txBody>
      </p:sp>
      <p:sp>
        <p:nvSpPr>
          <p:cNvPr id="26" name="TextBox 25"/>
          <p:cNvSpPr txBox="1"/>
          <p:nvPr/>
        </p:nvSpPr>
        <p:spPr>
          <a:xfrm>
            <a:off x="9710928" y="4526279"/>
            <a:ext cx="3154679" cy="731520"/>
          </a:xfrm>
          <a:prstGeom prst="rect">
            <a:avLst/>
          </a:prstGeom>
          <a:noFill/>
        </p:spPr>
        <p:txBody>
          <a:bodyPr wrap="square" anchor="t" lIns="54864" rIns="54864" tIns="18288" bIns="18288">
            <a:spAutoFit/>
          </a:bodyPr>
          <a:lstStyle/>
          <a:p>
            <a:pPr algn="l"/>
            <a:r>
              <a:rPr sz="1900" b="1">
                <a:solidFill>
                  <a:srgbClr val="15092E"/>
                </a:solidFill>
                <a:latin typeface="Montserrat"/>
              </a:rPr>
              <a:t>Re-Infused as Loan</a:t>
            </a:r>
          </a:p>
        </p:txBody>
      </p:sp>
      <p:sp>
        <p:nvSpPr>
          <p:cNvPr id="27" name="TextBox 26"/>
          <p:cNvSpPr txBox="1"/>
          <p:nvPr/>
        </p:nvSpPr>
        <p:spPr>
          <a:xfrm>
            <a:off x="9710928" y="5349240"/>
            <a:ext cx="3136391" cy="1828800"/>
          </a:xfrm>
          <a:prstGeom prst="rect">
            <a:avLst/>
          </a:prstGeom>
          <a:noFill/>
        </p:spPr>
        <p:txBody>
          <a:bodyPr wrap="square" anchor="t" lIns="54864" rIns="54864" tIns="18288" bIns="18288">
            <a:spAutoFit/>
          </a:bodyPr>
          <a:lstStyle/>
          <a:p>
            <a:pPr algn="l">
              <a:lnSpc>
                <a:spcPct val="108000"/>
              </a:lnSpc>
            </a:pPr>
            <a:r>
              <a:rPr sz="1400" b="0">
                <a:solidFill>
                  <a:srgbClr val="3A2860"/>
                </a:solidFill>
                <a:latin typeface="Montserrat Light"/>
              </a:rPr>
              <a:t>Promoter infuses the entire ₹23.75 Cr back into Portal as an interest-free, unsecured loan (quasi-equity).</a:t>
            </a:r>
          </a:p>
        </p:txBody>
      </p:sp>
      <p:sp>
        <p:nvSpPr>
          <p:cNvPr id="28" name="Chevron 27"/>
          <p:cNvSpPr/>
          <p:nvPr/>
        </p:nvSpPr>
        <p:spPr>
          <a:xfrm>
            <a:off x="13231368" y="5052059"/>
            <a:ext cx="457200" cy="548640"/>
          </a:xfrm>
          <a:prstGeom prst="chevron">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3780008" y="3246120"/>
            <a:ext cx="3703320" cy="41605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3780008" y="3246120"/>
            <a:ext cx="3703320" cy="128016"/>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4054328" y="3575303"/>
            <a:ext cx="713232" cy="713232"/>
          </a:xfrm>
          <a:prstGeom prst="roundRect">
            <a:avLst>
              <a:gd name="adj" fmla="val 50000"/>
            </a:avLst>
          </a:prstGeom>
          <a:solidFill>
            <a:srgbClr val="150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054328" y="3666744"/>
            <a:ext cx="713232" cy="548640"/>
          </a:xfrm>
          <a:prstGeom prst="rect">
            <a:avLst/>
          </a:prstGeom>
          <a:noFill/>
        </p:spPr>
        <p:txBody>
          <a:bodyPr wrap="square" anchor="t" lIns="54864" rIns="54864" tIns="18288" bIns="18288">
            <a:spAutoFit/>
          </a:bodyPr>
          <a:lstStyle/>
          <a:p>
            <a:pPr algn="ctr"/>
            <a:r>
              <a:rPr sz="2600" b="1">
                <a:solidFill>
                  <a:srgbClr val="FBC76E"/>
                </a:solidFill>
                <a:latin typeface="Montserrat"/>
              </a:rPr>
              <a:t>4</a:t>
            </a:r>
          </a:p>
        </p:txBody>
      </p:sp>
      <p:sp>
        <p:nvSpPr>
          <p:cNvPr id="33" name="TextBox 32"/>
          <p:cNvSpPr txBox="1"/>
          <p:nvPr/>
        </p:nvSpPr>
        <p:spPr>
          <a:xfrm>
            <a:off x="14054328" y="4526279"/>
            <a:ext cx="3154679" cy="731520"/>
          </a:xfrm>
          <a:prstGeom prst="rect">
            <a:avLst/>
          </a:prstGeom>
          <a:noFill/>
        </p:spPr>
        <p:txBody>
          <a:bodyPr wrap="square" anchor="t" lIns="54864" rIns="54864" tIns="18288" bIns="18288">
            <a:spAutoFit/>
          </a:bodyPr>
          <a:lstStyle/>
          <a:p>
            <a:pPr algn="l"/>
            <a:r>
              <a:rPr sz="1900" b="1">
                <a:solidFill>
                  <a:srgbClr val="15092E"/>
                </a:solidFill>
                <a:latin typeface="Montserrat"/>
              </a:rPr>
              <a:t>Repaid from Cash Flow</a:t>
            </a:r>
          </a:p>
        </p:txBody>
      </p:sp>
      <p:sp>
        <p:nvSpPr>
          <p:cNvPr id="34" name="TextBox 33"/>
          <p:cNvSpPr txBox="1"/>
          <p:nvPr/>
        </p:nvSpPr>
        <p:spPr>
          <a:xfrm>
            <a:off x="14054328" y="5349240"/>
            <a:ext cx="3136391" cy="1828800"/>
          </a:xfrm>
          <a:prstGeom prst="rect">
            <a:avLst/>
          </a:prstGeom>
          <a:noFill/>
        </p:spPr>
        <p:txBody>
          <a:bodyPr wrap="square" anchor="t" lIns="54864" rIns="54864" tIns="18288" bIns="18288">
            <a:spAutoFit/>
          </a:bodyPr>
          <a:lstStyle/>
          <a:p>
            <a:pPr algn="l">
              <a:lnSpc>
                <a:spcPct val="108000"/>
              </a:lnSpc>
            </a:pPr>
            <a:r>
              <a:rPr sz="1400" b="0">
                <a:solidFill>
                  <a:srgbClr val="3A2860"/>
                </a:solidFill>
                <a:latin typeface="Montserrat Light"/>
              </a:rPr>
              <a:t>Company deploys the capital for growth; the loan is drawn down from internal free cash flows over 3–5 years.</a:t>
            </a:r>
          </a:p>
        </p:txBody>
      </p:sp>
      <p:sp>
        <p:nvSpPr>
          <p:cNvPr id="35" name="Rounded Rectangle 34"/>
          <p:cNvSpPr/>
          <p:nvPr/>
        </p:nvSpPr>
        <p:spPr>
          <a:xfrm>
            <a:off x="749808" y="7818120"/>
            <a:ext cx="16788384" cy="1188720"/>
          </a:xfrm>
          <a:prstGeom prst="roundRect">
            <a:avLst>
              <a:gd name="adj" fmla="val 10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8001000"/>
            <a:ext cx="4197096" cy="365760"/>
          </a:xfrm>
          <a:prstGeom prst="rect">
            <a:avLst/>
          </a:prstGeom>
          <a:noFill/>
        </p:spPr>
        <p:txBody>
          <a:bodyPr wrap="square" anchor="t" lIns="54864" rIns="54864" tIns="18288" bIns="18288">
            <a:spAutoFit/>
          </a:bodyPr>
          <a:lstStyle/>
          <a:p>
            <a:pPr algn="ctr"/>
            <a:r>
              <a:rPr sz="1300" b="0">
                <a:solidFill>
                  <a:srgbClr val="C8B8FF"/>
                </a:solidFill>
                <a:latin typeface="Montserrat Light"/>
              </a:rPr>
              <a:t>PE acquires</a:t>
            </a:r>
          </a:p>
        </p:txBody>
      </p:sp>
      <p:sp>
        <p:nvSpPr>
          <p:cNvPr id="37" name="TextBox 36"/>
          <p:cNvSpPr txBox="1"/>
          <p:nvPr/>
        </p:nvSpPr>
        <p:spPr>
          <a:xfrm>
            <a:off x="749808" y="8348472"/>
            <a:ext cx="4197096" cy="502920"/>
          </a:xfrm>
          <a:prstGeom prst="rect">
            <a:avLst/>
          </a:prstGeom>
          <a:noFill/>
        </p:spPr>
        <p:txBody>
          <a:bodyPr wrap="square" anchor="t" lIns="54864" rIns="54864" tIns="18288" bIns="18288">
            <a:spAutoFit/>
          </a:bodyPr>
          <a:lstStyle/>
          <a:p>
            <a:pPr algn="ctr"/>
            <a:r>
              <a:rPr sz="2300" b="1">
                <a:solidFill>
                  <a:srgbClr val="FBC76E"/>
                </a:solidFill>
                <a:latin typeface="Montserrat"/>
              </a:rPr>
              <a:t>25% stake</a:t>
            </a:r>
          </a:p>
        </p:txBody>
      </p:sp>
      <p:sp>
        <p:nvSpPr>
          <p:cNvPr id="38" name="TextBox 37"/>
          <p:cNvSpPr txBox="1"/>
          <p:nvPr/>
        </p:nvSpPr>
        <p:spPr>
          <a:xfrm>
            <a:off x="4946904" y="8001000"/>
            <a:ext cx="4197096" cy="365760"/>
          </a:xfrm>
          <a:prstGeom prst="rect">
            <a:avLst/>
          </a:prstGeom>
          <a:noFill/>
        </p:spPr>
        <p:txBody>
          <a:bodyPr wrap="square" anchor="t" lIns="54864" rIns="54864" tIns="18288" bIns="18288">
            <a:spAutoFit/>
          </a:bodyPr>
          <a:lstStyle/>
          <a:p>
            <a:pPr algn="ctr"/>
            <a:r>
              <a:rPr sz="1300" b="0">
                <a:solidFill>
                  <a:srgbClr val="C8B8FF"/>
                </a:solidFill>
                <a:latin typeface="Montserrat Light"/>
              </a:rPr>
              <a:t>for consideration of</a:t>
            </a:r>
          </a:p>
        </p:txBody>
      </p:sp>
      <p:sp>
        <p:nvSpPr>
          <p:cNvPr id="39" name="TextBox 38"/>
          <p:cNvSpPr txBox="1"/>
          <p:nvPr/>
        </p:nvSpPr>
        <p:spPr>
          <a:xfrm>
            <a:off x="4946904" y="8348472"/>
            <a:ext cx="4197096" cy="502920"/>
          </a:xfrm>
          <a:prstGeom prst="rect">
            <a:avLst/>
          </a:prstGeom>
          <a:noFill/>
        </p:spPr>
        <p:txBody>
          <a:bodyPr wrap="square" anchor="t" lIns="54864" rIns="54864" tIns="18288" bIns="18288">
            <a:spAutoFit/>
          </a:bodyPr>
          <a:lstStyle/>
          <a:p>
            <a:pPr algn="ctr"/>
            <a:r>
              <a:rPr sz="2300" b="1">
                <a:solidFill>
                  <a:srgbClr val="FBC76E"/>
                </a:solidFill>
                <a:latin typeface="Montserrat"/>
              </a:rPr>
              <a:t>₹23.75 Cr</a:t>
            </a:r>
          </a:p>
        </p:txBody>
      </p:sp>
      <p:sp>
        <p:nvSpPr>
          <p:cNvPr id="40" name="Rectangle 39"/>
          <p:cNvSpPr/>
          <p:nvPr/>
        </p:nvSpPr>
        <p:spPr>
          <a:xfrm>
            <a:off x="4937760" y="8046720"/>
            <a:ext cx="10972" cy="73152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8001000"/>
            <a:ext cx="4197096" cy="365760"/>
          </a:xfrm>
          <a:prstGeom prst="rect">
            <a:avLst/>
          </a:prstGeom>
          <a:noFill/>
        </p:spPr>
        <p:txBody>
          <a:bodyPr wrap="square" anchor="t" lIns="54864" rIns="54864" tIns="18288" bIns="18288">
            <a:spAutoFit/>
          </a:bodyPr>
          <a:lstStyle/>
          <a:p>
            <a:pPr algn="ctr"/>
            <a:r>
              <a:rPr sz="1300" b="0">
                <a:solidFill>
                  <a:srgbClr val="C8B8FF"/>
                </a:solidFill>
                <a:latin typeface="Montserrat Light"/>
              </a:rPr>
              <a:t>Implied 100% equity value</a:t>
            </a:r>
          </a:p>
        </p:txBody>
      </p:sp>
      <p:sp>
        <p:nvSpPr>
          <p:cNvPr id="42" name="TextBox 41"/>
          <p:cNvSpPr txBox="1"/>
          <p:nvPr/>
        </p:nvSpPr>
        <p:spPr>
          <a:xfrm>
            <a:off x="9144000" y="8348472"/>
            <a:ext cx="4197096" cy="502920"/>
          </a:xfrm>
          <a:prstGeom prst="rect">
            <a:avLst/>
          </a:prstGeom>
          <a:noFill/>
        </p:spPr>
        <p:txBody>
          <a:bodyPr wrap="square" anchor="t" lIns="54864" rIns="54864" tIns="18288" bIns="18288">
            <a:spAutoFit/>
          </a:bodyPr>
          <a:lstStyle/>
          <a:p>
            <a:pPr algn="ctr"/>
            <a:r>
              <a:rPr sz="2300" b="1">
                <a:solidFill>
                  <a:srgbClr val="FBC76E"/>
                </a:solidFill>
                <a:latin typeface="Montserrat"/>
              </a:rPr>
              <a:t>~₹95 Cr</a:t>
            </a:r>
          </a:p>
        </p:txBody>
      </p:sp>
      <p:sp>
        <p:nvSpPr>
          <p:cNvPr id="43" name="Rectangle 42"/>
          <p:cNvSpPr/>
          <p:nvPr/>
        </p:nvSpPr>
        <p:spPr>
          <a:xfrm>
            <a:off x="9134856" y="8046720"/>
            <a:ext cx="10972" cy="73152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3341096" y="8001000"/>
            <a:ext cx="4197096" cy="365760"/>
          </a:xfrm>
          <a:prstGeom prst="rect">
            <a:avLst/>
          </a:prstGeom>
          <a:noFill/>
        </p:spPr>
        <p:txBody>
          <a:bodyPr wrap="square" anchor="t" lIns="54864" rIns="54864" tIns="18288" bIns="18288">
            <a:spAutoFit/>
          </a:bodyPr>
          <a:lstStyle/>
          <a:p>
            <a:pPr algn="ctr"/>
            <a:r>
              <a:rPr sz="1300" b="0">
                <a:solidFill>
                  <a:srgbClr val="C8B8FF"/>
                </a:solidFill>
                <a:latin typeface="Montserrat Light"/>
              </a:rPr>
              <a:t>Capital available to business</a:t>
            </a:r>
          </a:p>
        </p:txBody>
      </p:sp>
      <p:sp>
        <p:nvSpPr>
          <p:cNvPr id="45" name="TextBox 44"/>
          <p:cNvSpPr txBox="1"/>
          <p:nvPr/>
        </p:nvSpPr>
        <p:spPr>
          <a:xfrm>
            <a:off x="13341096" y="8348472"/>
            <a:ext cx="4197096" cy="502920"/>
          </a:xfrm>
          <a:prstGeom prst="rect">
            <a:avLst/>
          </a:prstGeom>
          <a:noFill/>
        </p:spPr>
        <p:txBody>
          <a:bodyPr wrap="square" anchor="t" lIns="54864" rIns="54864" tIns="18288" bIns="18288">
            <a:spAutoFit/>
          </a:bodyPr>
          <a:lstStyle/>
          <a:p>
            <a:pPr algn="ctr"/>
            <a:r>
              <a:rPr sz="2300" b="1">
                <a:solidFill>
                  <a:srgbClr val="FBC76E"/>
                </a:solidFill>
                <a:latin typeface="Montserrat"/>
              </a:rPr>
              <a:t>₹23.75 Cr</a:t>
            </a:r>
          </a:p>
        </p:txBody>
      </p:sp>
      <p:sp>
        <p:nvSpPr>
          <p:cNvPr id="46" name="Rectangle 45"/>
          <p:cNvSpPr/>
          <p:nvPr/>
        </p:nvSpPr>
        <p:spPr>
          <a:xfrm>
            <a:off x="13331952" y="8046720"/>
            <a:ext cx="10972" cy="731520"/>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16152" y="9710928"/>
            <a:ext cx="16002000" cy="310896"/>
          </a:xfrm>
          <a:prstGeom prst="rect">
            <a:avLst/>
          </a:prstGeom>
          <a:noFill/>
        </p:spPr>
        <p:txBody>
          <a:bodyPr wrap="square" anchor="t" lIns="54864" rIns="54864" tIns="18288" bIns="18288">
            <a:spAutoFit/>
          </a:bodyPr>
          <a:lstStyle/>
          <a:p>
            <a:pPr algn="l"/>
            <a:r>
              <a:rPr sz="1150" b="0">
                <a:solidFill>
                  <a:srgbClr val="C8B8FF"/>
                </a:solidFill>
                <a:latin typeface="Montserrat Light"/>
              </a:rPr>
              <a:t>All projections are indicative and subject to availability of funds at the right time.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bin"/>
          <p:cNvPicPr>
            <a:picLocks noChangeAspect="1"/>
          </p:cNvPicPr>
          <p:nvPr/>
        </p:nvPicPr>
        <p:blipFill>
          <a:blip r:embed="rId2"/>
          <a:stretch>
            <a:fillRect/>
          </a:stretch>
        </p:blipFill>
        <p:spPr>
          <a:xfrm>
            <a:off x="0" y="0"/>
            <a:ext cx="18288000" cy="10287000"/>
          </a:xfrm>
          <a:prstGeom prst="rect">
            <a:avLst/>
          </a:prstGeom>
        </p:spPr>
      </p:pic>
      <p:pic>
        <p:nvPicPr>
          <p:cNvPr id="3" name="Picture 2" descr="image.bin"/>
          <p:cNvPicPr>
            <a:picLocks noChangeAspect="1"/>
          </p:cNvPicPr>
          <p:nvPr/>
        </p:nvPicPr>
        <p:blipFill>
          <a:blip r:embed="rId3"/>
          <a:stretch>
            <a:fillRect/>
          </a:stretch>
        </p:blipFill>
        <p:spPr>
          <a:xfrm>
            <a:off x="0" y="0"/>
            <a:ext cx="18288000" cy="10287000"/>
          </a:xfrm>
          <a:prstGeom prst="rect">
            <a:avLst/>
          </a:prstGeom>
        </p:spPr>
      </p:pic>
      <p:sp>
        <p:nvSpPr>
          <p:cNvPr id="4" name="Rectangle 3"/>
          <p:cNvSpPr/>
          <p:nvPr/>
        </p:nvSpPr>
        <p:spPr>
          <a:xfrm>
            <a:off x="594360" y="731520"/>
            <a:ext cx="64008" cy="667512"/>
          </a:xfrm>
          <a:prstGeom prst="rect">
            <a:avLst/>
          </a:prstGeom>
          <a:solidFill>
            <a:srgbClr val="FBC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16152" y="502920"/>
            <a:ext cx="16002000" cy="292608"/>
          </a:xfrm>
          <a:prstGeom prst="rect">
            <a:avLst/>
          </a:prstGeom>
          <a:noFill/>
        </p:spPr>
        <p:txBody>
          <a:bodyPr wrap="square" anchor="t" lIns="54864" rIns="54864" tIns="18288" bIns="18288">
            <a:spAutoFit/>
          </a:bodyPr>
          <a:lstStyle/>
          <a:p>
            <a:pPr algn="l"/>
            <a:r>
              <a:rPr sz="1500" b="1">
                <a:solidFill>
                  <a:srgbClr val="FBC76E"/>
                </a:solidFill>
                <a:latin typeface="Montserrat"/>
              </a:rPr>
              <a:t>DEAL SNAPSHOT</a:t>
            </a:r>
          </a:p>
        </p:txBody>
      </p:sp>
      <p:sp>
        <p:nvSpPr>
          <p:cNvPr id="6" name="TextBox 5"/>
          <p:cNvSpPr txBox="1"/>
          <p:nvPr/>
        </p:nvSpPr>
        <p:spPr>
          <a:xfrm>
            <a:off x="1188720" y="786384"/>
            <a:ext cx="16002000" cy="713232"/>
          </a:xfrm>
          <a:prstGeom prst="rect">
            <a:avLst/>
          </a:prstGeom>
          <a:noFill/>
        </p:spPr>
        <p:txBody>
          <a:bodyPr wrap="square" anchor="t" lIns="54864" rIns="54864" tIns="18288" bIns="18288">
            <a:spAutoFit/>
          </a:bodyPr>
          <a:lstStyle/>
          <a:p>
            <a:pPr algn="l"/>
            <a:r>
              <a:rPr sz="4000" b="0">
                <a:solidFill>
                  <a:srgbClr val="FFFFFF"/>
                </a:solidFill>
                <a:latin typeface="Montserrat Light"/>
              </a:rPr>
              <a:t>Indicative Transaction Terms</a:t>
            </a:r>
          </a:p>
        </p:txBody>
      </p:sp>
      <p:sp>
        <p:nvSpPr>
          <p:cNvPr id="7" name="TextBox 6"/>
          <p:cNvSpPr txBox="1"/>
          <p:nvPr/>
        </p:nvSpPr>
        <p:spPr>
          <a:xfrm>
            <a:off x="1216152" y="1591056"/>
            <a:ext cx="16002000" cy="457200"/>
          </a:xfrm>
          <a:prstGeom prst="rect">
            <a:avLst/>
          </a:prstGeom>
          <a:noFill/>
        </p:spPr>
        <p:txBody>
          <a:bodyPr wrap="square" anchor="t" lIns="54864" rIns="54864" tIns="18288" bIns="18288">
            <a:spAutoFit/>
          </a:bodyPr>
          <a:lstStyle/>
          <a:p>
            <a:pPr algn="l"/>
            <a:r>
              <a:rPr sz="1800" b="0">
                <a:solidFill>
                  <a:srgbClr val="C8B8FF"/>
                </a:solidFill>
                <a:latin typeface="Montserrat Light"/>
              </a:rPr>
              <a:t>Key commercial terms of the proposed 25% secondary</a:t>
            </a:r>
          </a:p>
        </p:txBody>
      </p:sp>
      <p:sp>
        <p:nvSpPr>
          <p:cNvPr id="8" name="Rounded Rectangle 7"/>
          <p:cNvSpPr/>
          <p:nvPr/>
        </p:nvSpPr>
        <p:spPr>
          <a:xfrm>
            <a:off x="749808" y="2468880"/>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08192" y="2468880"/>
            <a:ext cx="11576304" cy="67665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7" y="2468880"/>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Transaction Type</a:t>
            </a:r>
          </a:p>
        </p:txBody>
      </p:sp>
      <p:sp>
        <p:nvSpPr>
          <p:cNvPr id="11" name="TextBox 10"/>
          <p:cNvSpPr txBox="1"/>
          <p:nvPr/>
        </p:nvSpPr>
        <p:spPr>
          <a:xfrm>
            <a:off x="6382512" y="2468880"/>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Secondary sale of existing shares — no primary dilution</a:t>
            </a:r>
          </a:p>
        </p:txBody>
      </p:sp>
      <p:sp>
        <p:nvSpPr>
          <p:cNvPr id="12" name="Rounded Rectangle 11"/>
          <p:cNvSpPr/>
          <p:nvPr/>
        </p:nvSpPr>
        <p:spPr>
          <a:xfrm>
            <a:off x="749808" y="3236976"/>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08192" y="3236976"/>
            <a:ext cx="11576304" cy="676656"/>
          </a:xfrm>
          <a:prstGeom prst="roundRect">
            <a:avLst>
              <a:gd name="adj" fmla="val 12000"/>
            </a:avLst>
          </a:prstGeom>
          <a:solidFill>
            <a:srgbClr val="F0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7" y="3236976"/>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Stake on Offer</a:t>
            </a:r>
          </a:p>
        </p:txBody>
      </p:sp>
      <p:sp>
        <p:nvSpPr>
          <p:cNvPr id="15" name="TextBox 14"/>
          <p:cNvSpPr txBox="1"/>
          <p:nvPr/>
        </p:nvSpPr>
        <p:spPr>
          <a:xfrm>
            <a:off x="6382512" y="3236976"/>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25%</a:t>
            </a:r>
          </a:p>
        </p:txBody>
      </p:sp>
      <p:sp>
        <p:nvSpPr>
          <p:cNvPr id="16" name="Rounded Rectangle 15"/>
          <p:cNvSpPr/>
          <p:nvPr/>
        </p:nvSpPr>
        <p:spPr>
          <a:xfrm>
            <a:off x="749808" y="4005072"/>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08192" y="4005072"/>
            <a:ext cx="11576304" cy="67665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4005072"/>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Consideration</a:t>
            </a:r>
          </a:p>
        </p:txBody>
      </p:sp>
      <p:sp>
        <p:nvSpPr>
          <p:cNvPr id="19" name="TextBox 18"/>
          <p:cNvSpPr txBox="1"/>
          <p:nvPr/>
        </p:nvSpPr>
        <p:spPr>
          <a:xfrm>
            <a:off x="6382512" y="4005072"/>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₹23.75 Crores</a:t>
            </a:r>
          </a:p>
        </p:txBody>
      </p:sp>
      <p:sp>
        <p:nvSpPr>
          <p:cNvPr id="20" name="Rounded Rectangle 19"/>
          <p:cNvSpPr/>
          <p:nvPr/>
        </p:nvSpPr>
        <p:spPr>
          <a:xfrm>
            <a:off x="749808" y="4773168"/>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08192" y="4773168"/>
            <a:ext cx="11576304" cy="676656"/>
          </a:xfrm>
          <a:prstGeom prst="roundRect">
            <a:avLst>
              <a:gd name="adj" fmla="val 12000"/>
            </a:avLst>
          </a:prstGeom>
          <a:solidFill>
            <a:srgbClr val="F0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7" y="4773168"/>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Implied Equity Value (100%)</a:t>
            </a:r>
          </a:p>
        </p:txBody>
      </p:sp>
      <p:sp>
        <p:nvSpPr>
          <p:cNvPr id="23" name="TextBox 22"/>
          <p:cNvSpPr txBox="1"/>
          <p:nvPr/>
        </p:nvSpPr>
        <p:spPr>
          <a:xfrm>
            <a:off x="6382512" y="4773168"/>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~₹95 Crores</a:t>
            </a:r>
          </a:p>
        </p:txBody>
      </p:sp>
      <p:sp>
        <p:nvSpPr>
          <p:cNvPr id="24" name="Rounded Rectangle 23"/>
          <p:cNvSpPr/>
          <p:nvPr/>
        </p:nvSpPr>
        <p:spPr>
          <a:xfrm>
            <a:off x="749808" y="5541264"/>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08192" y="5541264"/>
            <a:ext cx="11576304" cy="67665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7" y="5541264"/>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Implied Valuation Multiple</a:t>
            </a:r>
          </a:p>
        </p:txBody>
      </p:sp>
      <p:sp>
        <p:nvSpPr>
          <p:cNvPr id="27" name="TextBox 26"/>
          <p:cNvSpPr txBox="1"/>
          <p:nvPr/>
        </p:nvSpPr>
        <p:spPr>
          <a:xfrm>
            <a:off x="6382512" y="5541264"/>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~17.6x FY26-27E PAT  |  ~9.3x FY27-28E PAT</a:t>
            </a:r>
          </a:p>
        </p:txBody>
      </p:sp>
      <p:sp>
        <p:nvSpPr>
          <p:cNvPr id="28" name="Rounded Rectangle 27"/>
          <p:cNvSpPr/>
          <p:nvPr/>
        </p:nvSpPr>
        <p:spPr>
          <a:xfrm>
            <a:off x="749808" y="6309360"/>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08192" y="6309360"/>
            <a:ext cx="11576304" cy="676656"/>
          </a:xfrm>
          <a:prstGeom prst="roundRect">
            <a:avLst>
              <a:gd name="adj" fmla="val 12000"/>
            </a:avLst>
          </a:prstGeom>
          <a:solidFill>
            <a:srgbClr val="F0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24127" y="6309360"/>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Re-Investment Instrument</a:t>
            </a:r>
          </a:p>
        </p:txBody>
      </p:sp>
      <p:sp>
        <p:nvSpPr>
          <p:cNvPr id="31" name="TextBox 30"/>
          <p:cNvSpPr txBox="1"/>
          <p:nvPr/>
        </p:nvSpPr>
        <p:spPr>
          <a:xfrm>
            <a:off x="6382512" y="6309360"/>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Interest-free, unsecured promoter loan (quasi-equity)</a:t>
            </a:r>
          </a:p>
        </p:txBody>
      </p:sp>
      <p:sp>
        <p:nvSpPr>
          <p:cNvPr id="32" name="Rounded Rectangle 31"/>
          <p:cNvSpPr/>
          <p:nvPr/>
        </p:nvSpPr>
        <p:spPr>
          <a:xfrm>
            <a:off x="749808" y="7077456"/>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08192" y="7077456"/>
            <a:ext cx="11576304" cy="67665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7" y="7077456"/>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Loan Repayment</a:t>
            </a:r>
          </a:p>
        </p:txBody>
      </p:sp>
      <p:sp>
        <p:nvSpPr>
          <p:cNvPr id="35" name="TextBox 34"/>
          <p:cNvSpPr txBox="1"/>
          <p:nvPr/>
        </p:nvSpPr>
        <p:spPr>
          <a:xfrm>
            <a:off x="6382512" y="7077456"/>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Drawn from internal accruals over 3–5 years</a:t>
            </a:r>
          </a:p>
        </p:txBody>
      </p:sp>
      <p:sp>
        <p:nvSpPr>
          <p:cNvPr id="36" name="Rounded Rectangle 35"/>
          <p:cNvSpPr/>
          <p:nvPr/>
        </p:nvSpPr>
        <p:spPr>
          <a:xfrm>
            <a:off x="749808" y="7845552"/>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108192" y="7845552"/>
            <a:ext cx="11576304" cy="676656"/>
          </a:xfrm>
          <a:prstGeom prst="roundRect">
            <a:avLst>
              <a:gd name="adj" fmla="val 12000"/>
            </a:avLst>
          </a:prstGeom>
          <a:solidFill>
            <a:srgbClr val="F0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7" y="7845552"/>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Use of Capital</a:t>
            </a:r>
          </a:p>
        </p:txBody>
      </p:sp>
      <p:sp>
        <p:nvSpPr>
          <p:cNvPr id="39" name="TextBox 38"/>
          <p:cNvSpPr txBox="1"/>
          <p:nvPr/>
        </p:nvSpPr>
        <p:spPr>
          <a:xfrm>
            <a:off x="6382512" y="7845552"/>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Growth capex, capacity, inventory, certifications &amp; branding</a:t>
            </a:r>
          </a:p>
        </p:txBody>
      </p:sp>
      <p:sp>
        <p:nvSpPr>
          <p:cNvPr id="40" name="Rounded Rectangle 39"/>
          <p:cNvSpPr/>
          <p:nvPr/>
        </p:nvSpPr>
        <p:spPr>
          <a:xfrm>
            <a:off x="749808" y="8613648"/>
            <a:ext cx="5212080" cy="676656"/>
          </a:xfrm>
          <a:prstGeom prst="roundRect">
            <a:avLst>
              <a:gd name="adj" fmla="val 12000"/>
            </a:avLst>
          </a:prstGeom>
          <a:solidFill>
            <a:srgbClr val="241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108192" y="8613648"/>
            <a:ext cx="11576304" cy="676656"/>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127" y="8613648"/>
            <a:ext cx="4754880" cy="676656"/>
          </a:xfrm>
          <a:prstGeom prst="rect">
            <a:avLst/>
          </a:prstGeom>
          <a:noFill/>
        </p:spPr>
        <p:txBody>
          <a:bodyPr wrap="square" anchor="ctr" lIns="54864" rIns="54864" tIns="18288" bIns="18288">
            <a:spAutoFit/>
          </a:bodyPr>
          <a:lstStyle/>
          <a:p>
            <a:pPr algn="l"/>
            <a:r>
              <a:rPr sz="1500" b="1">
                <a:solidFill>
                  <a:srgbClr val="C8B8FF"/>
                </a:solidFill>
                <a:latin typeface="Montserrat"/>
              </a:rPr>
              <a:t>Governance</a:t>
            </a:r>
          </a:p>
        </p:txBody>
      </p:sp>
      <p:sp>
        <p:nvSpPr>
          <p:cNvPr id="43" name="TextBox 42"/>
          <p:cNvSpPr txBox="1"/>
          <p:nvPr/>
        </p:nvSpPr>
        <p:spPr>
          <a:xfrm>
            <a:off x="6382512" y="8613648"/>
            <a:ext cx="10936224" cy="676656"/>
          </a:xfrm>
          <a:prstGeom prst="rect">
            <a:avLst/>
          </a:prstGeom>
          <a:noFill/>
        </p:spPr>
        <p:txBody>
          <a:bodyPr wrap="square" anchor="ctr" lIns="54864" rIns="54864" tIns="18288" bIns="18288">
            <a:spAutoFit/>
          </a:bodyPr>
          <a:lstStyle/>
          <a:p>
            <a:pPr algn="l"/>
            <a:r>
              <a:rPr sz="1500" b="0">
                <a:solidFill>
                  <a:srgbClr val="15092E"/>
                </a:solidFill>
                <a:latin typeface="Montserrat Light"/>
              </a:rPr>
              <a:t>1 board seat + customary information &amp; minority rights (indicative)</a:t>
            </a:r>
          </a:p>
        </p:txBody>
      </p:sp>
      <p:sp>
        <p:nvSpPr>
          <p:cNvPr id="44" name="TextBox 43"/>
          <p:cNvSpPr txBox="1"/>
          <p:nvPr/>
        </p:nvSpPr>
        <p:spPr>
          <a:xfrm>
            <a:off x="1216152" y="9555480"/>
            <a:ext cx="16002000" cy="310896"/>
          </a:xfrm>
          <a:prstGeom prst="rect">
            <a:avLst/>
          </a:prstGeom>
          <a:noFill/>
        </p:spPr>
        <p:txBody>
          <a:bodyPr wrap="square" anchor="t" lIns="54864" rIns="54864" tIns="18288" bIns="18288">
            <a:spAutoFit/>
          </a:bodyPr>
          <a:lstStyle/>
          <a:p>
            <a:pPr algn="l"/>
            <a:r>
              <a:rPr sz="1150" b="0">
                <a:solidFill>
                  <a:srgbClr val="C8B8FF"/>
                </a:solidFill>
                <a:latin typeface="Montserrat Light"/>
              </a:rPr>
              <a:t>All projections are indicative and subject to availability of funds at the right time.</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2311</TotalTime>
  <Words>2812</Words>
  <Application>Microsoft Office PowerPoint</Application>
  <PresentationFormat>Custom</PresentationFormat>
  <Paragraphs>441</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Montserrat Light</vt:lpstr>
      <vt:lpstr>Montserrat</vt:lpstr>
      <vt:lpstr>Calibri</vt:lpstr>
      <vt:lpstr>Arial</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Exporter Version: 2.0.8.0, docId: 5750396</dc:title>
  <dc:creator>Presentations.AI Exporter</dc:creator>
  <cp:lastModifiedBy>Vishal Kulkarni</cp:lastModifiedBy>
  <cp:revision>56</cp:revision>
  <cp:lastPrinted>2026-01-06T09:02:22Z</cp:lastPrinted>
  <dcterms:created xsi:type="dcterms:W3CDTF">2024-06-18T10:47:08Z</dcterms:created>
  <dcterms:modified xsi:type="dcterms:W3CDTF">2026-04-20T09:40:14Z</dcterms:modified>
</cp:coreProperties>
</file>